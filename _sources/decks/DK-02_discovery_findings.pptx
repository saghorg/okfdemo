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26-Mar readout, two days after T-03 (first variance findings, 24-Mar). Do not open with a go-live date, we are deliberately not restating that today, it belongs to the kickoff pack and the story around it is still moving. If Rajeev asks for it verbally, tell him we will confirm in writing separately.</a:t>
            </a:r>
          </a:p>
          <a:p/>
          <a:p>
            <a:r>
              <a:t>Keep VAR-003 framed as an open investigation only on every slide it appears on, the DBLINK latency angle is a working theory, not a finding. Do not let it get written down as confirmed.</a:t>
            </a:r>
          </a:p>
          <a:p/>
          <a:p>
            <a:r>
              <a:t>Vikram is not on the invite for this one (T-03 was Ananya/Karthik/Ishaan/Farida/Shalini/Vikram/Sneha, but this deck goes to the wider steerco distribution), if his stockist billing mismatch comes up, it is a primary vs secondary sales confusion on his side, not a data defect. Do not spend airtime on it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with Shalini before this gets circulated further, she will want the FY26 Q1 number tied explicitly back to the trial balance language, not just called a 'variance'. Use 'reconciliation gap' if she is in the room, she does not use the word delta.</a:t>
            </a:r>
          </a:p>
          <a:p>
            <a:r>
              <a:t>Timebox: 45 minutes for this pack if it is the steerco slot, longer if it is a working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per Farida's earlier mail (her phrase, not mine) she has already flagged that anything touching the load window gets measured before it gets agreed, keep that posture in mind for the ETL section later in this deck.</a:t>
            </a:r>
          </a:p>
          <a:p>
            <a:r>
              <a:t>T-02 ran 11:00-12:30 IST, 90 minutes, entirely on OLTP structure and history; T-03 ran 16:00-16:45, 45 minutes, and is where VAR-003 first surfaced.</a:t>
            </a:r>
          </a:p>
          <a:p>
            <a:r>
              <a:t>Do not read this out: Ani's sessions run long and go off-script, but he answers questions nobody asked and it is usually the important part. Let him ramble.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control finding, keep it low-key for now: mapping XML exports and DDL live in a SharePoint document library, not in Git, no diff history, no branch discipline. Karthik will want to raise this formally later, do not let it become today's headline.</a:t>
            </a:r>
          </a:p>
          <a:p>
            <a:r>
              <a:t>If asked why FIN_PROD is not scheduled by Control-M: it genuinely is not, that part of the finance close runs outside this scheduler entirely. Do not speculate about what runs there instead, we are not in a position to say anything about that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asks about INVOICE_LINE_ARCHIVE: Farida can speak to it if pressed, but we have not dug into it yet, park it rather than guessing on this call.</a:t>
            </a:r>
          </a:p>
          <a:p>
            <a:r>
              <a:t>Minor typo left in on purpose in the source notes from T-02, Ani wrote 'party master' for CUSTOMER more than once, that is just his own long-standing habit (trade usage), not a separate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rough discovery-stage cut, taken from the object inventory, not a validated data profile. Do not quote row counts today, we do not have a signed-off number yet, the formal profiling pass sits inside the data quality assessment phase, not this one.</a:t>
            </a:r>
          </a:p>
          <a:p>
            <a:r>
              <a:t>The '+1 more, TBC' on the dimension row is deliberate, we have not finished naming every reference object yet, tidy this up before it goes to Shalini.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 this slide is overloaded, that is somewhat intentional at this stage, we genuinely have more open questions than answers on volumes right now and I would rather show that than fake a tidy number. If someone in the room pushes on this, say the profiling pass is the answer, not today.</a:t>
            </a:r>
          </a:p>
          <a:p>
            <a:r>
              <a:t>Do not read the 'tens of thousands' line out loud as if it were precise, it is Farida's own phrase from a corridor conversation, not a measured figure.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for the room only, not on the slide: the Control-M folder still shows in-flow markers at 01:40 / 02:00 / 02:35 against the middle steps, from an older, slower version of the plan. Nobody has retimed them, so if anyone quotes a completion time straight off Control-M it may not match the ~02:05 figure here. Use 02:05, that is the number to go with.</a:t>
            </a:r>
          </a:p>
          <a:p>
            <a:r>
              <a:t>Farida will push back hard on anything that adds elapsed time to the load, that is exactly her reaction pattern, do not be surprised by it, and come with a measured number if we want to change her mind on anything downstream.</a:t>
            </a:r>
          </a:p>
          <a:p>
            <a:r>
              <a:t>If Shalini asks why FIN_PROD does not appear anywhere in this inventory: Control-M genuinely does not schedule anything inside FIN_PROD. That is the honest answer today. Do not speculate beyond it on this call.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Ritwik and Priya use different words for the same screen, Priya says 'report' and 'prompt', Ritwik says 'page' and 'slicer'. Do not let that turn into a semantic argument in the room, it is purely OBIEE vs Power BI vocabulary, both are describing the same thing.</a:t>
            </a:r>
          </a:p>
          <a:p>
            <a:r>
              <a:t>If pushed on dashboard count for go-live: say scope is being finalised separately and we will not pre-empt that workshop today. Do not offer a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title still says 'DRAFT v2', clean this up before this goes external, it was left over from the working version we used in the T-03 debrief.</a:t>
            </a:r>
          </a:p>
          <a:p>
            <a:r>
              <a:t>Shalini will ask why the total is only 9.70 Cr and not larger, the honest answer is this total only reflects mechanisms we have traced to a specific root cause so far. Anything we have not root-caused yet simply is not in this number. More work continues into April.</a:t>
            </a:r>
          </a:p>
          <a:p>
            <a:r>
              <a:t>Do not state a owner for VAR-003 if asked, we are not naming one until the mechanism itself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out, keep it in the room: this DBLINK latency angle is our working theory only, it is not confirmed and we have not measured anything yet. If Karthik or Farida get pulled into a side conversation on this, let them run with it, do not commit to the DBLINK explanation in front of Marijke or the wider steerco, we don't have evidence either way today.</a:t>
            </a:r>
          </a:p>
          <a:p>
            <a:r>
              <a:t>If asked for a hard date: root-cause sprint runs 09-Mar to 08-May-2026, that is the honest window, do not promise an earlier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R4 ties back to something Vikram raised informally, in passing, at kickoff, not fully written up anywhere yet. Flag it here but do not overstate it today, we have not scoped what it actually means for the test plan.</a:t>
            </a:r>
          </a:p>
          <a:p>
            <a:r>
              <a:t>R1 and R2 are the two Karthik cares about most; he will want both written up as formal ADR-adjacent findings once we are past discovery.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Rajeev only wants two things out of a readout like this: the date things get fixed by, and the number, that is his consistent ask across every steerco so far. Keep the next-steps table to owner and date, resist the urge to add mechanism detail back in here, that belongs on the earlier slides.</a:t>
            </a:r>
          </a:p>
          <a:p>
            <a:r>
              <a:t>If time runs short, this is the slide to protect, everything before it can be taken as read.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31720"/>
            <a:ext cx="10698480" cy="457200"/>
          </a:xfrm>
          <a:prstGeom prst="rect">
            <a:avLst/>
          </a:prstGeom>
          <a:noFill/>
        </p:spPr>
        <p:txBody>
          <a:bodyPr wrap="none">
            <a:spAutoFit/>
          </a:bodyPr>
          <a:lstStyle/>
          <a:p>
            <a:r>
              <a:rPr sz="2000" b="1" i="0">
                <a:solidFill>
                  <a:srgbClr val="C9D6DE"/>
                </a:solidFill>
                <a:latin typeface="Calibri"/>
              </a:rPr>
              <a:t>PROJECT DRISHTI</a:t>
            </a:r>
          </a:p>
        </p:txBody>
      </p:sp>
      <p:sp>
        <p:nvSpPr>
          <p:cNvPr id="5" name="TextBox 4"/>
          <p:cNvSpPr txBox="1"/>
          <p:nvPr/>
        </p:nvSpPr>
        <p:spPr>
          <a:xfrm>
            <a:off x="731520" y="2788920"/>
            <a:ext cx="10698480" cy="1188720"/>
          </a:xfrm>
          <a:prstGeom prst="rect">
            <a:avLst/>
          </a:prstGeom>
          <a:noFill/>
        </p:spPr>
        <p:txBody>
          <a:bodyPr wrap="square">
            <a:spAutoFit/>
          </a:bodyPr>
          <a:lstStyle/>
          <a:p>
            <a:r>
              <a:rPr sz="4200" b="1" i="0">
                <a:solidFill>
                  <a:srgbClr val="FFFFFF"/>
                </a:solidFill>
                <a:latin typeface="Calibri"/>
              </a:rPr>
              <a:t>Discovery Findings</a:t>
            </a:r>
          </a:p>
        </p:txBody>
      </p:sp>
      <p:sp>
        <p:nvSpPr>
          <p:cNvPr id="6" name="TextBox 5"/>
          <p:cNvSpPr txBox="1"/>
          <p:nvPr/>
        </p:nvSpPr>
        <p:spPr>
          <a:xfrm>
            <a:off x="731520" y="4343400"/>
            <a:ext cx="10698480" cy="457200"/>
          </a:xfrm>
          <a:prstGeom prst="rect">
            <a:avLst/>
          </a:prstGeom>
          <a:noFill/>
        </p:spPr>
        <p:txBody>
          <a:bodyPr wrap="none">
            <a:spAutoFit/>
          </a:bodyPr>
          <a:lstStyle/>
          <a:p>
            <a:r>
              <a:rPr sz="1600" b="0" i="0">
                <a:solidFill>
                  <a:srgbClr val="C9D6DE"/>
                </a:solidFill>
                <a:latin typeface="Calibri"/>
              </a:rPr>
              <a:t>Bharadwaj Consumer Products Ltd  |  Northlane Analytics</a:t>
            </a:r>
          </a:p>
        </p:txBody>
      </p:sp>
      <p:sp>
        <p:nvSpPr>
          <p:cNvPr id="7" name="TextBox 6"/>
          <p:cNvSpPr txBox="1"/>
          <p:nvPr/>
        </p:nvSpPr>
        <p:spPr>
          <a:xfrm>
            <a:off x="731520" y="4754880"/>
            <a:ext cx="10698480" cy="457200"/>
          </a:xfrm>
          <a:prstGeom prst="rect">
            <a:avLst/>
          </a:prstGeom>
          <a:noFill/>
        </p:spPr>
        <p:txBody>
          <a:bodyPr wrap="none">
            <a:spAutoFit/>
          </a:bodyPr>
          <a:lstStyle/>
          <a:p>
            <a:r>
              <a:rPr sz="1400" b="0" i="0">
                <a:solidFill>
                  <a:srgbClr val="C9D6DE"/>
                </a:solidFill>
                <a:latin typeface="Calibri"/>
              </a:rPr>
              <a:t>Steering readout, 26 March 2026</a:t>
            </a:r>
          </a:p>
        </p:txBody>
      </p:sp>
      <p:sp>
        <p:nvSpPr>
          <p:cNvPr id="8" name="TextBox 7"/>
          <p:cNvSpPr txBox="1"/>
          <p:nvPr/>
        </p:nvSpPr>
        <p:spPr>
          <a:xfrm>
            <a:off x="731520" y="5806440"/>
            <a:ext cx="10698480" cy="640080"/>
          </a:xfrm>
          <a:prstGeom prst="rect">
            <a:avLst/>
          </a:prstGeom>
          <a:noFill/>
        </p:spPr>
        <p:txBody>
          <a:bodyPr wrap="square">
            <a:spAutoFit/>
          </a:bodyPr>
          <a:lstStyle/>
          <a:p>
            <a:r>
              <a:rPr sz="1100" b="0" i="1">
                <a:solidFill>
                  <a:srgbClr val="9BACB8"/>
                </a:solidFill>
                <a:latin typeface="Calibri"/>
              </a:rPr>
              <a:t>Prepared by Ananya Krishnan and Karthik Subramanian, Northlane Analytics</a:t>
            </a:r>
          </a:p>
          <a:p>
            <a:r>
              <a:rPr sz="1000" b="0" i="0">
                <a:solidFill>
                  <a:srgbClr val="8A9BA6"/>
                </a:solidFill>
                <a:latin typeface="Calibri"/>
              </a:rPr>
              <a:t>Northlane Analytics – Confidential, Client Restricted, not for external distribution</a:t>
            </a:r>
          </a:p>
        </p:txBody>
      </p:sp>
      <p:sp>
        <p:nvSpPr>
          <p:cNvPr id="9" name="Rectangle 8"/>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1" name="TextBox 10"/>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PROJECT DRISHTI · DISCOVERY FINDINGS</a:t>
            </a:r>
          </a:p>
        </p:txBody>
      </p:sp>
      <p:sp>
        <p:nvSpPr>
          <p:cNvPr id="5" name="TextBox 4"/>
          <p:cNvSpPr txBox="1"/>
          <p:nvPr/>
        </p:nvSpPr>
        <p:spPr>
          <a:xfrm>
            <a:off x="365760" y="310896"/>
            <a:ext cx="11247120" cy="640080"/>
          </a:xfrm>
          <a:prstGeom prst="rect">
            <a:avLst/>
          </a:prstGeom>
          <a:noFill/>
        </p:spPr>
        <p:txBody>
          <a:bodyPr wrap="square">
            <a:spAutoFit/>
          </a:bodyPr>
          <a:lstStyle/>
          <a:p>
            <a:r>
              <a:rPr sz="2600" b="1" i="0">
                <a:solidFill>
                  <a:srgbClr val="FFFFFF"/>
                </a:solidFill>
                <a:latin typeface="Calibri"/>
              </a:rPr>
              <a:t>Agenda</a:t>
            </a:r>
          </a:p>
        </p:txBody>
      </p:sp>
      <p:sp>
        <p:nvSpPr>
          <p:cNvPr id="6" name="TextBox 5"/>
          <p:cNvSpPr txBox="1"/>
          <p:nvPr/>
        </p:nvSpPr>
        <p:spPr>
          <a:xfrm>
            <a:off x="457200" y="1234440"/>
            <a:ext cx="11247120" cy="5120640"/>
          </a:xfrm>
          <a:prstGeom prst="rect">
            <a:avLst/>
          </a:prstGeom>
          <a:noFill/>
        </p:spPr>
        <p:txBody>
          <a:bodyPr wrap="square">
            <a:spAutoFit/>
          </a:bodyPr>
          <a:lstStyle/>
          <a:p>
            <a:pPr>
              <a:lnSpc>
                <a:spcPct val="115000"/>
              </a:lnSpc>
              <a:spcAft>
                <a:spcPts val="600"/>
              </a:spcAft>
            </a:pPr>
            <a:r>
              <a:rPr sz="1800" b="0" i="0">
                <a:solidFill>
                  <a:srgbClr val="202022"/>
                </a:solidFill>
                <a:latin typeface="Calibri"/>
              </a:rPr>
              <a:t>• Discovery approach and scope (T-01, T-02, T-03)</a:t>
            </a:r>
          </a:p>
          <a:p>
            <a:pPr>
              <a:lnSpc>
                <a:spcPct val="115000"/>
              </a:lnSpc>
              <a:spcAft>
                <a:spcPts val="600"/>
              </a:spcAft>
            </a:pPr>
            <a:r>
              <a:rPr sz="1800" b="0" i="0">
                <a:solidFill>
                  <a:srgbClr val="202022"/>
                </a:solidFill>
                <a:latin typeface="Calibri"/>
              </a:rPr>
              <a:t>• Systems landscape</a:t>
            </a:r>
          </a:p>
          <a:p>
            <a:pPr>
              <a:lnSpc>
                <a:spcPct val="115000"/>
              </a:lnSpc>
              <a:spcAft>
                <a:spcPts val="600"/>
              </a:spcAft>
            </a:pPr>
            <a:r>
              <a:rPr sz="1800" b="0" i="0">
                <a:solidFill>
                  <a:srgbClr val="202022"/>
                </a:solidFill>
                <a:latin typeface="Calibri"/>
              </a:rPr>
              <a:t>• Source schema overview, OMS_PROD / FIN_PROD</a:t>
            </a:r>
          </a:p>
          <a:p>
            <a:pPr>
              <a:lnSpc>
                <a:spcPct val="115000"/>
              </a:lnSpc>
              <a:spcAft>
                <a:spcPts val="600"/>
              </a:spcAft>
            </a:pPr>
            <a:r>
              <a:rPr sz="1800" b="0" i="0">
                <a:solidFill>
                  <a:srgbClr val="202022"/>
                </a:solidFill>
                <a:latin typeface="Calibri"/>
              </a:rPr>
              <a:t>• Warehouse schema overview, BCPL_EDW</a:t>
            </a:r>
          </a:p>
          <a:p>
            <a:pPr>
              <a:lnSpc>
                <a:spcPct val="115000"/>
              </a:lnSpc>
              <a:spcAft>
                <a:spcPts val="600"/>
              </a:spcAft>
            </a:pPr>
            <a:r>
              <a:rPr sz="1800" b="0" i="0">
                <a:solidFill>
                  <a:srgbClr val="202022"/>
                </a:solidFill>
                <a:latin typeface="Calibri"/>
              </a:rPr>
              <a:t>• Data volumes and environments</a:t>
            </a:r>
          </a:p>
          <a:p>
            <a:pPr>
              <a:lnSpc>
                <a:spcPct val="115000"/>
              </a:lnSpc>
              <a:spcAft>
                <a:spcPts val="600"/>
              </a:spcAft>
            </a:pPr>
            <a:r>
              <a:rPr sz="1800" b="0" i="0">
                <a:solidFill>
                  <a:srgbClr val="202022"/>
                </a:solidFill>
                <a:latin typeface="Calibri"/>
              </a:rPr>
              <a:t>• ODI job inventory and the nightly load window</a:t>
            </a:r>
          </a:p>
          <a:p>
            <a:pPr>
              <a:lnSpc>
                <a:spcPct val="115000"/>
              </a:lnSpc>
              <a:spcAft>
                <a:spcPts val="600"/>
              </a:spcAft>
            </a:pPr>
            <a:r>
              <a:rPr sz="1800" b="0" i="0">
                <a:solidFill>
                  <a:srgbClr val="202022"/>
                </a:solidFill>
                <a:latin typeface="Calibri"/>
              </a:rPr>
              <a:t>• Reporting landscape, OBIEE and Power BI</a:t>
            </a:r>
          </a:p>
          <a:p>
            <a:pPr>
              <a:lnSpc>
                <a:spcPct val="115000"/>
              </a:lnSpc>
              <a:spcAft>
                <a:spcPts val="600"/>
              </a:spcAft>
            </a:pPr>
            <a:r>
              <a:rPr sz="1800" b="0" i="0">
                <a:solidFill>
                  <a:srgbClr val="202022"/>
                </a:solidFill>
                <a:latin typeface="Calibri"/>
              </a:rPr>
              <a:t>• Initial variance findings</a:t>
            </a:r>
          </a:p>
          <a:p>
            <a:pPr>
              <a:lnSpc>
                <a:spcPct val="115000"/>
              </a:lnSpc>
              <a:spcAft>
                <a:spcPts val="600"/>
              </a:spcAft>
            </a:pPr>
            <a:r>
              <a:rPr sz="1800" b="0" i="0">
                <a:solidFill>
                  <a:srgbClr val="202022"/>
                </a:solidFill>
                <a:latin typeface="Calibri"/>
              </a:rPr>
              <a:t>• Open item, scheme discount double-count</a:t>
            </a:r>
          </a:p>
          <a:p>
            <a:pPr>
              <a:lnSpc>
                <a:spcPct val="115000"/>
              </a:lnSpc>
              <a:spcAft>
                <a:spcPts val="600"/>
              </a:spcAft>
            </a:pPr>
            <a:r>
              <a:rPr sz="1800" b="0" i="0">
                <a:solidFill>
                  <a:srgbClr val="202022"/>
                </a:solidFill>
                <a:latin typeface="Calibri"/>
              </a:rPr>
              <a:t>• Initial risks</a:t>
            </a:r>
          </a:p>
          <a:p>
            <a:pPr>
              <a:lnSpc>
                <a:spcPct val="115000"/>
              </a:lnSpc>
              <a:spcAft>
                <a:spcPts val="600"/>
              </a:spcAft>
            </a:pPr>
            <a:r>
              <a:rPr sz="1800" b="0" i="0">
                <a:solidFill>
                  <a:srgbClr val="202022"/>
                </a:solidFill>
                <a:latin typeface="Calibri"/>
              </a:rPr>
              <a:t>• Summary and next steps</a:t>
            </a:r>
          </a:p>
        </p:txBody>
      </p:sp>
      <p:sp>
        <p:nvSpPr>
          <p:cNvPr id="7" name="Rectangle 6"/>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9" name="TextBox 8"/>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2743200" cy="1280160"/>
          </a:xfrm>
          <a:prstGeom prst="rect">
            <a:avLst/>
          </a:prstGeom>
          <a:noFill/>
        </p:spPr>
        <p:txBody>
          <a:bodyPr wrap="none">
            <a:spAutoFit/>
          </a:bodyPr>
          <a:lstStyle/>
          <a:p>
            <a:r>
              <a:rPr sz="6400" b="1" i="0">
                <a:solidFill>
                  <a:srgbClr val="B88A2E"/>
                </a:solidFill>
                <a:latin typeface="Calibri"/>
              </a:rPr>
              <a:t>01</a:t>
            </a:r>
          </a:p>
        </p:txBody>
      </p:sp>
      <p:sp>
        <p:nvSpPr>
          <p:cNvPr id="4" name="TextBox 3"/>
          <p:cNvSpPr txBox="1"/>
          <p:nvPr/>
        </p:nvSpPr>
        <p:spPr>
          <a:xfrm>
            <a:off x="2377440" y="2697480"/>
            <a:ext cx="8961120" cy="914400"/>
          </a:xfrm>
          <a:prstGeom prst="rect">
            <a:avLst/>
          </a:prstGeom>
          <a:noFill/>
        </p:spPr>
        <p:txBody>
          <a:bodyPr wrap="square">
            <a:spAutoFit/>
          </a:bodyPr>
          <a:lstStyle/>
          <a:p>
            <a:r>
              <a:rPr sz="3200" b="1" i="0">
                <a:solidFill>
                  <a:srgbClr val="FFFFFF"/>
                </a:solidFill>
                <a:latin typeface="Calibri"/>
              </a:rPr>
              <a:t>Discovery Approach &amp; Scope</a:t>
            </a:r>
          </a:p>
        </p:txBody>
      </p:sp>
      <p:sp>
        <p:nvSpPr>
          <p:cNvPr id="5" name="Rectangle 4"/>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7" name="TextBox 6"/>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01 · APPROACH &amp; SCOPE</a:t>
            </a:r>
          </a:p>
        </p:txBody>
      </p:sp>
      <p:sp>
        <p:nvSpPr>
          <p:cNvPr id="5" name="TextBox 4"/>
          <p:cNvSpPr txBox="1"/>
          <p:nvPr/>
        </p:nvSpPr>
        <p:spPr>
          <a:xfrm>
            <a:off x="365760" y="310896"/>
            <a:ext cx="11247120" cy="640080"/>
          </a:xfrm>
          <a:prstGeom prst="rect">
            <a:avLst/>
          </a:prstGeom>
          <a:noFill/>
        </p:spPr>
        <p:txBody>
          <a:bodyPr wrap="square">
            <a:spAutoFit/>
          </a:bodyPr>
          <a:lstStyle/>
          <a:p>
            <a:r>
              <a:rPr sz="2600" b="1" i="0">
                <a:solidFill>
                  <a:srgbClr val="FFFFFF"/>
                </a:solidFill>
                <a:latin typeface="Calibri"/>
              </a:rPr>
              <a:t>Discovery Methodology &amp; Meeting Log</a:t>
            </a:r>
          </a:p>
        </p:txBody>
      </p:sp>
      <p:graphicFrame>
        <p:nvGraphicFramePr>
          <p:cNvPr id="6" name="Table 5"/>
          <p:cNvGraphicFramePr>
            <a:graphicFrameLocks noGrp="1"/>
          </p:cNvGraphicFramePr>
          <p:nvPr/>
        </p:nvGraphicFramePr>
        <p:xfrm>
          <a:off x="365760" y="1143000"/>
          <a:ext cx="11430000" cy="2103120"/>
        </p:xfrm>
        <a:graphic>
          <a:graphicData uri="http://schemas.openxmlformats.org/drawingml/2006/table">
            <a:tbl>
              <a:tblPr firstRow="1" bandRow="1">
                <a:tableStyleId>{5C22544A-7EE6-4342-B048-85BDC9FD1C3A}</a:tableStyleId>
              </a:tblPr>
              <a:tblGrid>
                <a:gridCol w="822960"/>
                <a:gridCol w="1554480"/>
                <a:gridCol w="914400"/>
                <a:gridCol w="2194560"/>
                <a:gridCol w="5943600"/>
              </a:tblGrid>
              <a:tr h="525780">
                <a:tc>
                  <a:txBody>
                    <a:bodyPr/>
                    <a:lstStyle/>
                    <a:p>
                      <a:pPr algn="l"/>
                      <a:r>
                        <a:rPr sz="1150" b="1" i="0">
                          <a:solidFill>
                            <a:srgbClr val="FFFFFF"/>
                          </a:solidFill>
                          <a:latin typeface="Calibri"/>
                        </a:rPr>
                        <a:t>Meeting</a:t>
                      </a:r>
                    </a:p>
                  </a:txBody>
                  <a:tcPr anchor="ctr" marT="38100" marB="38100" marL="76200" marR="76200">
                    <a:solidFill>
                      <a:srgbClr val="1B2E44"/>
                    </a:solidFill>
                  </a:tcPr>
                </a:tc>
                <a:tc>
                  <a:txBody>
                    <a:bodyPr/>
                    <a:lstStyle/>
                    <a:p>
                      <a:pPr algn="l"/>
                      <a:r>
                        <a:rPr sz="1150" b="1" i="0">
                          <a:solidFill>
                            <a:srgbClr val="FFFFFF"/>
                          </a:solidFill>
                          <a:latin typeface="Calibri"/>
                        </a:rPr>
                        <a:t>Date</a:t>
                      </a:r>
                    </a:p>
                  </a:txBody>
                  <a:tcPr anchor="ctr" marT="38100" marB="38100" marL="76200" marR="76200">
                    <a:solidFill>
                      <a:srgbClr val="1B2E44"/>
                    </a:solidFill>
                  </a:tcPr>
                </a:tc>
                <a:tc>
                  <a:txBody>
                    <a:bodyPr/>
                    <a:lstStyle/>
                    <a:p>
                      <a:pPr algn="l"/>
                      <a:r>
                        <a:rPr sz="1150" b="1" i="0">
                          <a:solidFill>
                            <a:srgbClr val="FFFFFF"/>
                          </a:solidFill>
                          <a:latin typeface="Calibri"/>
                        </a:rPr>
                        <a:t>Duration</a:t>
                      </a:r>
                    </a:p>
                  </a:txBody>
                  <a:tcPr anchor="ctr" marT="38100" marB="38100" marL="76200" marR="76200">
                    <a:solidFill>
                      <a:srgbClr val="1B2E44"/>
                    </a:solidFill>
                  </a:tcPr>
                </a:tc>
                <a:tc>
                  <a:txBody>
                    <a:bodyPr/>
                    <a:lstStyle/>
                    <a:p>
                      <a:pPr algn="l"/>
                      <a:r>
                        <a:rPr sz="1150" b="1" i="0">
                          <a:solidFill>
                            <a:srgbClr val="FFFFFF"/>
                          </a:solidFill>
                          <a:latin typeface="Calibri"/>
                        </a:rPr>
                        <a:t>Focus</a:t>
                      </a:r>
                    </a:p>
                  </a:txBody>
                  <a:tcPr anchor="ctr" marT="38100" marB="38100" marL="76200" marR="76200">
                    <a:solidFill>
                      <a:srgbClr val="1B2E44"/>
                    </a:solidFill>
                  </a:tcPr>
                </a:tc>
                <a:tc>
                  <a:txBody>
                    <a:bodyPr/>
                    <a:lstStyle/>
                    <a:p>
                      <a:pPr algn="l"/>
                      <a:r>
                        <a:rPr sz="1150" b="1" i="0">
                          <a:solidFill>
                            <a:srgbClr val="FFFFFF"/>
                          </a:solidFill>
                          <a:latin typeface="Calibri"/>
                        </a:rPr>
                        <a:t>Key attendees</a:t>
                      </a:r>
                    </a:p>
                  </a:txBody>
                  <a:tcPr anchor="ctr" marT="38100" marB="38100" marL="76200" marR="76200">
                    <a:solidFill>
                      <a:srgbClr val="1B2E44"/>
                    </a:solidFill>
                  </a:tcPr>
                </a:tc>
              </a:tr>
              <a:tr h="525780">
                <a:tc>
                  <a:txBody>
                    <a:bodyPr/>
                    <a:lstStyle/>
                    <a:p>
                      <a:r>
                        <a:rPr sz="1150" b="0" i="0">
                          <a:solidFill>
                            <a:srgbClr val="202022"/>
                          </a:solidFill>
                          <a:latin typeface="Calibri"/>
                        </a:rPr>
                        <a:t>T-01</a:t>
                      </a:r>
                    </a:p>
                  </a:txBody>
                  <a:tcPr anchor="ctr" marT="25400" marB="25400" marL="76200" marR="76200">
                    <a:solidFill>
                      <a:srgbClr val="FFFFFF"/>
                    </a:solidFill>
                  </a:tcPr>
                </a:tc>
                <a:tc>
                  <a:txBody>
                    <a:bodyPr/>
                    <a:lstStyle/>
                    <a:p>
                      <a:r>
                        <a:rPr sz="1150" b="0" i="0">
                          <a:solidFill>
                            <a:srgbClr val="202022"/>
                          </a:solidFill>
                          <a:latin typeface="Calibri"/>
                        </a:rPr>
                        <a:t>11-Feb-2026 (Wed)</a:t>
                      </a:r>
                    </a:p>
                  </a:txBody>
                  <a:tcPr anchor="ctr" marT="25400" marB="25400" marL="76200" marR="76200">
                    <a:solidFill>
                      <a:srgbClr val="FFFFFF"/>
                    </a:solidFill>
                  </a:tcPr>
                </a:tc>
                <a:tc>
                  <a:txBody>
                    <a:bodyPr/>
                    <a:lstStyle/>
                    <a:p>
                      <a:r>
                        <a:rPr sz="1150" b="0" i="0">
                          <a:solidFill>
                            <a:srgbClr val="202022"/>
                          </a:solidFill>
                          <a:latin typeface="Calibri"/>
                        </a:rPr>
                        <a:t>60 min</a:t>
                      </a:r>
                    </a:p>
                  </a:txBody>
                  <a:tcPr anchor="ctr" marT="25400" marB="25400" marL="76200" marR="76200">
                    <a:solidFill>
                      <a:srgbClr val="FFFFFF"/>
                    </a:solidFill>
                  </a:tcPr>
                </a:tc>
                <a:tc>
                  <a:txBody>
                    <a:bodyPr/>
                    <a:lstStyle/>
                    <a:p>
                      <a:r>
                        <a:rPr sz="1150" b="0" i="0">
                          <a:solidFill>
                            <a:srgbClr val="202022"/>
                          </a:solidFill>
                          <a:latin typeface="Calibri"/>
                        </a:rPr>
                        <a:t>Kickoff and scope</a:t>
                      </a:r>
                    </a:p>
                  </a:txBody>
                  <a:tcPr anchor="ctr" marT="25400" marB="25400" marL="76200" marR="76200">
                    <a:solidFill>
                      <a:srgbClr val="FFFFFF"/>
                    </a:solidFill>
                  </a:tcPr>
                </a:tc>
                <a:tc>
                  <a:txBody>
                    <a:bodyPr/>
                    <a:lstStyle/>
                    <a:p>
                      <a:r>
                        <a:rPr sz="1150" b="0" i="0">
                          <a:solidFill>
                            <a:srgbClr val="202022"/>
                          </a:solidFill>
                          <a:latin typeface="Calibri"/>
                        </a:rPr>
                        <a:t>Rajeev, Shalini, Vikram, Priya, Farida, Ananya, Karthik, Ritwik, Sneha; Marijke van der Berg (Klarissen) 15:00–15:20 only</a:t>
                      </a:r>
                    </a:p>
                  </a:txBody>
                  <a:tcPr anchor="ctr" marT="25400" marB="25400" marL="76200" marR="76200">
                    <a:solidFill>
                      <a:srgbClr val="FFFFFF"/>
                    </a:solidFill>
                  </a:tcPr>
                </a:tc>
              </a:tr>
              <a:tr h="525780">
                <a:tc>
                  <a:txBody>
                    <a:bodyPr/>
                    <a:lstStyle/>
                    <a:p>
                      <a:r>
                        <a:rPr sz="1150" b="0" i="0">
                          <a:solidFill>
                            <a:srgbClr val="202022"/>
                          </a:solidFill>
                          <a:latin typeface="Calibri"/>
                        </a:rPr>
                        <a:t>T-02</a:t>
                      </a:r>
                    </a:p>
                  </a:txBody>
                  <a:tcPr anchor="ctr" marT="25400" marB="25400" marL="76200" marR="76200">
                    <a:solidFill>
                      <a:srgbClr val="F3F3F1"/>
                    </a:solidFill>
                  </a:tcPr>
                </a:tc>
                <a:tc>
                  <a:txBody>
                    <a:bodyPr/>
                    <a:lstStyle/>
                    <a:p>
                      <a:r>
                        <a:rPr sz="1150" b="0" i="0">
                          <a:solidFill>
                            <a:srgbClr val="202022"/>
                          </a:solidFill>
                          <a:latin typeface="Calibri"/>
                        </a:rPr>
                        <a:t>03-Mar-2026 (Tue)</a:t>
                      </a:r>
                    </a:p>
                  </a:txBody>
                  <a:tcPr anchor="ctr" marT="25400" marB="25400" marL="76200" marR="76200">
                    <a:solidFill>
                      <a:srgbClr val="F3F3F1"/>
                    </a:solidFill>
                  </a:tcPr>
                </a:tc>
                <a:tc>
                  <a:txBody>
                    <a:bodyPr/>
                    <a:lstStyle/>
                    <a:p>
                      <a:r>
                        <a:rPr sz="1150" b="0" i="0">
                          <a:solidFill>
                            <a:srgbClr val="202022"/>
                          </a:solidFill>
                          <a:latin typeface="Calibri"/>
                        </a:rPr>
                        <a:t>90 min</a:t>
                      </a:r>
                    </a:p>
                  </a:txBody>
                  <a:tcPr anchor="ctr" marT="25400" marB="25400" marL="76200" marR="76200">
                    <a:solidFill>
                      <a:srgbClr val="F3F3F1"/>
                    </a:solidFill>
                  </a:tcPr>
                </a:tc>
                <a:tc>
                  <a:txBody>
                    <a:bodyPr/>
                    <a:lstStyle/>
                    <a:p>
                      <a:r>
                        <a:rPr sz="1150" b="0" i="0">
                          <a:solidFill>
                            <a:srgbClr val="202022"/>
                          </a:solidFill>
                          <a:latin typeface="Calibri"/>
                        </a:rPr>
                        <a:t>OLTP discovery with Ani</a:t>
                      </a:r>
                    </a:p>
                  </a:txBody>
                  <a:tcPr anchor="ctr" marT="25400" marB="25400" marL="76200" marR="76200">
                    <a:solidFill>
                      <a:srgbClr val="F3F3F1"/>
                    </a:solidFill>
                  </a:tcPr>
                </a:tc>
                <a:tc>
                  <a:txBody>
                    <a:bodyPr/>
                    <a:lstStyle/>
                    <a:p>
                      <a:r>
                        <a:rPr sz="1150" b="0" i="0">
                          <a:solidFill>
                            <a:srgbClr val="202022"/>
                          </a:solidFill>
                          <a:latin typeface="Calibri"/>
                        </a:rPr>
                        <a:t>Ani, Farida, Karthik, Ishaan, Priya, Sneha</a:t>
                      </a:r>
                    </a:p>
                  </a:txBody>
                  <a:tcPr anchor="ctr" marT="25400" marB="25400" marL="76200" marR="76200">
                    <a:solidFill>
                      <a:srgbClr val="F3F3F1"/>
                    </a:solidFill>
                  </a:tcPr>
                </a:tc>
              </a:tr>
              <a:tr h="525780">
                <a:tc>
                  <a:txBody>
                    <a:bodyPr/>
                    <a:lstStyle/>
                    <a:p>
                      <a:r>
                        <a:rPr sz="1150" b="0" i="0">
                          <a:solidFill>
                            <a:srgbClr val="202022"/>
                          </a:solidFill>
                          <a:latin typeface="Calibri"/>
                        </a:rPr>
                        <a:t>T-03</a:t>
                      </a:r>
                    </a:p>
                  </a:txBody>
                  <a:tcPr anchor="ctr" marT="25400" marB="25400" marL="76200" marR="76200">
                    <a:solidFill>
                      <a:srgbClr val="FFFFFF"/>
                    </a:solidFill>
                  </a:tcPr>
                </a:tc>
                <a:tc>
                  <a:txBody>
                    <a:bodyPr/>
                    <a:lstStyle/>
                    <a:p>
                      <a:r>
                        <a:rPr sz="1150" b="0" i="0">
                          <a:solidFill>
                            <a:srgbClr val="202022"/>
                          </a:solidFill>
                          <a:latin typeface="Calibri"/>
                        </a:rPr>
                        <a:t>24-Mar-2026 (Tue)</a:t>
                      </a:r>
                    </a:p>
                  </a:txBody>
                  <a:tcPr anchor="ctr" marT="25400" marB="25400" marL="76200" marR="76200">
                    <a:solidFill>
                      <a:srgbClr val="FFFFFF"/>
                    </a:solidFill>
                  </a:tcPr>
                </a:tc>
                <a:tc>
                  <a:txBody>
                    <a:bodyPr/>
                    <a:lstStyle/>
                    <a:p>
                      <a:r>
                        <a:rPr sz="1150" b="0" i="0">
                          <a:solidFill>
                            <a:srgbClr val="202022"/>
                          </a:solidFill>
                          <a:latin typeface="Calibri"/>
                        </a:rPr>
                        <a:t>45 min</a:t>
                      </a:r>
                    </a:p>
                  </a:txBody>
                  <a:tcPr anchor="ctr" marT="25400" marB="25400" marL="76200" marR="76200">
                    <a:solidFill>
                      <a:srgbClr val="FFFFFF"/>
                    </a:solidFill>
                  </a:tcPr>
                </a:tc>
                <a:tc>
                  <a:txBody>
                    <a:bodyPr/>
                    <a:lstStyle/>
                    <a:p>
                      <a:r>
                        <a:rPr sz="1150" b="0" i="0">
                          <a:solidFill>
                            <a:srgbClr val="202022"/>
                          </a:solidFill>
                          <a:latin typeface="Calibri"/>
                        </a:rPr>
                        <a:t>First variance findings</a:t>
                      </a:r>
                    </a:p>
                  </a:txBody>
                  <a:tcPr anchor="ctr" marT="25400" marB="25400" marL="76200" marR="76200">
                    <a:solidFill>
                      <a:srgbClr val="FFFFFF"/>
                    </a:solidFill>
                  </a:tcPr>
                </a:tc>
                <a:tc>
                  <a:txBody>
                    <a:bodyPr/>
                    <a:lstStyle/>
                    <a:p>
                      <a:r>
                        <a:rPr sz="1150" b="0" i="0">
                          <a:solidFill>
                            <a:srgbClr val="202022"/>
                          </a:solidFill>
                          <a:latin typeface="Calibri"/>
                        </a:rPr>
                        <a:t>Ananya, Karthik, Ishaan, Farida, Shalini, Vikram, Sneha</a:t>
                      </a:r>
                    </a:p>
                  </a:txBody>
                  <a:tcPr anchor="ctr" marT="25400" marB="25400" marL="76200" marR="76200">
                    <a:solidFill>
                      <a:srgbClr val="FFFFFF"/>
                    </a:solidFill>
                  </a:tcPr>
                </a:tc>
              </a:tr>
            </a:tbl>
          </a:graphicData>
        </a:graphic>
      </p:graphicFrame>
      <p:sp>
        <p:nvSpPr>
          <p:cNvPr id="7" name="TextBox 6"/>
          <p:cNvSpPr txBox="1"/>
          <p:nvPr/>
        </p:nvSpPr>
        <p:spPr>
          <a:xfrm>
            <a:off x="457200" y="3429000"/>
            <a:ext cx="11247120" cy="2743200"/>
          </a:xfrm>
          <a:prstGeom prst="rect">
            <a:avLst/>
          </a:prstGeom>
          <a:noFill/>
        </p:spPr>
        <p:txBody>
          <a:bodyPr wrap="square">
            <a:spAutoFit/>
          </a:bodyPr>
          <a:lstStyle/>
          <a:p>
            <a:pPr>
              <a:lnSpc>
                <a:spcPct val="108000"/>
              </a:lnSpc>
              <a:spcAft>
                <a:spcPts val="600"/>
              </a:spcAft>
            </a:pPr>
            <a:r>
              <a:rPr sz="1400" b="0" i="0">
                <a:solidFill>
                  <a:srgbClr val="202022"/>
                </a:solidFill>
                <a:latin typeface="Calibri"/>
              </a:rPr>
              <a:t>• Approach was system walkthroughs and structured interviews rather than a big-bang data pull - we do not have a functional spec worth trusting, so this is largely oral history.</a:t>
            </a:r>
          </a:p>
          <a:p>
            <a:pPr>
              <a:lnSpc>
                <a:spcPct val="108000"/>
              </a:lnSpc>
              <a:spcAft>
                <a:spcPts val="600"/>
              </a:spcAft>
            </a:pPr>
            <a:r>
              <a:rPr sz="1400" b="0" i="0">
                <a:solidFill>
                  <a:srgbClr val="202022"/>
                </a:solidFill>
                <a:latin typeface="Calibri"/>
              </a:rPr>
              <a:t>• Aniruddh “Ani” Deshpande (14 years at BCPL, longest-serving person on the programme) walked us through ORION end to end on 3rd March. He is, as such, doing a lot of the work that documentation should be doing.</a:t>
            </a:r>
          </a:p>
          <a:p>
            <a:pPr>
              <a:lnSpc>
                <a:spcPct val="108000"/>
              </a:lnSpc>
              <a:spcAft>
                <a:spcPts val="600"/>
              </a:spcAft>
            </a:pPr>
            <a:r>
              <a:rPr sz="1400" b="0" i="0">
                <a:solidFill>
                  <a:srgbClr val="202022"/>
                </a:solidFill>
                <a:latin typeface="Calibri"/>
              </a:rPr>
              <a:t>• This deck consolidates findings through 24-Mar only. A further, more detailed variance and root-cause readout follows as the sprint continues into April and May.</a:t>
            </a:r>
          </a:p>
        </p:txBody>
      </p:sp>
      <p:sp>
        <p:nvSpPr>
          <p:cNvPr id="8" name="Rectangle 7"/>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0" name="TextBox 9"/>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01 · APPROACH &amp; SCOPE</a:t>
            </a:r>
          </a:p>
        </p:txBody>
      </p:sp>
      <p:sp>
        <p:nvSpPr>
          <p:cNvPr id="5" name="TextBox 4"/>
          <p:cNvSpPr txBox="1"/>
          <p:nvPr/>
        </p:nvSpPr>
        <p:spPr>
          <a:xfrm>
            <a:off x="365760" y="310896"/>
            <a:ext cx="11247120" cy="640080"/>
          </a:xfrm>
          <a:prstGeom prst="rect">
            <a:avLst/>
          </a:prstGeom>
          <a:noFill/>
        </p:spPr>
        <p:txBody>
          <a:bodyPr wrap="square">
            <a:spAutoFit/>
          </a:bodyPr>
          <a:lstStyle/>
          <a:p>
            <a:r>
              <a:rPr sz="2600" b="1" i="0">
                <a:solidFill>
                  <a:srgbClr val="FFFFFF"/>
                </a:solidFill>
                <a:latin typeface="Calibri"/>
              </a:rPr>
              <a:t>Systems Landscape Overview</a:t>
            </a:r>
          </a:p>
        </p:txBody>
      </p:sp>
      <p:graphicFrame>
        <p:nvGraphicFramePr>
          <p:cNvPr id="6" name="Table 5"/>
          <p:cNvGraphicFramePr>
            <a:graphicFrameLocks noGrp="1"/>
          </p:cNvGraphicFramePr>
          <p:nvPr/>
        </p:nvGraphicFramePr>
        <p:xfrm>
          <a:off x="320040" y="1097280"/>
          <a:ext cx="11521440" cy="3657600"/>
        </p:xfrm>
        <a:graphic>
          <a:graphicData uri="http://schemas.openxmlformats.org/drawingml/2006/table">
            <a:tbl>
              <a:tblPr firstRow="1" bandRow="1">
                <a:tableStyleId>{5C22544A-7EE6-4342-B048-85BDC9FD1C3A}</a:tableStyleId>
              </a:tblPr>
              <a:tblGrid>
                <a:gridCol w="1554480"/>
                <a:gridCol w="2103120"/>
                <a:gridCol w="3108960"/>
                <a:gridCol w="4754880"/>
              </a:tblGrid>
              <a:tr h="522514">
                <a:tc>
                  <a:txBody>
                    <a:bodyPr/>
                    <a:lstStyle/>
                    <a:p>
                      <a:pPr algn="l"/>
                      <a:r>
                        <a:rPr sz="1100" b="1" i="0">
                          <a:solidFill>
                            <a:srgbClr val="FFFFFF"/>
                          </a:solidFill>
                          <a:latin typeface="Calibri"/>
                        </a:rPr>
                        <a:t>System</a:t>
                      </a:r>
                    </a:p>
                  </a:txBody>
                  <a:tcPr anchor="ctr" marT="38100" marB="38100" marL="76200" marR="76200">
                    <a:solidFill>
                      <a:srgbClr val="1B2E44"/>
                    </a:solidFill>
                  </a:tcPr>
                </a:tc>
                <a:tc>
                  <a:txBody>
                    <a:bodyPr/>
                    <a:lstStyle/>
                    <a:p>
                      <a:pPr algn="l"/>
                      <a:r>
                        <a:rPr sz="1100" b="1" i="0">
                          <a:solidFill>
                            <a:srgbClr val="FFFFFF"/>
                          </a:solidFill>
                          <a:latin typeface="Calibri"/>
                        </a:rPr>
                        <a:t>Version / release</a:t>
                      </a:r>
                    </a:p>
                  </a:txBody>
                  <a:tcPr anchor="ctr" marT="38100" marB="38100" marL="76200" marR="76200">
                    <a:solidFill>
                      <a:srgbClr val="1B2E44"/>
                    </a:solidFill>
                  </a:tcPr>
                </a:tc>
                <a:tc>
                  <a:txBody>
                    <a:bodyPr/>
                    <a:lstStyle/>
                    <a:p>
                      <a:pPr algn="l"/>
                      <a:r>
                        <a:rPr sz="1100" b="1" i="0">
                          <a:solidFill>
                            <a:srgbClr val="FFFFFF"/>
                          </a:solidFill>
                          <a:latin typeface="Calibri"/>
                        </a:rPr>
                        <a:t>Host(s)</a:t>
                      </a:r>
                    </a:p>
                  </a:txBody>
                  <a:tcPr anchor="ctr" marT="38100" marB="38100" marL="76200" marR="76200">
                    <a:solidFill>
                      <a:srgbClr val="1B2E44"/>
                    </a:solidFill>
                  </a:tcPr>
                </a:tc>
                <a:tc>
                  <a:txBody>
                    <a:bodyPr/>
                    <a:lstStyle/>
                    <a:p>
                      <a:pPr algn="l"/>
                      <a:r>
                        <a:rPr sz="1100" b="1" i="0">
                          <a:solidFill>
                            <a:srgbClr val="FFFFFF"/>
                          </a:solidFill>
                          <a:latin typeface="Calibri"/>
                        </a:rPr>
                        <a:t>Notes</a:t>
                      </a:r>
                    </a:p>
                  </a:txBody>
                  <a:tcPr anchor="ctr" marT="38100" marB="38100" marL="76200" marR="76200">
                    <a:solidFill>
                      <a:srgbClr val="1B2E44"/>
                    </a:solidFill>
                  </a:tcPr>
                </a:tc>
              </a:tr>
              <a:tr h="522514">
                <a:tc>
                  <a:txBody>
                    <a:bodyPr/>
                    <a:lstStyle/>
                    <a:p>
                      <a:r>
                        <a:rPr sz="1050" b="0" i="0">
                          <a:solidFill>
                            <a:srgbClr val="202022"/>
                          </a:solidFill>
                          <a:latin typeface="Calibri"/>
                        </a:rPr>
                        <a:t>ORION (OLTP)</a:t>
                      </a:r>
                    </a:p>
                  </a:txBody>
                  <a:tcPr anchor="ctr" marT="25400" marB="25400" marL="76200" marR="76200">
                    <a:solidFill>
                      <a:srgbClr val="FFFFFF"/>
                    </a:solidFill>
                  </a:tcPr>
                </a:tc>
                <a:tc>
                  <a:txBody>
                    <a:bodyPr/>
                    <a:lstStyle/>
                    <a:p>
                      <a:r>
                        <a:rPr sz="1050" b="0" i="0">
                          <a:solidFill>
                            <a:srgbClr val="202022"/>
                          </a:solidFill>
                          <a:latin typeface="Calibri"/>
                        </a:rPr>
                        <a:t>Oracle DB 19c EE 19.18.0.0.0; app release R12.2.8</a:t>
                      </a:r>
                    </a:p>
                  </a:txBody>
                  <a:tcPr anchor="ctr" marT="25400" marB="25400" marL="76200" marR="76200">
                    <a:solidFill>
                      <a:srgbClr val="FFFFFF"/>
                    </a:solidFill>
                  </a:tcPr>
                </a:tc>
                <a:tc>
                  <a:txBody>
                    <a:bodyPr/>
                    <a:lstStyle/>
                    <a:p>
                      <a:r>
                        <a:rPr sz="1050" b="0" i="0">
                          <a:solidFill>
                            <a:srgbClr val="202022"/>
                          </a:solidFill>
                          <a:latin typeface="Calibri"/>
                        </a:rPr>
                        <a:t>orion-db-prd-01.bcpl.local (Mumbai, 2-node RAC); standby orion-db-dr-01 (Hyderabad, physical standby, not used for reporting)</a:t>
                      </a:r>
                    </a:p>
                  </a:txBody>
                  <a:tcPr anchor="ctr" marT="25400" marB="25400" marL="76200" marR="76200">
                    <a:solidFill>
                      <a:srgbClr val="FFFFFF"/>
                    </a:solidFill>
                  </a:tcPr>
                </a:tc>
                <a:tc>
                  <a:txBody>
                    <a:bodyPr/>
                    <a:lstStyle/>
                    <a:p>
                      <a:r>
                        <a:rPr sz="1050" b="0" i="0">
                          <a:solidFill>
                            <a:srgbClr val="202022"/>
                          </a:solidFill>
                          <a:latin typeface="Calibri"/>
                        </a:rPr>
                        <a:t>Order-to-cash. Built 2009. Oracle Forms/Reports front end, later partially re-fronted in ADF.</a:t>
                      </a:r>
                    </a:p>
                  </a:txBody>
                  <a:tcPr anchor="ctr" marT="25400" marB="25400" marL="76200" marR="76200">
                    <a:solidFill>
                      <a:srgbClr val="FFFFFF"/>
                    </a:solidFill>
                  </a:tcPr>
                </a:tc>
              </a:tr>
              <a:tr h="522514">
                <a:tc>
                  <a:txBody>
                    <a:bodyPr/>
                    <a:lstStyle/>
                    <a:p>
                      <a:r>
                        <a:rPr sz="1050" b="0" i="0">
                          <a:solidFill>
                            <a:srgbClr val="202022"/>
                          </a:solidFill>
                          <a:latin typeface="Calibri"/>
                        </a:rPr>
                        <a:t>BCPL_EDW (warehouse)</a:t>
                      </a:r>
                    </a:p>
                  </a:txBody>
                  <a:tcPr anchor="ctr" marT="25400" marB="25400" marL="76200" marR="76200">
                    <a:solidFill>
                      <a:srgbClr val="F3F3F1"/>
                    </a:solidFill>
                  </a:tcPr>
                </a:tc>
                <a:tc>
                  <a:txBody>
                    <a:bodyPr/>
                    <a:lstStyle/>
                    <a:p>
                      <a:r>
                        <a:rPr sz="1050" b="0" i="0">
                          <a:solidFill>
                            <a:srgbClr val="202022"/>
                          </a:solidFill>
                          <a:latin typeface="Calibri"/>
                        </a:rPr>
                        <a:t>Oracle DB 19c EE</a:t>
                      </a:r>
                    </a:p>
                  </a:txBody>
                  <a:tcPr anchor="ctr" marT="25400" marB="25400" marL="76200" marR="76200">
                    <a:solidFill>
                      <a:srgbClr val="F3F3F1"/>
                    </a:solidFill>
                  </a:tcPr>
                </a:tc>
                <a:tc>
                  <a:txBody>
                    <a:bodyPr/>
                    <a:lstStyle/>
                    <a:p>
                      <a:r>
                        <a:rPr sz="1050" b="0" i="0">
                          <a:solidFill>
                            <a:srgbClr val="202022"/>
                          </a:solidFill>
                          <a:latin typeface="Calibri"/>
                        </a:rPr>
                        <a:t>edw-db-prd-01.bcpl.local</a:t>
                      </a:r>
                    </a:p>
                  </a:txBody>
                  <a:tcPr anchor="ctr" marT="25400" marB="25400" marL="76200" marR="76200">
                    <a:solidFill>
                      <a:srgbClr val="F3F3F1"/>
                    </a:solidFill>
                  </a:tcPr>
                </a:tc>
                <a:tc>
                  <a:txBody>
                    <a:bodyPr/>
                    <a:lstStyle/>
                    <a:p>
                      <a:r>
                        <a:rPr sz="1050" b="0" i="0">
                          <a:solidFill>
                            <a:srgbClr val="202022"/>
                          </a:solidFill>
                          <a:latin typeface="Calibri"/>
                        </a:rPr>
                        <a:t>Star schema. 4.1 TB allocated, approx. 2.8 TB used. Tablespaces EDW_DATA / EDW_IDX / STG_DATA.</a:t>
                      </a:r>
                    </a:p>
                  </a:txBody>
                  <a:tcPr anchor="ctr" marT="25400" marB="25400" marL="76200" marR="76200">
                    <a:solidFill>
                      <a:srgbClr val="F3F3F1"/>
                    </a:solidFill>
                  </a:tcPr>
                </a:tc>
              </a:tr>
              <a:tr h="522514">
                <a:tc>
                  <a:txBody>
                    <a:bodyPr/>
                    <a:lstStyle/>
                    <a:p>
                      <a:r>
                        <a:rPr sz="1050" b="0" i="0">
                          <a:solidFill>
                            <a:srgbClr val="202022"/>
                          </a:solidFill>
                          <a:latin typeface="Calibri"/>
                        </a:rPr>
                        <a:t>ODI</a:t>
                      </a:r>
                    </a:p>
                  </a:txBody>
                  <a:tcPr anchor="ctr" marT="25400" marB="25400" marL="76200" marR="76200">
                    <a:solidFill>
                      <a:srgbClr val="FFFFFF"/>
                    </a:solidFill>
                  </a:tcPr>
                </a:tc>
                <a:tc>
                  <a:txBody>
                    <a:bodyPr/>
                    <a:lstStyle/>
                    <a:p>
                      <a:r>
                        <a:rPr sz="1050" b="0" i="0">
                          <a:solidFill>
                            <a:srgbClr val="202022"/>
                          </a:solidFill>
                          <a:latin typeface="Calibri"/>
                        </a:rPr>
                        <a:t>Oracle Data Integrator 12c, 12.2.1.4.0</a:t>
                      </a:r>
                    </a:p>
                  </a:txBody>
                  <a:tcPr anchor="ctr" marT="25400" marB="25400" marL="76200" marR="76200">
                    <a:solidFill>
                      <a:srgbClr val="FFFFFF"/>
                    </a:solidFill>
                  </a:tcPr>
                </a:tc>
                <a:tc>
                  <a:txBody>
                    <a:bodyPr/>
                    <a:lstStyle/>
                    <a:p>
                      <a:r>
                        <a:rPr sz="1050" b="0" i="0">
                          <a:solidFill>
                            <a:srgbClr val="202022"/>
                          </a:solidFill>
                          <a:latin typeface="Calibri"/>
                        </a:rPr>
                        <a:t>Agent OracleDIAgent1 on edw-app-prd-02.bcpl.local, port 20910</a:t>
                      </a:r>
                    </a:p>
                  </a:txBody>
                  <a:tcPr anchor="ctr" marT="25400" marB="25400" marL="76200" marR="76200">
                    <a:solidFill>
                      <a:srgbClr val="FFFFFF"/>
                    </a:solidFill>
                  </a:tcPr>
                </a:tc>
                <a:tc>
                  <a:txBody>
                    <a:bodyPr/>
                    <a:lstStyle/>
                    <a:p>
                      <a:r>
                        <a:rPr sz="1050" b="0" i="0">
                          <a:solidFill>
                            <a:srgbClr val="202022"/>
                          </a:solidFill>
                          <a:latin typeface="Calibri"/>
                        </a:rPr>
                        <a:t>Master repo ODI_MASTER, work repo ODI_WORK, both on the EDW instance.</a:t>
                      </a:r>
                    </a:p>
                  </a:txBody>
                  <a:tcPr anchor="ctr" marT="25400" marB="25400" marL="76200" marR="76200">
                    <a:solidFill>
                      <a:srgbClr val="FFFFFF"/>
                    </a:solidFill>
                  </a:tcPr>
                </a:tc>
              </a:tr>
              <a:tr h="522514">
                <a:tc>
                  <a:txBody>
                    <a:bodyPr/>
                    <a:lstStyle/>
                    <a:p>
                      <a:r>
                        <a:rPr sz="1050" b="0" i="0">
                          <a:solidFill>
                            <a:srgbClr val="202022"/>
                          </a:solidFill>
                          <a:latin typeface="Calibri"/>
                        </a:rPr>
                        <a:t>OBIEE (legacy reporting)</a:t>
                      </a:r>
                    </a:p>
                  </a:txBody>
                  <a:tcPr anchor="ctr" marT="25400" marB="25400" marL="76200" marR="76200">
                    <a:solidFill>
                      <a:srgbClr val="F3F3F1"/>
                    </a:solidFill>
                  </a:tcPr>
                </a:tc>
                <a:tc>
                  <a:txBody>
                    <a:bodyPr/>
                    <a:lstStyle/>
                    <a:p>
                      <a:r>
                        <a:rPr sz="1050" b="0" i="0">
                          <a:solidFill>
                            <a:srgbClr val="202022"/>
                          </a:solidFill>
                          <a:latin typeface="Calibri"/>
                        </a:rPr>
                        <a:t>11g, 11.1.1.9</a:t>
                      </a:r>
                    </a:p>
                  </a:txBody>
                  <a:tcPr anchor="ctr" marT="25400" marB="25400" marL="76200" marR="76200">
                    <a:solidFill>
                      <a:srgbClr val="F3F3F1"/>
                    </a:solidFill>
                  </a:tcPr>
                </a:tc>
                <a:tc>
                  <a:txBody>
                    <a:bodyPr/>
                    <a:lstStyle/>
                    <a:p>
                      <a:r>
                        <a:rPr sz="1050" b="0" i="0">
                          <a:solidFill>
                            <a:srgbClr val="202022"/>
                          </a:solidFill>
                          <a:latin typeface="Calibri"/>
                        </a:rPr>
                        <a:t>-</a:t>
                      </a:r>
                    </a:p>
                  </a:txBody>
                  <a:tcPr anchor="ctr" marT="25400" marB="25400" marL="76200" marR="76200">
                    <a:solidFill>
                      <a:srgbClr val="F3F3F1"/>
                    </a:solidFill>
                  </a:tcPr>
                </a:tc>
                <a:tc>
                  <a:txBody>
                    <a:bodyPr/>
                    <a:lstStyle/>
                    <a:p>
                      <a:r>
                        <a:rPr sz="1050" b="0" i="0">
                          <a:solidFill>
                            <a:srgbClr val="202022"/>
                          </a:solidFill>
                          <a:latin typeface="Calibri"/>
                        </a:rPr>
                        <a:t>41 catalogue reports, of which 12 are actually used. RPD last modified 2019.</a:t>
                      </a:r>
                    </a:p>
                  </a:txBody>
                  <a:tcPr anchor="ctr" marT="25400" marB="25400" marL="76200" marR="76200">
                    <a:solidFill>
                      <a:srgbClr val="F3F3F1"/>
                    </a:solidFill>
                  </a:tcPr>
                </a:tc>
              </a:tr>
              <a:tr h="522514">
                <a:tc>
                  <a:txBody>
                    <a:bodyPr/>
                    <a:lstStyle/>
                    <a:p>
                      <a:r>
                        <a:rPr sz="1050" b="0" i="0">
                          <a:solidFill>
                            <a:srgbClr val="202022"/>
                          </a:solidFill>
                          <a:latin typeface="Calibri"/>
                        </a:rPr>
                        <a:t>Power BI (target)</a:t>
                      </a:r>
                    </a:p>
                  </a:txBody>
                  <a:tcPr anchor="ctr" marT="25400" marB="25400" marL="76200" marR="76200">
                    <a:solidFill>
                      <a:srgbClr val="FFFFFF"/>
                    </a:solidFill>
                  </a:tcPr>
                </a:tc>
                <a:tc>
                  <a:txBody>
                    <a:bodyPr/>
                    <a:lstStyle/>
                    <a:p>
                      <a:r>
                        <a:rPr sz="1050" b="0" i="0">
                          <a:solidFill>
                            <a:srgbClr val="202022"/>
                          </a:solidFill>
                          <a:latin typeface="Calibri"/>
                        </a:rPr>
                        <a:t>Premium P1 capacity</a:t>
                      </a:r>
                    </a:p>
                  </a:txBody>
                  <a:tcPr anchor="ctr" marT="25400" marB="25400" marL="76200" marR="76200">
                    <a:solidFill>
                      <a:srgbClr val="FFFFFF"/>
                    </a:solidFill>
                  </a:tcPr>
                </a:tc>
                <a:tc>
                  <a:txBody>
                    <a:bodyPr/>
                    <a:lstStyle/>
                    <a:p>
                      <a:r>
                        <a:rPr sz="1050" b="0" i="0">
                          <a:solidFill>
                            <a:srgbClr val="202022"/>
                          </a:solidFill>
                          <a:latin typeface="Calibri"/>
                        </a:rPr>
                        <a:t>Gateway bi-gw-prd-01.bcpl.local</a:t>
                      </a:r>
                    </a:p>
                  </a:txBody>
                  <a:tcPr anchor="ctr" marT="25400" marB="25400" marL="76200" marR="76200">
                    <a:solidFill>
                      <a:srgbClr val="FFFFFF"/>
                    </a:solidFill>
                  </a:tcPr>
                </a:tc>
                <a:tc>
                  <a:txBody>
                    <a:bodyPr/>
                    <a:lstStyle/>
                    <a:p>
                      <a:r>
                        <a:rPr sz="1050" b="0" i="0">
                          <a:solidFill>
                            <a:srgbClr val="202022"/>
                          </a:solidFill>
                          <a:latin typeface="Calibri"/>
                        </a:rPr>
                        <a:t>Tenant bharadwajcp, workspace BCPL-DRISHTI-PRD (plus -DEV, -UAT).</a:t>
                      </a:r>
                    </a:p>
                  </a:txBody>
                  <a:tcPr anchor="ctr" marT="25400" marB="25400" marL="76200" marR="76200">
                    <a:solidFill>
                      <a:srgbClr val="FFFFFF"/>
                    </a:solidFill>
                  </a:tcPr>
                </a:tc>
              </a:tr>
              <a:tr h="522516">
                <a:tc>
                  <a:txBody>
                    <a:bodyPr/>
                    <a:lstStyle/>
                    <a:p>
                      <a:r>
                        <a:rPr sz="1050" b="0" i="0">
                          <a:solidFill>
                            <a:srgbClr val="202022"/>
                          </a:solidFill>
                          <a:latin typeface="Calibri"/>
                        </a:rPr>
                        <a:t>Control-M</a:t>
                      </a:r>
                    </a:p>
                  </a:txBody>
                  <a:tcPr anchor="ctr" marT="25400" marB="25400" marL="76200" marR="76200">
                    <a:solidFill>
                      <a:srgbClr val="F3F3F1"/>
                    </a:solidFill>
                  </a:tcPr>
                </a:tc>
                <a:tc>
                  <a:txBody>
                    <a:bodyPr/>
                    <a:lstStyle/>
                    <a:p>
                      <a:r>
                        <a:rPr sz="1050" b="0" i="0">
                          <a:solidFill>
                            <a:srgbClr val="202022"/>
                          </a:solidFill>
                          <a:latin typeface="Calibri"/>
                        </a:rPr>
                        <a:t>9.0.20</a:t>
                      </a:r>
                    </a:p>
                  </a:txBody>
                  <a:tcPr anchor="ctr" marT="25400" marB="25400" marL="76200" marR="76200">
                    <a:solidFill>
                      <a:srgbClr val="F3F3F1"/>
                    </a:solidFill>
                  </a:tcPr>
                </a:tc>
                <a:tc>
                  <a:txBody>
                    <a:bodyPr/>
                    <a:lstStyle/>
                    <a:p>
                      <a:r>
                        <a:rPr sz="1050" b="0" i="0">
                          <a:solidFill>
                            <a:srgbClr val="202022"/>
                          </a:solidFill>
                          <a:latin typeface="Calibri"/>
                        </a:rPr>
                        <a:t>-</a:t>
                      </a:r>
                    </a:p>
                  </a:txBody>
                  <a:tcPr anchor="ctr" marT="25400" marB="25400" marL="76200" marR="76200">
                    <a:solidFill>
                      <a:srgbClr val="F3F3F1"/>
                    </a:solidFill>
                  </a:tcPr>
                </a:tc>
                <a:tc>
                  <a:txBody>
                    <a:bodyPr/>
                    <a:lstStyle/>
                    <a:p>
                      <a:r>
                        <a:rPr sz="1050" b="0" i="0">
                          <a:solidFill>
                            <a:srgbClr val="202022"/>
                          </a:solidFill>
                          <a:latin typeface="Calibri"/>
                        </a:rPr>
                        <a:t>Folder BCPL_EDW_DAILY holds the warehouse jobs. Schedules nothing inside FIN_PROD.</a:t>
                      </a:r>
                    </a:p>
                  </a:txBody>
                  <a:tcPr anchor="ctr" marT="25400" marB="25400" marL="76200" marR="76200">
                    <a:solidFill>
                      <a:srgbClr val="F3F3F1"/>
                    </a:solidFill>
                  </a:tcPr>
                </a:tc>
              </a:tr>
            </a:tbl>
          </a:graphicData>
        </a:graphic>
      </p:graphicFrame>
      <p:sp>
        <p:nvSpPr>
          <p:cNvPr id="7" name="TextBox 6"/>
          <p:cNvSpPr txBox="1"/>
          <p:nvPr/>
        </p:nvSpPr>
        <p:spPr>
          <a:xfrm>
            <a:off x="457200" y="4892040"/>
            <a:ext cx="11247120" cy="1463040"/>
          </a:xfrm>
          <a:prstGeom prst="rect">
            <a:avLst/>
          </a:prstGeom>
          <a:noFill/>
        </p:spPr>
        <p:txBody>
          <a:bodyPr wrap="square">
            <a:spAutoFit/>
          </a:bodyPr>
          <a:lstStyle/>
          <a:p>
            <a:pPr>
              <a:lnSpc>
                <a:spcPct val="108000"/>
              </a:lnSpc>
              <a:spcAft>
                <a:spcPts val="600"/>
              </a:spcAft>
            </a:pPr>
            <a:r>
              <a:rPr sz="1300" b="0" i="0">
                <a:solidFill>
                  <a:srgbClr val="202022"/>
                </a:solidFill>
                <a:latin typeface="Calibri"/>
              </a:rPr>
              <a:t>• STG_ORION (the staging schema) sits physically inside the EDW instance, not inside ORION. People on the client side get this wrong in conversation constantly.</a:t>
            </a:r>
          </a:p>
          <a:p>
            <a:pPr>
              <a:lnSpc>
                <a:spcPct val="108000"/>
              </a:lnSpc>
              <a:spcAft>
                <a:spcPts val="600"/>
              </a:spcAft>
            </a:pPr>
            <a:r>
              <a:rPr sz="1300" b="0" i="0">
                <a:solidFill>
                  <a:srgbClr val="202022"/>
                </a:solidFill>
                <a:latin typeface="Calibri"/>
              </a:rPr>
              <a:t>• A single private database link, ORION_PRD, runs from STG_ORION to OMS_RO@orion-db-prd-01 and is the only path the extract mappings take out of ORION.</a:t>
            </a:r>
          </a:p>
        </p:txBody>
      </p:sp>
      <p:sp>
        <p:nvSpPr>
          <p:cNvPr id="8" name="Rectangle 7"/>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0" name="TextBox 9"/>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2743200" cy="1280160"/>
          </a:xfrm>
          <a:prstGeom prst="rect">
            <a:avLst/>
          </a:prstGeom>
          <a:noFill/>
        </p:spPr>
        <p:txBody>
          <a:bodyPr wrap="none">
            <a:spAutoFit/>
          </a:bodyPr>
          <a:lstStyle/>
          <a:p>
            <a:r>
              <a:rPr sz="6400" b="1" i="0">
                <a:solidFill>
                  <a:srgbClr val="B88A2E"/>
                </a:solidFill>
                <a:latin typeface="Calibri"/>
              </a:rPr>
              <a:t>02</a:t>
            </a:r>
          </a:p>
        </p:txBody>
      </p:sp>
      <p:sp>
        <p:nvSpPr>
          <p:cNvPr id="4" name="TextBox 3"/>
          <p:cNvSpPr txBox="1"/>
          <p:nvPr/>
        </p:nvSpPr>
        <p:spPr>
          <a:xfrm>
            <a:off x="2377440" y="2697480"/>
            <a:ext cx="8961120" cy="914400"/>
          </a:xfrm>
          <a:prstGeom prst="rect">
            <a:avLst/>
          </a:prstGeom>
          <a:noFill/>
        </p:spPr>
        <p:txBody>
          <a:bodyPr wrap="square">
            <a:spAutoFit/>
          </a:bodyPr>
          <a:lstStyle/>
          <a:p>
            <a:r>
              <a:rPr sz="3200" b="1" i="0">
                <a:solidFill>
                  <a:srgbClr val="FFFFFF"/>
                </a:solidFill>
                <a:latin typeface="Calibri"/>
              </a:rPr>
              <a:t>Source Schema &amp; Data</a:t>
            </a:r>
          </a:p>
        </p:txBody>
      </p:sp>
      <p:sp>
        <p:nvSpPr>
          <p:cNvPr id="5" name="Rectangle 4"/>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7" name="TextBox 6"/>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02 · SOURCE SCHEMA &amp; DATA</a:t>
            </a:r>
          </a:p>
        </p:txBody>
      </p:sp>
      <p:sp>
        <p:nvSpPr>
          <p:cNvPr id="5" name="TextBox 4"/>
          <p:cNvSpPr txBox="1"/>
          <p:nvPr/>
        </p:nvSpPr>
        <p:spPr>
          <a:xfrm>
            <a:off x="365760" y="310896"/>
            <a:ext cx="11247120" cy="640080"/>
          </a:xfrm>
          <a:prstGeom prst="rect">
            <a:avLst/>
          </a:prstGeom>
          <a:noFill/>
        </p:spPr>
        <p:txBody>
          <a:bodyPr wrap="square">
            <a:spAutoFit/>
          </a:bodyPr>
          <a:lstStyle/>
          <a:p>
            <a:r>
              <a:rPr sz="2600" b="1" i="0">
                <a:solidFill>
                  <a:srgbClr val="FFFFFF"/>
                </a:solidFill>
                <a:latin typeface="Calibri"/>
              </a:rPr>
              <a:t>OLTP Schema Overview: OMS_PROD / FIN_PROD</a:t>
            </a:r>
          </a:p>
        </p:txBody>
      </p:sp>
      <p:graphicFrame>
        <p:nvGraphicFramePr>
          <p:cNvPr id="6" name="Table 5"/>
          <p:cNvGraphicFramePr>
            <a:graphicFrameLocks noGrp="1"/>
          </p:cNvGraphicFramePr>
          <p:nvPr/>
        </p:nvGraphicFramePr>
        <p:xfrm>
          <a:off x="365760" y="1143000"/>
          <a:ext cx="11430000" cy="2377440"/>
        </p:xfrm>
        <a:graphic>
          <a:graphicData uri="http://schemas.openxmlformats.org/drawingml/2006/table">
            <a:tbl>
              <a:tblPr firstRow="1" bandRow="1">
                <a:tableStyleId>{5C22544A-7EE6-4342-B048-85BDC9FD1C3A}</a:tableStyleId>
              </a:tblPr>
              <a:tblGrid>
                <a:gridCol w="2743200"/>
                <a:gridCol w="914400"/>
                <a:gridCol w="7772400"/>
              </a:tblGrid>
              <a:tr h="594360">
                <a:tc>
                  <a:txBody>
                    <a:bodyPr/>
                    <a:lstStyle/>
                    <a:p>
                      <a:pPr algn="l"/>
                      <a:r>
                        <a:rPr sz="1200" b="1" i="0">
                          <a:solidFill>
                            <a:srgbClr val="FFFFFF"/>
                          </a:solidFill>
                          <a:latin typeface="Calibri"/>
                        </a:rPr>
                        <a:t>Schema</a:t>
                      </a:r>
                    </a:p>
                  </a:txBody>
                  <a:tcPr anchor="ctr" marT="38100" marB="38100" marL="76200" marR="76200">
                    <a:solidFill>
                      <a:srgbClr val="1B2E44"/>
                    </a:solidFill>
                  </a:tcPr>
                </a:tc>
                <a:tc>
                  <a:txBody>
                    <a:bodyPr/>
                    <a:lstStyle/>
                    <a:p>
                      <a:pPr algn="l"/>
                      <a:r>
                        <a:rPr sz="1200" b="1" i="0">
                          <a:solidFill>
                            <a:srgbClr val="FFFFFF"/>
                          </a:solidFill>
                          <a:latin typeface="Calibri"/>
                        </a:rPr>
                        <a:t>Tables</a:t>
                      </a:r>
                    </a:p>
                  </a:txBody>
                  <a:tcPr anchor="ctr" marT="38100" marB="38100" marL="76200" marR="76200">
                    <a:solidFill>
                      <a:srgbClr val="1B2E44"/>
                    </a:solidFill>
                  </a:tcPr>
                </a:tc>
                <a:tc>
                  <a:txBody>
                    <a:bodyPr/>
                    <a:lstStyle/>
                    <a:p>
                      <a:pPr algn="l"/>
                      <a:r>
                        <a:rPr sz="1200" b="1" i="0">
                          <a:solidFill>
                            <a:srgbClr val="FFFFFF"/>
                          </a:solidFill>
                          <a:latin typeface="Calibri"/>
                        </a:rPr>
                        <a:t>Representative objects</a:t>
                      </a:r>
                    </a:p>
                  </a:txBody>
                  <a:tcPr anchor="ctr" marT="38100" marB="38100" marL="76200" marR="76200">
                    <a:solidFill>
                      <a:srgbClr val="1B2E44"/>
                    </a:solidFill>
                  </a:tcPr>
                </a:tc>
              </a:tr>
              <a:tr h="594360">
                <a:tc>
                  <a:txBody>
                    <a:bodyPr/>
                    <a:lstStyle/>
                    <a:p>
                      <a:r>
                        <a:rPr sz="1150" b="0" i="0">
                          <a:solidFill>
                            <a:srgbClr val="202022"/>
                          </a:solidFill>
                          <a:latin typeface="Calibri"/>
                        </a:rPr>
                        <a:t>OMS_PROD (order to cash)</a:t>
                      </a:r>
                    </a:p>
                  </a:txBody>
                  <a:tcPr anchor="ctr" marT="25400" marB="25400" marL="76200" marR="76200">
                    <a:solidFill>
                      <a:srgbClr val="FFFFFF"/>
                    </a:solidFill>
                  </a:tcPr>
                </a:tc>
                <a:tc>
                  <a:txBody>
                    <a:bodyPr/>
                    <a:lstStyle/>
                    <a:p>
                      <a:r>
                        <a:rPr sz="1150" b="0" i="0">
                          <a:solidFill>
                            <a:srgbClr val="202022"/>
                          </a:solidFill>
                          <a:latin typeface="Calibri"/>
                        </a:rPr>
                        <a:t>13</a:t>
                      </a:r>
                    </a:p>
                  </a:txBody>
                  <a:tcPr anchor="ctr" marT="25400" marB="25400" marL="76200" marR="76200">
                    <a:solidFill>
                      <a:srgbClr val="FFFFFF"/>
                    </a:solidFill>
                  </a:tcPr>
                </a:tc>
                <a:tc>
                  <a:txBody>
                    <a:bodyPr/>
                    <a:lstStyle/>
                    <a:p>
                      <a:r>
                        <a:rPr sz="1150" b="0" i="0">
                          <a:solidFill>
                            <a:srgbClr val="202022"/>
                          </a:solidFill>
                          <a:latin typeface="Calibri"/>
                        </a:rPr>
                        <a:t>CUSTOMER, CUSTOMER_TERRITORY_HIST, SKU_MASTER, INVOICE_HEADER, INVOICE_LINE, INVOICE_LINE_ARCHIVE, ORDER_HEADER, ORDER_LINE, SCHEME_MASTER, CREDIT_NOTE, CREDIT_NOTE_LINE, DEPOT_MASTER, TERRITORY_MASTER</a:t>
                      </a:r>
                    </a:p>
                  </a:txBody>
                  <a:tcPr anchor="ctr" marT="25400" marB="25400" marL="76200" marR="76200">
                    <a:solidFill>
                      <a:srgbClr val="FFFFFF"/>
                    </a:solidFill>
                  </a:tcPr>
                </a:tc>
              </a:tr>
              <a:tr h="594360">
                <a:tc>
                  <a:txBody>
                    <a:bodyPr/>
                    <a:lstStyle/>
                    <a:p>
                      <a:r>
                        <a:rPr sz="1150" b="0" i="0">
                          <a:solidFill>
                            <a:srgbClr val="202022"/>
                          </a:solidFill>
                          <a:latin typeface="Calibri"/>
                        </a:rPr>
                        <a:t>FIN_PROD (GL, AR, tax, month end)</a:t>
                      </a:r>
                    </a:p>
                  </a:txBody>
                  <a:tcPr anchor="ctr" marT="25400" marB="25400" marL="76200" marR="76200">
                    <a:solidFill>
                      <a:srgbClr val="F3F3F1"/>
                    </a:solidFill>
                  </a:tcPr>
                </a:tc>
                <a:tc>
                  <a:txBody>
                    <a:bodyPr/>
                    <a:lstStyle/>
                    <a:p>
                      <a:r>
                        <a:rPr sz="1150" b="0" i="0">
                          <a:solidFill>
                            <a:srgbClr val="202022"/>
                          </a:solidFill>
                          <a:latin typeface="Calibri"/>
                        </a:rPr>
                        <a:t>7</a:t>
                      </a:r>
                    </a:p>
                  </a:txBody>
                  <a:tcPr anchor="ctr" marT="25400" marB="25400" marL="76200" marR="76200">
                    <a:solidFill>
                      <a:srgbClr val="F3F3F1"/>
                    </a:solidFill>
                  </a:tcPr>
                </a:tc>
                <a:tc>
                  <a:txBody>
                    <a:bodyPr/>
                    <a:lstStyle/>
                    <a:p>
                      <a:r>
                        <a:rPr sz="1150" b="0" i="0">
                          <a:solidFill>
                            <a:srgbClr val="202022"/>
                          </a:solidFill>
                          <a:latin typeface="Calibri"/>
                        </a:rPr>
                        <a:t>TAX_RATE_MASTER, SCHEME_ACCRUAL, PERIOD_CONTROL, GL_ACCOUNT_MASTER, GL_JOURNAL_HDR, GL_JOURNAL_LINE, AR_OPEN_ITEM</a:t>
                      </a:r>
                    </a:p>
                  </a:txBody>
                  <a:tcPr anchor="ctr" marT="25400" marB="25400" marL="76200" marR="76200">
                    <a:solidFill>
                      <a:srgbClr val="F3F3F1"/>
                    </a:solidFill>
                  </a:tcPr>
                </a:tc>
              </a:tr>
              <a:tr h="594360">
                <a:tc>
                  <a:txBody>
                    <a:bodyPr/>
                    <a:lstStyle/>
                    <a:p>
                      <a:r>
                        <a:rPr sz="1150" b="0" i="0">
                          <a:solidFill>
                            <a:srgbClr val="202022"/>
                          </a:solidFill>
                          <a:latin typeface="Calibri"/>
                        </a:rPr>
                        <a:t>OLTP total</a:t>
                      </a:r>
                    </a:p>
                  </a:txBody>
                  <a:tcPr anchor="ctr" marT="25400" marB="25400" marL="76200" marR="76200">
                    <a:solidFill>
                      <a:srgbClr val="FFFFFF"/>
                    </a:solidFill>
                  </a:tcPr>
                </a:tc>
                <a:tc>
                  <a:txBody>
                    <a:bodyPr/>
                    <a:lstStyle/>
                    <a:p>
                      <a:r>
                        <a:rPr sz="1150" b="0" i="0">
                          <a:solidFill>
                            <a:srgbClr val="202022"/>
                          </a:solidFill>
                          <a:latin typeface="Calibri"/>
                        </a:rPr>
                        <a:t>20</a:t>
                      </a:r>
                    </a:p>
                  </a:txBody>
                  <a:tcPr anchor="ctr" marT="25400" marB="25400" marL="76200" marR="76200">
                    <a:solidFill>
                      <a:srgbClr val="FFFFFF"/>
                    </a:solidFill>
                  </a:tcPr>
                </a:tc>
                <a:tc>
                  <a:txBody>
                    <a:bodyPr/>
                    <a:lstStyle/>
                    <a:p>
                      <a:r>
                        <a:rPr sz="1150" b="0" i="0">
                          <a:solidFill>
                            <a:srgbClr val="202022"/>
                          </a:solidFill>
                          <a:latin typeface="Calibri"/>
                        </a:rPr>
                        <a:t>-</a:t>
                      </a:r>
                    </a:p>
                  </a:txBody>
                  <a:tcPr anchor="ctr" marT="25400" marB="25400" marL="76200" marR="76200">
                    <a:solidFill>
                      <a:srgbClr val="FFFFFF"/>
                    </a:solidFill>
                  </a:tcPr>
                </a:tc>
              </a:tr>
            </a:tbl>
          </a:graphicData>
        </a:graphic>
      </p:graphicFrame>
      <p:sp>
        <p:nvSpPr>
          <p:cNvPr id="7" name="TextBox 6"/>
          <p:cNvSpPr txBox="1"/>
          <p:nvPr/>
        </p:nvSpPr>
        <p:spPr>
          <a:xfrm>
            <a:off x="457200" y="3703320"/>
            <a:ext cx="11247120" cy="2651760"/>
          </a:xfrm>
          <a:prstGeom prst="rect">
            <a:avLst/>
          </a:prstGeom>
          <a:noFill/>
        </p:spPr>
        <p:txBody>
          <a:bodyPr wrap="square">
            <a:spAutoFit/>
          </a:bodyPr>
          <a:lstStyle/>
          <a:p>
            <a:pPr>
              <a:lnSpc>
                <a:spcPct val="108000"/>
              </a:lnSpc>
              <a:spcAft>
                <a:spcPts val="600"/>
              </a:spcAft>
            </a:pPr>
            <a:r>
              <a:rPr sz="1350" b="0" i="0">
                <a:solidFill>
                  <a:srgbClr val="202022"/>
                </a:solidFill>
                <a:latin typeface="Calibri"/>
              </a:rPr>
              <a:t>• FIN_PROD is the finance schema inside the SAME ORION instance as OMS_PROD, not a separate system, invoicing itself lives entirely in OMS_PROD.</a:t>
            </a:r>
          </a:p>
          <a:p>
            <a:pPr>
              <a:lnSpc>
                <a:spcPct val="108000"/>
              </a:lnSpc>
              <a:spcAft>
                <a:spcPts val="600"/>
              </a:spcAft>
            </a:pPr>
            <a:r>
              <a:rPr sz="1350" b="0" i="0">
                <a:solidFill>
                  <a:srgbClr val="202022"/>
                </a:solidFill>
                <a:latin typeface="Calibri"/>
              </a:rPr>
              <a:t>• Read access for the warehouse extract comes through a read-only account, OMS_RO, over the ORION_PRD link. There is no equivalent read-only account on FIN_PROD documented so far.</a:t>
            </a:r>
          </a:p>
          <a:p>
            <a:pPr>
              <a:lnSpc>
                <a:spcPct val="108000"/>
              </a:lnSpc>
              <a:spcAft>
                <a:spcPts val="600"/>
              </a:spcAft>
            </a:pPr>
            <a:r>
              <a:rPr sz="1350" b="0" i="0">
                <a:solidFill>
                  <a:srgbClr val="202022"/>
                </a:solidFill>
                <a:latin typeface="Calibri"/>
              </a:rPr>
              <a:t>• 20 tables total is a manageable OLTP footprint on paper. In practice most of the complexity sits in three or four of them (invoice header/line and their scheme interactions), pls see next slide for the warehouse side.</a:t>
            </a:r>
          </a:p>
        </p:txBody>
      </p:sp>
      <p:sp>
        <p:nvSpPr>
          <p:cNvPr id="8" name="Rectangle 7"/>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0" name="TextBox 9"/>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02 · SOURCE SCHEMA &amp; DATA</a:t>
            </a:r>
          </a:p>
        </p:txBody>
      </p:sp>
      <p:sp>
        <p:nvSpPr>
          <p:cNvPr id="5" name="TextBox 4"/>
          <p:cNvSpPr txBox="1"/>
          <p:nvPr/>
        </p:nvSpPr>
        <p:spPr>
          <a:xfrm>
            <a:off x="365760" y="310896"/>
            <a:ext cx="11247120" cy="640080"/>
          </a:xfrm>
          <a:prstGeom prst="rect">
            <a:avLst/>
          </a:prstGeom>
          <a:noFill/>
        </p:spPr>
        <p:txBody>
          <a:bodyPr wrap="square">
            <a:spAutoFit/>
          </a:bodyPr>
          <a:lstStyle/>
          <a:p>
            <a:r>
              <a:rPr sz="2600" b="1" i="0">
                <a:solidFill>
                  <a:srgbClr val="FFFFFF"/>
                </a:solidFill>
                <a:latin typeface="Calibri"/>
              </a:rPr>
              <a:t>Warehouse Schema Overview: BCPL_EDW</a:t>
            </a:r>
          </a:p>
        </p:txBody>
      </p:sp>
      <p:graphicFrame>
        <p:nvGraphicFramePr>
          <p:cNvPr id="6" name="Table 5"/>
          <p:cNvGraphicFramePr>
            <a:graphicFrameLocks noGrp="1"/>
          </p:cNvGraphicFramePr>
          <p:nvPr/>
        </p:nvGraphicFramePr>
        <p:xfrm>
          <a:off x="365760" y="1143000"/>
          <a:ext cx="11430000" cy="3017520"/>
        </p:xfrm>
        <a:graphic>
          <a:graphicData uri="http://schemas.openxmlformats.org/drawingml/2006/table">
            <a:tbl>
              <a:tblPr firstRow="1" bandRow="1">
                <a:tableStyleId>{5C22544A-7EE6-4342-B048-85BDC9FD1C3A}</a:tableStyleId>
              </a:tblPr>
              <a:tblGrid>
                <a:gridCol w="2377440"/>
                <a:gridCol w="1005840"/>
                <a:gridCol w="8046720"/>
              </a:tblGrid>
              <a:tr h="431074">
                <a:tc>
                  <a:txBody>
                    <a:bodyPr/>
                    <a:lstStyle/>
                    <a:p>
                      <a:pPr algn="l"/>
                      <a:r>
                        <a:rPr sz="1200" b="1" i="0">
                          <a:solidFill>
                            <a:srgbClr val="FFFFFF"/>
                          </a:solidFill>
                          <a:latin typeface="Calibri"/>
                        </a:rPr>
                        <a:t>Layer</a:t>
                      </a:r>
                    </a:p>
                  </a:txBody>
                  <a:tcPr anchor="ctr" marT="38100" marB="38100" marL="76200" marR="76200">
                    <a:solidFill>
                      <a:srgbClr val="1B2E44"/>
                    </a:solidFill>
                  </a:tcPr>
                </a:tc>
                <a:tc>
                  <a:txBody>
                    <a:bodyPr/>
                    <a:lstStyle/>
                    <a:p>
                      <a:pPr algn="l"/>
                      <a:r>
                        <a:rPr sz="1200" b="1" i="0">
                          <a:solidFill>
                            <a:srgbClr val="FFFFFF"/>
                          </a:solidFill>
                          <a:latin typeface="Calibri"/>
                        </a:rPr>
                        <a:t>Objects</a:t>
                      </a:r>
                    </a:p>
                  </a:txBody>
                  <a:tcPr anchor="ctr" marT="38100" marB="38100" marL="76200" marR="76200">
                    <a:solidFill>
                      <a:srgbClr val="1B2E44"/>
                    </a:solidFill>
                  </a:tcPr>
                </a:tc>
                <a:tc>
                  <a:txBody>
                    <a:bodyPr/>
                    <a:lstStyle/>
                    <a:p>
                      <a:pPr algn="l"/>
                      <a:r>
                        <a:rPr sz="1200" b="1" i="0">
                          <a:solidFill>
                            <a:srgbClr val="FFFFFF"/>
                          </a:solidFill>
                          <a:latin typeface="Calibri"/>
                        </a:rPr>
                        <a:t>Examples</a:t>
                      </a:r>
                    </a:p>
                  </a:txBody>
                  <a:tcPr anchor="ctr" marT="38100" marB="38100" marL="76200" marR="76200">
                    <a:solidFill>
                      <a:srgbClr val="1B2E44"/>
                    </a:solidFill>
                  </a:tcPr>
                </a:tc>
              </a:tr>
              <a:tr h="431074">
                <a:tc>
                  <a:txBody>
                    <a:bodyPr/>
                    <a:lstStyle/>
                    <a:p>
                      <a:r>
                        <a:rPr sz="1150" b="0" i="0">
                          <a:solidFill>
                            <a:srgbClr val="202022"/>
                          </a:solidFill>
                          <a:latin typeface="Calibri"/>
                        </a:rPr>
                        <a:t>Dimension / reference</a:t>
                      </a:r>
                    </a:p>
                  </a:txBody>
                  <a:tcPr anchor="ctr" marT="25400" marB="25400" marL="76200" marR="76200">
                    <a:solidFill>
                      <a:srgbClr val="FFFFFF"/>
                    </a:solidFill>
                  </a:tcPr>
                </a:tc>
                <a:tc>
                  <a:txBody>
                    <a:bodyPr/>
                    <a:lstStyle/>
                    <a:p>
                      <a:r>
                        <a:rPr sz="1150" b="0" i="0">
                          <a:solidFill>
                            <a:srgbClr val="202022"/>
                          </a:solidFill>
                          <a:latin typeface="Calibri"/>
                        </a:rPr>
                        <a:t>8</a:t>
                      </a:r>
                    </a:p>
                  </a:txBody>
                  <a:tcPr anchor="ctr" marT="25400" marB="25400" marL="76200" marR="76200">
                    <a:solidFill>
                      <a:srgbClr val="FFFFFF"/>
                    </a:solidFill>
                  </a:tcPr>
                </a:tc>
                <a:tc>
                  <a:txBody>
                    <a:bodyPr/>
                    <a:lstStyle/>
                    <a:p>
                      <a:r>
                        <a:rPr sz="1150" b="0" i="0">
                          <a:solidFill>
                            <a:srgbClr val="202022"/>
                          </a:solidFill>
                          <a:latin typeface="Calibri"/>
                        </a:rPr>
                        <a:t>DIM_DATE, DIM_CUSTOMER, DIM_PRODUCT, DIM_GEOGRAPHY, DIM_SCHEME, DIM_SALESREP, TAX_RATE_MASTER (+1 more, TBC)</a:t>
                      </a:r>
                    </a:p>
                  </a:txBody>
                  <a:tcPr anchor="ctr" marT="25400" marB="25400" marL="76200" marR="76200">
                    <a:solidFill>
                      <a:srgbClr val="FFFFFF"/>
                    </a:solidFill>
                  </a:tcPr>
                </a:tc>
              </a:tr>
              <a:tr h="431074">
                <a:tc>
                  <a:txBody>
                    <a:bodyPr/>
                    <a:lstStyle/>
                    <a:p>
                      <a:r>
                        <a:rPr sz="1150" b="0" i="0">
                          <a:solidFill>
                            <a:srgbClr val="202022"/>
                          </a:solidFill>
                          <a:latin typeface="Calibri"/>
                        </a:rPr>
                        <a:t>Fact</a:t>
                      </a:r>
                    </a:p>
                  </a:txBody>
                  <a:tcPr anchor="ctr" marT="25400" marB="25400" marL="76200" marR="76200">
                    <a:solidFill>
                      <a:srgbClr val="F3F3F1"/>
                    </a:solidFill>
                  </a:tcPr>
                </a:tc>
                <a:tc>
                  <a:txBody>
                    <a:bodyPr/>
                    <a:lstStyle/>
                    <a:p>
                      <a:r>
                        <a:rPr sz="1150" b="0" i="0">
                          <a:solidFill>
                            <a:srgbClr val="202022"/>
                          </a:solidFill>
                          <a:latin typeface="Calibri"/>
                        </a:rPr>
                        <a:t>3</a:t>
                      </a:r>
                    </a:p>
                  </a:txBody>
                  <a:tcPr anchor="ctr" marT="25400" marB="25400" marL="76200" marR="76200">
                    <a:solidFill>
                      <a:srgbClr val="F3F3F1"/>
                    </a:solidFill>
                  </a:tcPr>
                </a:tc>
                <a:tc>
                  <a:txBody>
                    <a:bodyPr/>
                    <a:lstStyle/>
                    <a:p>
                      <a:r>
                        <a:rPr sz="1150" b="0" i="0">
                          <a:solidFill>
                            <a:srgbClr val="202022"/>
                          </a:solidFill>
                          <a:latin typeface="Calibri"/>
                        </a:rPr>
                        <a:t>FACT_INVOICE_LINE, FACT_SECONDARY_SALES, FACT_ORDER_LINE</a:t>
                      </a:r>
                    </a:p>
                  </a:txBody>
                  <a:tcPr anchor="ctr" marT="25400" marB="25400" marL="76200" marR="76200">
                    <a:solidFill>
                      <a:srgbClr val="F3F3F1"/>
                    </a:solidFill>
                  </a:tcPr>
                </a:tc>
              </a:tr>
              <a:tr h="431074">
                <a:tc>
                  <a:txBody>
                    <a:bodyPr/>
                    <a:lstStyle/>
                    <a:p>
                      <a:r>
                        <a:rPr sz="1150" b="0" i="0">
                          <a:solidFill>
                            <a:srgbClr val="202022"/>
                          </a:solidFill>
                          <a:latin typeface="Calibri"/>
                        </a:rPr>
                        <a:t>Security</a:t>
                      </a:r>
                    </a:p>
                  </a:txBody>
                  <a:tcPr anchor="ctr" marT="25400" marB="25400" marL="76200" marR="76200">
                    <a:solidFill>
                      <a:srgbClr val="FFFFFF"/>
                    </a:solidFill>
                  </a:tcPr>
                </a:tc>
                <a:tc>
                  <a:txBody>
                    <a:bodyPr/>
                    <a:lstStyle/>
                    <a:p>
                      <a:r>
                        <a:rPr sz="1150" b="0" i="0">
                          <a:solidFill>
                            <a:srgbClr val="202022"/>
                          </a:solidFill>
                          <a:latin typeface="Calibri"/>
                        </a:rPr>
                        <a:t>1</a:t>
                      </a:r>
                    </a:p>
                  </a:txBody>
                  <a:tcPr anchor="ctr" marT="25400" marB="25400" marL="76200" marR="76200">
                    <a:solidFill>
                      <a:srgbClr val="FFFFFF"/>
                    </a:solidFill>
                  </a:tcPr>
                </a:tc>
                <a:tc>
                  <a:txBody>
                    <a:bodyPr/>
                    <a:lstStyle/>
                    <a:p>
                      <a:r>
                        <a:rPr sz="1150" b="0" i="0">
                          <a:solidFill>
                            <a:srgbClr val="202022"/>
                          </a:solidFill>
                          <a:latin typeface="Calibri"/>
                        </a:rPr>
                        <a:t>SEC_USER_REGION (row-level security by REGION_CODE)</a:t>
                      </a:r>
                    </a:p>
                  </a:txBody>
                  <a:tcPr anchor="ctr" marT="25400" marB="25400" marL="76200" marR="76200">
                    <a:solidFill>
                      <a:srgbClr val="FFFFFF"/>
                    </a:solidFill>
                  </a:tcPr>
                </a:tc>
              </a:tr>
              <a:tr h="431074">
                <a:tc>
                  <a:txBody>
                    <a:bodyPr/>
                    <a:lstStyle/>
                    <a:p>
                      <a:r>
                        <a:rPr sz="1150" b="0" i="0">
                          <a:solidFill>
                            <a:srgbClr val="202022"/>
                          </a:solidFill>
                          <a:latin typeface="Calibri"/>
                        </a:rPr>
                        <a:t>ETL control / audit</a:t>
                      </a:r>
                    </a:p>
                  </a:txBody>
                  <a:tcPr anchor="ctr" marT="25400" marB="25400" marL="76200" marR="76200">
                    <a:solidFill>
                      <a:srgbClr val="F3F3F1"/>
                    </a:solidFill>
                  </a:tcPr>
                </a:tc>
                <a:tc>
                  <a:txBody>
                    <a:bodyPr/>
                    <a:lstStyle/>
                    <a:p>
                      <a:r>
                        <a:rPr sz="1150" b="0" i="0">
                          <a:solidFill>
                            <a:srgbClr val="202022"/>
                          </a:solidFill>
                          <a:latin typeface="Calibri"/>
                        </a:rPr>
                        <a:t>3</a:t>
                      </a:r>
                    </a:p>
                  </a:txBody>
                  <a:tcPr anchor="ctr" marT="25400" marB="25400" marL="76200" marR="76200">
                    <a:solidFill>
                      <a:srgbClr val="F3F3F1"/>
                    </a:solidFill>
                  </a:tcPr>
                </a:tc>
                <a:tc>
                  <a:txBody>
                    <a:bodyPr/>
                    <a:lstStyle/>
                    <a:p>
                      <a:r>
                        <a:rPr sz="1150" b="0" i="0">
                          <a:solidFill>
                            <a:srgbClr val="202022"/>
                          </a:solidFill>
                          <a:latin typeface="Calibri"/>
                        </a:rPr>
                        <a:t>ETL_BATCH_CONTROL, ETL_ERROR_LOG, ETL_PARAM</a:t>
                      </a:r>
                    </a:p>
                  </a:txBody>
                  <a:tcPr anchor="ctr" marT="25400" marB="25400" marL="76200" marR="76200">
                    <a:solidFill>
                      <a:srgbClr val="F3F3F1"/>
                    </a:solidFill>
                  </a:tcPr>
                </a:tc>
              </a:tr>
              <a:tr h="431074">
                <a:tc>
                  <a:txBody>
                    <a:bodyPr/>
                    <a:lstStyle/>
                    <a:p>
                      <a:r>
                        <a:rPr sz="1150" b="0" i="0">
                          <a:solidFill>
                            <a:srgbClr val="202022"/>
                          </a:solidFill>
                          <a:latin typeface="Calibri"/>
                        </a:rPr>
                        <a:t>BCPL_EDW total</a:t>
                      </a:r>
                    </a:p>
                  </a:txBody>
                  <a:tcPr anchor="ctr" marT="25400" marB="25400" marL="76200" marR="76200">
                    <a:solidFill>
                      <a:srgbClr val="FFFFFF"/>
                    </a:solidFill>
                  </a:tcPr>
                </a:tc>
                <a:tc>
                  <a:txBody>
                    <a:bodyPr/>
                    <a:lstStyle/>
                    <a:p>
                      <a:r>
                        <a:rPr sz="1150" b="0" i="0">
                          <a:solidFill>
                            <a:srgbClr val="202022"/>
                          </a:solidFill>
                          <a:latin typeface="Calibri"/>
                        </a:rPr>
                        <a:t>15</a:t>
                      </a:r>
                    </a:p>
                  </a:txBody>
                  <a:tcPr anchor="ctr" marT="25400" marB="25400" marL="76200" marR="76200">
                    <a:solidFill>
                      <a:srgbClr val="FFFFFF"/>
                    </a:solidFill>
                  </a:tcPr>
                </a:tc>
                <a:tc>
                  <a:txBody>
                    <a:bodyPr/>
                    <a:lstStyle/>
                    <a:p>
                      <a:r>
                        <a:rPr sz="1150" b="0" i="0">
                          <a:solidFill>
                            <a:srgbClr val="202022"/>
                          </a:solidFill>
                          <a:latin typeface="Calibri"/>
                        </a:rPr>
                        <a:t>-</a:t>
                      </a:r>
                    </a:p>
                  </a:txBody>
                  <a:tcPr anchor="ctr" marT="25400" marB="25400" marL="76200" marR="76200">
                    <a:solidFill>
                      <a:srgbClr val="FFFFFF"/>
                    </a:solidFill>
                  </a:tcPr>
                </a:tc>
              </a:tr>
              <a:tr h="431076">
                <a:tc>
                  <a:txBody>
                    <a:bodyPr/>
                    <a:lstStyle/>
                    <a:p>
                      <a:r>
                        <a:rPr sz="1150" b="0" i="0">
                          <a:solidFill>
                            <a:srgbClr val="202022"/>
                          </a:solidFill>
                          <a:latin typeface="Calibri"/>
                        </a:rPr>
                        <a:t>STG_ORION landing (disposable)</a:t>
                      </a:r>
                    </a:p>
                  </a:txBody>
                  <a:tcPr anchor="ctr" marT="25400" marB="25400" marL="76200" marR="76200">
                    <a:solidFill>
                      <a:srgbClr val="F3F3F1"/>
                    </a:solidFill>
                  </a:tcPr>
                </a:tc>
                <a:tc>
                  <a:txBody>
                    <a:bodyPr/>
                    <a:lstStyle/>
                    <a:p>
                      <a:r>
                        <a:rPr sz="1150" b="0" i="0">
                          <a:solidFill>
                            <a:srgbClr val="202022"/>
                          </a:solidFill>
                          <a:latin typeface="Calibri"/>
                        </a:rPr>
                        <a:t>13</a:t>
                      </a:r>
                    </a:p>
                  </a:txBody>
                  <a:tcPr anchor="ctr" marT="25400" marB="25400" marL="76200" marR="76200">
                    <a:solidFill>
                      <a:srgbClr val="F3F3F1"/>
                    </a:solidFill>
                  </a:tcPr>
                </a:tc>
                <a:tc>
                  <a:txBody>
                    <a:bodyPr/>
                    <a:lstStyle/>
                    <a:p>
                      <a:r>
                        <a:rPr sz="1150" b="0" i="0">
                          <a:solidFill>
                            <a:srgbClr val="202022"/>
                          </a:solidFill>
                          <a:latin typeface="Calibri"/>
                        </a:rPr>
                        <a:t>Plus ODI's C$ / I$ / E$ work tables per interface run</a:t>
                      </a:r>
                    </a:p>
                  </a:txBody>
                  <a:tcPr anchor="ctr" marT="25400" marB="25400" marL="76200" marR="76200">
                    <a:solidFill>
                      <a:srgbClr val="F3F3F1"/>
                    </a:solidFill>
                  </a:tcPr>
                </a:tc>
              </a:tr>
            </a:tbl>
          </a:graphicData>
        </a:graphic>
      </p:graphicFrame>
      <p:sp>
        <p:nvSpPr>
          <p:cNvPr id="7" name="TextBox 6"/>
          <p:cNvSpPr txBox="1"/>
          <p:nvPr/>
        </p:nvSpPr>
        <p:spPr>
          <a:xfrm>
            <a:off x="457200" y="4343400"/>
            <a:ext cx="11247120" cy="2011680"/>
          </a:xfrm>
          <a:prstGeom prst="rect">
            <a:avLst/>
          </a:prstGeom>
          <a:noFill/>
        </p:spPr>
        <p:txBody>
          <a:bodyPr wrap="square">
            <a:spAutoFit/>
          </a:bodyPr>
          <a:lstStyle/>
          <a:p>
            <a:pPr>
              <a:lnSpc>
                <a:spcPct val="108000"/>
              </a:lnSpc>
              <a:spcAft>
                <a:spcPts val="600"/>
              </a:spcAft>
            </a:pPr>
            <a:r>
              <a:rPr sz="1350" b="0" i="0">
                <a:solidFill>
                  <a:srgbClr val="202022"/>
                </a:solidFill>
                <a:latin typeface="Calibri"/>
              </a:rPr>
              <a:t>• Single BCPL_EDW instance on edw-db-prd-01.bcpl.local. Tablespaces: EDW_DATA, EDW_IDX, STG_DATA.</a:t>
            </a:r>
          </a:p>
          <a:p>
            <a:pPr>
              <a:lnSpc>
                <a:spcPct val="108000"/>
              </a:lnSpc>
              <a:spcAft>
                <a:spcPts val="600"/>
              </a:spcAft>
            </a:pPr>
            <a:r>
              <a:rPr sz="1350" b="0" i="0">
                <a:solidFill>
                  <a:srgbClr val="202022"/>
                </a:solidFill>
                <a:latin typeface="Calibri"/>
              </a:rPr>
              <a:t>• STG_ORION is physically inside the EDW database, not inside ORION, same point as the previous slide, worth repeating because it trips people up.</a:t>
            </a:r>
          </a:p>
          <a:p>
            <a:pPr>
              <a:lnSpc>
                <a:spcPct val="108000"/>
              </a:lnSpc>
              <a:spcAft>
                <a:spcPts val="600"/>
              </a:spcAft>
            </a:pPr>
            <a:r>
              <a:rPr sz="1350" b="0" i="0">
                <a:solidFill>
                  <a:srgbClr val="202022"/>
                </a:solidFill>
                <a:latin typeface="Calibri"/>
              </a:rPr>
              <a:t>• This is an object-level inventory, not a volumetric one. Row counts are intentionally not quoted below, see next slide.</a:t>
            </a:r>
          </a:p>
        </p:txBody>
      </p:sp>
      <p:sp>
        <p:nvSpPr>
          <p:cNvPr id="8" name="Rectangle 7"/>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0" name="TextBox 9"/>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02 · SOURCE SCHEMA &amp; DATA</a:t>
            </a:r>
          </a:p>
        </p:txBody>
      </p:sp>
      <p:sp>
        <p:nvSpPr>
          <p:cNvPr id="5" name="TextBox 4"/>
          <p:cNvSpPr txBox="1"/>
          <p:nvPr/>
        </p:nvSpPr>
        <p:spPr>
          <a:xfrm>
            <a:off x="365760" y="310896"/>
            <a:ext cx="11247120" cy="640080"/>
          </a:xfrm>
          <a:prstGeom prst="rect">
            <a:avLst/>
          </a:prstGeom>
          <a:noFill/>
        </p:spPr>
        <p:txBody>
          <a:bodyPr wrap="square">
            <a:spAutoFit/>
          </a:bodyPr>
          <a:lstStyle/>
          <a:p>
            <a:r>
              <a:rPr sz="2200" b="1" i="0">
                <a:solidFill>
                  <a:srgbClr val="FFFFFF"/>
                </a:solidFill>
                <a:latin typeface="Calibri"/>
              </a:rPr>
              <a:t>Data Volumes &amp; Environments: Early View (TBC)</a:t>
            </a:r>
          </a:p>
        </p:txBody>
      </p:sp>
      <p:sp>
        <p:nvSpPr>
          <p:cNvPr id="6" name="TextBox 5"/>
          <p:cNvSpPr txBox="1"/>
          <p:nvPr/>
        </p:nvSpPr>
        <p:spPr>
          <a:xfrm>
            <a:off x="320040" y="1097280"/>
            <a:ext cx="6309360" cy="5029200"/>
          </a:xfrm>
          <a:prstGeom prst="rect">
            <a:avLst/>
          </a:prstGeom>
          <a:noFill/>
        </p:spPr>
        <p:txBody>
          <a:bodyPr wrap="square">
            <a:spAutoFit/>
          </a:bodyPr>
          <a:lstStyle/>
          <a:p>
            <a:pPr>
              <a:lnSpc>
                <a:spcPct val="100000"/>
              </a:lnSpc>
              <a:spcAft>
                <a:spcPts val="600"/>
              </a:spcAft>
            </a:pPr>
            <a:r>
              <a:rPr sz="1050" b="0" i="0">
                <a:solidFill>
                  <a:srgbClr val="202022"/>
                </a:solidFill>
                <a:latin typeface="Calibri"/>
              </a:rPr>
              <a:t>• BCPL_EDW provisioned at 4.1 TB allocated, approx. 2.8 TB used as of this review; tablespaces EDW_DATA / EDW_IDX / STG_DATA.</a:t>
            </a:r>
          </a:p>
          <a:p>
            <a:pPr>
              <a:lnSpc>
                <a:spcPct val="100000"/>
              </a:lnSpc>
              <a:spcAft>
                <a:spcPts val="600"/>
              </a:spcAft>
            </a:pPr>
            <a:r>
              <a:rPr sz="1050" b="0" i="0">
                <a:solidFill>
                  <a:srgbClr val="202022"/>
                </a:solidFill>
                <a:latin typeface="Calibri"/>
              </a:rPr>
              <a:t>• Highest-volume objects by inspection: OMS_PROD.INVOICE_LINE, OMS_PROD.INVOICE_HEADER, and their EDW counterparts FACT_INVOICE_LINE / FACT_ORDER_LINE / FACT_SECONDARY_SALES.</a:t>
            </a:r>
          </a:p>
          <a:p>
            <a:pPr lvl="1">
              <a:lnSpc>
                <a:spcPct val="100000"/>
              </a:lnSpc>
              <a:spcAft>
                <a:spcPts val="300"/>
              </a:spcAft>
            </a:pPr>
            <a:r>
              <a:rPr sz="950" b="0" i="1">
                <a:solidFill>
                  <a:srgbClr val="202022"/>
                </a:solidFill>
                <a:latin typeface="Calibri"/>
              </a:rPr>
              <a:t>– Precise row counts pending the formal profiling pass, scheduled to start 04-May-2026 as part of the data quality assessment. Do not quote a number before then.</a:t>
            </a:r>
          </a:p>
          <a:p>
            <a:pPr>
              <a:lnSpc>
                <a:spcPct val="100000"/>
              </a:lnSpc>
              <a:spcAft>
                <a:spcPts val="600"/>
              </a:spcAft>
            </a:pPr>
            <a:r>
              <a:rPr sz="1050" b="0" i="0">
                <a:solidFill>
                  <a:srgbClr val="202022"/>
                </a:solidFill>
                <a:latin typeface="Calibri"/>
              </a:rPr>
              <a:t>• DIM_CUSTOMER and the product dimension (sourced from SKU_MASTER) are comparatively small, low thousands of rows each on inspection, exact figures TBC.</a:t>
            </a:r>
          </a:p>
          <a:p>
            <a:pPr>
              <a:lnSpc>
                <a:spcPct val="100000"/>
              </a:lnSpc>
              <a:spcAft>
                <a:spcPts val="600"/>
              </a:spcAft>
            </a:pPr>
            <a:r>
              <a:rPr sz="1050" b="0" i="0">
                <a:solidFill>
                  <a:srgbClr val="202022"/>
                </a:solidFill>
                <a:latin typeface="Calibri"/>
              </a:rPr>
              <a:t>• STG_ORION carries 13 landing tables plus ODI's C$ / I$ / E$ work tables per interface run; these are disposable and rebuilt each cycle, so they are not part of the volume conversation as such.</a:t>
            </a:r>
          </a:p>
          <a:p>
            <a:pPr>
              <a:lnSpc>
                <a:spcPct val="100000"/>
              </a:lnSpc>
              <a:spcAft>
                <a:spcPts val="600"/>
              </a:spcAft>
            </a:pPr>
            <a:r>
              <a:rPr sz="1050" b="0" i="0">
                <a:solidFill>
                  <a:srgbClr val="202022"/>
                </a:solidFill>
                <a:latin typeface="Calibri"/>
              </a:rPr>
              <a:t>• Nightly load moves what Farida describes as “tens of thousands” of invoice lines per run - a hard number replaces this in the next iteration of this deck.</a:t>
            </a:r>
          </a:p>
          <a:p>
            <a:pPr>
              <a:lnSpc>
                <a:spcPct val="100000"/>
              </a:lnSpc>
              <a:spcAft>
                <a:spcPts val="600"/>
              </a:spcAft>
            </a:pPr>
            <a:r>
              <a:rPr sz="1050" b="0" i="0">
                <a:solidFill>
                  <a:srgbClr val="202022"/>
                </a:solidFill>
                <a:latin typeface="Calibri"/>
              </a:rPr>
              <a:t>• No distributor-side or secondary-sales volume view is included in this pass. [TBC, pick up separately]</a:t>
            </a:r>
          </a:p>
          <a:p>
            <a:pPr>
              <a:lnSpc>
                <a:spcPct val="100000"/>
              </a:lnSpc>
              <a:spcAft>
                <a:spcPts val="600"/>
              </a:spcAft>
            </a:pPr>
            <a:r>
              <a:rPr sz="1050" b="1" i="0">
                <a:solidFill>
                  <a:srgbClr val="202022"/>
                </a:solidFill>
                <a:latin typeface="Calibri"/>
              </a:rPr>
              <a:t>• Action: get Ishaan and Meghna to produce an actual count ahead of the May steerco, do the needful before someone asks us for one live.</a:t>
            </a:r>
          </a:p>
        </p:txBody>
      </p:sp>
      <p:graphicFrame>
        <p:nvGraphicFramePr>
          <p:cNvPr id="7" name="Table 6"/>
          <p:cNvGraphicFramePr>
            <a:graphicFrameLocks noGrp="1"/>
          </p:cNvGraphicFramePr>
          <p:nvPr/>
        </p:nvGraphicFramePr>
        <p:xfrm>
          <a:off x="6766560" y="1097280"/>
          <a:ext cx="5074920" cy="1828800"/>
        </p:xfrm>
        <a:graphic>
          <a:graphicData uri="http://schemas.openxmlformats.org/drawingml/2006/table">
            <a:tbl>
              <a:tblPr firstRow="1" bandRow="1">
                <a:tableStyleId>{5C22544A-7EE6-4342-B048-85BDC9FD1C3A}</a:tableStyleId>
              </a:tblPr>
              <a:tblGrid>
                <a:gridCol w="548640"/>
                <a:gridCol w="1417320"/>
                <a:gridCol w="1051560"/>
                <a:gridCol w="1051560"/>
                <a:gridCol w="1005840"/>
              </a:tblGrid>
              <a:tr h="457200">
                <a:tc>
                  <a:txBody>
                    <a:bodyPr/>
                    <a:lstStyle/>
                    <a:p>
                      <a:pPr algn="l"/>
                      <a:r>
                        <a:rPr sz="900" b="1" i="0">
                          <a:solidFill>
                            <a:srgbClr val="FFFFFF"/>
                          </a:solidFill>
                          <a:latin typeface="Calibri"/>
                        </a:rPr>
                        <a:t>Env</a:t>
                      </a:r>
                    </a:p>
                  </a:txBody>
                  <a:tcPr anchor="ctr" marT="38100" marB="38100" marL="76200" marR="76200">
                    <a:solidFill>
                      <a:srgbClr val="1B2E44"/>
                    </a:solidFill>
                  </a:tcPr>
                </a:tc>
                <a:tc>
                  <a:txBody>
                    <a:bodyPr/>
                    <a:lstStyle/>
                    <a:p>
                      <a:pPr algn="l"/>
                      <a:r>
                        <a:rPr sz="900" b="1" i="0">
                          <a:solidFill>
                            <a:srgbClr val="FFFFFF"/>
                          </a:solidFill>
                          <a:latin typeface="Calibri"/>
                        </a:rPr>
                        <a:t>ORION host</a:t>
                      </a:r>
                    </a:p>
                  </a:txBody>
                  <a:tcPr anchor="ctr" marT="38100" marB="38100" marL="76200" marR="76200">
                    <a:solidFill>
                      <a:srgbClr val="1B2E44"/>
                    </a:solidFill>
                  </a:tcPr>
                </a:tc>
                <a:tc>
                  <a:txBody>
                    <a:bodyPr/>
                    <a:lstStyle/>
                    <a:p>
                      <a:pPr algn="l"/>
                      <a:r>
                        <a:rPr sz="900" b="1" i="0">
                          <a:solidFill>
                            <a:srgbClr val="FFFFFF"/>
                          </a:solidFill>
                          <a:latin typeface="Calibri"/>
                        </a:rPr>
                        <a:t>EDW host</a:t>
                      </a:r>
                    </a:p>
                  </a:txBody>
                  <a:tcPr anchor="ctr" marT="38100" marB="38100" marL="76200" marR="76200">
                    <a:solidFill>
                      <a:srgbClr val="1B2E44"/>
                    </a:solidFill>
                  </a:tcPr>
                </a:tc>
                <a:tc>
                  <a:txBody>
                    <a:bodyPr/>
                    <a:lstStyle/>
                    <a:p>
                      <a:pPr algn="l"/>
                      <a:r>
                        <a:rPr sz="900" b="1" i="0">
                          <a:solidFill>
                            <a:srgbClr val="FFFFFF"/>
                          </a:solidFill>
                          <a:latin typeface="Calibri"/>
                        </a:rPr>
                        <a:t>ODI agent</a:t>
                      </a:r>
                    </a:p>
                  </a:txBody>
                  <a:tcPr anchor="ctr" marT="38100" marB="38100" marL="76200" marR="76200">
                    <a:solidFill>
                      <a:srgbClr val="1B2E44"/>
                    </a:solidFill>
                  </a:tcPr>
                </a:tc>
                <a:tc>
                  <a:txBody>
                    <a:bodyPr/>
                    <a:lstStyle/>
                    <a:p>
                      <a:pPr algn="l"/>
                      <a:r>
                        <a:rPr sz="900" b="1" i="0">
                          <a:solidFill>
                            <a:srgbClr val="FFFFFF"/>
                          </a:solidFill>
                          <a:latin typeface="Calibri"/>
                        </a:rPr>
                        <a:t>Power BI workspace</a:t>
                      </a:r>
                    </a:p>
                  </a:txBody>
                  <a:tcPr anchor="ctr" marT="38100" marB="38100" marL="76200" marR="76200">
                    <a:solidFill>
                      <a:srgbClr val="1B2E44"/>
                    </a:solidFill>
                  </a:tcPr>
                </a:tc>
              </a:tr>
              <a:tr h="457200">
                <a:tc>
                  <a:txBody>
                    <a:bodyPr/>
                    <a:lstStyle/>
                    <a:p>
                      <a:r>
                        <a:rPr sz="850" b="0" i="0">
                          <a:solidFill>
                            <a:srgbClr val="202022"/>
                          </a:solidFill>
                          <a:latin typeface="Calibri"/>
                        </a:rPr>
                        <a:t>PROD</a:t>
                      </a:r>
                    </a:p>
                  </a:txBody>
                  <a:tcPr anchor="ctr" marT="25400" marB="25400" marL="76200" marR="76200">
                    <a:solidFill>
                      <a:srgbClr val="FFFFFF"/>
                    </a:solidFill>
                  </a:tcPr>
                </a:tc>
                <a:tc>
                  <a:txBody>
                    <a:bodyPr/>
                    <a:lstStyle/>
                    <a:p>
                      <a:r>
                        <a:rPr sz="850" b="0" i="0">
                          <a:solidFill>
                            <a:srgbClr val="202022"/>
                          </a:solidFill>
                          <a:latin typeface="Calibri"/>
                        </a:rPr>
                        <a:t>orion-db-prd-01</a:t>
                      </a:r>
                    </a:p>
                  </a:txBody>
                  <a:tcPr anchor="ctr" marT="25400" marB="25400" marL="76200" marR="76200">
                    <a:solidFill>
                      <a:srgbClr val="FFFFFF"/>
                    </a:solidFill>
                  </a:tcPr>
                </a:tc>
                <a:tc>
                  <a:txBody>
                    <a:bodyPr/>
                    <a:lstStyle/>
                    <a:p>
                      <a:r>
                        <a:rPr sz="850" b="0" i="0">
                          <a:solidFill>
                            <a:srgbClr val="202022"/>
                          </a:solidFill>
                          <a:latin typeface="Calibri"/>
                        </a:rPr>
                        <a:t>edw-db-prd-01</a:t>
                      </a:r>
                    </a:p>
                  </a:txBody>
                  <a:tcPr anchor="ctr" marT="25400" marB="25400" marL="76200" marR="76200">
                    <a:solidFill>
                      <a:srgbClr val="FFFFFF"/>
                    </a:solidFill>
                  </a:tcPr>
                </a:tc>
                <a:tc>
                  <a:txBody>
                    <a:bodyPr/>
                    <a:lstStyle/>
                    <a:p>
                      <a:r>
                        <a:rPr sz="850" b="0" i="0">
                          <a:solidFill>
                            <a:srgbClr val="202022"/>
                          </a:solidFill>
                          <a:latin typeface="Calibri"/>
                        </a:rPr>
                        <a:t>OracleDIAgent1</a:t>
                      </a:r>
                    </a:p>
                  </a:txBody>
                  <a:tcPr anchor="ctr" marT="25400" marB="25400" marL="76200" marR="76200">
                    <a:solidFill>
                      <a:srgbClr val="FFFFFF"/>
                    </a:solidFill>
                  </a:tcPr>
                </a:tc>
                <a:tc>
                  <a:txBody>
                    <a:bodyPr/>
                    <a:lstStyle/>
                    <a:p>
                      <a:r>
                        <a:rPr sz="850" b="0" i="0">
                          <a:solidFill>
                            <a:srgbClr val="202022"/>
                          </a:solidFill>
                          <a:latin typeface="Calibri"/>
                        </a:rPr>
                        <a:t>BCPL-DRISHTI-PRD</a:t>
                      </a:r>
                    </a:p>
                  </a:txBody>
                  <a:tcPr anchor="ctr" marT="25400" marB="25400" marL="76200" marR="76200">
                    <a:solidFill>
                      <a:srgbClr val="FFFFFF"/>
                    </a:solidFill>
                  </a:tcPr>
                </a:tc>
              </a:tr>
              <a:tr h="457200">
                <a:tc>
                  <a:txBody>
                    <a:bodyPr/>
                    <a:lstStyle/>
                    <a:p>
                      <a:r>
                        <a:rPr sz="850" b="0" i="0">
                          <a:solidFill>
                            <a:srgbClr val="202022"/>
                          </a:solidFill>
                          <a:latin typeface="Calibri"/>
                        </a:rPr>
                        <a:t>UAT</a:t>
                      </a:r>
                    </a:p>
                  </a:txBody>
                  <a:tcPr anchor="ctr" marT="25400" marB="25400" marL="76200" marR="76200">
                    <a:solidFill>
                      <a:srgbClr val="F3F3F1"/>
                    </a:solidFill>
                  </a:tcPr>
                </a:tc>
                <a:tc>
                  <a:txBody>
                    <a:bodyPr/>
                    <a:lstStyle/>
                    <a:p>
                      <a:r>
                        <a:rPr sz="850" b="0" i="0">
                          <a:solidFill>
                            <a:srgbClr val="202022"/>
                          </a:solidFill>
                          <a:latin typeface="Calibri"/>
                        </a:rPr>
                        <a:t>orion-db-uat-01 (refreshed monthly from PROD)</a:t>
                      </a:r>
                    </a:p>
                  </a:txBody>
                  <a:tcPr anchor="ctr" marT="25400" marB="25400" marL="76200" marR="76200">
                    <a:solidFill>
                      <a:srgbClr val="F3F3F1"/>
                    </a:solidFill>
                  </a:tcPr>
                </a:tc>
                <a:tc>
                  <a:txBody>
                    <a:bodyPr/>
                    <a:lstStyle/>
                    <a:p>
                      <a:r>
                        <a:rPr sz="850" b="0" i="0">
                          <a:solidFill>
                            <a:srgbClr val="202022"/>
                          </a:solidFill>
                          <a:latin typeface="Calibri"/>
                        </a:rPr>
                        <a:t>edw-db-uat-01</a:t>
                      </a:r>
                    </a:p>
                  </a:txBody>
                  <a:tcPr anchor="ctr" marT="25400" marB="25400" marL="76200" marR="76200">
                    <a:solidFill>
                      <a:srgbClr val="F3F3F1"/>
                    </a:solidFill>
                  </a:tcPr>
                </a:tc>
                <a:tc>
                  <a:txBody>
                    <a:bodyPr/>
                    <a:lstStyle/>
                    <a:p>
                      <a:r>
                        <a:rPr sz="850" b="0" i="0">
                          <a:solidFill>
                            <a:srgbClr val="202022"/>
                          </a:solidFill>
                          <a:latin typeface="Calibri"/>
                        </a:rPr>
                        <a:t>OracleDIAgent_UAT</a:t>
                      </a:r>
                    </a:p>
                  </a:txBody>
                  <a:tcPr anchor="ctr" marT="25400" marB="25400" marL="76200" marR="76200">
                    <a:solidFill>
                      <a:srgbClr val="F3F3F1"/>
                    </a:solidFill>
                  </a:tcPr>
                </a:tc>
                <a:tc>
                  <a:txBody>
                    <a:bodyPr/>
                    <a:lstStyle/>
                    <a:p>
                      <a:r>
                        <a:rPr sz="850" b="0" i="0">
                          <a:solidFill>
                            <a:srgbClr val="202022"/>
                          </a:solidFill>
                          <a:latin typeface="Calibri"/>
                        </a:rPr>
                        <a:t>BCPL-DRISHTI-UAT</a:t>
                      </a:r>
                    </a:p>
                  </a:txBody>
                  <a:tcPr anchor="ctr" marT="25400" marB="25400" marL="76200" marR="76200">
                    <a:solidFill>
                      <a:srgbClr val="F3F3F1"/>
                    </a:solidFill>
                  </a:tcPr>
                </a:tc>
              </a:tr>
              <a:tr h="457200">
                <a:tc>
                  <a:txBody>
                    <a:bodyPr/>
                    <a:lstStyle/>
                    <a:p>
                      <a:r>
                        <a:rPr sz="850" b="0" i="0">
                          <a:solidFill>
                            <a:srgbClr val="202022"/>
                          </a:solidFill>
                          <a:latin typeface="Calibri"/>
                        </a:rPr>
                        <a:t>DEV</a:t>
                      </a:r>
                    </a:p>
                  </a:txBody>
                  <a:tcPr anchor="ctr" marT="25400" marB="25400" marL="76200" marR="76200">
                    <a:solidFill>
                      <a:srgbClr val="FFFFFF"/>
                    </a:solidFill>
                  </a:tcPr>
                </a:tc>
                <a:tc>
                  <a:txBody>
                    <a:bodyPr/>
                    <a:lstStyle/>
                    <a:p>
                      <a:r>
                        <a:rPr sz="850" b="0" i="0">
                          <a:solidFill>
                            <a:srgbClr val="202022"/>
                          </a:solidFill>
                          <a:latin typeface="Calibri"/>
                        </a:rPr>
                        <a:t>orion-db-dev-01 (refreshed on request)</a:t>
                      </a:r>
                    </a:p>
                  </a:txBody>
                  <a:tcPr anchor="ctr" marT="25400" marB="25400" marL="76200" marR="76200">
                    <a:solidFill>
                      <a:srgbClr val="FFFFFF"/>
                    </a:solidFill>
                  </a:tcPr>
                </a:tc>
                <a:tc>
                  <a:txBody>
                    <a:bodyPr/>
                    <a:lstStyle/>
                    <a:p>
                      <a:r>
                        <a:rPr sz="850" b="0" i="0">
                          <a:solidFill>
                            <a:srgbClr val="202022"/>
                          </a:solidFill>
                          <a:latin typeface="Calibri"/>
                        </a:rPr>
                        <a:t>edw-db-dev-01</a:t>
                      </a:r>
                    </a:p>
                  </a:txBody>
                  <a:tcPr anchor="ctr" marT="25400" marB="25400" marL="76200" marR="76200">
                    <a:solidFill>
                      <a:srgbClr val="FFFFFF"/>
                    </a:solidFill>
                  </a:tcPr>
                </a:tc>
                <a:tc>
                  <a:txBody>
                    <a:bodyPr/>
                    <a:lstStyle/>
                    <a:p>
                      <a:r>
                        <a:rPr sz="850" b="0" i="0">
                          <a:solidFill>
                            <a:srgbClr val="202022"/>
                          </a:solidFill>
                          <a:latin typeface="Calibri"/>
                        </a:rPr>
                        <a:t>OracleDIAgent_DEV</a:t>
                      </a:r>
                    </a:p>
                  </a:txBody>
                  <a:tcPr anchor="ctr" marT="25400" marB="25400" marL="76200" marR="76200">
                    <a:solidFill>
                      <a:srgbClr val="FFFFFF"/>
                    </a:solidFill>
                  </a:tcPr>
                </a:tc>
                <a:tc>
                  <a:txBody>
                    <a:bodyPr/>
                    <a:lstStyle/>
                    <a:p>
                      <a:r>
                        <a:rPr sz="850" b="0" i="0">
                          <a:solidFill>
                            <a:srgbClr val="202022"/>
                          </a:solidFill>
                          <a:latin typeface="Calibri"/>
                        </a:rPr>
                        <a:t>BCPL-DRISHTI-DEV</a:t>
                      </a:r>
                    </a:p>
                  </a:txBody>
                  <a:tcPr anchor="ctr" marT="25400" marB="25400" marL="76200" marR="76200">
                    <a:solidFill>
                      <a:srgbClr val="FFFFFF"/>
                    </a:solidFill>
                  </a:tcPr>
                </a:tc>
              </a:tr>
            </a:tbl>
          </a:graphicData>
        </a:graphic>
      </p:graphicFrame>
      <p:sp>
        <p:nvSpPr>
          <p:cNvPr id="8" name="TextBox 7"/>
          <p:cNvSpPr txBox="1"/>
          <p:nvPr/>
        </p:nvSpPr>
        <p:spPr>
          <a:xfrm>
            <a:off x="6766560" y="3063240"/>
            <a:ext cx="5074920" cy="914400"/>
          </a:xfrm>
          <a:prstGeom prst="rect">
            <a:avLst/>
          </a:prstGeom>
          <a:noFill/>
        </p:spPr>
        <p:txBody>
          <a:bodyPr wrap="square">
            <a:spAutoFit/>
          </a:bodyPr>
          <a:lstStyle/>
          <a:p>
            <a:r>
              <a:rPr sz="900" b="0" i="1">
                <a:solidFill>
                  <a:srgbClr val="454547"/>
                </a:solidFill>
                <a:latin typeface="Calibri"/>
              </a:rPr>
              <a:t>Note: the UAT EDW instance has not been sized against a full historical reload, flagging early as a scale risk, revisit at design stage. Env refresh cadence differs by environment; see risk register.</a:t>
            </a:r>
          </a:p>
        </p:txBody>
      </p:sp>
      <p:sp>
        <p:nvSpPr>
          <p:cNvPr id="9" name="TextBox 8"/>
          <p:cNvSpPr txBox="1"/>
          <p:nvPr/>
        </p:nvSpPr>
        <p:spPr>
          <a:xfrm>
            <a:off x="6766560" y="4206240"/>
            <a:ext cx="5074920" cy="1920240"/>
          </a:xfrm>
          <a:prstGeom prst="rect">
            <a:avLst/>
          </a:prstGeom>
          <a:noFill/>
        </p:spPr>
        <p:txBody>
          <a:bodyPr wrap="square">
            <a:spAutoFit/>
          </a:bodyPr>
          <a:lstStyle/>
          <a:p>
            <a:r>
              <a:rPr sz="900" b="1" i="0">
                <a:solidFill>
                  <a:srgbClr val="9E2A2A"/>
                </a:solidFill>
                <a:latin typeface="Calibri"/>
              </a:rPr>
              <a:t>THIS SLIDE IS DENSE ON PURPOSE</a:t>
            </a:r>
          </a:p>
          <a:p>
            <a:r>
              <a:rPr sz="900" b="0" i="0">
                <a:solidFill>
                  <a:srgbClr val="454547"/>
                </a:solidFill>
                <a:latin typeface="Calibri"/>
              </a:rPr>
              <a:t>Everything on it is a placeholder-quality early view. Numbers here are for internal orientation only and should not be lifted into any client-facing summary until the profiling pass replaces them. Basically: read this slide, don't quote this slide.</a:t>
            </a:r>
          </a:p>
        </p:txBody>
      </p:sp>
      <p:sp>
        <p:nvSpPr>
          <p:cNvPr id="10" name="Rectangle 9"/>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2" name="TextBox 11"/>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2743200" cy="1280160"/>
          </a:xfrm>
          <a:prstGeom prst="rect">
            <a:avLst/>
          </a:prstGeom>
          <a:noFill/>
        </p:spPr>
        <p:txBody>
          <a:bodyPr wrap="none">
            <a:spAutoFit/>
          </a:bodyPr>
          <a:lstStyle/>
          <a:p>
            <a:r>
              <a:rPr sz="6400" b="1" i="0">
                <a:solidFill>
                  <a:srgbClr val="B88A2E"/>
                </a:solidFill>
                <a:latin typeface="Calibri"/>
              </a:rPr>
              <a:t>03</a:t>
            </a:r>
          </a:p>
        </p:txBody>
      </p:sp>
      <p:sp>
        <p:nvSpPr>
          <p:cNvPr id="4" name="TextBox 3"/>
          <p:cNvSpPr txBox="1"/>
          <p:nvPr/>
        </p:nvSpPr>
        <p:spPr>
          <a:xfrm>
            <a:off x="2377440" y="2697480"/>
            <a:ext cx="8961120" cy="914400"/>
          </a:xfrm>
          <a:prstGeom prst="rect">
            <a:avLst/>
          </a:prstGeom>
          <a:noFill/>
        </p:spPr>
        <p:txBody>
          <a:bodyPr wrap="square">
            <a:spAutoFit/>
          </a:bodyPr>
          <a:lstStyle/>
          <a:p>
            <a:r>
              <a:rPr sz="3200" b="1" i="0">
                <a:solidFill>
                  <a:srgbClr val="FFFFFF"/>
                </a:solidFill>
                <a:latin typeface="Calibri"/>
              </a:rPr>
              <a:t>ETL / ODI Landscape</a:t>
            </a:r>
          </a:p>
        </p:txBody>
      </p:sp>
      <p:sp>
        <p:nvSpPr>
          <p:cNvPr id="5" name="Rectangle 4"/>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7" name="TextBox 6"/>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03 · ETL / ODI LANDSCAPE</a:t>
            </a:r>
          </a:p>
        </p:txBody>
      </p:sp>
      <p:sp>
        <p:nvSpPr>
          <p:cNvPr id="5" name="TextBox 4"/>
          <p:cNvSpPr txBox="1"/>
          <p:nvPr/>
        </p:nvSpPr>
        <p:spPr>
          <a:xfrm>
            <a:off x="365760" y="310896"/>
            <a:ext cx="11247120" cy="640080"/>
          </a:xfrm>
          <a:prstGeom prst="rect">
            <a:avLst/>
          </a:prstGeom>
          <a:noFill/>
        </p:spPr>
        <p:txBody>
          <a:bodyPr wrap="square">
            <a:spAutoFit/>
          </a:bodyPr>
          <a:lstStyle/>
          <a:p>
            <a:r>
              <a:rPr sz="2200" b="1" i="0">
                <a:solidFill>
                  <a:srgbClr val="FFFFFF"/>
                </a:solidFill>
                <a:latin typeface="Calibri"/>
              </a:rPr>
              <a:t>ODI Job Inventory &amp; Nightly Load Window</a:t>
            </a:r>
          </a:p>
        </p:txBody>
      </p:sp>
      <p:graphicFrame>
        <p:nvGraphicFramePr>
          <p:cNvPr id="6" name="Table 5"/>
          <p:cNvGraphicFramePr>
            <a:graphicFrameLocks noGrp="1"/>
          </p:cNvGraphicFramePr>
          <p:nvPr/>
        </p:nvGraphicFramePr>
        <p:xfrm>
          <a:off x="320040" y="1097280"/>
          <a:ext cx="6035040" cy="2377440"/>
        </p:xfrm>
        <a:graphic>
          <a:graphicData uri="http://schemas.openxmlformats.org/drawingml/2006/table">
            <a:tbl>
              <a:tblPr firstRow="1" bandRow="1">
                <a:tableStyleId>{5C22544A-7EE6-4342-B048-85BDC9FD1C3A}</a:tableStyleId>
              </a:tblPr>
              <a:tblGrid>
                <a:gridCol w="2468880"/>
                <a:gridCol w="3566160"/>
              </a:tblGrid>
              <a:tr h="396240">
                <a:tc>
                  <a:txBody>
                    <a:bodyPr/>
                    <a:lstStyle/>
                    <a:p>
                      <a:pPr algn="l"/>
                      <a:r>
                        <a:rPr sz="1100" b="1" i="0">
                          <a:solidFill>
                            <a:srgbClr val="FFFFFF"/>
                          </a:solidFill>
                          <a:latin typeface="Calibri"/>
                        </a:rPr>
                        <a:t>Item</a:t>
                      </a:r>
                    </a:p>
                  </a:txBody>
                  <a:tcPr anchor="ctr" marT="38100" marB="38100" marL="76200" marR="76200">
                    <a:solidFill>
                      <a:srgbClr val="1B2E44"/>
                    </a:solidFill>
                  </a:tcPr>
                </a:tc>
                <a:tc>
                  <a:txBody>
                    <a:bodyPr/>
                    <a:lstStyle/>
                    <a:p>
                      <a:pPr algn="l"/>
                      <a:r>
                        <a:rPr sz="1100" b="1" i="0">
                          <a:solidFill>
                            <a:srgbClr val="FFFFFF"/>
                          </a:solidFill>
                          <a:latin typeface="Calibri"/>
                        </a:rPr>
                        <a:t>Value</a:t>
                      </a:r>
                    </a:p>
                  </a:txBody>
                  <a:tcPr anchor="ctr" marT="38100" marB="38100" marL="76200" marR="76200">
                    <a:solidFill>
                      <a:srgbClr val="1B2E44"/>
                    </a:solidFill>
                  </a:tcPr>
                </a:tc>
              </a:tr>
              <a:tr h="396240">
                <a:tc>
                  <a:txBody>
                    <a:bodyPr/>
                    <a:lstStyle/>
                    <a:p>
                      <a:r>
                        <a:rPr sz="1050" b="0" i="0">
                          <a:solidFill>
                            <a:srgbClr val="202022"/>
                          </a:solidFill>
                          <a:latin typeface="Calibri"/>
                        </a:rPr>
                        <a:t>Production work repository</a:t>
                      </a:r>
                    </a:p>
                  </a:txBody>
                  <a:tcPr anchor="ctr" marT="25400" marB="25400" marL="76200" marR="76200">
                    <a:solidFill>
                      <a:srgbClr val="FFFFFF"/>
                    </a:solidFill>
                  </a:tcPr>
                </a:tc>
                <a:tc>
                  <a:txBody>
                    <a:bodyPr/>
                    <a:lstStyle/>
                    <a:p>
                      <a:r>
                        <a:rPr sz="1050" b="0" i="0">
                          <a:solidFill>
                            <a:srgbClr val="202022"/>
                          </a:solidFill>
                          <a:latin typeface="Calibri"/>
                        </a:rPr>
                        <a:t>47 mappings across 9 project folders</a:t>
                      </a:r>
                    </a:p>
                  </a:txBody>
                  <a:tcPr anchor="ctr" marT="25400" marB="25400" marL="76200" marR="76200">
                    <a:solidFill>
                      <a:srgbClr val="FFFFFF"/>
                    </a:solidFill>
                  </a:tcPr>
                </a:tc>
              </a:tr>
              <a:tr h="396240">
                <a:tc>
                  <a:txBody>
                    <a:bodyPr/>
                    <a:lstStyle/>
                    <a:p>
                      <a:r>
                        <a:rPr sz="1050" b="0" i="0">
                          <a:solidFill>
                            <a:srgbClr val="202022"/>
                          </a:solidFill>
                          <a:latin typeface="Calibri"/>
                        </a:rPr>
                        <a:t>In scope for this engagement (SALES_FIN folder)</a:t>
                      </a:r>
                    </a:p>
                  </a:txBody>
                  <a:tcPr anchor="ctr" marT="25400" marB="25400" marL="76200" marR="76200">
                    <a:solidFill>
                      <a:srgbClr val="F3F3F1"/>
                    </a:solidFill>
                  </a:tcPr>
                </a:tc>
                <a:tc>
                  <a:txBody>
                    <a:bodyPr/>
                    <a:lstStyle/>
                    <a:p>
                      <a:r>
                        <a:rPr sz="1050" b="0" i="0">
                          <a:solidFill>
                            <a:srgbClr val="202022"/>
                          </a:solidFill>
                          <a:latin typeface="Calibri"/>
                        </a:rPr>
                        <a:t>4 load plans, 22 mappings</a:t>
                      </a:r>
                    </a:p>
                  </a:txBody>
                  <a:tcPr anchor="ctr" marT="25400" marB="25400" marL="76200" marR="76200">
                    <a:solidFill>
                      <a:srgbClr val="F3F3F1"/>
                    </a:solidFill>
                  </a:tcPr>
                </a:tc>
              </a:tr>
              <a:tr h="396240">
                <a:tc>
                  <a:txBody>
                    <a:bodyPr/>
                    <a:lstStyle/>
                    <a:p>
                      <a:r>
                        <a:rPr sz="1050" b="0" i="0">
                          <a:solidFill>
                            <a:srgbClr val="202022"/>
                          </a:solidFill>
                          <a:latin typeface="Calibri"/>
                        </a:rPr>
                        <a:t>Walked through in detail so far</a:t>
                      </a:r>
                    </a:p>
                  </a:txBody>
                  <a:tcPr anchor="ctr" marT="25400" marB="25400" marL="76200" marR="76200">
                    <a:solidFill>
                      <a:srgbClr val="FFFFFF"/>
                    </a:solidFill>
                  </a:tcPr>
                </a:tc>
                <a:tc>
                  <a:txBody>
                    <a:bodyPr/>
                    <a:lstStyle/>
                    <a:p>
                      <a:r>
                        <a:rPr sz="1050" b="0" i="0">
                          <a:solidFill>
                            <a:srgbClr val="202022"/>
                          </a:solidFill>
                          <a:latin typeface="Calibri"/>
                        </a:rPr>
                        <a:t>2 load plans (LP_DAILY_SALES, LP_MONTHEND_FIN), 6 mappings</a:t>
                      </a:r>
                    </a:p>
                  </a:txBody>
                  <a:tcPr anchor="ctr" marT="25400" marB="25400" marL="76200" marR="76200">
                    <a:solidFill>
                      <a:srgbClr val="FFFFFF"/>
                    </a:solidFill>
                  </a:tcPr>
                </a:tc>
              </a:tr>
              <a:tr h="396240">
                <a:tc>
                  <a:txBody>
                    <a:bodyPr/>
                    <a:lstStyle/>
                    <a:p>
                      <a:r>
                        <a:rPr sz="1050" b="0" i="0">
                          <a:solidFill>
                            <a:srgbClr val="202022"/>
                          </a:solidFill>
                          <a:latin typeface="Calibri"/>
                        </a:rPr>
                        <a:t>Key mapping on the critical path</a:t>
                      </a:r>
                    </a:p>
                  </a:txBody>
                  <a:tcPr anchor="ctr" marT="25400" marB="25400" marL="76200" marR="76200">
                    <a:solidFill>
                      <a:srgbClr val="F3F3F1"/>
                    </a:solidFill>
                  </a:tcPr>
                </a:tc>
                <a:tc>
                  <a:txBody>
                    <a:bodyPr/>
                    <a:lstStyle/>
                    <a:p>
                      <a:r>
                        <a:rPr sz="1050" b="0" i="0">
                          <a:solidFill>
                            <a:srgbClr val="202022"/>
                          </a:solidFill>
                          <a:latin typeface="Calibri"/>
                        </a:rPr>
                        <a:t>MAP_FACT_INVOICE_LINE</a:t>
                      </a:r>
                    </a:p>
                  </a:txBody>
                  <a:tcPr anchor="ctr" marT="25400" marB="25400" marL="76200" marR="76200">
                    <a:solidFill>
                      <a:srgbClr val="F3F3F1"/>
                    </a:solidFill>
                  </a:tcPr>
                </a:tc>
              </a:tr>
              <a:tr h="396240">
                <a:tc>
                  <a:txBody>
                    <a:bodyPr/>
                    <a:lstStyle/>
                    <a:p>
                      <a:r>
                        <a:rPr sz="1050" b="0" i="0">
                          <a:solidFill>
                            <a:srgbClr val="202022"/>
                          </a:solidFill>
                          <a:latin typeface="Calibri"/>
                        </a:rPr>
                        <a:t>Standalone agent</a:t>
                      </a:r>
                    </a:p>
                  </a:txBody>
                  <a:tcPr anchor="ctr" marT="25400" marB="25400" marL="76200" marR="76200">
                    <a:solidFill>
                      <a:srgbClr val="FFFFFF"/>
                    </a:solidFill>
                  </a:tcPr>
                </a:tc>
                <a:tc>
                  <a:txBody>
                    <a:bodyPr/>
                    <a:lstStyle/>
                    <a:p>
                      <a:r>
                        <a:rPr sz="1050" b="0" i="0">
                          <a:solidFill>
                            <a:srgbClr val="202022"/>
                          </a:solidFill>
                          <a:latin typeface="Calibri"/>
                        </a:rPr>
                        <a:t>OracleDIAgent1, edw-app-prd-02.bcpl.local:20910, single agent, no load balancing or failover</a:t>
                      </a:r>
                    </a:p>
                  </a:txBody>
                  <a:tcPr anchor="ctr" marT="25400" marB="25400" marL="76200" marR="76200">
                    <a:solidFill>
                      <a:srgbClr val="FFFFFF"/>
                    </a:solidFill>
                  </a:tcPr>
                </a:tc>
              </a:tr>
            </a:tbl>
          </a:graphicData>
        </a:graphic>
      </p:graphicFrame>
      <p:graphicFrame>
        <p:nvGraphicFramePr>
          <p:cNvPr id="7" name="Table 6"/>
          <p:cNvGraphicFramePr>
            <a:graphicFrameLocks noGrp="1"/>
          </p:cNvGraphicFramePr>
          <p:nvPr/>
        </p:nvGraphicFramePr>
        <p:xfrm>
          <a:off x="6492240" y="1097280"/>
          <a:ext cx="5349240" cy="2834640"/>
        </p:xfrm>
        <a:graphic>
          <a:graphicData uri="http://schemas.openxmlformats.org/drawingml/2006/table">
            <a:tbl>
              <a:tblPr firstRow="1" bandRow="1">
                <a:tableStyleId>{5C22544A-7EE6-4342-B048-85BDC9FD1C3A}</a:tableStyleId>
              </a:tblPr>
              <a:tblGrid>
                <a:gridCol w="2560320"/>
                <a:gridCol w="2788920"/>
              </a:tblGrid>
              <a:tr h="354330">
                <a:tc>
                  <a:txBody>
                    <a:bodyPr/>
                    <a:lstStyle/>
                    <a:p>
                      <a:pPr algn="l"/>
                      <a:r>
                        <a:rPr sz="1050" b="1" i="0">
                          <a:solidFill>
                            <a:srgbClr val="FFFFFF"/>
                          </a:solidFill>
                          <a:latin typeface="Calibri"/>
                        </a:rPr>
                        <a:t>Metric</a:t>
                      </a:r>
                    </a:p>
                  </a:txBody>
                  <a:tcPr anchor="ctr" marT="38100" marB="38100" marL="76200" marR="76200">
                    <a:solidFill>
                      <a:srgbClr val="1B2E44"/>
                    </a:solidFill>
                  </a:tcPr>
                </a:tc>
                <a:tc>
                  <a:txBody>
                    <a:bodyPr/>
                    <a:lstStyle/>
                    <a:p>
                      <a:pPr algn="l"/>
                      <a:r>
                        <a:rPr sz="1050" b="1" i="0">
                          <a:solidFill>
                            <a:srgbClr val="FFFFFF"/>
                          </a:solidFill>
                          <a:latin typeface="Calibri"/>
                        </a:rPr>
                        <a:t>Value</a:t>
                      </a:r>
                    </a:p>
                  </a:txBody>
                  <a:tcPr anchor="ctr" marT="38100" marB="38100" marL="76200" marR="76200">
                    <a:solidFill>
                      <a:srgbClr val="1B2E44"/>
                    </a:solidFill>
                  </a:tcPr>
                </a:tc>
              </a:tr>
              <a:tr h="354330">
                <a:tc>
                  <a:txBody>
                    <a:bodyPr/>
                    <a:lstStyle/>
                    <a:p>
                      <a:r>
                        <a:rPr sz="1000" b="0" i="0">
                          <a:solidFill>
                            <a:srgbClr val="202022"/>
                          </a:solidFill>
                          <a:latin typeface="Calibri"/>
                        </a:rPr>
                        <a:t>Trigger</a:t>
                      </a:r>
                    </a:p>
                  </a:txBody>
                  <a:tcPr anchor="ctr" marT="25400" marB="25400" marL="76200" marR="76200">
                    <a:solidFill>
                      <a:srgbClr val="FFFFFF"/>
                    </a:solidFill>
                  </a:tcPr>
                </a:tc>
                <a:tc>
                  <a:txBody>
                    <a:bodyPr/>
                    <a:lstStyle/>
                    <a:p>
                      <a:r>
                        <a:rPr sz="1000" b="0" i="0">
                          <a:solidFill>
                            <a:srgbClr val="202022"/>
                          </a:solidFill>
                          <a:latin typeface="Calibri"/>
                        </a:rPr>
                        <a:t>Control-M job BCPL_EDW_DAILY_LOAD_START, 01:00 IST, every day incl. Sundays</a:t>
                      </a:r>
                    </a:p>
                  </a:txBody>
                  <a:tcPr anchor="ctr" marT="25400" marB="25400" marL="76200" marR="76200">
                    <a:solidFill>
                      <a:srgbClr val="FFFFFF"/>
                    </a:solidFill>
                  </a:tcPr>
                </a:tc>
              </a:tr>
              <a:tr h="354330">
                <a:tc>
                  <a:txBody>
                    <a:bodyPr/>
                    <a:lstStyle/>
                    <a:p>
                      <a:r>
                        <a:rPr sz="1000" b="0" i="0">
                          <a:solidFill>
                            <a:srgbClr val="202022"/>
                          </a:solidFill>
                          <a:latin typeface="Calibri"/>
                        </a:rPr>
                        <a:t>Average elapsed</a:t>
                      </a:r>
                    </a:p>
                  </a:txBody>
                  <a:tcPr anchor="ctr" marT="25400" marB="25400" marL="76200" marR="76200">
                    <a:solidFill>
                      <a:srgbClr val="F3F3F1"/>
                    </a:solidFill>
                  </a:tcPr>
                </a:tc>
                <a:tc>
                  <a:txBody>
                    <a:bodyPr/>
                    <a:lstStyle/>
                    <a:p>
                      <a:r>
                        <a:rPr sz="1000" b="0" i="0">
                          <a:solidFill>
                            <a:srgbClr val="202022"/>
                          </a:solidFill>
                          <a:latin typeface="Calibri"/>
                        </a:rPr>
                        <a:t>58 min (01:00 → 01:58)</a:t>
                      </a:r>
                    </a:p>
                  </a:txBody>
                  <a:tcPr anchor="ctr" marT="25400" marB="25400" marL="76200" marR="76200">
                    <a:solidFill>
                      <a:srgbClr val="F3F3F1"/>
                    </a:solidFill>
                  </a:tcPr>
                </a:tc>
              </a:tr>
              <a:tr h="354330">
                <a:tc>
                  <a:txBody>
                    <a:bodyPr/>
                    <a:lstStyle/>
                    <a:p>
                      <a:r>
                        <a:rPr sz="1000" b="0" i="0">
                          <a:solidFill>
                            <a:srgbClr val="202022"/>
                          </a:solidFill>
                          <a:latin typeface="Calibri"/>
                        </a:rPr>
                        <a:t>P95 elapsed</a:t>
                      </a:r>
                    </a:p>
                  </a:txBody>
                  <a:tcPr anchor="ctr" marT="25400" marB="25400" marL="76200" marR="76200">
                    <a:solidFill>
                      <a:srgbClr val="FFFFFF"/>
                    </a:solidFill>
                  </a:tcPr>
                </a:tc>
                <a:tc>
                  <a:txBody>
                    <a:bodyPr/>
                    <a:lstStyle/>
                    <a:p>
                      <a:r>
                        <a:rPr sz="1000" b="0" i="0">
                          <a:solidFill>
                            <a:srgbClr val="202022"/>
                          </a:solidFill>
                          <a:latin typeface="Calibri"/>
                        </a:rPr>
                        <a:t>71 min</a:t>
                      </a:r>
                    </a:p>
                  </a:txBody>
                  <a:tcPr anchor="ctr" marT="25400" marB="25400" marL="76200" marR="76200">
                    <a:solidFill>
                      <a:srgbClr val="FFFFFF"/>
                    </a:solidFill>
                  </a:tcPr>
                </a:tc>
              </a:tr>
              <a:tr h="354330">
                <a:tc>
                  <a:txBody>
                    <a:bodyPr/>
                    <a:lstStyle/>
                    <a:p>
                      <a:r>
                        <a:rPr sz="1000" b="0" i="0">
                          <a:solidFill>
                            <a:srgbClr val="202022"/>
                          </a:solidFill>
                          <a:latin typeface="Calibri"/>
                        </a:rPr>
                        <a:t>Typical completion incl. post-load checks</a:t>
                      </a:r>
                    </a:p>
                  </a:txBody>
                  <a:tcPr anchor="ctr" marT="25400" marB="25400" marL="76200" marR="76200">
                    <a:solidFill>
                      <a:srgbClr val="F3F3F1"/>
                    </a:solidFill>
                  </a:tcPr>
                </a:tc>
                <a:tc>
                  <a:txBody>
                    <a:bodyPr/>
                    <a:lstStyle/>
                    <a:p>
                      <a:r>
                        <a:rPr sz="1000" b="0" i="0">
                          <a:solidFill>
                            <a:srgbClr val="202022"/>
                          </a:solidFill>
                          <a:latin typeface="Calibri"/>
                        </a:rPr>
                        <a:t>~02:05 IST</a:t>
                      </a:r>
                    </a:p>
                  </a:txBody>
                  <a:tcPr anchor="ctr" marT="25400" marB="25400" marL="76200" marR="76200">
                    <a:solidFill>
                      <a:srgbClr val="F3F3F1"/>
                    </a:solidFill>
                  </a:tcPr>
                </a:tc>
              </a:tr>
              <a:tr h="354330">
                <a:tc>
                  <a:txBody>
                    <a:bodyPr/>
                    <a:lstStyle/>
                    <a:p>
                      <a:r>
                        <a:rPr sz="1000" b="0" i="0">
                          <a:solidFill>
                            <a:srgbClr val="202022"/>
                          </a:solidFill>
                          <a:latin typeface="Calibri"/>
                        </a:rPr>
                        <a:t>Business availability SLA</a:t>
                      </a:r>
                    </a:p>
                  </a:txBody>
                  <a:tcPr anchor="ctr" marT="25400" marB="25400" marL="76200" marR="76200">
                    <a:solidFill>
                      <a:srgbClr val="FFFFFF"/>
                    </a:solidFill>
                  </a:tcPr>
                </a:tc>
                <a:tc>
                  <a:txBody>
                    <a:bodyPr/>
                    <a:lstStyle/>
                    <a:p>
                      <a:r>
                        <a:rPr sz="1000" b="0" i="0">
                          <a:solidFill>
                            <a:srgbClr val="202022"/>
                          </a:solidFill>
                          <a:latin typeface="Calibri"/>
                        </a:rPr>
                        <a:t>05:30 IST</a:t>
                      </a:r>
                    </a:p>
                  </a:txBody>
                  <a:tcPr anchor="ctr" marT="25400" marB="25400" marL="76200" marR="76200">
                    <a:solidFill>
                      <a:srgbClr val="FFFFFF"/>
                    </a:solidFill>
                  </a:tcPr>
                </a:tc>
              </a:tr>
              <a:tr h="354330">
                <a:tc>
                  <a:txBody>
                    <a:bodyPr/>
                    <a:lstStyle/>
                    <a:p>
                      <a:r>
                        <a:rPr sz="1000" b="0" i="0">
                          <a:solidFill>
                            <a:srgbClr val="202022"/>
                          </a:solidFill>
                          <a:latin typeface="Calibri"/>
                        </a:rPr>
                        <a:t>Nights SLA breached, FY26 Q4 so far</a:t>
                      </a:r>
                    </a:p>
                  </a:txBody>
                  <a:tcPr anchor="ctr" marT="25400" marB="25400" marL="76200" marR="76200">
                    <a:solidFill>
                      <a:srgbClr val="F3F3F1"/>
                    </a:solidFill>
                  </a:tcPr>
                </a:tc>
                <a:tc>
                  <a:txBody>
                    <a:bodyPr/>
                    <a:lstStyle/>
                    <a:p>
                      <a:r>
                        <a:rPr sz="1000" b="0" i="0">
                          <a:solidFill>
                            <a:srgbClr val="202022"/>
                          </a:solidFill>
                          <a:latin typeface="Calibri"/>
                        </a:rPr>
                        <a:t>2, 14-Feb-2026 and 02-Mar-2026</a:t>
                      </a:r>
                    </a:p>
                  </a:txBody>
                  <a:tcPr anchor="ctr" marT="25400" marB="25400" marL="76200" marR="76200">
                    <a:solidFill>
                      <a:srgbClr val="F3F3F1"/>
                    </a:solidFill>
                  </a:tcPr>
                </a:tc>
              </a:tr>
              <a:tr h="354330">
                <a:tc>
                  <a:txBody>
                    <a:bodyPr/>
                    <a:lstStyle/>
                    <a:p>
                      <a:r>
                        <a:rPr sz="1000" b="0" i="0">
                          <a:solidFill>
                            <a:srgbClr val="202022"/>
                          </a:solidFill>
                          <a:latin typeface="Calibri"/>
                        </a:rPr>
                        <a:t>Average invoice lines per night</a:t>
                      </a:r>
                    </a:p>
                  </a:txBody>
                  <a:tcPr anchor="ctr" marT="25400" marB="25400" marL="76200" marR="76200">
                    <a:solidFill>
                      <a:srgbClr val="FFFFFF"/>
                    </a:solidFill>
                  </a:tcPr>
                </a:tc>
                <a:tc>
                  <a:txBody>
                    <a:bodyPr/>
                    <a:lstStyle/>
                    <a:p>
                      <a:r>
                        <a:rPr sz="1000" b="0" i="0">
                          <a:solidFill>
                            <a:srgbClr val="202022"/>
                          </a:solidFill>
                          <a:latin typeface="Calibri"/>
                        </a:rPr>
                        <a:t>21,400 (range approx. 6,200 Sundays to 48,900 month-end)</a:t>
                      </a:r>
                    </a:p>
                  </a:txBody>
                  <a:tcPr anchor="ctr" marT="25400" marB="25400" marL="76200" marR="76200">
                    <a:solidFill>
                      <a:srgbClr val="FFFFFF"/>
                    </a:solidFill>
                  </a:tcPr>
                </a:tc>
              </a:tr>
            </a:tbl>
          </a:graphicData>
        </a:graphic>
      </p:graphicFrame>
      <p:sp>
        <p:nvSpPr>
          <p:cNvPr id="8" name="TextBox 7"/>
          <p:cNvSpPr txBox="1"/>
          <p:nvPr/>
        </p:nvSpPr>
        <p:spPr>
          <a:xfrm>
            <a:off x="320040" y="3657600"/>
            <a:ext cx="11521440" cy="2011680"/>
          </a:xfrm>
          <a:prstGeom prst="rect">
            <a:avLst/>
          </a:prstGeom>
          <a:noFill/>
        </p:spPr>
        <p:txBody>
          <a:bodyPr wrap="square">
            <a:spAutoFit/>
          </a:bodyPr>
          <a:lstStyle/>
          <a:p>
            <a:pPr>
              <a:lnSpc>
                <a:spcPct val="108000"/>
              </a:lnSpc>
              <a:spcAft>
                <a:spcPts val="600"/>
              </a:spcAft>
            </a:pPr>
            <a:r>
              <a:rPr sz="1200" b="0" i="0">
                <a:solidFill>
                  <a:srgbClr val="202022"/>
                </a:solidFill>
                <a:latin typeface="Calibri"/>
              </a:rPr>
              <a:t>• Load technique: LKM Oracle to Oracle (DBLINK) into staging, then IKM Oracle Control Append / IKM Oracle Incremental Update into the warehouse, with CKM Oracle doing constraint checks.</a:t>
            </a:r>
          </a:p>
          <a:p>
            <a:pPr>
              <a:lnSpc>
                <a:spcPct val="108000"/>
              </a:lnSpc>
              <a:spcAft>
                <a:spcPts val="600"/>
              </a:spcAft>
            </a:pPr>
            <a:r>
              <a:rPr sz="1200" b="0" i="0">
                <a:solidFill>
                  <a:srgbClr val="202022"/>
                </a:solidFill>
                <a:latin typeface="Calibri"/>
              </a:rPr>
              <a:t>• Two load plans not yet detailed: LP_SECONDARY_UPLOAD (daily 04:00 IST, picks up a DMS file drop, frequently no file arrives) and LP_DIM_REFRESH_FULL (ad hoc full dimension rebuild).</a:t>
            </a:r>
          </a:p>
          <a:p>
            <a:pPr>
              <a:lnSpc>
                <a:spcPct val="108000"/>
              </a:lnSpc>
              <a:spcAft>
                <a:spcPts val="600"/>
              </a:spcAft>
            </a:pPr>
            <a:r>
              <a:rPr sz="1200" b="0" i="0">
                <a:solidFill>
                  <a:srgbClr val="202022"/>
                </a:solidFill>
                <a:latin typeface="Calibri"/>
              </a:rPr>
              <a:t>• Farida Contractor owns the nightly load and the Control-M folder; her line on this, verbatim: “the window is the window.” She is the first call at 05:00 if the SLA is missed.</a:t>
            </a:r>
          </a:p>
        </p:txBody>
      </p:sp>
      <p:sp>
        <p:nvSpPr>
          <p:cNvPr id="9" name="Rectangle 8"/>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1" name="TextBox 10"/>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2743200" cy="1280160"/>
          </a:xfrm>
          <a:prstGeom prst="rect">
            <a:avLst/>
          </a:prstGeom>
          <a:noFill/>
        </p:spPr>
        <p:txBody>
          <a:bodyPr wrap="none">
            <a:spAutoFit/>
          </a:bodyPr>
          <a:lstStyle/>
          <a:p>
            <a:r>
              <a:rPr sz="6400" b="1" i="0">
                <a:solidFill>
                  <a:srgbClr val="B88A2E"/>
                </a:solidFill>
                <a:latin typeface="Calibri"/>
              </a:rPr>
              <a:t>04</a:t>
            </a:r>
          </a:p>
        </p:txBody>
      </p:sp>
      <p:sp>
        <p:nvSpPr>
          <p:cNvPr id="4" name="TextBox 3"/>
          <p:cNvSpPr txBox="1"/>
          <p:nvPr/>
        </p:nvSpPr>
        <p:spPr>
          <a:xfrm>
            <a:off x="2377440" y="2697480"/>
            <a:ext cx="8961120" cy="914400"/>
          </a:xfrm>
          <a:prstGeom prst="rect">
            <a:avLst/>
          </a:prstGeom>
          <a:noFill/>
        </p:spPr>
        <p:txBody>
          <a:bodyPr wrap="square">
            <a:spAutoFit/>
          </a:bodyPr>
          <a:lstStyle/>
          <a:p>
            <a:r>
              <a:rPr sz="3200" b="1" i="0">
                <a:solidFill>
                  <a:srgbClr val="FFFFFF"/>
                </a:solidFill>
                <a:latin typeface="Calibri"/>
              </a:rPr>
              <a:t>Reporting Landscape</a:t>
            </a:r>
          </a:p>
        </p:txBody>
      </p:sp>
      <p:sp>
        <p:nvSpPr>
          <p:cNvPr id="5" name="Rectangle 4"/>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7" name="TextBox 6"/>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04 · REPORTING LANDSCAPE</a:t>
            </a:r>
          </a:p>
        </p:txBody>
      </p:sp>
      <p:sp>
        <p:nvSpPr>
          <p:cNvPr id="5" name="TextBox 4"/>
          <p:cNvSpPr txBox="1"/>
          <p:nvPr/>
        </p:nvSpPr>
        <p:spPr>
          <a:xfrm>
            <a:off x="365760" y="310896"/>
            <a:ext cx="11247120" cy="640080"/>
          </a:xfrm>
          <a:prstGeom prst="rect">
            <a:avLst/>
          </a:prstGeom>
          <a:noFill/>
        </p:spPr>
        <p:txBody>
          <a:bodyPr wrap="square">
            <a:spAutoFit/>
          </a:bodyPr>
          <a:lstStyle/>
          <a:p>
            <a:r>
              <a:rPr sz="2200" b="1" i="0">
                <a:solidFill>
                  <a:srgbClr val="FFFFFF"/>
                </a:solidFill>
                <a:latin typeface="Calibri"/>
              </a:rPr>
              <a:t>Reporting Landscape: OBIEE (current) and Power BI (target)</a:t>
            </a:r>
          </a:p>
        </p:txBody>
      </p:sp>
      <p:graphicFrame>
        <p:nvGraphicFramePr>
          <p:cNvPr id="6" name="Table 5"/>
          <p:cNvGraphicFramePr>
            <a:graphicFrameLocks noGrp="1"/>
          </p:cNvGraphicFramePr>
          <p:nvPr/>
        </p:nvGraphicFramePr>
        <p:xfrm>
          <a:off x="365760" y="1143000"/>
          <a:ext cx="11430000" cy="2834640"/>
        </p:xfrm>
        <a:graphic>
          <a:graphicData uri="http://schemas.openxmlformats.org/drawingml/2006/table">
            <a:tbl>
              <a:tblPr firstRow="1" bandRow="1">
                <a:tableStyleId>{5C22544A-7EE6-4342-B048-85BDC9FD1C3A}</a:tableStyleId>
              </a:tblPr>
              <a:tblGrid>
                <a:gridCol w="2194560"/>
                <a:gridCol w="4480560"/>
                <a:gridCol w="4754880"/>
              </a:tblGrid>
              <a:tr h="404948">
                <a:tc>
                  <a:txBody>
                    <a:bodyPr/>
                    <a:lstStyle/>
                    <a:p>
                      <a:pPr algn="l"/>
                      <a:r>
                        <a:rPr sz="1150" b="1" i="0">
                          <a:solidFill>
                            <a:srgbClr val="FFFFFF"/>
                          </a:solidFill>
                          <a:latin typeface="Calibri"/>
                        </a:rPr>
                        <a:t>Aspect</a:t>
                      </a:r>
                    </a:p>
                  </a:txBody>
                  <a:tcPr anchor="ctr" marT="38100" marB="38100" marL="76200" marR="76200">
                    <a:solidFill>
                      <a:srgbClr val="1B2E44"/>
                    </a:solidFill>
                  </a:tcPr>
                </a:tc>
                <a:tc>
                  <a:txBody>
                    <a:bodyPr/>
                    <a:lstStyle/>
                    <a:p>
                      <a:pPr algn="l"/>
                      <a:r>
                        <a:rPr sz="1150" b="1" i="0">
                          <a:solidFill>
                            <a:srgbClr val="FFFFFF"/>
                          </a:solidFill>
                          <a:latin typeface="Calibri"/>
                        </a:rPr>
                        <a:t>OBIEE (current)</a:t>
                      </a:r>
                    </a:p>
                  </a:txBody>
                  <a:tcPr anchor="ctr" marT="38100" marB="38100" marL="76200" marR="76200">
                    <a:solidFill>
                      <a:srgbClr val="1B2E44"/>
                    </a:solidFill>
                  </a:tcPr>
                </a:tc>
                <a:tc>
                  <a:txBody>
                    <a:bodyPr/>
                    <a:lstStyle/>
                    <a:p>
                      <a:pPr algn="l"/>
                      <a:r>
                        <a:rPr sz="1150" b="1" i="0">
                          <a:solidFill>
                            <a:srgbClr val="FFFFFF"/>
                          </a:solidFill>
                          <a:latin typeface="Calibri"/>
                        </a:rPr>
                        <a:t>Power BI (target)</a:t>
                      </a:r>
                    </a:p>
                  </a:txBody>
                  <a:tcPr anchor="ctr" marT="38100" marB="38100" marL="76200" marR="76200">
                    <a:solidFill>
                      <a:srgbClr val="1B2E44"/>
                    </a:solidFill>
                  </a:tcPr>
                </a:tc>
              </a:tr>
              <a:tr h="404948">
                <a:tc>
                  <a:txBody>
                    <a:bodyPr/>
                    <a:lstStyle/>
                    <a:p>
                      <a:r>
                        <a:rPr sz="1100" b="0" i="0">
                          <a:solidFill>
                            <a:srgbClr val="202022"/>
                          </a:solidFill>
                          <a:latin typeface="Calibri"/>
                        </a:rPr>
                        <a:t>Version / tier</a:t>
                      </a:r>
                    </a:p>
                  </a:txBody>
                  <a:tcPr anchor="ctr" marT="25400" marB="25400" marL="76200" marR="76200">
                    <a:solidFill>
                      <a:srgbClr val="FFFFFF"/>
                    </a:solidFill>
                  </a:tcPr>
                </a:tc>
                <a:tc>
                  <a:txBody>
                    <a:bodyPr/>
                    <a:lstStyle/>
                    <a:p>
                      <a:r>
                        <a:rPr sz="1100" b="0" i="0">
                          <a:solidFill>
                            <a:srgbClr val="202022"/>
                          </a:solidFill>
                          <a:latin typeface="Calibri"/>
                        </a:rPr>
                        <a:t>11g, 11.1.1.9</a:t>
                      </a:r>
                    </a:p>
                  </a:txBody>
                  <a:tcPr anchor="ctr" marT="25400" marB="25400" marL="76200" marR="76200">
                    <a:solidFill>
                      <a:srgbClr val="FFFFFF"/>
                    </a:solidFill>
                  </a:tcPr>
                </a:tc>
                <a:tc>
                  <a:txBody>
                    <a:bodyPr/>
                    <a:lstStyle/>
                    <a:p>
                      <a:r>
                        <a:rPr sz="1100" b="0" i="0">
                          <a:solidFill>
                            <a:srgbClr val="202022"/>
                          </a:solidFill>
                          <a:latin typeface="Calibri"/>
                        </a:rPr>
                        <a:t>Premium P1 capacity</a:t>
                      </a:r>
                    </a:p>
                  </a:txBody>
                  <a:tcPr anchor="ctr" marT="25400" marB="25400" marL="76200" marR="76200">
                    <a:solidFill>
                      <a:srgbClr val="FFFFFF"/>
                    </a:solidFill>
                  </a:tcPr>
                </a:tc>
              </a:tr>
              <a:tr h="404948">
                <a:tc>
                  <a:txBody>
                    <a:bodyPr/>
                    <a:lstStyle/>
                    <a:p>
                      <a:r>
                        <a:rPr sz="1100" b="0" i="0">
                          <a:solidFill>
                            <a:srgbClr val="202022"/>
                          </a:solidFill>
                          <a:latin typeface="Calibri"/>
                        </a:rPr>
                        <a:t>Catalogue</a:t>
                      </a:r>
                    </a:p>
                  </a:txBody>
                  <a:tcPr anchor="ctr" marT="25400" marB="25400" marL="76200" marR="76200">
                    <a:solidFill>
                      <a:srgbClr val="F3F3F1"/>
                    </a:solidFill>
                  </a:tcPr>
                </a:tc>
                <a:tc>
                  <a:txBody>
                    <a:bodyPr/>
                    <a:lstStyle/>
                    <a:p>
                      <a:r>
                        <a:rPr sz="1100" b="0" i="0">
                          <a:solidFill>
                            <a:srgbClr val="202022"/>
                          </a:solidFill>
                          <a:latin typeface="Calibri"/>
                        </a:rPr>
                        <a:t>41 catalogue reports, of which 12 are actually used</a:t>
                      </a:r>
                    </a:p>
                  </a:txBody>
                  <a:tcPr anchor="ctr" marT="25400" marB="25400" marL="76200" marR="76200">
                    <a:solidFill>
                      <a:srgbClr val="F3F3F1"/>
                    </a:solidFill>
                  </a:tcPr>
                </a:tc>
                <a:tc>
                  <a:txBody>
                    <a:bodyPr/>
                    <a:lstStyle/>
                    <a:p>
                      <a:r>
                        <a:rPr sz="1100" b="0" i="0">
                          <a:solidFill>
                            <a:srgbClr val="202022"/>
                          </a:solidFill>
                          <a:latin typeface="Calibri"/>
                        </a:rPr>
                        <a:t>Workspace BCPL-DRISHTI-PRD (plus -DEV, -UAT)</a:t>
                      </a:r>
                    </a:p>
                  </a:txBody>
                  <a:tcPr anchor="ctr" marT="25400" marB="25400" marL="76200" marR="76200">
                    <a:solidFill>
                      <a:srgbClr val="F3F3F1"/>
                    </a:solidFill>
                  </a:tcPr>
                </a:tc>
              </a:tr>
              <a:tr h="404948">
                <a:tc>
                  <a:txBody>
                    <a:bodyPr/>
                    <a:lstStyle/>
                    <a:p>
                      <a:r>
                        <a:rPr sz="1100" b="0" i="0">
                          <a:solidFill>
                            <a:srgbClr val="202022"/>
                          </a:solidFill>
                          <a:latin typeface="Calibri"/>
                        </a:rPr>
                        <a:t>Semantic layer</a:t>
                      </a:r>
                    </a:p>
                  </a:txBody>
                  <a:tcPr anchor="ctr" marT="25400" marB="25400" marL="76200" marR="76200">
                    <a:solidFill>
                      <a:srgbClr val="FFFFFF"/>
                    </a:solidFill>
                  </a:tcPr>
                </a:tc>
                <a:tc>
                  <a:txBody>
                    <a:bodyPr/>
                    <a:lstStyle/>
                    <a:p>
                      <a:r>
                        <a:rPr sz="1100" b="0" i="0">
                          <a:solidFill>
                            <a:srgbClr val="202022"/>
                          </a:solidFill>
                          <a:latin typeface="Calibri"/>
                        </a:rPr>
                        <a:t>RPD, last modified 2019</a:t>
                      </a:r>
                    </a:p>
                  </a:txBody>
                  <a:tcPr anchor="ctr" marT="25400" marB="25400" marL="76200" marR="76200">
                    <a:solidFill>
                      <a:srgbClr val="FFFFFF"/>
                    </a:solidFill>
                  </a:tcPr>
                </a:tc>
                <a:tc>
                  <a:txBody>
                    <a:bodyPr/>
                    <a:lstStyle/>
                    <a:p>
                      <a:r>
                        <a:rPr sz="1100" b="0" i="0">
                          <a:solidFill>
                            <a:srgbClr val="202022"/>
                          </a:solidFill>
                          <a:latin typeface="Calibri"/>
                        </a:rPr>
                        <a:t>Dataset DRISHTI_SALES, import mode</a:t>
                      </a:r>
                    </a:p>
                  </a:txBody>
                  <a:tcPr anchor="ctr" marT="25400" marB="25400" marL="76200" marR="76200">
                    <a:solidFill>
                      <a:srgbClr val="FFFFFF"/>
                    </a:solidFill>
                  </a:tcPr>
                </a:tc>
              </a:tr>
              <a:tr h="404948">
                <a:tc>
                  <a:txBody>
                    <a:bodyPr/>
                    <a:lstStyle/>
                    <a:p>
                      <a:r>
                        <a:rPr sz="1100" b="0" i="0">
                          <a:solidFill>
                            <a:srgbClr val="202022"/>
                          </a:solidFill>
                          <a:latin typeface="Calibri"/>
                        </a:rPr>
                        <a:t>Refresh</a:t>
                      </a:r>
                    </a:p>
                  </a:txBody>
                  <a:tcPr anchor="ctr" marT="25400" marB="25400" marL="76200" marR="76200">
                    <a:solidFill>
                      <a:srgbClr val="F3F3F1"/>
                    </a:solidFill>
                  </a:tcPr>
                </a:tc>
                <a:tc>
                  <a:txBody>
                    <a:bodyPr/>
                    <a:lstStyle/>
                    <a:p>
                      <a:r>
                        <a:rPr sz="1100" b="0" i="0">
                          <a:solidFill>
                            <a:srgbClr val="202022"/>
                          </a:solidFill>
                          <a:latin typeface="Calibri"/>
                        </a:rPr>
                        <a:t>Direct query against ORION/EDW, not itemised here</a:t>
                      </a:r>
                    </a:p>
                  </a:txBody>
                  <a:tcPr anchor="ctr" marT="25400" marB="25400" marL="76200" marR="76200">
                    <a:solidFill>
                      <a:srgbClr val="F3F3F1"/>
                    </a:solidFill>
                  </a:tcPr>
                </a:tc>
                <a:tc>
                  <a:txBody>
                    <a:bodyPr/>
                    <a:lstStyle/>
                    <a:p>
                      <a:r>
                        <a:rPr sz="1100" b="0" i="0">
                          <a:solidFill>
                            <a:srgbClr val="202022"/>
                          </a:solidFill>
                          <a:latin typeface="Calibri"/>
                        </a:rPr>
                        <a:t>Scheduled 06:00 and 14:00 IST</a:t>
                      </a:r>
                    </a:p>
                  </a:txBody>
                  <a:tcPr anchor="ctr" marT="25400" marB="25400" marL="76200" marR="76200">
                    <a:solidFill>
                      <a:srgbClr val="F3F3F1"/>
                    </a:solidFill>
                  </a:tcPr>
                </a:tc>
              </a:tr>
              <a:tr h="404948">
                <a:tc>
                  <a:txBody>
                    <a:bodyPr/>
                    <a:lstStyle/>
                    <a:p>
                      <a:r>
                        <a:rPr sz="1100" b="0" i="0">
                          <a:solidFill>
                            <a:srgbClr val="202022"/>
                          </a:solidFill>
                          <a:latin typeface="Calibri"/>
                        </a:rPr>
                        <a:t>Security</a:t>
                      </a:r>
                    </a:p>
                  </a:txBody>
                  <a:tcPr anchor="ctr" marT="25400" marB="25400" marL="76200" marR="76200">
                    <a:solidFill>
                      <a:srgbClr val="FFFFFF"/>
                    </a:solidFill>
                  </a:tcPr>
                </a:tc>
                <a:tc>
                  <a:txBody>
                    <a:bodyPr/>
                    <a:lstStyle/>
                    <a:p>
                      <a:r>
                        <a:rPr sz="1100" b="0" i="0">
                          <a:solidFill>
                            <a:srgbClr val="202022"/>
                          </a:solidFill>
                          <a:latin typeface="Calibri"/>
                        </a:rPr>
                        <a:t>-</a:t>
                      </a:r>
                    </a:p>
                  </a:txBody>
                  <a:tcPr anchor="ctr" marT="25400" marB="25400" marL="76200" marR="76200">
                    <a:solidFill>
                      <a:srgbClr val="FFFFFF"/>
                    </a:solidFill>
                  </a:tcPr>
                </a:tc>
                <a:tc>
                  <a:txBody>
                    <a:bodyPr/>
                    <a:lstStyle/>
                    <a:p>
                      <a:r>
                        <a:rPr sz="1100" b="0" i="0">
                          <a:solidFill>
                            <a:srgbClr val="202022"/>
                          </a:solidFill>
                          <a:latin typeface="Calibri"/>
                        </a:rPr>
                        <a:t>Row-level security by REGION_CODE via SEC_USER_REGION</a:t>
                      </a:r>
                    </a:p>
                  </a:txBody>
                  <a:tcPr anchor="ctr" marT="25400" marB="25400" marL="76200" marR="76200">
                    <a:solidFill>
                      <a:srgbClr val="FFFFFF"/>
                    </a:solidFill>
                  </a:tcPr>
                </a:tc>
              </a:tr>
              <a:tr h="404952">
                <a:tc>
                  <a:txBody>
                    <a:bodyPr/>
                    <a:lstStyle/>
                    <a:p>
                      <a:r>
                        <a:rPr sz="1100" b="0" i="0">
                          <a:solidFill>
                            <a:srgbClr val="202022"/>
                          </a:solidFill>
                          <a:latin typeface="Calibri"/>
                        </a:rPr>
                        <a:t>Decommission</a:t>
                      </a:r>
                    </a:p>
                  </a:txBody>
                  <a:tcPr anchor="ctr" marT="25400" marB="25400" marL="76200" marR="76200">
                    <a:solidFill>
                      <a:srgbClr val="F3F3F1"/>
                    </a:solidFill>
                  </a:tcPr>
                </a:tc>
                <a:tc>
                  <a:txBody>
                    <a:bodyPr/>
                    <a:lstStyle/>
                    <a:p>
                      <a:r>
                        <a:rPr sz="1100" b="0" i="0">
                          <a:solidFill>
                            <a:srgbClr val="202022"/>
                          </a:solidFill>
                          <a:latin typeface="Calibri"/>
                        </a:rPr>
                        <a:t>Planned 90 days after go-live</a:t>
                      </a:r>
                    </a:p>
                  </a:txBody>
                  <a:tcPr anchor="ctr" marT="25400" marB="25400" marL="76200" marR="76200">
                    <a:solidFill>
                      <a:srgbClr val="F3F3F1"/>
                    </a:solidFill>
                  </a:tcPr>
                </a:tc>
                <a:tc>
                  <a:txBody>
                    <a:bodyPr/>
                    <a:lstStyle/>
                    <a:p>
                      <a:r>
                        <a:rPr sz="1100" b="0" i="0">
                          <a:solidFill>
                            <a:srgbClr val="202022"/>
                          </a:solidFill>
                          <a:latin typeface="Calibri"/>
                        </a:rPr>
                        <a:t>-</a:t>
                      </a:r>
                    </a:p>
                  </a:txBody>
                  <a:tcPr anchor="ctr" marT="25400" marB="25400" marL="76200" marR="76200">
                    <a:solidFill>
                      <a:srgbClr val="F3F3F1"/>
                    </a:solidFill>
                  </a:tcPr>
                </a:tc>
              </a:tr>
            </a:tbl>
          </a:graphicData>
        </a:graphic>
      </p:graphicFrame>
      <p:sp>
        <p:nvSpPr>
          <p:cNvPr id="7" name="TextBox 6"/>
          <p:cNvSpPr txBox="1"/>
          <p:nvPr/>
        </p:nvSpPr>
        <p:spPr>
          <a:xfrm>
            <a:off x="457200" y="4160520"/>
            <a:ext cx="11247120" cy="2103120"/>
          </a:xfrm>
          <a:prstGeom prst="rect">
            <a:avLst/>
          </a:prstGeom>
          <a:noFill/>
        </p:spPr>
        <p:txBody>
          <a:bodyPr wrap="square">
            <a:spAutoFit/>
          </a:bodyPr>
          <a:lstStyle/>
          <a:p>
            <a:pPr>
              <a:lnSpc>
                <a:spcPct val="108000"/>
              </a:lnSpc>
              <a:spcAft>
                <a:spcPts val="600"/>
              </a:spcAft>
            </a:pPr>
            <a:r>
              <a:rPr sz="1350" b="0" i="0">
                <a:solidFill>
                  <a:srgbClr val="202022"/>
                </a:solidFill>
                <a:latin typeface="Calibri"/>
              </a:rPr>
              <a:t>• Priya Nair (BI Analyst) is the one person who genuinely knows what every legacy OBIEE report contains and who still uses it, she is mapping usage against the 12 live reports now.</a:t>
            </a:r>
          </a:p>
          <a:p>
            <a:pPr>
              <a:lnSpc>
                <a:spcPct val="108000"/>
              </a:lnSpc>
              <a:spcAft>
                <a:spcPts val="600"/>
              </a:spcAft>
            </a:pPr>
            <a:r>
              <a:rPr sz="1350" b="0" i="0">
                <a:solidFill>
                  <a:srgbClr val="202022"/>
                </a:solidFill>
                <a:latin typeface="Calibri"/>
              </a:rPr>
              <a:t>• Excel remains, in practice, the real reporting layer alongside OBIEE: Finance and Sales Ops both maintain their own shadow workbooks today.</a:t>
            </a:r>
          </a:p>
          <a:p>
            <a:pPr>
              <a:lnSpc>
                <a:spcPct val="108000"/>
              </a:lnSpc>
              <a:spcAft>
                <a:spcPts val="600"/>
              </a:spcAft>
            </a:pPr>
            <a:r>
              <a:rPr sz="1350" b="0" i="0">
                <a:solidFill>
                  <a:srgbClr val="202022"/>
                </a:solidFill>
                <a:latin typeface="Calibri"/>
              </a:rPr>
              <a:t>• Dashboard scope and the shortlist for go-live are being worked through in a dedicated workshop later in the programme. Not addressed in this deck, deliberately.</a:t>
            </a:r>
          </a:p>
        </p:txBody>
      </p:sp>
      <p:sp>
        <p:nvSpPr>
          <p:cNvPr id="8" name="Rectangle 7"/>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0" name="TextBox 9"/>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2743200" cy="1280160"/>
          </a:xfrm>
          <a:prstGeom prst="rect">
            <a:avLst/>
          </a:prstGeom>
          <a:noFill/>
        </p:spPr>
        <p:txBody>
          <a:bodyPr wrap="none">
            <a:spAutoFit/>
          </a:bodyPr>
          <a:lstStyle/>
          <a:p>
            <a:r>
              <a:rPr sz="6400" b="1" i="0">
                <a:solidFill>
                  <a:srgbClr val="B88A2E"/>
                </a:solidFill>
                <a:latin typeface="Calibri"/>
              </a:rPr>
              <a:t>05</a:t>
            </a:r>
          </a:p>
        </p:txBody>
      </p:sp>
      <p:sp>
        <p:nvSpPr>
          <p:cNvPr id="4" name="TextBox 3"/>
          <p:cNvSpPr txBox="1"/>
          <p:nvPr/>
        </p:nvSpPr>
        <p:spPr>
          <a:xfrm>
            <a:off x="2377440" y="2697480"/>
            <a:ext cx="8961120" cy="914400"/>
          </a:xfrm>
          <a:prstGeom prst="rect">
            <a:avLst/>
          </a:prstGeom>
          <a:noFill/>
        </p:spPr>
        <p:txBody>
          <a:bodyPr wrap="square">
            <a:spAutoFit/>
          </a:bodyPr>
          <a:lstStyle/>
          <a:p>
            <a:r>
              <a:rPr sz="3200" b="1" i="0">
                <a:solidFill>
                  <a:srgbClr val="FFFFFF"/>
                </a:solidFill>
                <a:latin typeface="Calibri"/>
              </a:rPr>
              <a:t>Initial Findings: Variance</a:t>
            </a:r>
          </a:p>
        </p:txBody>
      </p:sp>
      <p:sp>
        <p:nvSpPr>
          <p:cNvPr id="5" name="Rectangle 4"/>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7" name="TextBox 6"/>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05 · VARIANCE FINDINGS</a:t>
            </a:r>
          </a:p>
        </p:txBody>
      </p:sp>
      <p:sp>
        <p:nvSpPr>
          <p:cNvPr id="5" name="TextBox 4"/>
          <p:cNvSpPr txBox="1"/>
          <p:nvPr/>
        </p:nvSpPr>
        <p:spPr>
          <a:xfrm>
            <a:off x="365760" y="310896"/>
            <a:ext cx="11247120" cy="640080"/>
          </a:xfrm>
          <a:prstGeom prst="rect">
            <a:avLst/>
          </a:prstGeom>
          <a:noFill/>
        </p:spPr>
        <p:txBody>
          <a:bodyPr wrap="square">
            <a:spAutoFit/>
          </a:bodyPr>
          <a:lstStyle/>
          <a:p>
            <a:r>
              <a:rPr sz="2600" b="1" i="0">
                <a:solidFill>
                  <a:srgbClr val="FFFFFF"/>
                </a:solidFill>
                <a:latin typeface="Calibri"/>
              </a:rPr>
              <a:t>Variance Findings Summary (DRAFT v2)</a:t>
            </a:r>
          </a:p>
        </p:txBody>
      </p:sp>
      <p:graphicFrame>
        <p:nvGraphicFramePr>
          <p:cNvPr id="6" name="Table 5"/>
          <p:cNvGraphicFramePr>
            <a:graphicFrameLocks noGrp="1"/>
          </p:cNvGraphicFramePr>
          <p:nvPr/>
        </p:nvGraphicFramePr>
        <p:xfrm>
          <a:off x="320040" y="1097280"/>
          <a:ext cx="11521440" cy="3566160"/>
        </p:xfrm>
        <a:graphic>
          <a:graphicData uri="http://schemas.openxmlformats.org/drawingml/2006/table">
            <a:tbl>
              <a:tblPr firstRow="1" bandRow="1">
                <a:tableStyleId>{5C22544A-7EE6-4342-B048-85BDC9FD1C3A}</a:tableStyleId>
              </a:tblPr>
              <a:tblGrid>
                <a:gridCol w="868680"/>
                <a:gridCol w="6492240"/>
                <a:gridCol w="2514600"/>
                <a:gridCol w="1645920"/>
              </a:tblGrid>
              <a:tr h="594360">
                <a:tc>
                  <a:txBody>
                    <a:bodyPr/>
                    <a:lstStyle/>
                    <a:p>
                      <a:pPr algn="l"/>
                      <a:r>
                        <a:rPr sz="1100" b="1" i="0">
                          <a:solidFill>
                            <a:srgbClr val="FFFFFF"/>
                          </a:solidFill>
                          <a:latin typeface="Calibri"/>
                        </a:rPr>
                        <a:t>ID</a:t>
                      </a:r>
                    </a:p>
                  </a:txBody>
                  <a:tcPr anchor="ctr" marT="38100" marB="38100" marL="76200" marR="76200">
                    <a:solidFill>
                      <a:srgbClr val="1B2E44"/>
                    </a:solidFill>
                  </a:tcPr>
                </a:tc>
                <a:tc>
                  <a:txBody>
                    <a:bodyPr/>
                    <a:lstStyle/>
                    <a:p>
                      <a:pPr algn="l"/>
                      <a:r>
                        <a:rPr sz="1100" b="1" i="0">
                          <a:solidFill>
                            <a:srgbClr val="FFFFFF"/>
                          </a:solidFill>
                          <a:latin typeface="Calibri"/>
                        </a:rPr>
                        <a:t>Finding</a:t>
                      </a:r>
                    </a:p>
                  </a:txBody>
                  <a:tcPr anchor="ctr" marT="38100" marB="38100" marL="76200" marR="76200">
                    <a:solidFill>
                      <a:srgbClr val="1B2E44"/>
                    </a:solidFill>
                  </a:tcPr>
                </a:tc>
                <a:tc>
                  <a:txBody>
                    <a:bodyPr/>
                    <a:lstStyle/>
                    <a:p>
                      <a:pPr algn="l"/>
                      <a:r>
                        <a:rPr sz="1100" b="1" i="0">
                          <a:solidFill>
                            <a:srgbClr val="FFFFFF"/>
                          </a:solidFill>
                          <a:latin typeface="Calibri"/>
                        </a:rPr>
                        <a:t>Status</a:t>
                      </a:r>
                    </a:p>
                  </a:txBody>
                  <a:tcPr anchor="ctr" marT="38100" marB="38100" marL="76200" marR="76200">
                    <a:solidFill>
                      <a:srgbClr val="1B2E44"/>
                    </a:solidFill>
                  </a:tcPr>
                </a:tc>
                <a:tc>
                  <a:txBody>
                    <a:bodyPr/>
                    <a:lstStyle/>
                    <a:p>
                      <a:pPr algn="l"/>
                      <a:r>
                        <a:rPr sz="1100" b="1" i="0">
                          <a:solidFill>
                            <a:srgbClr val="FFFFFF"/>
                          </a:solidFill>
                          <a:latin typeface="Calibri"/>
                        </a:rPr>
                        <a:t>Impact (FY26)</a:t>
                      </a:r>
                    </a:p>
                  </a:txBody>
                  <a:tcPr anchor="ctr" marT="38100" marB="38100" marL="76200" marR="76200">
                    <a:solidFill>
                      <a:srgbClr val="1B2E44"/>
                    </a:solidFill>
                  </a:tcPr>
                </a:tc>
              </a:tr>
              <a:tr h="594360">
                <a:tc>
                  <a:txBody>
                    <a:bodyPr/>
                    <a:lstStyle/>
                    <a:p>
                      <a:r>
                        <a:rPr sz="1050" b="0" i="0">
                          <a:solidFill>
                            <a:srgbClr val="202022"/>
                          </a:solidFill>
                          <a:latin typeface="Calibri"/>
                        </a:rPr>
                        <a:t>VAR-001</a:t>
                      </a:r>
                    </a:p>
                  </a:txBody>
                  <a:tcPr anchor="ctr" marT="25400" marB="25400" marL="76200" marR="76200">
                    <a:solidFill>
                      <a:srgbClr val="FFFFFF"/>
                    </a:solidFill>
                  </a:tcPr>
                </a:tc>
                <a:tc>
                  <a:txBody>
                    <a:bodyPr/>
                    <a:lstStyle/>
                    <a:p>
                      <a:r>
                        <a:rPr sz="1050" b="0" i="0">
                          <a:solidFill>
                            <a:srgbClr val="202022"/>
                          </a:solidFill>
                          <a:latin typeface="Calibri"/>
                        </a:rPr>
                        <a:t>MAP_FACT_INVOICE_LINE applied no DELETE_FLAG filter at all; cancelled and logically deleted invoice lines were loaded and counted as revenue.</a:t>
                      </a:r>
                    </a:p>
                  </a:txBody>
                  <a:tcPr anchor="ctr" marT="25400" marB="25400" marL="76200" marR="76200">
                    <a:solidFill>
                      <a:srgbClr val="FFFFFF"/>
                    </a:solidFill>
                  </a:tcPr>
                </a:tc>
                <a:tc>
                  <a:txBody>
                    <a:bodyPr/>
                    <a:lstStyle/>
                    <a:p>
                      <a:r>
                        <a:rPr sz="1050" b="0" i="0">
                          <a:solidFill>
                            <a:srgbClr val="202022"/>
                          </a:solidFill>
                          <a:latin typeface="Calibri"/>
                        </a:rPr>
                        <a:t>Root cause understood</a:t>
                      </a:r>
                    </a:p>
                  </a:txBody>
                  <a:tcPr anchor="ctr" marT="25400" marB="25400" marL="76200" marR="76200">
                    <a:solidFill>
                      <a:srgbClr val="FFFFFF"/>
                    </a:solidFill>
                  </a:tcPr>
                </a:tc>
                <a:tc>
                  <a:txBody>
                    <a:bodyPr/>
                    <a:lstStyle/>
                    <a:p>
                      <a:r>
                        <a:rPr sz="1050" b="0" i="0">
                          <a:solidFill>
                            <a:srgbClr val="202022"/>
                          </a:solidFill>
                          <a:latin typeface="Calibri"/>
                        </a:rPr>
                        <a:t>INR 4.2 Cr</a:t>
                      </a:r>
                    </a:p>
                  </a:txBody>
                  <a:tcPr anchor="ctr" marT="25400" marB="25400" marL="76200" marR="76200">
                    <a:solidFill>
                      <a:srgbClr val="FFFFFF"/>
                    </a:solidFill>
                  </a:tcPr>
                </a:tc>
              </a:tr>
              <a:tr h="594360">
                <a:tc>
                  <a:txBody>
                    <a:bodyPr/>
                    <a:lstStyle/>
                    <a:p>
                      <a:r>
                        <a:rPr sz="1050" b="0" i="0">
                          <a:solidFill>
                            <a:srgbClr val="202022"/>
                          </a:solidFill>
                          <a:latin typeface="Calibri"/>
                        </a:rPr>
                        <a:t>VAR-002</a:t>
                      </a:r>
                    </a:p>
                  </a:txBody>
                  <a:tcPr anchor="ctr" marT="25400" marB="25400" marL="76200" marR="76200">
                    <a:solidFill>
                      <a:srgbClr val="F3F3F1"/>
                    </a:solidFill>
                  </a:tcPr>
                </a:tc>
                <a:tc>
                  <a:txBody>
                    <a:bodyPr/>
                    <a:lstStyle/>
                    <a:p>
                      <a:r>
                        <a:rPr sz="1050" b="0" i="0">
                          <a:solidFill>
                            <a:srgbClr val="202022"/>
                          </a:solidFill>
                          <a:latin typeface="Calibri"/>
                        </a:rPr>
                        <a:t>DATE_KEY derived from INVOICE_HEADER.CREATED_TS (written in UTC) instead of INVOICE_DT (IST); invoices after 18:30 IST on month-end fell into the next month.</a:t>
                      </a:r>
                    </a:p>
                  </a:txBody>
                  <a:tcPr anchor="ctr" marT="25400" marB="25400" marL="76200" marR="76200">
                    <a:solidFill>
                      <a:srgbClr val="F3F3F1"/>
                    </a:solidFill>
                  </a:tcPr>
                </a:tc>
                <a:tc>
                  <a:txBody>
                    <a:bodyPr/>
                    <a:lstStyle/>
                    <a:p>
                      <a:r>
                        <a:rPr sz="1050" b="0" i="0">
                          <a:solidFill>
                            <a:srgbClr val="202022"/>
                          </a:solidFill>
                          <a:latin typeface="Calibri"/>
                        </a:rPr>
                        <a:t>Root cause understood</a:t>
                      </a:r>
                    </a:p>
                  </a:txBody>
                  <a:tcPr anchor="ctr" marT="25400" marB="25400" marL="76200" marR="76200">
                    <a:solidFill>
                      <a:srgbClr val="F3F3F1"/>
                    </a:solidFill>
                  </a:tcPr>
                </a:tc>
                <a:tc>
                  <a:txBody>
                    <a:bodyPr/>
                    <a:lstStyle/>
                    <a:p>
                      <a:r>
                        <a:rPr sz="1050" b="0" i="0">
                          <a:solidFill>
                            <a:srgbClr val="202022"/>
                          </a:solidFill>
                          <a:latin typeface="Calibri"/>
                        </a:rPr>
                        <a:t>INR 90 L</a:t>
                      </a:r>
                    </a:p>
                  </a:txBody>
                  <a:tcPr anchor="ctr" marT="25400" marB="25400" marL="76200" marR="76200">
                    <a:solidFill>
                      <a:srgbClr val="F3F3F1"/>
                    </a:solidFill>
                  </a:tcPr>
                </a:tc>
              </a:tr>
              <a:tr h="594360">
                <a:tc>
                  <a:txBody>
                    <a:bodyPr/>
                    <a:lstStyle/>
                    <a:p>
                      <a:r>
                        <a:rPr sz="1050" b="0" i="0">
                          <a:solidFill>
                            <a:srgbClr val="202022"/>
                          </a:solidFill>
                          <a:latin typeface="Calibri"/>
                        </a:rPr>
                        <a:t>VAR-003</a:t>
                      </a:r>
                    </a:p>
                  </a:txBody>
                  <a:tcPr anchor="ctr" marT="25400" marB="25400" marL="76200" marR="76200">
                    <a:solidFill>
                      <a:srgbClr val="FFFFFF"/>
                    </a:solidFill>
                  </a:tcPr>
                </a:tc>
                <a:tc>
                  <a:txBody>
                    <a:bodyPr/>
                    <a:lstStyle/>
                    <a:p>
                      <a:r>
                        <a:rPr sz="1050" b="0" i="0">
                          <a:solidFill>
                            <a:srgbClr val="202022"/>
                          </a:solidFill>
                          <a:latin typeface="Calibri"/>
                        </a:rPr>
                        <a:t>Scheme discount double-count, warehouse revenue is overstated against the trial balance and the mechanism behind it is not yet established.</a:t>
                      </a:r>
                    </a:p>
                  </a:txBody>
                  <a:tcPr anchor="ctr" marT="25400" marB="25400" marL="76200" marR="76200">
                    <a:solidFill>
                      <a:srgbClr val="FFFFFF"/>
                    </a:solidFill>
                  </a:tcPr>
                </a:tc>
                <a:tc>
                  <a:txBody>
                    <a:bodyPr/>
                    <a:lstStyle/>
                    <a:p>
                      <a:r>
                        <a:rPr sz="1050" b="0" i="0">
                          <a:solidFill>
                            <a:srgbClr val="202022"/>
                          </a:solidFill>
                          <a:latin typeface="Calibri"/>
                        </a:rPr>
                        <a:t>OPEN, mechanism not yet confirmed</a:t>
                      </a:r>
                    </a:p>
                  </a:txBody>
                  <a:tcPr anchor="ctr" marT="25400" marB="25400" marL="76200" marR="76200">
                    <a:solidFill>
                      <a:srgbClr val="FFFFFF"/>
                    </a:solidFill>
                  </a:tcPr>
                </a:tc>
                <a:tc>
                  <a:txBody>
                    <a:bodyPr/>
                    <a:lstStyle/>
                    <a:p>
                      <a:r>
                        <a:rPr sz="1050" b="0" i="0">
                          <a:solidFill>
                            <a:srgbClr val="202022"/>
                          </a:solidFill>
                          <a:latin typeface="Calibri"/>
                        </a:rPr>
                        <a:t>INR 1.7 Cr</a:t>
                      </a:r>
                    </a:p>
                  </a:txBody>
                  <a:tcPr anchor="ctr" marT="25400" marB="25400" marL="76200" marR="76200">
                    <a:solidFill>
                      <a:srgbClr val="FFFFFF"/>
                    </a:solidFill>
                  </a:tcPr>
                </a:tc>
              </a:tr>
              <a:tr h="594360">
                <a:tc>
                  <a:txBody>
                    <a:bodyPr/>
                    <a:lstStyle/>
                    <a:p>
                      <a:r>
                        <a:rPr sz="1050" b="0" i="0">
                          <a:solidFill>
                            <a:srgbClr val="202022"/>
                          </a:solidFill>
                          <a:latin typeface="Calibri"/>
                        </a:rPr>
                        <a:t>VAR-008</a:t>
                      </a:r>
                    </a:p>
                  </a:txBody>
                  <a:tcPr anchor="ctr" marT="25400" marB="25400" marL="76200" marR="76200">
                    <a:solidFill>
                      <a:srgbClr val="F3F3F1"/>
                    </a:solidFill>
                  </a:tcPr>
                </a:tc>
                <a:tc>
                  <a:txBody>
                    <a:bodyPr/>
                    <a:lstStyle/>
                    <a:p>
                      <a:r>
                        <a:rPr sz="1050" b="0" i="0">
                          <a:solidFill>
                            <a:srgbClr val="202022"/>
                          </a:solidFill>
                          <a:latin typeface="Calibri"/>
                        </a:rPr>
                        <a:t>LP_DAILY_SALES was resubmitted manually after a failure on Sat 14-Feb-2026 (session SESS_884012); the whole night was appended again.</a:t>
                      </a:r>
                    </a:p>
                  </a:txBody>
                  <a:tcPr anchor="ctr" marT="25400" marB="25400" marL="76200" marR="76200">
                    <a:solidFill>
                      <a:srgbClr val="F3F3F1"/>
                    </a:solidFill>
                  </a:tcPr>
                </a:tc>
                <a:tc>
                  <a:txBody>
                    <a:bodyPr/>
                    <a:lstStyle/>
                    <a:p>
                      <a:r>
                        <a:rPr sz="1050" b="0" i="0">
                          <a:solidFill>
                            <a:srgbClr val="202022"/>
                          </a:solidFill>
                          <a:latin typeface="Calibri"/>
                        </a:rPr>
                        <a:t>Root cause understood</a:t>
                      </a:r>
                    </a:p>
                  </a:txBody>
                  <a:tcPr anchor="ctr" marT="25400" marB="25400" marL="76200" marR="76200">
                    <a:solidFill>
                      <a:srgbClr val="F3F3F1"/>
                    </a:solidFill>
                  </a:tcPr>
                </a:tc>
                <a:tc>
                  <a:txBody>
                    <a:bodyPr/>
                    <a:lstStyle/>
                    <a:p>
                      <a:r>
                        <a:rPr sz="1050" b="0" i="0">
                          <a:solidFill>
                            <a:srgbClr val="202022"/>
                          </a:solidFill>
                          <a:latin typeface="Calibri"/>
                        </a:rPr>
                        <a:t>INR 2.9 Cr</a:t>
                      </a:r>
                    </a:p>
                  </a:txBody>
                  <a:tcPr anchor="ctr" marT="25400" marB="25400" marL="76200" marR="76200">
                    <a:solidFill>
                      <a:srgbClr val="F3F3F1"/>
                    </a:solidFill>
                  </a:tcPr>
                </a:tc>
              </a:tr>
              <a:tr h="594360">
                <a:tc>
                  <a:txBody>
                    <a:bodyPr/>
                    <a:lstStyle/>
                    <a:p>
                      <a:r>
                        <a:rPr sz="1050" b="0" i="0">
                          <a:solidFill>
                            <a:srgbClr val="202022"/>
                          </a:solidFill>
                          <a:latin typeface="Calibri"/>
                        </a:rPr>
                        <a:t>Total</a:t>
                      </a:r>
                    </a:p>
                  </a:txBody>
                  <a:tcPr anchor="ctr" marT="25400" marB="25400" marL="76200" marR="76200">
                    <a:solidFill>
                      <a:srgbClr val="FFFFFF"/>
                    </a:solidFill>
                  </a:tcPr>
                </a:tc>
                <a:tc>
                  <a:txBody>
                    <a:bodyPr/>
                    <a:lstStyle/>
                    <a:p>
                      <a:r>
                        <a:rPr sz="1050" b="0" i="0">
                          <a:solidFill>
                            <a:srgbClr val="202022"/>
                          </a:solidFill>
                          <a:latin typeface="Calibri"/>
                        </a:rPr>
                        <a:t>-</a:t>
                      </a:r>
                    </a:p>
                  </a:txBody>
                  <a:tcPr anchor="ctr" marT="25400" marB="25400" marL="76200" marR="76200">
                    <a:solidFill>
                      <a:srgbClr val="FFFFFF"/>
                    </a:solidFill>
                  </a:tcPr>
                </a:tc>
                <a:tc>
                  <a:txBody>
                    <a:bodyPr/>
                    <a:lstStyle/>
                    <a:p>
                      <a:r>
                        <a:rPr sz="1050" b="0" i="0">
                          <a:solidFill>
                            <a:srgbClr val="202022"/>
                          </a:solidFill>
                          <a:latin typeface="Calibri"/>
                        </a:rPr>
                        <a:t>-</a:t>
                      </a:r>
                    </a:p>
                  </a:txBody>
                  <a:tcPr anchor="ctr" marT="25400" marB="25400" marL="76200" marR="76200">
                    <a:solidFill>
                      <a:srgbClr val="FFFFFF"/>
                    </a:solidFill>
                  </a:tcPr>
                </a:tc>
                <a:tc>
                  <a:txBody>
                    <a:bodyPr/>
                    <a:lstStyle/>
                    <a:p>
                      <a:r>
                        <a:rPr sz="1050" b="0" i="0">
                          <a:solidFill>
                            <a:srgbClr val="202022"/>
                          </a:solidFill>
                          <a:latin typeface="Calibri"/>
                        </a:rPr>
                        <a:t>INR 9.70 Cr</a:t>
                      </a:r>
                    </a:p>
                  </a:txBody>
                  <a:tcPr anchor="ctr" marT="25400" marB="25400" marL="76200" marR="76200">
                    <a:solidFill>
                      <a:srgbClr val="FFFFFF"/>
                    </a:solidFill>
                  </a:tcPr>
                </a:tc>
              </a:tr>
            </a:tbl>
          </a:graphicData>
        </a:graphic>
      </p:graphicFrame>
      <p:sp>
        <p:nvSpPr>
          <p:cNvPr id="7" name="TextBox 6"/>
          <p:cNvSpPr txBox="1"/>
          <p:nvPr/>
        </p:nvSpPr>
        <p:spPr>
          <a:xfrm>
            <a:off x="457200" y="4800600"/>
            <a:ext cx="11247120" cy="1737360"/>
          </a:xfrm>
          <a:prstGeom prst="rect">
            <a:avLst/>
          </a:prstGeom>
          <a:noFill/>
        </p:spPr>
        <p:txBody>
          <a:bodyPr wrap="square">
            <a:spAutoFit/>
          </a:bodyPr>
          <a:lstStyle/>
          <a:p>
            <a:pPr>
              <a:lnSpc>
                <a:spcPct val="108000"/>
              </a:lnSpc>
              <a:spcAft>
                <a:spcPts val="600"/>
              </a:spcAft>
            </a:pPr>
            <a:r>
              <a:rPr sz="1250" b="0" i="0">
                <a:solidFill>
                  <a:srgbClr val="202022"/>
                </a:solidFill>
                <a:latin typeface="Calibri"/>
              </a:rPr>
              <a:t>• FY26 Q1 (Apr–Jun 2025) net revenue as currently reported by the warehouse: INR 438.6 Cr. Finance has not signed this off.</a:t>
            </a:r>
          </a:p>
          <a:p>
            <a:pPr>
              <a:lnSpc>
                <a:spcPct val="108000"/>
              </a:lnSpc>
              <a:spcAft>
                <a:spcPts val="600"/>
              </a:spcAft>
            </a:pPr>
            <a:r>
              <a:rPr sz="1250" b="0" i="0">
                <a:solidFill>
                  <a:srgbClr val="202022"/>
                </a:solidFill>
                <a:latin typeface="Calibri"/>
              </a:rPr>
              <a:t>• VAR-001 and VAR-002 are understood at mapping level and are considered straightforward to correct once scheduled.</a:t>
            </a:r>
          </a:p>
          <a:p>
            <a:pPr>
              <a:lnSpc>
                <a:spcPct val="108000"/>
              </a:lnSpc>
              <a:spcAft>
                <a:spcPts val="600"/>
              </a:spcAft>
            </a:pPr>
            <a:r>
              <a:rPr sz="1250" b="0" i="0">
                <a:solidFill>
                  <a:srgbClr val="202022"/>
                </a:solidFill>
                <a:latin typeface="Calibri"/>
              </a:rPr>
              <a:t>• VAR-008 was a one-time duplication event tied to the 14-Feb failure and rerun, not a recurring pattern, worth distinguishing from the other three.</a:t>
            </a:r>
          </a:p>
          <a:p>
            <a:pPr>
              <a:lnSpc>
                <a:spcPct val="108000"/>
              </a:lnSpc>
              <a:spcAft>
                <a:spcPts val="600"/>
              </a:spcAft>
            </a:pPr>
            <a:r>
              <a:rPr sz="1250" b="0" i="0">
                <a:solidFill>
                  <a:srgbClr val="202022"/>
                </a:solidFill>
                <a:latin typeface="Calibri"/>
              </a:rPr>
              <a:t>• VAR-003 is genuinely open. See next slide.</a:t>
            </a:r>
          </a:p>
        </p:txBody>
      </p:sp>
      <p:sp>
        <p:nvSpPr>
          <p:cNvPr id="8" name="Rectangle 7"/>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0" name="TextBox 9"/>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05 · VARIANCE FINDINGS</a:t>
            </a:r>
          </a:p>
        </p:txBody>
      </p:sp>
      <p:sp>
        <p:nvSpPr>
          <p:cNvPr id="5" name="TextBox 4"/>
          <p:cNvSpPr txBox="1"/>
          <p:nvPr/>
        </p:nvSpPr>
        <p:spPr>
          <a:xfrm>
            <a:off x="365760" y="310896"/>
            <a:ext cx="11247120" cy="640080"/>
          </a:xfrm>
          <a:prstGeom prst="rect">
            <a:avLst/>
          </a:prstGeom>
          <a:noFill/>
        </p:spPr>
        <p:txBody>
          <a:bodyPr wrap="square">
            <a:spAutoFit/>
          </a:bodyPr>
          <a:lstStyle/>
          <a:p>
            <a:r>
              <a:rPr sz="2200" b="1" i="0">
                <a:solidFill>
                  <a:srgbClr val="FFFFFF"/>
                </a:solidFill>
                <a:latin typeface="Calibri"/>
              </a:rPr>
              <a:t>Open Item: Scheme Discount Double-Count (VAR-003)</a:t>
            </a:r>
          </a:p>
        </p:txBody>
      </p:sp>
      <p:sp>
        <p:nvSpPr>
          <p:cNvPr id="6" name="TextBox 5"/>
          <p:cNvSpPr txBox="1"/>
          <p:nvPr/>
        </p:nvSpPr>
        <p:spPr>
          <a:xfrm>
            <a:off x="457200" y="1188720"/>
            <a:ext cx="11247120" cy="3291840"/>
          </a:xfrm>
          <a:prstGeom prst="rect">
            <a:avLst/>
          </a:prstGeom>
          <a:noFill/>
        </p:spPr>
        <p:txBody>
          <a:bodyPr wrap="square">
            <a:spAutoFit/>
          </a:bodyPr>
          <a:lstStyle/>
          <a:p>
            <a:pPr>
              <a:lnSpc>
                <a:spcPct val="108000"/>
              </a:lnSpc>
              <a:spcAft>
                <a:spcPts val="600"/>
              </a:spcAft>
            </a:pPr>
            <a:r>
              <a:rPr sz="1500" b="0" i="0">
                <a:solidFill>
                  <a:srgbClr val="202022"/>
                </a:solidFill>
                <a:latin typeface="Calibri"/>
              </a:rPr>
              <a:t>• Impact: INR 1.7 Cr (FY26), first sized in the variance pass of 24-Mar-2026.</a:t>
            </a:r>
          </a:p>
          <a:p>
            <a:pPr>
              <a:lnSpc>
                <a:spcPct val="108000"/>
              </a:lnSpc>
              <a:spcAft>
                <a:spcPts val="600"/>
              </a:spcAft>
            </a:pPr>
            <a:r>
              <a:rPr sz="1500" b="0" i="0">
                <a:solidFill>
                  <a:srgbClr val="202022"/>
                </a:solidFill>
                <a:latin typeface="Calibri"/>
              </a:rPr>
              <a:t>• Status: OPEN. The mechanism producing the double-count has not been confirmed.</a:t>
            </a:r>
          </a:p>
          <a:p>
            <a:pPr>
              <a:lnSpc>
                <a:spcPct val="108000"/>
              </a:lnSpc>
              <a:spcAft>
                <a:spcPts val="600"/>
              </a:spcAft>
            </a:pPr>
            <a:r>
              <a:rPr sz="1500" b="0" i="0">
                <a:solidFill>
                  <a:srgbClr val="202022"/>
                </a:solidFill>
                <a:latin typeface="Calibri"/>
              </a:rPr>
              <a:t>• Leading hypothesis under investigation: latency on the ORION_PRD database link (the private link from STG_ORION into OMS_RO@orion-db-prd-01), which the team suspects could be a contributing factor. Not yet tested.</a:t>
            </a:r>
          </a:p>
          <a:p>
            <a:pPr>
              <a:lnSpc>
                <a:spcPct val="108000"/>
              </a:lnSpc>
              <a:spcAft>
                <a:spcPts val="600"/>
              </a:spcAft>
            </a:pPr>
            <a:r>
              <a:rPr sz="1500" b="0" i="0">
                <a:solidFill>
                  <a:srgbClr val="202022"/>
                </a:solidFill>
                <a:latin typeface="Calibri"/>
              </a:rPr>
              <a:t>• This is being tracked as an open item, reference CON-2, in the programme's open-items log.</a:t>
            </a:r>
          </a:p>
          <a:p>
            <a:pPr>
              <a:lnSpc>
                <a:spcPct val="108000"/>
              </a:lnSpc>
              <a:spcAft>
                <a:spcPts val="600"/>
              </a:spcAft>
            </a:pPr>
            <a:r>
              <a:rPr sz="1500" b="0" i="0">
                <a:solidFill>
                  <a:srgbClr val="202022"/>
                </a:solidFill>
                <a:latin typeface="Calibri"/>
              </a:rPr>
              <a:t>• Next step: instrument and measure actual link round-trip behaviour and correlate it against the affected nights. Targeted for the variance root-cause sprint, running through 08-May-2026.</a:t>
            </a:r>
          </a:p>
          <a:p>
            <a:pPr>
              <a:lnSpc>
                <a:spcPct val="108000"/>
              </a:lnSpc>
              <a:spcAft>
                <a:spcPts val="600"/>
              </a:spcAft>
            </a:pPr>
            <a:r>
              <a:rPr sz="1500" b="0" i="0">
                <a:solidFill>
                  <a:srgbClr val="202022"/>
                </a:solidFill>
                <a:latin typeface="Calibri"/>
              </a:rPr>
              <a:t>• Owner: to be confirmed once the mechanism itself is established.</a:t>
            </a:r>
          </a:p>
        </p:txBody>
      </p:sp>
      <p:graphicFrame>
        <p:nvGraphicFramePr>
          <p:cNvPr id="7" name="Table 6"/>
          <p:cNvGraphicFramePr>
            <a:graphicFrameLocks noGrp="1"/>
          </p:cNvGraphicFramePr>
          <p:nvPr/>
        </p:nvGraphicFramePr>
        <p:xfrm>
          <a:off x="320040" y="4663440"/>
          <a:ext cx="11521440" cy="1280160"/>
        </p:xfrm>
        <a:graphic>
          <a:graphicData uri="http://schemas.openxmlformats.org/drawingml/2006/table">
            <a:tbl>
              <a:tblPr firstRow="1" bandRow="1">
                <a:tableStyleId>{5C22544A-7EE6-4342-B048-85BDC9FD1C3A}</a:tableStyleId>
              </a:tblPr>
              <a:tblGrid>
                <a:gridCol w="914400"/>
                <a:gridCol w="6217920"/>
                <a:gridCol w="1828800"/>
                <a:gridCol w="2560320"/>
              </a:tblGrid>
              <a:tr h="640080">
                <a:tc>
                  <a:txBody>
                    <a:bodyPr/>
                    <a:lstStyle/>
                    <a:p>
                      <a:pPr algn="l"/>
                      <a:r>
                        <a:rPr sz="1100" b="1" i="0">
                          <a:solidFill>
                            <a:srgbClr val="FFFFFF"/>
                          </a:solidFill>
                          <a:latin typeface="Calibri"/>
                        </a:rPr>
                        <a:t>Open item</a:t>
                      </a:r>
                    </a:p>
                  </a:txBody>
                  <a:tcPr anchor="ctr" marT="38100" marB="38100" marL="76200" marR="76200">
                    <a:solidFill>
                      <a:srgbClr val="1B2E44"/>
                    </a:solidFill>
                  </a:tcPr>
                </a:tc>
                <a:tc>
                  <a:txBody>
                    <a:bodyPr/>
                    <a:lstStyle/>
                    <a:p>
                      <a:pPr algn="l"/>
                      <a:r>
                        <a:rPr sz="1100" b="1" i="0">
                          <a:solidFill>
                            <a:srgbClr val="FFFFFF"/>
                          </a:solidFill>
                          <a:latin typeface="Calibri"/>
                        </a:rPr>
                        <a:t>Description</a:t>
                      </a:r>
                    </a:p>
                  </a:txBody>
                  <a:tcPr anchor="ctr" marT="38100" marB="38100" marL="76200" marR="76200">
                    <a:solidFill>
                      <a:srgbClr val="1B2E44"/>
                    </a:solidFill>
                  </a:tcPr>
                </a:tc>
                <a:tc>
                  <a:txBody>
                    <a:bodyPr/>
                    <a:lstStyle/>
                    <a:p>
                      <a:pPr algn="l"/>
                      <a:r>
                        <a:rPr sz="1100" b="1" i="0">
                          <a:solidFill>
                            <a:srgbClr val="FFFFFF"/>
                          </a:solidFill>
                          <a:latin typeface="Calibri"/>
                        </a:rPr>
                        <a:t>Raised</a:t>
                      </a:r>
                    </a:p>
                  </a:txBody>
                  <a:tcPr anchor="ctr" marT="38100" marB="38100" marL="76200" marR="76200">
                    <a:solidFill>
                      <a:srgbClr val="1B2E44"/>
                    </a:solidFill>
                  </a:tcPr>
                </a:tc>
                <a:tc>
                  <a:txBody>
                    <a:bodyPr/>
                    <a:lstStyle/>
                    <a:p>
                      <a:pPr algn="l"/>
                      <a:r>
                        <a:rPr sz="1100" b="1" i="0">
                          <a:solidFill>
                            <a:srgbClr val="FFFFFF"/>
                          </a:solidFill>
                          <a:latin typeface="Calibri"/>
                        </a:rPr>
                        <a:t>Target resolution</a:t>
                      </a:r>
                    </a:p>
                  </a:txBody>
                  <a:tcPr anchor="ctr" marT="38100" marB="38100" marL="76200" marR="76200">
                    <a:solidFill>
                      <a:srgbClr val="1B2E44"/>
                    </a:solidFill>
                  </a:tcPr>
                </a:tc>
              </a:tr>
              <a:tr h="640080">
                <a:tc>
                  <a:txBody>
                    <a:bodyPr/>
                    <a:lstStyle/>
                    <a:p>
                      <a:r>
                        <a:rPr sz="1050" b="0" i="0">
                          <a:solidFill>
                            <a:srgbClr val="202022"/>
                          </a:solidFill>
                          <a:latin typeface="Calibri"/>
                        </a:rPr>
                        <a:t>CON-2</a:t>
                      </a:r>
                    </a:p>
                  </a:txBody>
                  <a:tcPr anchor="ctr" marT="25400" marB="25400" marL="76200" marR="76200">
                    <a:solidFill>
                      <a:srgbClr val="FFFFFF"/>
                    </a:solidFill>
                  </a:tcPr>
                </a:tc>
                <a:tc>
                  <a:txBody>
                    <a:bodyPr/>
                    <a:lstStyle/>
                    <a:p>
                      <a:r>
                        <a:rPr sz="1050" b="0" i="0">
                          <a:solidFill>
                            <a:srgbClr val="202022"/>
                          </a:solidFill>
                          <a:latin typeface="Calibri"/>
                        </a:rPr>
                        <a:t>Root cause of VAR-003 (scheme discount double-count), DBLINK latency hypothesis under test</a:t>
                      </a:r>
                    </a:p>
                  </a:txBody>
                  <a:tcPr anchor="ctr" marT="25400" marB="25400" marL="76200" marR="76200">
                    <a:solidFill>
                      <a:srgbClr val="FFFFFF"/>
                    </a:solidFill>
                  </a:tcPr>
                </a:tc>
                <a:tc>
                  <a:txBody>
                    <a:bodyPr/>
                    <a:lstStyle/>
                    <a:p>
                      <a:r>
                        <a:rPr sz="1050" b="0" i="0">
                          <a:solidFill>
                            <a:srgbClr val="202022"/>
                          </a:solidFill>
                          <a:latin typeface="Calibri"/>
                        </a:rPr>
                        <a:t>T-03, 24-Mar-2026</a:t>
                      </a:r>
                    </a:p>
                  </a:txBody>
                  <a:tcPr anchor="ctr" marT="25400" marB="25400" marL="76200" marR="76200">
                    <a:solidFill>
                      <a:srgbClr val="FFFFFF"/>
                    </a:solidFill>
                  </a:tcPr>
                </a:tc>
                <a:tc>
                  <a:txBody>
                    <a:bodyPr/>
                    <a:lstStyle/>
                    <a:p>
                      <a:r>
                        <a:rPr sz="1050" b="0" i="0">
                          <a:solidFill>
                            <a:srgbClr val="202022"/>
                          </a:solidFill>
                          <a:latin typeface="Calibri"/>
                        </a:rPr>
                        <a:t>Variance root-cause sprint (through 08-May-2026)</a:t>
                      </a:r>
                    </a:p>
                  </a:txBody>
                  <a:tcPr anchor="ctr" marT="25400" marB="25400" marL="76200" marR="76200">
                    <a:solidFill>
                      <a:srgbClr val="FFFFFF"/>
                    </a:solidFill>
                  </a:tcPr>
                </a:tc>
              </a:tr>
            </a:tbl>
          </a:graphicData>
        </a:graphic>
      </p:graphicFrame>
      <p:sp>
        <p:nvSpPr>
          <p:cNvPr id="8" name="Rectangle 7"/>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0" name="TextBox 9"/>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4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2743200" cy="1280160"/>
          </a:xfrm>
          <a:prstGeom prst="rect">
            <a:avLst/>
          </a:prstGeom>
          <a:noFill/>
        </p:spPr>
        <p:txBody>
          <a:bodyPr wrap="none">
            <a:spAutoFit/>
          </a:bodyPr>
          <a:lstStyle/>
          <a:p>
            <a:r>
              <a:rPr sz="6400" b="1" i="0">
                <a:solidFill>
                  <a:srgbClr val="B88A2E"/>
                </a:solidFill>
                <a:latin typeface="Calibri"/>
              </a:rPr>
              <a:t>06</a:t>
            </a:r>
          </a:p>
        </p:txBody>
      </p:sp>
      <p:sp>
        <p:nvSpPr>
          <p:cNvPr id="4" name="TextBox 3"/>
          <p:cNvSpPr txBox="1"/>
          <p:nvPr/>
        </p:nvSpPr>
        <p:spPr>
          <a:xfrm>
            <a:off x="2377440" y="2697480"/>
            <a:ext cx="8961120" cy="914400"/>
          </a:xfrm>
          <a:prstGeom prst="rect">
            <a:avLst/>
          </a:prstGeom>
          <a:noFill/>
        </p:spPr>
        <p:txBody>
          <a:bodyPr wrap="square">
            <a:spAutoFit/>
          </a:bodyPr>
          <a:lstStyle/>
          <a:p>
            <a:r>
              <a:rPr sz="3200" b="1" i="0">
                <a:solidFill>
                  <a:srgbClr val="FFFFFF"/>
                </a:solidFill>
                <a:latin typeface="Calibri"/>
              </a:rPr>
              <a:t>Initial Risks</a:t>
            </a:r>
          </a:p>
        </p:txBody>
      </p:sp>
      <p:sp>
        <p:nvSpPr>
          <p:cNvPr id="5" name="Rectangle 4"/>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7" name="TextBox 6"/>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SECTION 06 · INITIAL RISKS</a:t>
            </a:r>
          </a:p>
        </p:txBody>
      </p:sp>
      <p:sp>
        <p:nvSpPr>
          <p:cNvPr id="5" name="TextBox 4"/>
          <p:cNvSpPr txBox="1"/>
          <p:nvPr/>
        </p:nvSpPr>
        <p:spPr>
          <a:xfrm>
            <a:off x="365760" y="310896"/>
            <a:ext cx="11247120" cy="640080"/>
          </a:xfrm>
          <a:prstGeom prst="rect">
            <a:avLst/>
          </a:prstGeom>
          <a:noFill/>
        </p:spPr>
        <p:txBody>
          <a:bodyPr wrap="square">
            <a:spAutoFit/>
          </a:bodyPr>
          <a:lstStyle/>
          <a:p>
            <a:r>
              <a:rPr sz="2600" b="1" i="0">
                <a:solidFill>
                  <a:srgbClr val="FFFFFF"/>
                </a:solidFill>
                <a:latin typeface="Calibri"/>
              </a:rPr>
              <a:t>Initial Risk Register</a:t>
            </a:r>
          </a:p>
        </p:txBody>
      </p:sp>
      <p:graphicFrame>
        <p:nvGraphicFramePr>
          <p:cNvPr id="6" name="Table 5"/>
          <p:cNvGraphicFramePr>
            <a:graphicFrameLocks noGrp="1"/>
          </p:cNvGraphicFramePr>
          <p:nvPr/>
        </p:nvGraphicFramePr>
        <p:xfrm>
          <a:off x="320040" y="1097280"/>
          <a:ext cx="11521440" cy="5029200"/>
        </p:xfrm>
        <a:graphic>
          <a:graphicData uri="http://schemas.openxmlformats.org/drawingml/2006/table">
            <a:tbl>
              <a:tblPr firstRow="1" bandRow="1">
                <a:tableStyleId>{5C22544A-7EE6-4342-B048-85BDC9FD1C3A}</a:tableStyleId>
              </a:tblPr>
              <a:tblGrid>
                <a:gridCol w="457200"/>
                <a:gridCol w="2286000"/>
                <a:gridCol w="6035040"/>
                <a:gridCol w="2743200"/>
              </a:tblGrid>
              <a:tr h="718457">
                <a:tc>
                  <a:txBody>
                    <a:bodyPr/>
                    <a:lstStyle/>
                    <a:p>
                      <a:pPr algn="l"/>
                      <a:r>
                        <a:rPr sz="1050" b="1" i="0">
                          <a:solidFill>
                            <a:srgbClr val="FFFFFF"/>
                          </a:solidFill>
                          <a:latin typeface="Calibri"/>
                        </a:rPr>
                        <a:t>#</a:t>
                      </a:r>
                    </a:p>
                  </a:txBody>
                  <a:tcPr anchor="ctr" marT="38100" marB="38100" marL="76200" marR="76200">
                    <a:solidFill>
                      <a:srgbClr val="1B2E44"/>
                    </a:solidFill>
                  </a:tcPr>
                </a:tc>
                <a:tc>
                  <a:txBody>
                    <a:bodyPr/>
                    <a:lstStyle/>
                    <a:p>
                      <a:pPr algn="l"/>
                      <a:r>
                        <a:rPr sz="1050" b="1" i="0">
                          <a:solidFill>
                            <a:srgbClr val="FFFFFF"/>
                          </a:solidFill>
                          <a:latin typeface="Calibri"/>
                        </a:rPr>
                        <a:t>Risk</a:t>
                      </a:r>
                    </a:p>
                  </a:txBody>
                  <a:tcPr anchor="ctr" marT="38100" marB="38100" marL="76200" marR="76200">
                    <a:solidFill>
                      <a:srgbClr val="1B2E44"/>
                    </a:solidFill>
                  </a:tcPr>
                </a:tc>
                <a:tc>
                  <a:txBody>
                    <a:bodyPr/>
                    <a:lstStyle/>
                    <a:p>
                      <a:pPr algn="l"/>
                      <a:r>
                        <a:rPr sz="1050" b="1" i="0">
                          <a:solidFill>
                            <a:srgbClr val="FFFFFF"/>
                          </a:solidFill>
                          <a:latin typeface="Calibri"/>
                        </a:rPr>
                        <a:t>Description</a:t>
                      </a:r>
                    </a:p>
                  </a:txBody>
                  <a:tcPr anchor="ctr" marT="38100" marB="38100" marL="76200" marR="76200">
                    <a:solidFill>
                      <a:srgbClr val="1B2E44"/>
                    </a:solidFill>
                  </a:tcPr>
                </a:tc>
                <a:tc>
                  <a:txBody>
                    <a:bodyPr/>
                    <a:lstStyle/>
                    <a:p>
                      <a:pPr algn="l"/>
                      <a:r>
                        <a:rPr sz="1050" b="1" i="0">
                          <a:solidFill>
                            <a:srgbClr val="FFFFFF"/>
                          </a:solidFill>
                          <a:latin typeface="Calibri"/>
                        </a:rPr>
                        <a:t>Impact if unaddressed</a:t>
                      </a:r>
                    </a:p>
                  </a:txBody>
                  <a:tcPr anchor="ctr" marT="38100" marB="38100" marL="76200" marR="76200">
                    <a:solidFill>
                      <a:srgbClr val="1B2E44"/>
                    </a:solidFill>
                  </a:tcPr>
                </a:tc>
              </a:tr>
              <a:tr h="718457">
                <a:tc>
                  <a:txBody>
                    <a:bodyPr/>
                    <a:lstStyle/>
                    <a:p>
                      <a:r>
                        <a:rPr sz="1000" b="0" i="0">
                          <a:solidFill>
                            <a:srgbClr val="202022"/>
                          </a:solidFill>
                          <a:latin typeface="Calibri"/>
                        </a:rPr>
                        <a:t>R1</a:t>
                      </a:r>
                    </a:p>
                  </a:txBody>
                  <a:tcPr anchor="ctr" marT="25400" marB="25400" marL="76200" marR="76200">
                    <a:solidFill>
                      <a:srgbClr val="FFFFFF"/>
                    </a:solidFill>
                  </a:tcPr>
                </a:tc>
                <a:tc>
                  <a:txBody>
                    <a:bodyPr/>
                    <a:lstStyle/>
                    <a:p>
                      <a:r>
                        <a:rPr sz="1000" b="0" i="0">
                          <a:solidFill>
                            <a:srgbClr val="202022"/>
                          </a:solidFill>
                          <a:latin typeface="Calibri"/>
                        </a:rPr>
                        <a:t>Institutional knowledge concentration</a:t>
                      </a:r>
                    </a:p>
                  </a:txBody>
                  <a:tcPr anchor="ctr" marT="25400" marB="25400" marL="76200" marR="76200">
                    <a:solidFill>
                      <a:srgbClr val="FFFFFF"/>
                    </a:solidFill>
                  </a:tcPr>
                </a:tc>
                <a:tc>
                  <a:txBody>
                    <a:bodyPr/>
                    <a:lstStyle/>
                    <a:p>
                      <a:r>
                        <a:rPr sz="1000" b="0" i="0">
                          <a:solidFill>
                            <a:srgbClr val="202022"/>
                          </a:solidFill>
                          <a:latin typeface="Calibri"/>
                        </a:rPr>
                        <a:t>Very little design documentation survives for large parts of the ORION load logic; most of what we know came from one person's memory in T-02.</a:t>
                      </a:r>
                    </a:p>
                  </a:txBody>
                  <a:tcPr anchor="ctr" marT="25400" marB="25400" marL="76200" marR="76200">
                    <a:solidFill>
                      <a:srgbClr val="FFFFFF"/>
                    </a:solidFill>
                  </a:tcPr>
                </a:tc>
                <a:tc>
                  <a:txBody>
                    <a:bodyPr/>
                    <a:lstStyle/>
                    <a:p>
                      <a:r>
                        <a:rPr sz="1000" b="0" i="0">
                          <a:solidFill>
                            <a:srgbClr val="202022"/>
                          </a:solidFill>
                          <a:latin typeface="Calibri"/>
                        </a:rPr>
                        <a:t>High, single point of knowledge failure</a:t>
                      </a:r>
                    </a:p>
                  </a:txBody>
                  <a:tcPr anchor="ctr" marT="25400" marB="25400" marL="76200" marR="76200">
                    <a:solidFill>
                      <a:srgbClr val="FFFFFF"/>
                    </a:solidFill>
                  </a:tcPr>
                </a:tc>
              </a:tr>
              <a:tr h="718457">
                <a:tc>
                  <a:txBody>
                    <a:bodyPr/>
                    <a:lstStyle/>
                    <a:p>
                      <a:r>
                        <a:rPr sz="1000" b="0" i="0">
                          <a:solidFill>
                            <a:srgbClr val="202022"/>
                          </a:solidFill>
                          <a:latin typeface="Calibri"/>
                        </a:rPr>
                        <a:t>R2</a:t>
                      </a:r>
                    </a:p>
                  </a:txBody>
                  <a:tcPr anchor="ctr" marT="25400" marB="25400" marL="76200" marR="76200">
                    <a:solidFill>
                      <a:srgbClr val="F3F3F1"/>
                    </a:solidFill>
                  </a:tcPr>
                </a:tc>
                <a:tc>
                  <a:txBody>
                    <a:bodyPr/>
                    <a:lstStyle/>
                    <a:p>
                      <a:r>
                        <a:rPr sz="1000" b="0" i="0">
                          <a:solidFill>
                            <a:srgbClr val="202022"/>
                          </a:solidFill>
                          <a:latin typeface="Calibri"/>
                        </a:rPr>
                        <a:t>No source control discipline</a:t>
                      </a:r>
                    </a:p>
                  </a:txBody>
                  <a:tcPr anchor="ctr" marT="25400" marB="25400" marL="76200" marR="76200">
                    <a:solidFill>
                      <a:srgbClr val="F3F3F1"/>
                    </a:solidFill>
                  </a:tcPr>
                </a:tc>
                <a:tc>
                  <a:txBody>
                    <a:bodyPr/>
                    <a:lstStyle/>
                    <a:p>
                      <a:r>
                        <a:rPr sz="1000" b="0" i="0">
                          <a:solidFill>
                            <a:srgbClr val="202022"/>
                          </a:solidFill>
                          <a:latin typeface="Calibri"/>
                        </a:rPr>
                        <a:t>ODI mapping XML exports and DDL are kept in a SharePoint document library, not in Git, no diff history, no rollback discipline.</a:t>
                      </a:r>
                    </a:p>
                  </a:txBody>
                  <a:tcPr anchor="ctr" marT="25400" marB="25400" marL="76200" marR="76200">
                    <a:solidFill>
                      <a:srgbClr val="F3F3F1"/>
                    </a:solidFill>
                  </a:tcPr>
                </a:tc>
                <a:tc>
                  <a:txBody>
                    <a:bodyPr/>
                    <a:lstStyle/>
                    <a:p>
                      <a:r>
                        <a:rPr sz="1000" b="0" i="0">
                          <a:solidFill>
                            <a:srgbClr val="202022"/>
                          </a:solidFill>
                          <a:latin typeface="Calibri"/>
                        </a:rPr>
                        <a:t>Medium, change risk on remediation work</a:t>
                      </a:r>
                    </a:p>
                  </a:txBody>
                  <a:tcPr anchor="ctr" marT="25400" marB="25400" marL="76200" marR="76200">
                    <a:solidFill>
                      <a:srgbClr val="F3F3F1"/>
                    </a:solidFill>
                  </a:tcPr>
                </a:tc>
              </a:tr>
              <a:tr h="718457">
                <a:tc>
                  <a:txBody>
                    <a:bodyPr/>
                    <a:lstStyle/>
                    <a:p>
                      <a:r>
                        <a:rPr sz="1000" b="0" i="0">
                          <a:solidFill>
                            <a:srgbClr val="202022"/>
                          </a:solidFill>
                          <a:latin typeface="Calibri"/>
                        </a:rPr>
                        <a:t>R3</a:t>
                      </a:r>
                    </a:p>
                  </a:txBody>
                  <a:tcPr anchor="ctr" marT="25400" marB="25400" marL="76200" marR="76200">
                    <a:solidFill>
                      <a:srgbClr val="FFFFFF"/>
                    </a:solidFill>
                  </a:tcPr>
                </a:tc>
                <a:tc>
                  <a:txBody>
                    <a:bodyPr/>
                    <a:lstStyle/>
                    <a:p>
                      <a:r>
                        <a:rPr sz="1000" b="0" i="0">
                          <a:solidFill>
                            <a:srgbClr val="202022"/>
                          </a:solidFill>
                          <a:latin typeface="Calibri"/>
                        </a:rPr>
                        <a:t>Single ODI agent, no failover</a:t>
                      </a:r>
                    </a:p>
                  </a:txBody>
                  <a:tcPr anchor="ctr" marT="25400" marB="25400" marL="76200" marR="76200">
                    <a:solidFill>
                      <a:srgbClr val="FFFFFF"/>
                    </a:solidFill>
                  </a:tcPr>
                </a:tc>
                <a:tc>
                  <a:txBody>
                    <a:bodyPr/>
                    <a:lstStyle/>
                    <a:p>
                      <a:r>
                        <a:rPr sz="1000" b="0" i="0">
                          <a:solidFill>
                            <a:srgbClr val="202022"/>
                          </a:solidFill>
                          <a:latin typeface="Calibri"/>
                        </a:rPr>
                        <a:t>OracleDIAgent1 is the only standalone agent; if it is down the nightly load simply does not run.</a:t>
                      </a:r>
                    </a:p>
                  </a:txBody>
                  <a:tcPr anchor="ctr" marT="25400" marB="25400" marL="76200" marR="76200">
                    <a:solidFill>
                      <a:srgbClr val="FFFFFF"/>
                    </a:solidFill>
                  </a:tcPr>
                </a:tc>
                <a:tc>
                  <a:txBody>
                    <a:bodyPr/>
                    <a:lstStyle/>
                    <a:p>
                      <a:r>
                        <a:rPr sz="1000" b="0" i="0">
                          <a:solidFill>
                            <a:srgbClr val="202022"/>
                          </a:solidFill>
                          <a:latin typeface="Calibri"/>
                        </a:rPr>
                        <a:t>Medium, availability risk</a:t>
                      </a:r>
                    </a:p>
                  </a:txBody>
                  <a:tcPr anchor="ctr" marT="25400" marB="25400" marL="76200" marR="76200">
                    <a:solidFill>
                      <a:srgbClr val="FFFFFF"/>
                    </a:solidFill>
                  </a:tcPr>
                </a:tc>
              </a:tr>
              <a:tr h="718457">
                <a:tc>
                  <a:txBody>
                    <a:bodyPr/>
                    <a:lstStyle/>
                    <a:p>
                      <a:r>
                        <a:rPr sz="1000" b="0" i="0">
                          <a:solidFill>
                            <a:srgbClr val="202022"/>
                          </a:solidFill>
                          <a:latin typeface="Calibri"/>
                        </a:rPr>
                        <a:t>R4</a:t>
                      </a:r>
                    </a:p>
                  </a:txBody>
                  <a:tcPr anchor="ctr" marT="25400" marB="25400" marL="76200" marR="76200">
                    <a:solidFill>
                      <a:srgbClr val="F3F3F1"/>
                    </a:solidFill>
                  </a:tcPr>
                </a:tc>
                <a:tc>
                  <a:txBody>
                    <a:bodyPr/>
                    <a:lstStyle/>
                    <a:p>
                      <a:r>
                        <a:rPr sz="1000" b="0" i="0">
                          <a:solidFill>
                            <a:srgbClr val="202022"/>
                          </a:solidFill>
                          <a:latin typeface="Calibri"/>
                        </a:rPr>
                        <a:t>UAT EDW sizing</a:t>
                      </a:r>
                    </a:p>
                  </a:txBody>
                  <a:tcPr anchor="ctr" marT="25400" marB="25400" marL="76200" marR="76200">
                    <a:solidFill>
                      <a:srgbClr val="F3F3F1"/>
                    </a:solidFill>
                  </a:tcPr>
                </a:tc>
                <a:tc>
                  <a:txBody>
                    <a:bodyPr/>
                    <a:lstStyle/>
                    <a:p>
                      <a:r>
                        <a:rPr sz="1000" b="0" i="0">
                          <a:solidFill>
                            <a:srgbClr val="202022"/>
                          </a:solidFill>
                          <a:latin typeface="Calibri"/>
                        </a:rPr>
                        <a:t>The UAT EDW instance has not been sized against a full historical data reload.</a:t>
                      </a:r>
                    </a:p>
                  </a:txBody>
                  <a:tcPr anchor="ctr" marT="25400" marB="25400" marL="76200" marR="76200">
                    <a:solidFill>
                      <a:srgbClr val="F3F3F1"/>
                    </a:solidFill>
                  </a:tcPr>
                </a:tc>
                <a:tc>
                  <a:txBody>
                    <a:bodyPr/>
                    <a:lstStyle/>
                    <a:p>
                      <a:r>
                        <a:rPr sz="1000" b="0" i="0">
                          <a:solidFill>
                            <a:srgbClr val="202022"/>
                          </a:solidFill>
                          <a:latin typeface="Calibri"/>
                        </a:rPr>
                        <a:t>Medium, may constrain test scope later</a:t>
                      </a:r>
                    </a:p>
                  </a:txBody>
                  <a:tcPr anchor="ctr" marT="25400" marB="25400" marL="76200" marR="76200">
                    <a:solidFill>
                      <a:srgbClr val="F3F3F1"/>
                    </a:solidFill>
                  </a:tcPr>
                </a:tc>
              </a:tr>
              <a:tr h="718457">
                <a:tc>
                  <a:txBody>
                    <a:bodyPr/>
                    <a:lstStyle/>
                    <a:p>
                      <a:r>
                        <a:rPr sz="1000" b="0" i="0">
                          <a:solidFill>
                            <a:srgbClr val="202022"/>
                          </a:solidFill>
                          <a:latin typeface="Calibri"/>
                        </a:rPr>
                        <a:t>R5</a:t>
                      </a:r>
                    </a:p>
                  </a:txBody>
                  <a:tcPr anchor="ctr" marT="25400" marB="25400" marL="76200" marR="76200">
                    <a:solidFill>
                      <a:srgbClr val="FFFFFF"/>
                    </a:solidFill>
                  </a:tcPr>
                </a:tc>
                <a:tc>
                  <a:txBody>
                    <a:bodyPr/>
                    <a:lstStyle/>
                    <a:p>
                      <a:r>
                        <a:rPr sz="1000" b="0" i="0">
                          <a:solidFill>
                            <a:srgbClr val="202022"/>
                          </a:solidFill>
                          <a:latin typeface="Calibri"/>
                        </a:rPr>
                        <a:t>VAR-003 root cause unconfirmed</a:t>
                      </a:r>
                    </a:p>
                  </a:txBody>
                  <a:tcPr anchor="ctr" marT="25400" marB="25400" marL="76200" marR="76200">
                    <a:solidFill>
                      <a:srgbClr val="FFFFFF"/>
                    </a:solidFill>
                  </a:tcPr>
                </a:tc>
                <a:tc>
                  <a:txBody>
                    <a:bodyPr/>
                    <a:lstStyle/>
                    <a:p>
                      <a:r>
                        <a:rPr sz="1000" b="0" i="0">
                          <a:solidFill>
                            <a:srgbClr val="202022"/>
                          </a:solidFill>
                          <a:latin typeface="Calibri"/>
                        </a:rPr>
                        <a:t>Scheme discount double-count (INR 1.7 Cr) mechanism is not yet known; quantum could move once it is.</a:t>
                      </a:r>
                    </a:p>
                  </a:txBody>
                  <a:tcPr anchor="ctr" marT="25400" marB="25400" marL="76200" marR="76200">
                    <a:solidFill>
                      <a:srgbClr val="FFFFFF"/>
                    </a:solidFill>
                  </a:tcPr>
                </a:tc>
                <a:tc>
                  <a:txBody>
                    <a:bodyPr/>
                    <a:lstStyle/>
                    <a:p>
                      <a:r>
                        <a:rPr sz="1000" b="0" i="0">
                          <a:solidFill>
                            <a:srgbClr val="202022"/>
                          </a:solidFill>
                          <a:latin typeface="Calibri"/>
                        </a:rPr>
                        <a:t>High, open financial exposure</a:t>
                      </a:r>
                    </a:p>
                  </a:txBody>
                  <a:tcPr anchor="ctr" marT="25400" marB="25400" marL="76200" marR="76200">
                    <a:solidFill>
                      <a:srgbClr val="FFFFFF"/>
                    </a:solidFill>
                  </a:tcPr>
                </a:tc>
              </a:tr>
              <a:tr h="718458">
                <a:tc>
                  <a:txBody>
                    <a:bodyPr/>
                    <a:lstStyle/>
                    <a:p>
                      <a:r>
                        <a:rPr sz="1000" b="0" i="0">
                          <a:solidFill>
                            <a:srgbClr val="202022"/>
                          </a:solidFill>
                          <a:latin typeface="Calibri"/>
                        </a:rPr>
                        <a:t>R6</a:t>
                      </a:r>
                    </a:p>
                  </a:txBody>
                  <a:tcPr anchor="ctr" marT="25400" marB="25400" marL="76200" marR="76200">
                    <a:solidFill>
                      <a:srgbClr val="F3F3F1"/>
                    </a:solidFill>
                  </a:tcPr>
                </a:tc>
                <a:tc>
                  <a:txBody>
                    <a:bodyPr/>
                    <a:lstStyle/>
                    <a:p>
                      <a:r>
                        <a:rPr sz="1000" b="0" i="0">
                          <a:solidFill>
                            <a:srgbClr val="202022"/>
                          </a:solidFill>
                          <a:latin typeface="Calibri"/>
                        </a:rPr>
                        <a:t>OBIEE usage not fully mapped</a:t>
                      </a:r>
                    </a:p>
                  </a:txBody>
                  <a:tcPr anchor="ctr" marT="25400" marB="25400" marL="76200" marR="76200">
                    <a:solidFill>
                      <a:srgbClr val="F3F3F1"/>
                    </a:solidFill>
                  </a:tcPr>
                </a:tc>
                <a:tc>
                  <a:txBody>
                    <a:bodyPr/>
                    <a:lstStyle/>
                    <a:p>
                      <a:r>
                        <a:rPr sz="1000" b="0" i="0">
                          <a:solidFill>
                            <a:srgbClr val="202022"/>
                          </a:solidFill>
                          <a:latin typeface="Calibri"/>
                        </a:rPr>
                        <a:t>RPD last modified 2019; current report usage is being confirmed against the 12 reports believed active.</a:t>
                      </a:r>
                    </a:p>
                  </a:txBody>
                  <a:tcPr anchor="ctr" marT="25400" marB="25400" marL="76200" marR="76200">
                    <a:solidFill>
                      <a:srgbClr val="F3F3F1"/>
                    </a:solidFill>
                  </a:tcPr>
                </a:tc>
                <a:tc>
                  <a:txBody>
                    <a:bodyPr/>
                    <a:lstStyle/>
                    <a:p>
                      <a:r>
                        <a:rPr sz="1000" b="0" i="0">
                          <a:solidFill>
                            <a:srgbClr val="202022"/>
                          </a:solidFill>
                          <a:latin typeface="Calibri"/>
                        </a:rPr>
                        <a:t>Low-Medium, decommission risk</a:t>
                      </a:r>
                    </a:p>
                  </a:txBody>
                  <a:tcPr anchor="ctr" marT="25400" marB="25400" marL="76200" marR="76200">
                    <a:solidFill>
                      <a:srgbClr val="F3F3F1"/>
                    </a:solidFill>
                  </a:tcPr>
                </a:tc>
              </a:tr>
            </a:tbl>
          </a:graphicData>
        </a:graphic>
      </p:graphicFrame>
      <p:sp>
        <p:nvSpPr>
          <p:cNvPr id="7" name="Rectangle 6"/>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9" name="TextBox 8"/>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0058400" cy="256032"/>
          </a:xfrm>
          <a:prstGeom prst="rect">
            <a:avLst/>
          </a:prstGeom>
          <a:noFill/>
        </p:spPr>
        <p:txBody>
          <a:bodyPr wrap="none">
            <a:spAutoFit/>
          </a:bodyPr>
          <a:lstStyle/>
          <a:p>
            <a:pPr algn="l"/>
            <a:r>
              <a:rPr sz="1100" b="1" i="0">
                <a:solidFill>
                  <a:srgbClr val="C9D6DE"/>
                </a:solidFill>
                <a:latin typeface="Calibri"/>
              </a:rPr>
              <a:t>CLOSING</a:t>
            </a:r>
          </a:p>
        </p:txBody>
      </p:sp>
      <p:sp>
        <p:nvSpPr>
          <p:cNvPr id="5" name="TextBox 4"/>
          <p:cNvSpPr txBox="1"/>
          <p:nvPr/>
        </p:nvSpPr>
        <p:spPr>
          <a:xfrm>
            <a:off x="365760" y="310896"/>
            <a:ext cx="11247120" cy="640080"/>
          </a:xfrm>
          <a:prstGeom prst="rect">
            <a:avLst/>
          </a:prstGeom>
          <a:noFill/>
        </p:spPr>
        <p:txBody>
          <a:bodyPr wrap="square">
            <a:spAutoFit/>
          </a:bodyPr>
          <a:lstStyle/>
          <a:p>
            <a:r>
              <a:rPr sz="2600" b="1" i="0">
                <a:solidFill>
                  <a:srgbClr val="FFFFFF"/>
                </a:solidFill>
                <a:latin typeface="Calibri"/>
              </a:rPr>
              <a:t>Summary &amp; Next Steps</a:t>
            </a:r>
          </a:p>
        </p:txBody>
      </p:sp>
      <p:sp>
        <p:nvSpPr>
          <p:cNvPr id="6" name="TextBox 5"/>
          <p:cNvSpPr txBox="1"/>
          <p:nvPr/>
        </p:nvSpPr>
        <p:spPr>
          <a:xfrm>
            <a:off x="457200" y="1188720"/>
            <a:ext cx="11247120" cy="2377440"/>
          </a:xfrm>
          <a:prstGeom prst="rect">
            <a:avLst/>
          </a:prstGeom>
          <a:noFill/>
        </p:spPr>
        <p:txBody>
          <a:bodyPr wrap="square">
            <a:spAutoFit/>
          </a:bodyPr>
          <a:lstStyle/>
          <a:p>
            <a:pPr>
              <a:lnSpc>
                <a:spcPct val="108000"/>
              </a:lnSpc>
              <a:spcAft>
                <a:spcPts val="600"/>
              </a:spcAft>
            </a:pPr>
            <a:r>
              <a:rPr sz="1500" b="0" i="0">
                <a:solidFill>
                  <a:srgbClr val="202022"/>
                </a:solidFill>
                <a:latin typeface="Calibri"/>
              </a:rPr>
              <a:t>• Discovery has traced four variance mechanisms so far, quantified at INR 9.70 Cr against a reported FY26 Q1 net revenue of INR 438.6 Cr.</a:t>
            </a:r>
          </a:p>
          <a:p>
            <a:pPr>
              <a:lnSpc>
                <a:spcPct val="108000"/>
              </a:lnSpc>
              <a:spcAft>
                <a:spcPts val="600"/>
              </a:spcAft>
            </a:pPr>
            <a:r>
              <a:rPr sz="1500" b="0" i="0">
                <a:solidFill>
                  <a:srgbClr val="202022"/>
                </a:solidFill>
                <a:latin typeface="Calibri"/>
              </a:rPr>
              <a:t>• One mechanism, VAR-003, remains genuinely open, this is the priority for the root-cause sprint through 08-May-2026.</a:t>
            </a:r>
          </a:p>
          <a:p>
            <a:pPr>
              <a:lnSpc>
                <a:spcPct val="108000"/>
              </a:lnSpc>
              <a:spcAft>
                <a:spcPts val="600"/>
              </a:spcAft>
            </a:pPr>
            <a:r>
              <a:rPr sz="1500" b="0" i="0">
                <a:solidFill>
                  <a:srgbClr val="202022"/>
                </a:solidFill>
                <a:latin typeface="Calibri"/>
              </a:rPr>
              <a:t>• Schema and ETL inventory is understood at the object level (20 OLTP tables, 15 warehouse tables, 47 mappings in the production repo). Volumetric profiling is the next data-side milestone.</a:t>
            </a:r>
          </a:p>
          <a:p>
            <a:pPr>
              <a:lnSpc>
                <a:spcPct val="108000"/>
              </a:lnSpc>
              <a:spcAft>
                <a:spcPts val="600"/>
              </a:spcAft>
            </a:pPr>
            <a:r>
              <a:rPr sz="1500" b="0" i="0">
                <a:solidFill>
                  <a:srgbClr val="202022"/>
                </a:solidFill>
                <a:latin typeface="Calibri"/>
              </a:rPr>
              <a:t>• Reporting landscape is mapped at the platform level (OBIEE current state, Power BI target platform); dashboard scope itself is being worked through separately.</a:t>
            </a:r>
          </a:p>
        </p:txBody>
      </p:sp>
      <p:graphicFrame>
        <p:nvGraphicFramePr>
          <p:cNvPr id="7" name="Table 6"/>
          <p:cNvGraphicFramePr>
            <a:graphicFrameLocks noGrp="1"/>
          </p:cNvGraphicFramePr>
          <p:nvPr/>
        </p:nvGraphicFramePr>
        <p:xfrm>
          <a:off x="320040" y="3749039"/>
          <a:ext cx="11521440" cy="2286000"/>
        </p:xfrm>
        <a:graphic>
          <a:graphicData uri="http://schemas.openxmlformats.org/drawingml/2006/table">
            <a:tbl>
              <a:tblPr firstRow="1" bandRow="1">
                <a:tableStyleId>{5C22544A-7EE6-4342-B048-85BDC9FD1C3A}</a:tableStyleId>
              </a:tblPr>
              <a:tblGrid>
                <a:gridCol w="5486400"/>
                <a:gridCol w="3017520"/>
                <a:gridCol w="3017520"/>
              </a:tblGrid>
              <a:tr h="457200">
                <a:tc>
                  <a:txBody>
                    <a:bodyPr/>
                    <a:lstStyle/>
                    <a:p>
                      <a:pPr algn="l"/>
                      <a:r>
                        <a:rPr sz="1150" b="1" i="0">
                          <a:solidFill>
                            <a:srgbClr val="FFFFFF"/>
                          </a:solidFill>
                          <a:latin typeface="Calibri"/>
                        </a:rPr>
                        <a:t>Action</a:t>
                      </a:r>
                    </a:p>
                  </a:txBody>
                  <a:tcPr anchor="ctr" marT="38100" marB="38100" marL="76200" marR="76200">
                    <a:solidFill>
                      <a:srgbClr val="1B2E44"/>
                    </a:solidFill>
                  </a:tcPr>
                </a:tc>
                <a:tc>
                  <a:txBody>
                    <a:bodyPr/>
                    <a:lstStyle/>
                    <a:p>
                      <a:pPr algn="l"/>
                      <a:r>
                        <a:rPr sz="1150" b="1" i="0">
                          <a:solidFill>
                            <a:srgbClr val="FFFFFF"/>
                          </a:solidFill>
                          <a:latin typeface="Calibri"/>
                        </a:rPr>
                        <a:t>Owner</a:t>
                      </a:r>
                    </a:p>
                  </a:txBody>
                  <a:tcPr anchor="ctr" marT="38100" marB="38100" marL="76200" marR="76200">
                    <a:solidFill>
                      <a:srgbClr val="1B2E44"/>
                    </a:solidFill>
                  </a:tcPr>
                </a:tc>
                <a:tc>
                  <a:txBody>
                    <a:bodyPr/>
                    <a:lstStyle/>
                    <a:p>
                      <a:pPr algn="l"/>
                      <a:r>
                        <a:rPr sz="1150" b="1" i="0">
                          <a:solidFill>
                            <a:srgbClr val="FFFFFF"/>
                          </a:solidFill>
                          <a:latin typeface="Calibri"/>
                        </a:rPr>
                        <a:t>Due</a:t>
                      </a:r>
                    </a:p>
                  </a:txBody>
                  <a:tcPr anchor="ctr" marT="38100" marB="38100" marL="76200" marR="76200">
                    <a:solidFill>
                      <a:srgbClr val="1B2E44"/>
                    </a:solidFill>
                  </a:tcPr>
                </a:tc>
              </a:tr>
              <a:tr h="457200">
                <a:tc>
                  <a:txBody>
                    <a:bodyPr/>
                    <a:lstStyle/>
                    <a:p>
                      <a:r>
                        <a:rPr sz="1100" b="0" i="0">
                          <a:solidFill>
                            <a:srgbClr val="202022"/>
                          </a:solidFill>
                          <a:latin typeface="Calibri"/>
                        </a:rPr>
                        <a:t>Confirm VAR-003 mechanism (test DBLINK hypothesis, rule in or out)</a:t>
                      </a:r>
                    </a:p>
                  </a:txBody>
                  <a:tcPr anchor="ctr" marT="25400" marB="25400" marL="76200" marR="76200">
                    <a:solidFill>
                      <a:srgbClr val="FFFFFF"/>
                    </a:solidFill>
                  </a:tcPr>
                </a:tc>
                <a:tc>
                  <a:txBody>
                    <a:bodyPr/>
                    <a:lstStyle/>
                    <a:p>
                      <a:r>
                        <a:rPr sz="1100" b="0" i="0">
                          <a:solidFill>
                            <a:srgbClr val="202022"/>
                          </a:solidFill>
                          <a:latin typeface="Calibri"/>
                        </a:rPr>
                        <a:t>Karthik Subramanian / Farida Contractor</a:t>
                      </a:r>
                    </a:p>
                  </a:txBody>
                  <a:tcPr anchor="ctr" marT="25400" marB="25400" marL="76200" marR="76200">
                    <a:solidFill>
                      <a:srgbClr val="FFFFFF"/>
                    </a:solidFill>
                  </a:tcPr>
                </a:tc>
                <a:tc>
                  <a:txBody>
                    <a:bodyPr/>
                    <a:lstStyle/>
                    <a:p>
                      <a:r>
                        <a:rPr sz="1100" b="0" i="0">
                          <a:solidFill>
                            <a:srgbClr val="202022"/>
                          </a:solidFill>
                          <a:latin typeface="Calibri"/>
                        </a:rPr>
                        <a:t>Within root-cause sprint (to 08-May-2026)</a:t>
                      </a:r>
                    </a:p>
                  </a:txBody>
                  <a:tcPr anchor="ctr" marT="25400" marB="25400" marL="76200" marR="76200">
                    <a:solidFill>
                      <a:srgbClr val="FFFFFF"/>
                    </a:solidFill>
                  </a:tcPr>
                </a:tc>
              </a:tr>
              <a:tr h="457200">
                <a:tc>
                  <a:txBody>
                    <a:bodyPr/>
                    <a:lstStyle/>
                    <a:p>
                      <a:r>
                        <a:rPr sz="1100" b="0" i="0">
                          <a:solidFill>
                            <a:srgbClr val="202022"/>
                          </a:solidFill>
                          <a:latin typeface="Calibri"/>
                        </a:rPr>
                        <a:t>Circulate variance tracker with worked detail on VAR-001 / VAR-002 / VAR-008</a:t>
                      </a:r>
                    </a:p>
                  </a:txBody>
                  <a:tcPr anchor="ctr" marT="25400" marB="25400" marL="76200" marR="76200">
                    <a:solidFill>
                      <a:srgbClr val="F3F3F1"/>
                    </a:solidFill>
                  </a:tcPr>
                </a:tc>
                <a:tc>
                  <a:txBody>
                    <a:bodyPr/>
                    <a:lstStyle/>
                    <a:p>
                      <a:r>
                        <a:rPr sz="1100" b="0" i="0">
                          <a:solidFill>
                            <a:srgbClr val="202022"/>
                          </a:solidFill>
                          <a:latin typeface="Calibri"/>
                        </a:rPr>
                        <a:t>Sneha Pillai</a:t>
                      </a:r>
                    </a:p>
                  </a:txBody>
                  <a:tcPr anchor="ctr" marT="25400" marB="25400" marL="76200" marR="76200">
                    <a:solidFill>
                      <a:srgbClr val="F3F3F1"/>
                    </a:solidFill>
                  </a:tcPr>
                </a:tc>
                <a:tc>
                  <a:txBody>
                    <a:bodyPr/>
                    <a:lstStyle/>
                    <a:p>
                      <a:r>
                        <a:rPr sz="1100" b="0" i="0">
                          <a:solidFill>
                            <a:srgbClr val="202022"/>
                          </a:solidFill>
                          <a:latin typeface="Calibri"/>
                        </a:rPr>
                        <a:t>Next working week</a:t>
                      </a:r>
                    </a:p>
                  </a:txBody>
                  <a:tcPr anchor="ctr" marT="25400" marB="25400" marL="76200" marR="76200">
                    <a:solidFill>
                      <a:srgbClr val="F3F3F1"/>
                    </a:solidFill>
                  </a:tcPr>
                </a:tc>
              </a:tr>
              <a:tr h="457200">
                <a:tc>
                  <a:txBody>
                    <a:bodyPr/>
                    <a:lstStyle/>
                    <a:p>
                      <a:r>
                        <a:rPr sz="1100" b="0" i="0">
                          <a:solidFill>
                            <a:srgbClr val="202022"/>
                          </a:solidFill>
                          <a:latin typeface="Calibri"/>
                        </a:rPr>
                        <a:t>Begin formal profiling pass ahead of the data quality assessment</a:t>
                      </a:r>
                    </a:p>
                  </a:txBody>
                  <a:tcPr anchor="ctr" marT="25400" marB="25400" marL="76200" marR="76200">
                    <a:solidFill>
                      <a:srgbClr val="FFFFFF"/>
                    </a:solidFill>
                  </a:tcPr>
                </a:tc>
                <a:tc>
                  <a:txBody>
                    <a:bodyPr/>
                    <a:lstStyle/>
                    <a:p>
                      <a:r>
                        <a:rPr sz="1100" b="0" i="0">
                          <a:solidFill>
                            <a:srgbClr val="202022"/>
                          </a:solidFill>
                          <a:latin typeface="Calibri"/>
                        </a:rPr>
                        <a:t>Ishaan Bhatt / the wider DQ team</a:t>
                      </a:r>
                    </a:p>
                  </a:txBody>
                  <a:tcPr anchor="ctr" marT="25400" marB="25400" marL="76200" marR="76200">
                    <a:solidFill>
                      <a:srgbClr val="FFFFFF"/>
                    </a:solidFill>
                  </a:tcPr>
                </a:tc>
                <a:tc>
                  <a:txBody>
                    <a:bodyPr/>
                    <a:lstStyle/>
                    <a:p>
                      <a:r>
                        <a:rPr sz="1100" b="0" i="0">
                          <a:solidFill>
                            <a:srgbClr val="202022"/>
                          </a:solidFill>
                          <a:latin typeface="Calibri"/>
                        </a:rPr>
                        <a:t>Ahead of 04-May-2026</a:t>
                      </a:r>
                    </a:p>
                  </a:txBody>
                  <a:tcPr anchor="ctr" marT="25400" marB="25400" marL="76200" marR="76200">
                    <a:solidFill>
                      <a:srgbClr val="FFFFFF"/>
                    </a:solidFill>
                  </a:tcPr>
                </a:tc>
              </a:tr>
              <a:tr h="457200">
                <a:tc>
                  <a:txBody>
                    <a:bodyPr/>
                    <a:lstStyle/>
                    <a:p>
                      <a:r>
                        <a:rPr sz="1100" b="0" i="0">
                          <a:solidFill>
                            <a:srgbClr val="202022"/>
                          </a:solidFill>
                          <a:latin typeface="Calibri"/>
                        </a:rPr>
                        <a:t>Sign-off on the FY26 Q1 number once VAR-001 fix is scheduled</a:t>
                      </a:r>
                    </a:p>
                  </a:txBody>
                  <a:tcPr anchor="ctr" marT="25400" marB="25400" marL="76200" marR="76200">
                    <a:solidFill>
                      <a:srgbClr val="F3F3F1"/>
                    </a:solidFill>
                  </a:tcPr>
                </a:tc>
                <a:tc>
                  <a:txBody>
                    <a:bodyPr/>
                    <a:lstStyle/>
                    <a:p>
                      <a:r>
                        <a:rPr sz="1100" b="0" i="0">
                          <a:solidFill>
                            <a:srgbClr val="202022"/>
                          </a:solidFill>
                          <a:latin typeface="Calibri"/>
                        </a:rPr>
                        <a:t>Shalini Iyer</a:t>
                      </a:r>
                    </a:p>
                  </a:txBody>
                  <a:tcPr anchor="ctr" marT="25400" marB="25400" marL="76200" marR="76200">
                    <a:solidFill>
                      <a:srgbClr val="F3F3F1"/>
                    </a:solidFill>
                  </a:tcPr>
                </a:tc>
                <a:tc>
                  <a:txBody>
                    <a:bodyPr/>
                    <a:lstStyle/>
                    <a:p>
                      <a:r>
                        <a:rPr sz="1100" b="0" i="0">
                          <a:solidFill>
                            <a:srgbClr val="202022"/>
                          </a:solidFill>
                          <a:latin typeface="Calibri"/>
                        </a:rPr>
                        <a:t>Pending</a:t>
                      </a:r>
                    </a:p>
                  </a:txBody>
                  <a:tcPr anchor="ctr" marT="25400" marB="25400" marL="76200" marR="76200">
                    <a:solidFill>
                      <a:srgbClr val="F3F3F1"/>
                    </a:solidFill>
                  </a:tcPr>
                </a:tc>
              </a:tr>
            </a:tbl>
          </a:graphicData>
        </a:graphic>
      </p:graphicFrame>
      <p:sp>
        <p:nvSpPr>
          <p:cNvPr id="8" name="TextBox 7"/>
          <p:cNvSpPr txBox="1"/>
          <p:nvPr/>
        </p:nvSpPr>
        <p:spPr>
          <a:xfrm>
            <a:off x="320040" y="6172200"/>
            <a:ext cx="8229600" cy="320040"/>
          </a:xfrm>
          <a:prstGeom prst="rect">
            <a:avLst/>
          </a:prstGeom>
          <a:noFill/>
        </p:spPr>
        <p:txBody>
          <a:bodyPr wrap="none">
            <a:spAutoFit/>
          </a:bodyPr>
          <a:lstStyle/>
          <a:p>
            <a:r>
              <a:rPr sz="950" b="0" i="1">
                <a:solidFill>
                  <a:srgbClr val="454547"/>
                </a:solidFill>
                <a:latin typeface="Calibri"/>
              </a:rPr>
              <a:t>Draft for internal review, v2. Owners and dates above to be reconfirmed before external circulation.</a:t>
            </a:r>
          </a:p>
        </p:txBody>
      </p:sp>
      <p:sp>
        <p:nvSpPr>
          <p:cNvPr id="9" name="Rectangle 8"/>
          <p:cNvSpPr/>
          <p:nvPr/>
        </p:nvSpPr>
        <p:spPr>
          <a:xfrm>
            <a:off x="0" y="6565392"/>
            <a:ext cx="12191695" cy="292608"/>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65392"/>
            <a:ext cx="7772400" cy="292608"/>
          </a:xfrm>
          <a:prstGeom prst="rect">
            <a:avLst/>
          </a:prstGeom>
          <a:noFill/>
        </p:spPr>
        <p:txBody>
          <a:bodyPr wrap="none" tIns="0" bIns="0" anchor="ctr">
            <a:spAutoFit/>
          </a:bodyPr>
          <a:lstStyle/>
          <a:p>
            <a:r>
              <a:rPr sz="850" b="0" i="0">
                <a:solidFill>
                  <a:srgbClr val="E2E4E6"/>
                </a:solidFill>
                <a:latin typeface="Calibri"/>
              </a:rPr>
              <a:t>Bharadwaj Consumer Products Ltd (BCPL)  |  Project Drishti   •   Northlane Analytics – Confidential, Client Restricted</a:t>
            </a:r>
          </a:p>
        </p:txBody>
      </p:sp>
      <p:sp>
        <p:nvSpPr>
          <p:cNvPr id="11" name="TextBox 10"/>
          <p:cNvSpPr txBox="1"/>
          <p:nvPr/>
        </p:nvSpPr>
        <p:spPr>
          <a:xfrm>
            <a:off x="10911535" y="6565392"/>
            <a:ext cx="1005840" cy="292608"/>
          </a:xfrm>
          <a:prstGeom prst="rect">
            <a:avLst/>
          </a:prstGeom>
          <a:noFill/>
        </p:spPr>
        <p:txBody>
          <a:bodyPr wrap="none" tIns="0" bIns="0" anchor="ctr">
            <a:spAutoFit/>
          </a:bodyPr>
          <a:lstStyle/>
          <a:p>
            <a:pPr algn="r"/>
            <a:r>
              <a:rPr sz="850" b="0" i="0">
                <a:solidFill>
                  <a:srgbClr val="E2E4E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108960"/>
            <a:ext cx="10332720" cy="914400"/>
          </a:xfrm>
          <a:prstGeom prst="rect">
            <a:avLst/>
          </a:prstGeom>
          <a:noFill/>
        </p:spPr>
        <p:txBody>
          <a:bodyPr wrap="square">
            <a:spAutoFit/>
          </a:bodyPr>
          <a:lstStyle/>
          <a:p>
            <a:pPr algn="ctr"/>
            <a:r>
              <a:rPr sz="1600" b="1" i="0">
                <a:solidFill>
                  <a:srgbClr val="FFFFFF"/>
                </a:solidFill>
                <a:latin typeface="Calibri"/>
              </a:rPr>
              <a:t>SYNTHETIC — generated for internal demo. No real entity depicted.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Drishti: Discovery Findings</dc:title>
  <dc:subject>Discovery findings readout, BCPL / Northlane Analytics, March 2026</dc:subject>
  <dc:creator>Ananya Krishnan</dc:creator>
  <cp:keywords>Project Drishti; discovery; variance; ODI; OBIEE; Power BI</cp:keywords>
  <dc:description>SYNTHETIC — generated for internal demo. No real entity depicted.</dc:description>
  <cp:lastModifiedBy>Karthik Subramanian</cp:lastModifiedBy>
  <cp:revision>1</cp:revision>
  <dcterms:created xsi:type="dcterms:W3CDTF">2026-03-26T09:40:00Z</dcterms:created>
  <dcterms:modified xsi:type="dcterms:W3CDTF">2026-03-26T18:05:00Z</dcterms:modified>
  <cp:category>Discovery deliverable</cp:category>
</cp:coreProperties>
</file>