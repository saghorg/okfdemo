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remarks, not for the slide. Assessment window is 4-May to 19-Jun, so this is basically the closing readout, not a status update.</a:t>
            </a:r>
          </a:p>
          <a:p>
            <a:r>
              <a:t>Do not open with the 71 number. People fixate on the score and stop listening to the rest of the deck. Open with the shape of the exercise instead (14 tables, 24 rules) and let the score land three slides in.</a:t>
            </a:r>
          </a:p>
          <a:p>
            <a:r>
              <a:t>This is the deck that goes out to drishti-core same day as T-06. The title slide still says DRAFT v2 from the internal review pass on the 16th, nobody has cleaned it up before sending, leave it, not worth a re-export for one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Kindly note, agenda item 7 (GSTIN / orphan rows / UOM) is thin on purpose. We do not have a number for two of the three items on that slide yet. Say 'in progress' and move on, do not apologise for it on screen, it just invites a longer question than we have time for.</a:t>
            </a:r>
          </a:p>
          <a:p>
            <a:r>
              <a:t>If Priya asks for the excel again as soon as the agenda is up, yes it is coming, same day, do not commit to a time on screen, Meghna owns that file not 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steerco cut of this deck the opening line reads 'this assessment provides complete visibility into data quality across the order to cash landscape'. That is generous, we both know it. Ananya wants the confidence on that slide and I am not going to argue with her about one sentence. Just do not let anyone drill into the GSTIN gap while that sentence is still on screen, save it for slide 10.</a:t>
            </a:r>
          </a:p>
          <a:p>
            <a:r>
              <a:t>As such, the materiality point is the one worth spending thirty seconds on if the room is quiet, it is the bit people actually remember afterwards.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'teh' typo in the sidebar note is mine, I noticed it after export and I am not re-exporting the deck for one letter, ignore it if someone points it out live.</a:t>
            </a:r>
          </a:p>
          <a:p>
            <a:r>
              <a:t>If Priya asks for the excel, yes it is coming, same day, do not give her a time on screen, that is Meghna's file to send not mine.</a:t>
            </a:r>
          </a:p>
          <a:p>
            <a:r>
              <a:t>On the dq_rules_master_v2 line, if anyone still has that file open, tell them to close it, it has rules in it I dropped before the requirement session, it is not wrong exactly, it is just not current.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timeliness (91) is the highest score despite everything else being wrong: the pipeline completes reliably, every single night, regardless of what is wrong with the content that night. That is basically the whole explanation. Do not get pulled into load mechanics on this slide, that belongs to the ETL workstream, not to this deck, park it if Farida is on the call and wants to go further.</a:t>
            </a:r>
          </a:p>
          <a:p>
            <a:r>
              <a:t>The 'not a disaster' line is Ananya's, quoted with her permission, keep it, it lands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Shalini will linger on. If she asks which of these carry money against them, the answer is: VAR-001 (rule 12 family, closed), VAR-002 (rule 21, closed), VAR-004 (rule 7 and 23, open), VAR-006 (rule 15, open). Rule 4 (VAR-007) is volume only, do not convert it to rupees on this call, it will get misquoted at the next steerco pack if you do.</a:t>
            </a:r>
          </a:p>
          <a:p>
            <a:r>
              <a:t>Rule 9 looks like nothing at 99.94% and it is not nothing, say that if the room moves past it too quickly, do not let it get filed as a rounding error.</a:t>
            </a:r>
          </a:p>
          <a:p>
            <a:r>
              <a:t>The rule 12 and rule 21 numbers are stale, both measured before their fixes went live on 3-Jun. I have said this once already on an earlier slide and I will say it again here because it confuses people every single time, including me some days.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Vikram's name comes up on this slide (his 'my number is coming different' mail on north stockist billing), clarify first whether he means the count of 18 is wrong, that is rule 7, ours, or that a value does not match his own extract, that is reconciliation, not ours. It is almost always the second one, nine times out of ten. Do not let it become a steerco item on this call, that is Ananya's to close out separately.</a:t>
            </a:r>
          </a:p>
          <a:p>
            <a:r>
              <a:t>Farida wants a hard constraint added on this even if it means the load fails outright rather than -- well, her position was on record back in May and it is worth repeating verbatim if anyone asks why we have not just fixed it yet: she would rather the run fails loud than a number is wrong for a month and nobody knows.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Shalini will ask 'is there any check at all on the GSTIN'. The honest answer is no, it did not come up in the requirement session and I write rules against what has been agreed, not against my own opinion. If pushed for a percentage, do not give one, we do not have one, correct answer is 'we do not know yet' and that we will not make one up.</a:t>
            </a:r>
          </a:p>
          <a:p>
            <a:r>
              <a:t>On the order line orphan row, do not quote a number even informally, Meghna wants it checked twice before it goes anywhere near a slide.</a:t>
            </a:r>
          </a:p>
          <a:p>
            <a:r>
              <a:t>UOM row is low priority, it is a handful of SKUs, mostly the ones where the pack is in kg or litres. It is not moving any number materially. Parking it for now, said that on the record so nobody comes back on it in September.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this cycle, not on the tracker before today. It came out of the profiling, not out of the reconciliation side, that distinction matters if anyone asks why finance did not catch it sooner.</a:t>
            </a:r>
          </a:p>
          <a:p>
            <a:r>
              <a:t>If Shalini asks whether this touches the GST filing itself or only the reported numbers in the warehouse, the honest answer is we do not know, she is going to check the filing side herself. Do not guess it on this call, do not speculate either way.</a:t>
            </a:r>
          </a:p>
          <a:p>
            <a:r>
              <a:t>Date note for whoever proofs this: I have written 01-Oct-2025 here, the source system field shows it as 1st Oct 25 in places, same date, do not let anyone flag it as a mismatch.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anyone put a rupee number against this on the call, itself it is a volume measure and converting it invites a double count against other lines. If asked directly, the line to use is 'we have chosen not to monetise this one', that is the phrase Neha actually used in the readout, keep using it.</a:t>
            </a:r>
          </a:p>
          <a:p>
            <a:r>
              <a:t>On capitalisation, I have written 'Unknown member' here and 'UNKNOWN' on an earlier slide, both are the same thing, do not let anyone treat it as two separate issues.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out loud unless someone asks directly: the total on the next slide adds up to more than these six rows because there are variance items on the master tracker that sit outside the data quality workstream and are not itemised here. Do not try to reconcile it live on this call, point people to the tracker if they push, that conversation is not for this deck.</a:t>
            </a:r>
          </a:p>
          <a:p>
            <a:r>
              <a:t>Owner column is blank on VAR-003 on purpose. That one is not assigned to DQ and I am not going to fill it in on the fly just because the cell looks empty.</a:t>
            </a:r>
          </a:p>
          <a:p>
            <a:r>
              <a:t>This is the slide people screenshot. Font is already at 9.5pt, do not let anyone ask for more columns, there is no more room.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this compares to an earlier variance update, say the tracker carries the full history and move on. Do not quote earlier totals from memory on this call, people pick numbers like that up and repeat them at the steerco without the caveats attached, and then I am the one explaining the difference six weeks later.</a:t>
            </a:r>
          </a:p>
          <a:p>
            <a:r>
              <a:t>This total is a rollup figure. It is not meant to be reconciled line by line against the backlog slide on this call, that is a tracker conversation, not a readout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a first assessment, it is always a lot of actions, the second one is always shorter. Say that if anyone comments on how long the list is, Shalini did last time.</a:t>
            </a:r>
          </a:p>
          <a:p>
            <a:r>
              <a:t>Do not add a date next to 'Ongoing' on the last bullet, it is deliberately open, closing it out with a fake date would be worse than leaving it as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229600" cy="457200"/>
          </a:xfrm>
          <a:prstGeom prst="rect">
            <a:avLst/>
          </a:prstGeom>
          <a:noFill/>
        </p:spPr>
        <p:txBody>
          <a:bodyPr wrap="none">
            <a:spAutoFit/>
          </a:bodyPr>
          <a:lstStyle/>
          <a:p>
            <a:pPr>
              <a:defRPr sz="1800" b="1">
                <a:solidFill>
                  <a:srgbClr val="C9D2E0"/>
                </a:solidFill>
                <a:latin typeface="Calibri"/>
              </a:defRPr>
            </a:pPr>
            <a:r>
              <a:t>PROJECT DRISHTI</a:t>
            </a:r>
          </a:p>
        </p:txBody>
      </p:sp>
      <p:sp>
        <p:nvSpPr>
          <p:cNvPr id="5" name="TextBox 4"/>
          <p:cNvSpPr txBox="1"/>
          <p:nvPr/>
        </p:nvSpPr>
        <p:spPr>
          <a:xfrm>
            <a:off x="822960" y="1874519"/>
            <a:ext cx="10241280" cy="1463040"/>
          </a:xfrm>
          <a:prstGeom prst="rect">
            <a:avLst/>
          </a:prstGeom>
          <a:noFill/>
        </p:spPr>
        <p:txBody>
          <a:bodyPr wrap="square">
            <a:spAutoFit/>
          </a:bodyPr>
          <a:lstStyle/>
          <a:p>
            <a:pPr>
              <a:defRPr sz="4600" b="1">
                <a:solidFill>
                  <a:srgbClr val="FFFFFF"/>
                </a:solidFill>
                <a:latin typeface="Calibri"/>
              </a:defRPr>
            </a:pPr>
            <a:r>
              <a:t>Data Quality Assessment</a:t>
            </a:r>
          </a:p>
          <a:p>
            <a:pPr>
              <a:spcBef>
                <a:spcPts val="800"/>
              </a:spcBef>
              <a:defRPr sz="2000">
                <a:solidFill>
                  <a:srgbClr val="C9D2E0"/>
                </a:solidFill>
                <a:latin typeface="Calibri"/>
              </a:defRPr>
            </a:pPr>
            <a:r>
              <a:t>Findings, profiling coverage and remediation backlog</a:t>
            </a:r>
          </a:p>
        </p:txBody>
      </p:sp>
      <p:sp>
        <p:nvSpPr>
          <p:cNvPr id="6" name="TextBox 5"/>
          <p:cNvSpPr txBox="1"/>
          <p:nvPr/>
        </p:nvSpPr>
        <p:spPr>
          <a:xfrm>
            <a:off x="822960" y="4389120"/>
            <a:ext cx="8229600" cy="1280160"/>
          </a:xfrm>
          <a:prstGeom prst="rect">
            <a:avLst/>
          </a:prstGeom>
          <a:noFill/>
        </p:spPr>
        <p:txBody>
          <a:bodyPr wrap="none">
            <a:spAutoFit/>
          </a:bodyPr>
          <a:lstStyle/>
          <a:p>
            <a:pPr>
              <a:defRPr sz="1600">
                <a:solidFill>
                  <a:srgbClr val="FFFFFF"/>
                </a:solidFill>
                <a:latin typeface="Calibri"/>
              </a:defRPr>
            </a:pPr>
            <a:r>
              <a:t>Bharadwaj Consumer Products Ltd  |  Northlane Analytics</a:t>
            </a:r>
          </a:p>
          <a:p>
            <a:pPr>
              <a:spcBef>
                <a:spcPts val="600"/>
              </a:spcBef>
              <a:defRPr sz="1400">
                <a:solidFill>
                  <a:srgbClr val="C9D2E0"/>
                </a:solidFill>
                <a:latin typeface="Calibri"/>
              </a:defRPr>
            </a:pPr>
            <a:r>
              <a:t>Neha Gokhale, Data Quality Lead</a:t>
            </a:r>
          </a:p>
          <a:p>
            <a:pPr>
              <a:defRPr sz="1400">
                <a:solidFill>
                  <a:srgbClr val="C9D2E0"/>
                </a:solidFill>
                <a:latin typeface="Calibri"/>
              </a:defRPr>
            </a:pPr>
            <a:r>
              <a:t>18 June 2026</a:t>
            </a:r>
          </a:p>
        </p:txBody>
      </p:sp>
      <p:sp>
        <p:nvSpPr>
          <p:cNvPr id="7" name="TextBox 6"/>
          <p:cNvSpPr txBox="1"/>
          <p:nvPr/>
        </p:nvSpPr>
        <p:spPr>
          <a:xfrm>
            <a:off x="822960" y="5989320"/>
            <a:ext cx="5486400" cy="457200"/>
          </a:xfrm>
          <a:prstGeom prst="rect">
            <a:avLst/>
          </a:prstGeom>
          <a:noFill/>
        </p:spPr>
        <p:txBody>
          <a:bodyPr wrap="none">
            <a:spAutoFit/>
          </a:bodyPr>
          <a:lstStyle/>
          <a:p>
            <a:pPr>
              <a:defRPr sz="1100" i="1" b="1">
                <a:solidFill>
                  <a:srgbClr val="E08A8A"/>
                </a:solidFill>
                <a:latin typeface="Calibri"/>
              </a:defRPr>
            </a:pPr>
            <a:r>
              <a:t>DRAFT v2 - internal review copy, not for circulation outside the core team</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B9C2D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B9C2D6"/>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AGENDA</a:t>
            </a:r>
          </a:p>
        </p:txBody>
      </p:sp>
      <p:sp>
        <p:nvSpPr>
          <p:cNvPr id="3" name="TextBox 2"/>
          <p:cNvSpPr txBox="1"/>
          <p:nvPr/>
        </p:nvSpPr>
        <p:spPr>
          <a:xfrm>
            <a:off x="457200" y="292608"/>
            <a:ext cx="11247120" cy="777240"/>
          </a:xfrm>
          <a:prstGeom prst="rect">
            <a:avLst/>
          </a:prstGeom>
          <a:noFill/>
        </p:spPr>
        <p:txBody>
          <a:bodyPr wrap="square">
            <a:spAutoFit/>
          </a:bodyPr>
          <a:lstStyle/>
          <a:p>
            <a:pPr>
              <a:defRPr sz="2800" b="1">
                <a:solidFill>
                  <a:srgbClr val="1B2A4A"/>
                </a:solidFill>
                <a:latin typeface="Calibri"/>
              </a:defRPr>
            </a:pPr>
            <a:r>
              <a:t>What we will cover</a:t>
            </a:r>
          </a:p>
        </p:txBody>
      </p:sp>
      <p:sp>
        <p:nvSpPr>
          <p:cNvPr id="4" name="Rectangle 3"/>
          <p:cNvSpPr/>
          <p:nvPr/>
        </p:nvSpPr>
        <p:spPr>
          <a:xfrm>
            <a:off x="457200" y="105156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5029200"/>
          </a:xfrm>
          <a:prstGeom prst="rect">
            <a:avLst/>
          </a:prstGeom>
          <a:noFill/>
        </p:spPr>
        <p:txBody>
          <a:bodyPr wrap="square">
            <a:spAutoFit/>
          </a:bodyPr>
          <a:lstStyle/>
          <a:p>
            <a:pPr>
              <a:lnSpc>
                <a:spcPct val="112000"/>
              </a:lnSpc>
              <a:spcAft>
                <a:spcPts val="600"/>
              </a:spcAft>
              <a:defRPr sz="1700">
                <a:solidFill>
                  <a:srgbClr val="1A1A1A"/>
                </a:solidFill>
                <a:latin typeface="Calibri"/>
              </a:defRPr>
            </a:pPr>
            <a:r>
              <a:t>• Approach and scope</a:t>
            </a:r>
          </a:p>
          <a:p>
            <a:pPr lvl="1">
              <a:lnSpc>
                <a:spcPct val="112000"/>
              </a:lnSpc>
              <a:spcAft>
                <a:spcPts val="600"/>
              </a:spcAft>
              <a:defRPr sz="1600">
                <a:solidFill>
                  <a:srgbClr val="1A1A1A"/>
                </a:solidFill>
                <a:latin typeface="Calibri"/>
              </a:defRPr>
            </a:pPr>
            <a:r>
              <a:t>     – Five dimensions, 24 rules, thresholds and materiality</a:t>
            </a:r>
          </a:p>
          <a:p>
            <a:pPr>
              <a:lnSpc>
                <a:spcPct val="112000"/>
              </a:lnSpc>
              <a:spcAft>
                <a:spcPts val="600"/>
              </a:spcAft>
              <a:defRPr sz="1700">
                <a:solidFill>
                  <a:srgbClr val="1A1A1A"/>
                </a:solidFill>
                <a:latin typeface="Calibri"/>
              </a:defRPr>
            </a:pPr>
            <a:r>
              <a:t>• Profiling coverage</a:t>
            </a:r>
          </a:p>
          <a:p>
            <a:pPr>
              <a:lnSpc>
                <a:spcPct val="112000"/>
              </a:lnSpc>
              <a:spcAft>
                <a:spcPts val="600"/>
              </a:spcAft>
              <a:defRPr sz="1700">
                <a:solidFill>
                  <a:srgbClr val="1A1A1A"/>
                </a:solidFill>
                <a:latin typeface="Calibri"/>
              </a:defRPr>
            </a:pPr>
            <a:r>
              <a:t>• Overall data quality score</a:t>
            </a:r>
          </a:p>
          <a:p>
            <a:pPr>
              <a:lnSpc>
                <a:spcPct val="112000"/>
              </a:lnSpc>
              <a:spcAft>
                <a:spcPts val="600"/>
              </a:spcAft>
              <a:defRPr sz="1700">
                <a:solidFill>
                  <a:srgbClr val="1A1A1A"/>
                </a:solidFill>
                <a:latin typeface="Calibri"/>
              </a:defRPr>
            </a:pPr>
            <a:r>
              <a:t>• Findings by severity</a:t>
            </a:r>
          </a:p>
          <a:p>
            <a:pPr>
              <a:lnSpc>
                <a:spcPct val="112000"/>
              </a:lnSpc>
              <a:spcAft>
                <a:spcPts val="600"/>
              </a:spcAft>
              <a:defRPr sz="1700">
                <a:solidFill>
                  <a:srgbClr val="1A1A1A"/>
                </a:solidFill>
                <a:latin typeface="Calibri"/>
              </a:defRPr>
            </a:pPr>
            <a:r>
              <a:t>• Duplicate customers (VAR-004)</a:t>
            </a:r>
          </a:p>
          <a:p>
            <a:pPr>
              <a:lnSpc>
                <a:spcPct val="112000"/>
              </a:lnSpc>
              <a:spcAft>
                <a:spcPts val="600"/>
              </a:spcAft>
              <a:defRPr sz="1700">
                <a:solidFill>
                  <a:srgbClr val="1A1A1A"/>
                </a:solidFill>
                <a:latin typeface="Calibri"/>
              </a:defRPr>
            </a:pPr>
            <a:r>
              <a:t>• GSTIN checks, orphan rows and UOM gaps</a:t>
            </a:r>
          </a:p>
          <a:p>
            <a:pPr>
              <a:lnSpc>
                <a:spcPct val="112000"/>
              </a:lnSpc>
              <a:spcAft>
                <a:spcPts val="600"/>
              </a:spcAft>
              <a:defRPr sz="1700">
                <a:solidFill>
                  <a:srgbClr val="1A1A1A"/>
                </a:solidFill>
                <a:latin typeface="Calibri"/>
              </a:defRPr>
            </a:pPr>
            <a:r>
              <a:t>• VAR-006 - GST rate change mishandled</a:t>
            </a:r>
          </a:p>
          <a:p>
            <a:pPr>
              <a:lnSpc>
                <a:spcPct val="112000"/>
              </a:lnSpc>
              <a:spcAft>
                <a:spcPts val="600"/>
              </a:spcAft>
              <a:defRPr sz="1700">
                <a:solidFill>
                  <a:srgbClr val="1A1A1A"/>
                </a:solidFill>
                <a:latin typeface="Calibri"/>
              </a:defRPr>
            </a:pPr>
            <a:r>
              <a:t>• VAR-007 - late-arriving SKUs</a:t>
            </a:r>
          </a:p>
          <a:p>
            <a:pPr>
              <a:lnSpc>
                <a:spcPct val="112000"/>
              </a:lnSpc>
              <a:spcAft>
                <a:spcPts val="600"/>
              </a:spcAft>
              <a:defRPr sz="1700">
                <a:solidFill>
                  <a:srgbClr val="1A1A1A"/>
                </a:solidFill>
                <a:latin typeface="Calibri"/>
              </a:defRPr>
            </a:pPr>
            <a:r>
              <a:t>• Remediation backlog</a:t>
            </a:r>
          </a:p>
          <a:p>
            <a:pPr>
              <a:lnSpc>
                <a:spcPct val="112000"/>
              </a:lnSpc>
              <a:spcAft>
                <a:spcPts val="600"/>
              </a:spcAft>
              <a:defRPr sz="1700">
                <a:solidFill>
                  <a:srgbClr val="1A1A1A"/>
                </a:solidFill>
                <a:latin typeface="Calibri"/>
              </a:defRPr>
            </a:pPr>
            <a:r>
              <a:t>• Next steps</a:t>
            </a:r>
          </a:p>
        </p:txBody>
      </p:sp>
      <p:sp>
        <p:nvSpPr>
          <p:cNvPr id="6" name="TextBox 5"/>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7" name="TextBox 6"/>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31720"/>
            <a:ext cx="1828800" cy="1097280"/>
          </a:xfrm>
          <a:prstGeom prst="rect">
            <a:avLst/>
          </a:prstGeom>
          <a:noFill/>
        </p:spPr>
        <p:txBody>
          <a:bodyPr wrap="none">
            <a:spAutoFit/>
          </a:bodyPr>
          <a:lstStyle/>
          <a:p>
            <a:pPr>
              <a:defRPr sz="5400" b="1">
                <a:solidFill>
                  <a:srgbClr val="B03A2E"/>
                </a:solidFill>
                <a:latin typeface="Calibri"/>
              </a:defRPr>
            </a:pPr>
            <a:r>
              <a:t>01</a:t>
            </a:r>
          </a:p>
        </p:txBody>
      </p:sp>
      <p:sp>
        <p:nvSpPr>
          <p:cNvPr id="4" name="TextBox 3"/>
          <p:cNvSpPr txBox="1"/>
          <p:nvPr/>
        </p:nvSpPr>
        <p:spPr>
          <a:xfrm>
            <a:off x="868680" y="3246120"/>
            <a:ext cx="10058400" cy="1188720"/>
          </a:xfrm>
          <a:prstGeom prst="rect">
            <a:avLst/>
          </a:prstGeom>
          <a:noFill/>
        </p:spPr>
        <p:txBody>
          <a:bodyPr wrap="square">
            <a:spAutoFit/>
          </a:bodyPr>
          <a:lstStyle/>
          <a:p>
            <a:pPr>
              <a:defRPr sz="3600" b="1">
                <a:solidFill>
                  <a:srgbClr val="FFFFFF"/>
                </a:solidFill>
                <a:latin typeface="Calibri"/>
              </a:defRPr>
            </a:pPr>
            <a:r>
              <a:t>Approach and Scope</a:t>
            </a:r>
          </a:p>
        </p:txBody>
      </p:sp>
      <p:sp>
        <p:nvSpPr>
          <p:cNvPr id="5" name="TextBox 4"/>
          <p:cNvSpPr txBox="1"/>
          <p:nvPr/>
        </p:nvSpPr>
        <p:spPr>
          <a:xfrm>
            <a:off x="365760" y="6528816"/>
            <a:ext cx="8778240" cy="274320"/>
          </a:xfrm>
          <a:prstGeom prst="rect">
            <a:avLst/>
          </a:prstGeom>
          <a:noFill/>
        </p:spPr>
        <p:txBody>
          <a:bodyPr wrap="none" tIns="0" bIns="0">
            <a:spAutoFit/>
          </a:bodyPr>
          <a:lstStyle/>
          <a:p>
            <a:pPr>
              <a:defRPr sz="800">
                <a:solidFill>
                  <a:srgbClr val="B9C2D6"/>
                </a:solidFill>
                <a:latin typeface="Calibri"/>
              </a:defRPr>
            </a:pPr>
            <a:r>
              <a:t>Bharadwaj Consumer Products Ltd  |  Project Drishti  |  CONFIDENTIAL - INTERNAL WORKING DRAFT - NOT FOR EXTERNAL DISTRIBUTION</a:t>
            </a:r>
          </a:p>
        </p:txBody>
      </p:sp>
      <p:sp>
        <p:nvSpPr>
          <p:cNvPr id="6" name="TextBox 5"/>
          <p:cNvSpPr txBox="1"/>
          <p:nvPr/>
        </p:nvSpPr>
        <p:spPr>
          <a:xfrm>
            <a:off x="11521440" y="6528816"/>
            <a:ext cx="457200" cy="274320"/>
          </a:xfrm>
          <a:prstGeom prst="rect">
            <a:avLst/>
          </a:prstGeom>
          <a:noFill/>
        </p:spPr>
        <p:txBody>
          <a:bodyPr wrap="none" tIns="0" bIns="0">
            <a:spAutoFit/>
          </a:bodyPr>
          <a:lstStyle/>
          <a:p>
            <a:pPr algn="r">
              <a:defRPr sz="800">
                <a:solidFill>
                  <a:srgbClr val="B9C2D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APPROACH AND SCOPE</a:t>
            </a:r>
          </a:p>
        </p:txBody>
      </p:sp>
      <p:sp>
        <p:nvSpPr>
          <p:cNvPr id="3" name="TextBox 2"/>
          <p:cNvSpPr txBox="1"/>
          <p:nvPr/>
        </p:nvSpPr>
        <p:spPr>
          <a:xfrm>
            <a:off x="457200" y="292608"/>
            <a:ext cx="11247120" cy="777240"/>
          </a:xfrm>
          <a:prstGeom prst="rect">
            <a:avLst/>
          </a:prstGeom>
          <a:noFill/>
        </p:spPr>
        <p:txBody>
          <a:bodyPr wrap="square">
            <a:spAutoFit/>
          </a:bodyPr>
          <a:lstStyle/>
          <a:p>
            <a:pPr>
              <a:defRPr sz="2800" b="1">
                <a:solidFill>
                  <a:srgbClr val="1B2A4A"/>
                </a:solidFill>
                <a:latin typeface="Calibri"/>
              </a:defRPr>
            </a:pPr>
            <a:r>
              <a:t>Assessment approach</a:t>
            </a:r>
          </a:p>
        </p:txBody>
      </p:sp>
      <p:sp>
        <p:nvSpPr>
          <p:cNvPr id="4" name="Rectangle 3"/>
          <p:cNvSpPr/>
          <p:nvPr/>
        </p:nvSpPr>
        <p:spPr>
          <a:xfrm>
            <a:off x="457200" y="105156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10972800" cy="5029200"/>
          </a:xfrm>
          <a:prstGeom prst="rect">
            <a:avLst/>
          </a:prstGeom>
          <a:noFill/>
        </p:spPr>
        <p:txBody>
          <a:bodyPr wrap="square">
            <a:spAutoFit/>
          </a:bodyPr>
          <a:lstStyle/>
          <a:p>
            <a:pPr>
              <a:lnSpc>
                <a:spcPct val="112000"/>
              </a:lnSpc>
              <a:spcAft>
                <a:spcPts val="600"/>
              </a:spcAft>
              <a:defRPr sz="1600">
                <a:solidFill>
                  <a:srgbClr val="1A1A1A"/>
                </a:solidFill>
                <a:latin typeface="Calibri"/>
              </a:defRPr>
            </a:pPr>
            <a:r>
              <a:t>• Assessment window: 04-May-2026 to 19-Jun-2026</a:t>
            </a:r>
          </a:p>
          <a:p>
            <a:pPr>
              <a:lnSpc>
                <a:spcPct val="112000"/>
              </a:lnSpc>
              <a:spcAft>
                <a:spcPts val="600"/>
              </a:spcAft>
              <a:defRPr sz="1600">
                <a:solidFill>
                  <a:srgbClr val="1A1A1A"/>
                </a:solidFill>
                <a:latin typeface="Calibri"/>
              </a:defRPr>
            </a:pPr>
            <a:r>
              <a:t>• Five dimensions, used in this order throughout: completeness, validity, consistency, uniqueness, timeliness</a:t>
            </a:r>
          </a:p>
          <a:p>
            <a:pPr>
              <a:lnSpc>
                <a:spcPct val="112000"/>
              </a:lnSpc>
              <a:spcAft>
                <a:spcPts val="600"/>
              </a:spcAft>
              <a:defRPr sz="1600">
                <a:solidFill>
                  <a:srgbClr val="1A1A1A"/>
                </a:solidFill>
                <a:latin typeface="Calibri"/>
              </a:defRPr>
            </a:pPr>
            <a:r>
              <a:t>• Every finding is written against a rule ID (DQ-R-01 to DQ-R-24) and a stated threshold</a:t>
            </a:r>
          </a:p>
          <a:p>
            <a:pPr lvl="1">
              <a:lnSpc>
                <a:spcPct val="112000"/>
              </a:lnSpc>
              <a:spcAft>
                <a:spcPts val="600"/>
              </a:spcAft>
              <a:defRPr sz="1500">
                <a:solidFill>
                  <a:srgbClr val="1A1A1A"/>
                </a:solidFill>
                <a:latin typeface="Calibri"/>
              </a:defRPr>
            </a:pPr>
            <a:r>
              <a:t>     – A defect report that does not say which rule failed is not accepted as a data quality finding, that is a separate conversation and it belongs with reconciliation</a:t>
            </a:r>
          </a:p>
          <a:p>
            <a:pPr>
              <a:lnSpc>
                <a:spcPct val="112000"/>
              </a:lnSpc>
              <a:spcAft>
                <a:spcPts val="600"/>
              </a:spcAft>
              <a:defRPr sz="1600">
                <a:solidFill>
                  <a:srgbClr val="1A1A1A"/>
                </a:solidFill>
                <a:latin typeface="Calibri"/>
              </a:defRPr>
            </a:pPr>
            <a:r>
              <a:t>• Materiality is stated separately from the raw percentage</a:t>
            </a:r>
          </a:p>
          <a:p>
            <a:pPr lvl="1">
              <a:lnSpc>
                <a:spcPct val="112000"/>
              </a:lnSpc>
              <a:spcAft>
                <a:spcPts val="600"/>
              </a:spcAft>
              <a:defRPr sz="1500">
                <a:solidFill>
                  <a:srgbClr val="1A1A1A"/>
                </a:solidFill>
                <a:latin typeface="Calibri"/>
              </a:defRPr>
            </a:pPr>
            <a:r>
              <a:t>     – A small percentage against a monetary rule can matter more than a large percentage against a cosmetic one, and we say so explicitly rather than ranking on percentage alone</a:t>
            </a:r>
          </a:p>
          <a:p>
            <a:pPr>
              <a:lnSpc>
                <a:spcPct val="112000"/>
              </a:lnSpc>
              <a:spcAft>
                <a:spcPts val="600"/>
              </a:spcAft>
              <a:defRPr sz="1600">
                <a:solidFill>
                  <a:srgbClr val="1A1A1A"/>
                </a:solidFill>
                <a:latin typeface="Calibri"/>
              </a:defRPr>
            </a:pPr>
            <a:r>
              <a:t>• Fourteen tables profiled, seven in ORION, seven in the warehouse, one profiling run</a:t>
            </a:r>
          </a:p>
        </p:txBody>
      </p:sp>
      <p:sp>
        <p:nvSpPr>
          <p:cNvPr id="6" name="TextBox 5"/>
          <p:cNvSpPr txBox="1"/>
          <p:nvPr/>
        </p:nvSpPr>
        <p:spPr>
          <a:xfrm>
            <a:off x="640080" y="5349240"/>
            <a:ext cx="10515600" cy="822960"/>
          </a:xfrm>
          <a:prstGeom prst="rect">
            <a:avLst/>
          </a:prstGeom>
          <a:noFill/>
        </p:spPr>
        <p:txBody>
          <a:bodyPr wrap="square">
            <a:spAutoFit/>
          </a:bodyPr>
          <a:lstStyle/>
          <a:p>
            <a:pPr>
              <a:defRPr i="1" sz="2000">
                <a:solidFill>
                  <a:srgbClr val="3E4C66"/>
                </a:solidFill>
                <a:latin typeface="Calibri"/>
              </a:defRPr>
            </a:pPr>
            <a:r>
              <a:t>“Against which rule?”</a:t>
            </a:r>
          </a:p>
          <a:p>
            <a:pPr>
              <a:defRPr sz="1300">
                <a:solidFill>
                  <a:srgbClr val="666666"/>
                </a:solidFill>
                <a:latin typeface="Calibri"/>
              </a:defRPr>
            </a:pPr>
            <a:r>
              <a:t>- Neha Gokhale, on every defect report that arrives without a rule number attached</a:t>
            </a:r>
          </a:p>
        </p:txBody>
      </p:sp>
      <p:sp>
        <p:nvSpPr>
          <p:cNvPr id="7" name="TextBox 6"/>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8" name="TextBox 7"/>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PROFILING COVERAGE</a:t>
            </a:r>
          </a:p>
        </p:txBody>
      </p:sp>
      <p:sp>
        <p:nvSpPr>
          <p:cNvPr id="3" name="TextBox 2"/>
          <p:cNvSpPr txBox="1"/>
          <p:nvPr/>
        </p:nvSpPr>
        <p:spPr>
          <a:xfrm>
            <a:off x="457200" y="292608"/>
            <a:ext cx="11247120" cy="777240"/>
          </a:xfrm>
          <a:prstGeom prst="rect">
            <a:avLst/>
          </a:prstGeom>
          <a:noFill/>
        </p:spPr>
        <p:txBody>
          <a:bodyPr wrap="square">
            <a:spAutoFit/>
          </a:bodyPr>
          <a:lstStyle/>
          <a:p>
            <a:pPr>
              <a:defRPr sz="2800" b="1">
                <a:solidFill>
                  <a:srgbClr val="1B2A4A"/>
                </a:solidFill>
                <a:latin typeface="Calibri"/>
              </a:defRPr>
            </a:pPr>
            <a:r>
              <a:t>Profiling coverage</a:t>
            </a:r>
          </a:p>
        </p:txBody>
      </p:sp>
      <p:sp>
        <p:nvSpPr>
          <p:cNvPr id="4" name="Rectangle 3"/>
          <p:cNvSpPr/>
          <p:nvPr/>
        </p:nvSpPr>
        <p:spPr>
          <a:xfrm>
            <a:off x="457200" y="105156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10972800" cy="1554480"/>
          </a:xfrm>
          <a:prstGeom prst="rect">
            <a:avLst/>
          </a:prstGeom>
          <a:noFill/>
        </p:spPr>
        <p:txBody>
          <a:bodyPr wrap="square">
            <a:spAutoFit/>
          </a:bodyPr>
          <a:lstStyle/>
          <a:p>
            <a:pPr>
              <a:lnSpc>
                <a:spcPct val="112000"/>
              </a:lnSpc>
              <a:spcAft>
                <a:spcPts val="600"/>
              </a:spcAft>
              <a:defRPr sz="1500">
                <a:solidFill>
                  <a:srgbClr val="1A1A1A"/>
                </a:solidFill>
                <a:latin typeface="Calibri"/>
              </a:defRPr>
            </a:pPr>
            <a:r>
              <a:t>• 14 tables profiled: 7 in ORION (OMS_PROD), 7 in the warehouse (BCPL_EDW)</a:t>
            </a:r>
          </a:p>
          <a:p>
            <a:pPr>
              <a:lnSpc>
                <a:spcPct val="112000"/>
              </a:lnSpc>
              <a:spcAft>
                <a:spcPts val="600"/>
              </a:spcAft>
              <a:defRPr sz="1500">
                <a:solidFill>
                  <a:srgbClr val="1A1A1A"/>
                </a:solidFill>
                <a:latin typeface="Calibri"/>
              </a:defRPr>
            </a:pPr>
            <a:r>
              <a:t>• All figures in this deck are from the profiling run of 31-May-2026 (M. Rao)</a:t>
            </a:r>
          </a:p>
          <a:p>
            <a:pPr>
              <a:lnSpc>
                <a:spcPct val="112000"/>
              </a:lnSpc>
              <a:spcAft>
                <a:spcPts val="600"/>
              </a:spcAft>
              <a:defRPr sz="1500">
                <a:solidFill>
                  <a:srgbClr val="1A1A1A"/>
                </a:solidFill>
                <a:latin typeface="Calibri"/>
              </a:defRPr>
            </a:pPr>
            <a:r>
              <a:t>• Two fixes (VAR-001, VAR-002) went live 03-Jun-2026, after this run. The rule 12 and rule 21 numbers later in this deck have not been re-measured since and will look better next cycle</a:t>
            </a:r>
          </a:p>
        </p:txBody>
      </p:sp>
      <p:graphicFrame>
        <p:nvGraphicFramePr>
          <p:cNvPr id="6" name="Table 5"/>
          <p:cNvGraphicFramePr>
            <a:graphicFrameLocks noGrp="1"/>
          </p:cNvGraphicFramePr>
          <p:nvPr/>
        </p:nvGraphicFramePr>
        <p:xfrm>
          <a:off x="548640" y="2880360"/>
          <a:ext cx="7863837" cy="3017520"/>
        </p:xfrm>
        <a:graphic>
          <a:graphicData uri="http://schemas.openxmlformats.org/drawingml/2006/table">
            <a:tbl>
              <a:tblPr firstRow="1" bandRow="1">
                <a:tableStyleId>{5C22544A-7EE6-4342-B048-85BDC9FD1C3A}</a:tableStyleId>
              </a:tblPr>
              <a:tblGrid>
                <a:gridCol w="2926079"/>
                <a:gridCol w="2011679"/>
                <a:gridCol w="2926079"/>
              </a:tblGrid>
              <a:tr h="274320">
                <a:tc>
                  <a:txBody>
                    <a:bodyPr wrap="square"/>
                    <a:lstStyle/>
                    <a:p>
                      <a:pPr algn="l"/>
                      <a:r>
                        <a:rPr sz="1100" b="1" i="0">
                          <a:solidFill>
                            <a:srgbClr val="FFFFFF"/>
                          </a:solidFill>
                          <a:latin typeface="Calibri"/>
                        </a:rPr>
                        <a:t>Object</a:t>
                      </a:r>
                    </a:p>
                  </a:txBody>
                  <a:tcPr marL="50800" marR="50800" marT="25400" marB="25400" anchor="ctr">
                    <a:solidFill>
                      <a:srgbClr val="1B2A4A"/>
                    </a:solidFill>
                  </a:tcPr>
                </a:tc>
                <a:tc>
                  <a:txBody>
                    <a:bodyPr wrap="square"/>
                    <a:lstStyle/>
                    <a:p>
                      <a:pPr algn="l"/>
                      <a:r>
                        <a:rPr sz="1100" b="1" i="0">
                          <a:solidFill>
                            <a:srgbClr val="FFFFFF"/>
                          </a:solidFill>
                          <a:latin typeface="Calibri"/>
                        </a:rPr>
                        <a:t>System</a:t>
                      </a:r>
                    </a:p>
                  </a:txBody>
                  <a:tcPr marL="50800" marR="50800" marT="25400" marB="25400" anchor="ctr">
                    <a:solidFill>
                      <a:srgbClr val="1B2A4A"/>
                    </a:solidFill>
                  </a:tcPr>
                </a:tc>
                <a:tc>
                  <a:txBody>
                    <a:bodyPr wrap="square"/>
                    <a:lstStyle/>
                    <a:p>
                      <a:pPr algn="l"/>
                      <a:r>
                        <a:rPr sz="1100" b="1" i="0">
                          <a:solidFill>
                            <a:srgbClr val="FFFFFF"/>
                          </a:solidFill>
                          <a:latin typeface="Calibri"/>
                        </a:rPr>
                        <a:t>Rows (31-May-2026 run)</a:t>
                      </a:r>
                    </a:p>
                  </a:txBody>
                  <a:tcPr marL="50800" marR="50800" marT="25400" marB="25400" anchor="ctr">
                    <a:solidFill>
                      <a:srgbClr val="1B2A4A"/>
                    </a:solidFill>
                  </a:tcPr>
                </a:tc>
              </a:tr>
              <a:tr h="274320">
                <a:tc>
                  <a:txBody>
                    <a:bodyPr wrap="square"/>
                    <a:lstStyle/>
                    <a:p>
                      <a:pPr algn="l"/>
                      <a:r>
                        <a:rPr sz="1100" b="0" i="0">
                          <a:solidFill>
                            <a:srgbClr val="1A1A1A"/>
                          </a:solidFill>
                          <a:latin typeface="Calibri"/>
                        </a:rPr>
                        <a:t>CUSTOMER</a:t>
                      </a:r>
                    </a:p>
                  </a:txBody>
                  <a:tcPr marL="50800" marR="50800" marT="25400" marB="25400" anchor="ctr">
                    <a:solidFill>
                      <a:srgbClr val="FFFFFF"/>
                    </a:solidFill>
                  </a:tcPr>
                </a:tc>
                <a:tc>
                  <a:txBody>
                    <a:bodyPr wrap="square"/>
                    <a:lstStyle/>
                    <a:p>
                      <a:pPr algn="l"/>
                      <a:r>
                        <a:rPr sz="1100" b="0" i="0">
                          <a:solidFill>
                            <a:srgbClr val="1A1A1A"/>
                          </a:solidFill>
                          <a:latin typeface="Calibri"/>
                        </a:rPr>
                        <a:t>OMS_PROD</a:t>
                      </a:r>
                    </a:p>
                  </a:txBody>
                  <a:tcPr marL="50800" marR="50800" marT="25400" marB="25400" anchor="ctr">
                    <a:solidFill>
                      <a:srgbClr val="FFFFFF"/>
                    </a:solidFill>
                  </a:tcPr>
                </a:tc>
                <a:tc>
                  <a:txBody>
                    <a:bodyPr wrap="square"/>
                    <a:lstStyle/>
                    <a:p>
                      <a:pPr algn="l"/>
                      <a:r>
                        <a:rPr sz="1100" b="0" i="0">
                          <a:solidFill>
                            <a:srgbClr val="1A1A1A"/>
                          </a:solidFill>
                          <a:latin typeface="Calibri"/>
                        </a:rPr>
                        <a:t>2,140</a:t>
                      </a:r>
                    </a:p>
                  </a:txBody>
                  <a:tcPr marL="50800" marR="50800" marT="25400" marB="25400" anchor="ctr">
                    <a:solidFill>
                      <a:srgbClr val="FFFFFF"/>
                    </a:solidFill>
                  </a:tcPr>
                </a:tc>
              </a:tr>
              <a:tr h="274320">
                <a:tc>
                  <a:txBody>
                    <a:bodyPr wrap="square"/>
                    <a:lstStyle/>
                    <a:p>
                      <a:pPr algn="l"/>
                      <a:r>
                        <a:rPr sz="1100" b="0" i="0">
                          <a:solidFill>
                            <a:srgbClr val="1A1A1A"/>
                          </a:solidFill>
                          <a:latin typeface="Calibri"/>
                        </a:rPr>
                        <a:t>SKU_MASTER</a:t>
                      </a:r>
                    </a:p>
                  </a:txBody>
                  <a:tcPr marL="50800" marR="50800" marT="25400" marB="25400" anchor="ctr">
                    <a:solidFill>
                      <a:srgbClr val="E9ECF1"/>
                    </a:solidFill>
                  </a:tcPr>
                </a:tc>
                <a:tc>
                  <a:txBody>
                    <a:bodyPr wrap="square"/>
                    <a:lstStyle/>
                    <a:p>
                      <a:pPr algn="l"/>
                      <a:r>
                        <a:rPr sz="1100" b="0" i="0">
                          <a:solidFill>
                            <a:srgbClr val="1A1A1A"/>
                          </a:solidFill>
                          <a:latin typeface="Calibri"/>
                        </a:rPr>
                        <a:t>OMS_PROD</a:t>
                      </a:r>
                    </a:p>
                  </a:txBody>
                  <a:tcPr marL="50800" marR="50800" marT="25400" marB="25400" anchor="ctr">
                    <a:solidFill>
                      <a:srgbClr val="E9ECF1"/>
                    </a:solidFill>
                  </a:tcPr>
                </a:tc>
                <a:tc>
                  <a:txBody>
                    <a:bodyPr wrap="square"/>
                    <a:lstStyle/>
                    <a:p>
                      <a:pPr algn="l"/>
                      <a:r>
                        <a:rPr sz="1100" b="0" i="0">
                          <a:solidFill>
                            <a:srgbClr val="1A1A1A"/>
                          </a:solidFill>
                          <a:latin typeface="Calibri"/>
                        </a:rPr>
                        <a:t>1,246</a:t>
                      </a:r>
                    </a:p>
                  </a:txBody>
                  <a:tcPr marL="50800" marR="50800" marT="25400" marB="25400" anchor="ctr">
                    <a:solidFill>
                      <a:srgbClr val="E9ECF1"/>
                    </a:solidFill>
                  </a:tcPr>
                </a:tc>
              </a:tr>
              <a:tr h="274320">
                <a:tc>
                  <a:txBody>
                    <a:bodyPr wrap="square"/>
                    <a:lstStyle/>
                    <a:p>
                      <a:pPr algn="l"/>
                      <a:r>
                        <a:rPr sz="1100" b="0" i="0">
                          <a:solidFill>
                            <a:srgbClr val="1A1A1A"/>
                          </a:solidFill>
                          <a:latin typeface="Calibri"/>
                        </a:rPr>
                        <a:t>INVOICE_HEADER</a:t>
                      </a:r>
                    </a:p>
                  </a:txBody>
                  <a:tcPr marL="50800" marR="50800" marT="25400" marB="25400" anchor="ctr">
                    <a:solidFill>
                      <a:srgbClr val="FFFFFF"/>
                    </a:solidFill>
                  </a:tcPr>
                </a:tc>
                <a:tc>
                  <a:txBody>
                    <a:bodyPr wrap="square"/>
                    <a:lstStyle/>
                    <a:p>
                      <a:pPr algn="l"/>
                      <a:r>
                        <a:rPr sz="1100" b="0" i="0">
                          <a:solidFill>
                            <a:srgbClr val="1A1A1A"/>
                          </a:solidFill>
                          <a:latin typeface="Calibri"/>
                        </a:rPr>
                        <a:t>OMS_PROD</a:t>
                      </a:r>
                    </a:p>
                  </a:txBody>
                  <a:tcPr marL="50800" marR="50800" marT="25400" marB="25400" anchor="ctr">
                    <a:solidFill>
                      <a:srgbClr val="FFFFFF"/>
                    </a:solidFill>
                  </a:tcPr>
                </a:tc>
                <a:tc>
                  <a:txBody>
                    <a:bodyPr wrap="square"/>
                    <a:lstStyle/>
                    <a:p>
                      <a:pPr algn="l"/>
                      <a:r>
                        <a:rPr sz="1100" b="0" i="0">
                          <a:solidFill>
                            <a:srgbClr val="1A1A1A"/>
                          </a:solidFill>
                          <a:latin typeface="Calibri"/>
                        </a:rPr>
                        <a:t>8,902,144</a:t>
                      </a:r>
                    </a:p>
                  </a:txBody>
                  <a:tcPr marL="50800" marR="50800" marT="25400" marB="25400" anchor="ctr">
                    <a:solidFill>
                      <a:srgbClr val="FFFFFF"/>
                    </a:solidFill>
                  </a:tcPr>
                </a:tc>
              </a:tr>
              <a:tr h="274320">
                <a:tc>
                  <a:txBody>
                    <a:bodyPr wrap="square"/>
                    <a:lstStyle/>
                    <a:p>
                      <a:pPr algn="l"/>
                      <a:r>
                        <a:rPr sz="1100" b="0" i="0">
                          <a:solidFill>
                            <a:srgbClr val="1A1A1A"/>
                          </a:solidFill>
                          <a:latin typeface="Calibri"/>
                        </a:rPr>
                        <a:t>INVOICE_LINE</a:t>
                      </a:r>
                    </a:p>
                  </a:txBody>
                  <a:tcPr marL="50800" marR="50800" marT="25400" marB="25400" anchor="ctr">
                    <a:solidFill>
                      <a:srgbClr val="E9ECF1"/>
                    </a:solidFill>
                  </a:tcPr>
                </a:tc>
                <a:tc>
                  <a:txBody>
                    <a:bodyPr wrap="square"/>
                    <a:lstStyle/>
                    <a:p>
                      <a:pPr algn="l"/>
                      <a:r>
                        <a:rPr sz="1100" b="0" i="0">
                          <a:solidFill>
                            <a:srgbClr val="1A1A1A"/>
                          </a:solidFill>
                          <a:latin typeface="Calibri"/>
                        </a:rPr>
                        <a:t>OMS_PROD</a:t>
                      </a:r>
                    </a:p>
                  </a:txBody>
                  <a:tcPr marL="50800" marR="50800" marT="25400" marB="25400" anchor="ctr">
                    <a:solidFill>
                      <a:srgbClr val="E9ECF1"/>
                    </a:solidFill>
                  </a:tcPr>
                </a:tc>
                <a:tc>
                  <a:txBody>
                    <a:bodyPr wrap="square"/>
                    <a:lstStyle/>
                    <a:p>
                      <a:pPr algn="l"/>
                      <a:r>
                        <a:rPr sz="1100" b="0" i="0">
                          <a:solidFill>
                            <a:srgbClr val="1A1A1A"/>
                          </a:solidFill>
                          <a:latin typeface="Calibri"/>
                        </a:rPr>
                        <a:t>61,847,220</a:t>
                      </a:r>
                    </a:p>
                  </a:txBody>
                  <a:tcPr marL="50800" marR="50800" marT="25400" marB="25400" anchor="ctr">
                    <a:solidFill>
                      <a:srgbClr val="E9ECF1"/>
                    </a:solidFill>
                  </a:tcPr>
                </a:tc>
              </a:tr>
              <a:tr h="274320">
                <a:tc>
                  <a:txBody>
                    <a:bodyPr wrap="square"/>
                    <a:lstStyle/>
                    <a:p>
                      <a:pPr algn="l"/>
                      <a:r>
                        <a:rPr sz="1100" b="0" i="0">
                          <a:solidFill>
                            <a:srgbClr val="1A1A1A"/>
                          </a:solidFill>
                          <a:latin typeface="Calibri"/>
                        </a:rPr>
                        <a:t>DIM_CUSTOMER</a:t>
                      </a:r>
                    </a:p>
                  </a:txBody>
                  <a:tcPr marL="50800" marR="50800" marT="25400" marB="25400" anchor="ctr">
                    <a:solidFill>
                      <a:srgbClr val="FFFFFF"/>
                    </a:solidFill>
                  </a:tcPr>
                </a:tc>
                <a:tc>
                  <a:txBody>
                    <a:bodyPr wrap="square"/>
                    <a:lstStyle/>
                    <a:p>
                      <a:pPr algn="l"/>
                      <a:r>
                        <a:rPr sz="1100" b="0" i="0">
                          <a:solidFill>
                            <a:srgbClr val="1A1A1A"/>
                          </a:solidFill>
                          <a:latin typeface="Calibri"/>
                        </a:rPr>
                        <a:t>BCPL_EDW</a:t>
                      </a:r>
                    </a:p>
                  </a:txBody>
                  <a:tcPr marL="50800" marR="50800" marT="25400" marB="25400" anchor="ctr">
                    <a:solidFill>
                      <a:srgbClr val="FFFFFF"/>
                    </a:solidFill>
                  </a:tcPr>
                </a:tc>
                <a:tc>
                  <a:txBody>
                    <a:bodyPr wrap="square"/>
                    <a:lstStyle/>
                    <a:p>
                      <a:pPr algn="l"/>
                      <a:r>
                        <a:rPr sz="1100" b="0" i="0">
                          <a:solidFill>
                            <a:srgbClr val="1A1A1A"/>
                          </a:solidFill>
                          <a:latin typeface="Calibri"/>
                        </a:rPr>
                        <a:t>2,140</a:t>
                      </a:r>
                    </a:p>
                  </a:txBody>
                  <a:tcPr marL="50800" marR="50800" marT="25400" marB="25400" anchor="ctr">
                    <a:solidFill>
                      <a:srgbClr val="FFFFFF"/>
                    </a:solidFill>
                  </a:tcPr>
                </a:tc>
              </a:tr>
              <a:tr h="274320">
                <a:tc>
                  <a:txBody>
                    <a:bodyPr wrap="square"/>
                    <a:lstStyle/>
                    <a:p>
                      <a:pPr algn="l"/>
                      <a:r>
                        <a:rPr sz="1100" b="0" i="0">
                          <a:solidFill>
                            <a:srgbClr val="1A1A1A"/>
                          </a:solidFill>
                          <a:latin typeface="Calibri"/>
                        </a:rPr>
                        <a:t>DIM_PRODUCT</a:t>
                      </a:r>
                    </a:p>
                  </a:txBody>
                  <a:tcPr marL="50800" marR="50800" marT="25400" marB="25400" anchor="ctr">
                    <a:solidFill>
                      <a:srgbClr val="E9ECF1"/>
                    </a:solidFill>
                  </a:tcPr>
                </a:tc>
                <a:tc>
                  <a:txBody>
                    <a:bodyPr wrap="square"/>
                    <a:lstStyle/>
                    <a:p>
                      <a:pPr algn="l"/>
                      <a:r>
                        <a:rPr sz="1100" b="0" i="0">
                          <a:solidFill>
                            <a:srgbClr val="1A1A1A"/>
                          </a:solidFill>
                          <a:latin typeface="Calibri"/>
                        </a:rPr>
                        <a:t>BCPL_EDW</a:t>
                      </a:r>
                    </a:p>
                  </a:txBody>
                  <a:tcPr marL="50800" marR="50800" marT="25400" marB="25400" anchor="ctr">
                    <a:solidFill>
                      <a:srgbClr val="E9ECF1"/>
                    </a:solidFill>
                  </a:tcPr>
                </a:tc>
                <a:tc>
                  <a:txBody>
                    <a:bodyPr wrap="square"/>
                    <a:lstStyle/>
                    <a:p>
                      <a:pPr algn="l"/>
                      <a:r>
                        <a:rPr sz="1100" b="0" i="0">
                          <a:solidFill>
                            <a:srgbClr val="1A1A1A"/>
                          </a:solidFill>
                          <a:latin typeface="Calibri"/>
                        </a:rPr>
                        <a:t>1,246</a:t>
                      </a:r>
                    </a:p>
                  </a:txBody>
                  <a:tcPr marL="50800" marR="50800" marT="25400" marB="25400" anchor="ctr">
                    <a:solidFill>
                      <a:srgbClr val="E9ECF1"/>
                    </a:solidFill>
                  </a:tcPr>
                </a:tc>
              </a:tr>
              <a:tr h="274320">
                <a:tc>
                  <a:txBody>
                    <a:bodyPr wrap="square"/>
                    <a:lstStyle/>
                    <a:p>
                      <a:pPr algn="l"/>
                      <a:r>
                        <a:rPr sz="1100" b="0" i="0">
                          <a:solidFill>
                            <a:srgbClr val="1A1A1A"/>
                          </a:solidFill>
                          <a:latin typeface="Calibri"/>
                        </a:rPr>
                        <a:t>TAX_RATE_MASTER</a:t>
                      </a:r>
                    </a:p>
                  </a:txBody>
                  <a:tcPr marL="50800" marR="50800" marT="25400" marB="25400" anchor="ctr">
                    <a:solidFill>
                      <a:srgbClr val="FFFFFF"/>
                    </a:solidFill>
                  </a:tcPr>
                </a:tc>
                <a:tc>
                  <a:txBody>
                    <a:bodyPr wrap="square"/>
                    <a:lstStyle/>
                    <a:p>
                      <a:pPr algn="l"/>
                      <a:r>
                        <a:rPr sz="1100" b="0" i="0">
                          <a:solidFill>
                            <a:srgbClr val="1A1A1A"/>
                          </a:solidFill>
                          <a:latin typeface="Calibri"/>
                        </a:rPr>
                        <a:t>BCPL_EDW</a:t>
                      </a:r>
                    </a:p>
                  </a:txBody>
                  <a:tcPr marL="50800" marR="50800" marT="25400" marB="25400" anchor="ctr">
                    <a:solidFill>
                      <a:srgbClr val="FFFFFF"/>
                    </a:solidFill>
                  </a:tcPr>
                </a:tc>
                <a:tc>
                  <a:txBody>
                    <a:bodyPr wrap="square"/>
                    <a:lstStyle/>
                    <a:p>
                      <a:pPr algn="l"/>
                      <a:r>
                        <a:rPr sz="1100" b="0" i="0">
                          <a:solidFill>
                            <a:srgbClr val="1A1A1A"/>
                          </a:solidFill>
                          <a:latin typeface="Calibri"/>
                        </a:rPr>
                        <a:t>214</a:t>
                      </a:r>
                    </a:p>
                  </a:txBody>
                  <a:tcPr marL="50800" marR="50800" marT="25400" marB="25400" anchor="ctr">
                    <a:solidFill>
                      <a:srgbClr val="FFFFFF"/>
                    </a:solidFill>
                  </a:tcPr>
                </a:tc>
              </a:tr>
              <a:tr h="274320">
                <a:tc>
                  <a:txBody>
                    <a:bodyPr wrap="square"/>
                    <a:lstStyle/>
                    <a:p>
                      <a:pPr algn="l"/>
                      <a:r>
                        <a:rPr sz="1100" b="0" i="0">
                          <a:solidFill>
                            <a:srgbClr val="1A1A1A"/>
                          </a:solidFill>
                          <a:latin typeface="Calibri"/>
                        </a:rPr>
                        <a:t>FACT_INVOICE_LINE</a:t>
                      </a:r>
                    </a:p>
                  </a:txBody>
                  <a:tcPr marL="50800" marR="50800" marT="25400" marB="25400" anchor="ctr">
                    <a:solidFill>
                      <a:srgbClr val="E9ECF1"/>
                    </a:solidFill>
                  </a:tcPr>
                </a:tc>
                <a:tc>
                  <a:txBody>
                    <a:bodyPr wrap="square"/>
                    <a:lstStyle/>
                    <a:p>
                      <a:pPr algn="l"/>
                      <a:r>
                        <a:rPr sz="1100" b="0" i="0">
                          <a:solidFill>
                            <a:srgbClr val="1A1A1A"/>
                          </a:solidFill>
                          <a:latin typeface="Calibri"/>
                        </a:rPr>
                        <a:t>BCPL_EDW</a:t>
                      </a:r>
                    </a:p>
                  </a:txBody>
                  <a:tcPr marL="50800" marR="50800" marT="25400" marB="25400" anchor="ctr">
                    <a:solidFill>
                      <a:srgbClr val="E9ECF1"/>
                    </a:solidFill>
                  </a:tcPr>
                </a:tc>
                <a:tc>
                  <a:txBody>
                    <a:bodyPr wrap="square"/>
                    <a:lstStyle/>
                    <a:p>
                      <a:pPr algn="l"/>
                      <a:r>
                        <a:rPr sz="1100" b="0" i="0">
                          <a:solidFill>
                            <a:srgbClr val="1A1A1A"/>
                          </a:solidFill>
                          <a:latin typeface="Calibri"/>
                        </a:rPr>
                        <a:t>34,182,556</a:t>
                      </a:r>
                    </a:p>
                  </a:txBody>
                  <a:tcPr marL="50800" marR="50800" marT="25400" marB="25400" anchor="ctr">
                    <a:solidFill>
                      <a:srgbClr val="E9ECF1"/>
                    </a:solidFill>
                  </a:tcPr>
                </a:tc>
              </a:tr>
              <a:tr h="274320">
                <a:tc>
                  <a:txBody>
                    <a:bodyPr wrap="square"/>
                    <a:lstStyle/>
                    <a:p>
                      <a:pPr algn="l"/>
                      <a:r>
                        <a:rPr sz="1100" b="0" i="0">
                          <a:solidFill>
                            <a:srgbClr val="1A1A1A"/>
                          </a:solidFill>
                          <a:latin typeface="Calibri"/>
                        </a:rPr>
                        <a:t>FACT_ORDER_LINE</a:t>
                      </a:r>
                    </a:p>
                  </a:txBody>
                  <a:tcPr marL="50800" marR="50800" marT="25400" marB="25400" anchor="ctr">
                    <a:solidFill>
                      <a:srgbClr val="FFFFFF"/>
                    </a:solidFill>
                  </a:tcPr>
                </a:tc>
                <a:tc>
                  <a:txBody>
                    <a:bodyPr wrap="square"/>
                    <a:lstStyle/>
                    <a:p>
                      <a:pPr algn="l"/>
                      <a:r>
                        <a:rPr sz="1100" b="0" i="0">
                          <a:solidFill>
                            <a:srgbClr val="1A1A1A"/>
                          </a:solidFill>
                          <a:latin typeface="Calibri"/>
                        </a:rPr>
                        <a:t>BCPL_EDW</a:t>
                      </a:r>
                    </a:p>
                  </a:txBody>
                  <a:tcPr marL="50800" marR="50800" marT="25400" marB="25400" anchor="ctr">
                    <a:solidFill>
                      <a:srgbClr val="FFFFFF"/>
                    </a:solidFill>
                  </a:tcPr>
                </a:tc>
                <a:tc>
                  <a:txBody>
                    <a:bodyPr wrap="square"/>
                    <a:lstStyle/>
                    <a:p>
                      <a:pPr algn="l"/>
                      <a:r>
                        <a:rPr sz="1100" b="0" i="0">
                          <a:solidFill>
                            <a:srgbClr val="1A1A1A"/>
                          </a:solidFill>
                          <a:latin typeface="Calibri"/>
                        </a:rPr>
                        <a:t>12,604,881</a:t>
                      </a:r>
                    </a:p>
                  </a:txBody>
                  <a:tcPr marL="50800" marR="50800" marT="25400" marB="25400" anchor="ctr">
                    <a:solidFill>
                      <a:srgbClr val="FFFFFF"/>
                    </a:solidFill>
                  </a:tcPr>
                </a:tc>
              </a:tr>
              <a:tr h="274320">
                <a:tc>
                  <a:txBody>
                    <a:bodyPr wrap="square"/>
                    <a:lstStyle/>
                    <a:p>
                      <a:pPr algn="l"/>
                      <a:r>
                        <a:rPr sz="1100" b="0" i="0">
                          <a:solidFill>
                            <a:srgbClr val="1A1A1A"/>
                          </a:solidFill>
                          <a:latin typeface="Calibri"/>
                        </a:rPr>
                        <a:t>FACT_SECONDARY_SALES</a:t>
                      </a:r>
                    </a:p>
                  </a:txBody>
                  <a:tcPr marL="50800" marR="50800" marT="25400" marB="25400" anchor="ctr">
                    <a:solidFill>
                      <a:srgbClr val="E9ECF1"/>
                    </a:solidFill>
                  </a:tcPr>
                </a:tc>
                <a:tc>
                  <a:txBody>
                    <a:bodyPr wrap="square"/>
                    <a:lstStyle/>
                    <a:p>
                      <a:pPr algn="l"/>
                      <a:r>
                        <a:rPr sz="1100" b="0" i="0">
                          <a:solidFill>
                            <a:srgbClr val="1A1A1A"/>
                          </a:solidFill>
                          <a:latin typeface="Calibri"/>
                        </a:rPr>
                        <a:t>BCPL_EDW</a:t>
                      </a:r>
                    </a:p>
                  </a:txBody>
                  <a:tcPr marL="50800" marR="50800" marT="25400" marB="25400" anchor="ctr">
                    <a:solidFill>
                      <a:srgbClr val="E9ECF1"/>
                    </a:solidFill>
                  </a:tcPr>
                </a:tc>
                <a:tc>
                  <a:txBody>
                    <a:bodyPr wrap="square"/>
                    <a:lstStyle/>
                    <a:p>
                      <a:pPr algn="l"/>
                      <a:r>
                        <a:rPr sz="1100" b="0" i="0">
                          <a:solidFill>
                            <a:srgbClr val="1A1A1A"/>
                          </a:solidFill>
                          <a:latin typeface="Calibri"/>
                        </a:rPr>
                        <a:t>9,940,180</a:t>
                      </a:r>
                    </a:p>
                  </a:txBody>
                  <a:tcPr marL="50800" marR="50800" marT="25400" marB="25400" anchor="ctr">
                    <a:solidFill>
                      <a:srgbClr val="E9ECF1"/>
                    </a:solidFill>
                  </a:tcPr>
                </a:tc>
              </a:tr>
            </a:tbl>
          </a:graphicData>
        </a:graphic>
      </p:graphicFrame>
      <p:sp>
        <p:nvSpPr>
          <p:cNvPr id="7" name="TextBox 6"/>
          <p:cNvSpPr txBox="1"/>
          <p:nvPr/>
        </p:nvSpPr>
        <p:spPr>
          <a:xfrm>
            <a:off x="8686800" y="2880360"/>
            <a:ext cx="3017520" cy="3017520"/>
          </a:xfrm>
          <a:prstGeom prst="rect">
            <a:avLst/>
          </a:prstGeom>
          <a:noFill/>
        </p:spPr>
        <p:txBody>
          <a:bodyPr wrap="square">
            <a:spAutoFit/>
          </a:bodyPr>
          <a:lstStyle/>
          <a:p>
            <a:pPr>
              <a:defRPr sz="1100">
                <a:solidFill>
                  <a:srgbClr val="666666"/>
                </a:solidFill>
                <a:latin typeface="Calibri"/>
              </a:defRPr>
            </a:pPr>
            <a:r>
              <a:t>10 of 14 profiled objects shown. Teh full list, plus failures by table and sample failures, is in the DQ profiling workbook (M. Rao), circulated with this deck.</a:t>
            </a:r>
          </a:p>
          <a:p>
            <a:pPr>
              <a:spcBef>
                <a:spcPts val="1000"/>
              </a:spcBef>
              <a:defRPr sz="1100" i="1">
                <a:solidFill>
                  <a:srgbClr val="B03A2E"/>
                </a:solidFill>
                <a:latin typeface="Calibri"/>
              </a:defRPr>
            </a:pPr>
            <a:r>
              <a:t>Supersedes dq_rules_master_v2.xlsx. Rule numbering has changed since that file, please stop circulating it.</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OVERALL DATA QUALITY SCORE</a:t>
            </a:r>
          </a:p>
        </p:txBody>
      </p:sp>
      <p:sp>
        <p:nvSpPr>
          <p:cNvPr id="3" name="TextBox 2"/>
          <p:cNvSpPr txBox="1"/>
          <p:nvPr/>
        </p:nvSpPr>
        <p:spPr>
          <a:xfrm>
            <a:off x="457200" y="292608"/>
            <a:ext cx="11247120" cy="777240"/>
          </a:xfrm>
          <a:prstGeom prst="rect">
            <a:avLst/>
          </a:prstGeom>
          <a:noFill/>
        </p:spPr>
        <p:txBody>
          <a:bodyPr wrap="square">
            <a:spAutoFit/>
          </a:bodyPr>
          <a:lstStyle/>
          <a:p>
            <a:pPr>
              <a:defRPr sz="2800" b="1">
                <a:solidFill>
                  <a:srgbClr val="1B2A4A"/>
                </a:solidFill>
                <a:latin typeface="Calibri"/>
              </a:defRPr>
            </a:pPr>
            <a:r>
              <a:t>Overall Data Quality score: 71 / 100</a:t>
            </a:r>
          </a:p>
        </p:txBody>
      </p:sp>
      <p:sp>
        <p:nvSpPr>
          <p:cNvPr id="4" name="Rectangle 3"/>
          <p:cNvSpPr/>
          <p:nvPr/>
        </p:nvSpPr>
        <p:spPr>
          <a:xfrm>
            <a:off x="457200" y="105156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2926080" cy="1463040"/>
          </a:xfrm>
          <a:prstGeom prst="rect">
            <a:avLst/>
          </a:prstGeom>
          <a:noFill/>
        </p:spPr>
        <p:txBody>
          <a:bodyPr wrap="none">
            <a:spAutoFit/>
          </a:bodyPr>
          <a:lstStyle/>
          <a:p>
            <a:pPr>
              <a:defRPr sz="8000" b="1">
                <a:solidFill>
                  <a:srgbClr val="B03A2E"/>
                </a:solidFill>
                <a:latin typeface="Calibri"/>
              </a:defRPr>
            </a:pPr>
            <a:r>
              <a:t>71</a:t>
            </a:r>
          </a:p>
          <a:p>
            <a:pPr>
              <a:defRPr sz="1600">
                <a:solidFill>
                  <a:srgbClr val="666666"/>
                </a:solidFill>
                <a:latin typeface="Calibri"/>
              </a:defRPr>
            </a:pPr>
            <a:r>
              <a:t>out of 100</a:t>
            </a:r>
          </a:p>
        </p:txBody>
      </p:sp>
      <p:graphicFrame>
        <p:nvGraphicFramePr>
          <p:cNvPr id="6" name="Table 5"/>
          <p:cNvGraphicFramePr>
            <a:graphicFrameLocks noGrp="1"/>
          </p:cNvGraphicFramePr>
          <p:nvPr/>
        </p:nvGraphicFramePr>
        <p:xfrm>
          <a:off x="3840480" y="1417320"/>
          <a:ext cx="4572000" cy="3017520"/>
        </p:xfrm>
        <a:graphic>
          <a:graphicData uri="http://schemas.openxmlformats.org/drawingml/2006/table">
            <a:tbl>
              <a:tblPr firstRow="1" bandRow="1">
                <a:tableStyleId>{5C22544A-7EE6-4342-B048-85BDC9FD1C3A}</a:tableStyleId>
              </a:tblPr>
              <a:tblGrid>
                <a:gridCol w="2926080"/>
                <a:gridCol w="1645920"/>
              </a:tblGrid>
              <a:tr h="502920">
                <a:tc>
                  <a:txBody>
                    <a:bodyPr wrap="square"/>
                    <a:lstStyle/>
                    <a:p>
                      <a:pPr algn="l"/>
                      <a:r>
                        <a:rPr sz="1400" b="1" i="0">
                          <a:solidFill>
                            <a:srgbClr val="FFFFFF"/>
                          </a:solidFill>
                          <a:latin typeface="Calibri"/>
                        </a:rPr>
                        <a:t>Dimension</a:t>
                      </a:r>
                    </a:p>
                  </a:txBody>
                  <a:tcPr marL="50800" marR="50800" marT="25400" marB="25400" anchor="ctr">
                    <a:solidFill>
                      <a:srgbClr val="1B2A4A"/>
                    </a:solidFill>
                  </a:tcPr>
                </a:tc>
                <a:tc>
                  <a:txBody>
                    <a:bodyPr wrap="square"/>
                    <a:lstStyle/>
                    <a:p>
                      <a:pPr algn="l"/>
                      <a:r>
                        <a:rPr sz="1400" b="1" i="0">
                          <a:solidFill>
                            <a:srgbClr val="FFFFFF"/>
                          </a:solidFill>
                          <a:latin typeface="Calibri"/>
                        </a:rPr>
                        <a:t>Score</a:t>
                      </a:r>
                    </a:p>
                  </a:txBody>
                  <a:tcPr marL="50800" marR="50800" marT="25400" marB="25400" anchor="ctr">
                    <a:solidFill>
                      <a:srgbClr val="1B2A4A"/>
                    </a:solidFill>
                  </a:tcPr>
                </a:tc>
              </a:tr>
              <a:tr h="502920">
                <a:tc>
                  <a:txBody>
                    <a:bodyPr wrap="square"/>
                    <a:lstStyle/>
                    <a:p>
                      <a:pPr algn="l"/>
                      <a:r>
                        <a:rPr sz="1400" b="0" i="0">
                          <a:solidFill>
                            <a:srgbClr val="1A1A1A"/>
                          </a:solidFill>
                          <a:latin typeface="Calibri"/>
                        </a:rPr>
                        <a:t>Completeness</a:t>
                      </a:r>
                    </a:p>
                  </a:txBody>
                  <a:tcPr marL="50800" marR="50800" marT="25400" marB="25400" anchor="ctr">
                    <a:solidFill>
                      <a:srgbClr val="FFFFFF"/>
                    </a:solidFill>
                  </a:tcPr>
                </a:tc>
                <a:tc>
                  <a:txBody>
                    <a:bodyPr wrap="square"/>
                    <a:lstStyle/>
                    <a:p>
                      <a:pPr algn="l"/>
                      <a:r>
                        <a:rPr sz="1400" b="0" i="0">
                          <a:solidFill>
                            <a:srgbClr val="1A1A1A"/>
                          </a:solidFill>
                          <a:latin typeface="Calibri"/>
                        </a:rPr>
                        <a:t>68</a:t>
                      </a:r>
                    </a:p>
                  </a:txBody>
                  <a:tcPr marL="50800" marR="50800" marT="25400" marB="25400" anchor="ctr">
                    <a:solidFill>
                      <a:srgbClr val="FFFFFF"/>
                    </a:solidFill>
                  </a:tcPr>
                </a:tc>
              </a:tr>
              <a:tr h="502920">
                <a:tc>
                  <a:txBody>
                    <a:bodyPr wrap="square"/>
                    <a:lstStyle/>
                    <a:p>
                      <a:pPr algn="l"/>
                      <a:r>
                        <a:rPr sz="1400" b="0" i="0">
                          <a:solidFill>
                            <a:srgbClr val="1A1A1A"/>
                          </a:solidFill>
                          <a:latin typeface="Calibri"/>
                        </a:rPr>
                        <a:t>Validity</a:t>
                      </a:r>
                    </a:p>
                  </a:txBody>
                  <a:tcPr marL="50800" marR="50800" marT="25400" marB="25400" anchor="ctr">
                    <a:solidFill>
                      <a:srgbClr val="E9ECF1"/>
                    </a:solidFill>
                  </a:tcPr>
                </a:tc>
                <a:tc>
                  <a:txBody>
                    <a:bodyPr wrap="square"/>
                    <a:lstStyle/>
                    <a:p>
                      <a:pPr algn="l"/>
                      <a:r>
                        <a:rPr sz="1400" b="0" i="0">
                          <a:solidFill>
                            <a:srgbClr val="1A1A1A"/>
                          </a:solidFill>
                          <a:latin typeface="Calibri"/>
                        </a:rPr>
                        <a:t>74</a:t>
                      </a:r>
                    </a:p>
                  </a:txBody>
                  <a:tcPr marL="50800" marR="50800" marT="25400" marB="25400" anchor="ctr">
                    <a:solidFill>
                      <a:srgbClr val="E9ECF1"/>
                    </a:solidFill>
                  </a:tcPr>
                </a:tc>
              </a:tr>
              <a:tr h="502920">
                <a:tc>
                  <a:txBody>
                    <a:bodyPr wrap="square"/>
                    <a:lstStyle/>
                    <a:p>
                      <a:pPr algn="l"/>
                      <a:r>
                        <a:rPr sz="1400" b="0" i="0">
                          <a:solidFill>
                            <a:srgbClr val="1A1A1A"/>
                          </a:solidFill>
                          <a:latin typeface="Calibri"/>
                        </a:rPr>
                        <a:t>Consistency</a:t>
                      </a:r>
                    </a:p>
                  </a:txBody>
                  <a:tcPr marL="50800" marR="50800" marT="25400" marB="25400" anchor="ctr">
                    <a:solidFill>
                      <a:srgbClr val="FFFFFF"/>
                    </a:solidFill>
                  </a:tcPr>
                </a:tc>
                <a:tc>
                  <a:txBody>
                    <a:bodyPr wrap="square"/>
                    <a:lstStyle/>
                    <a:p>
                      <a:pPr algn="l"/>
                      <a:r>
                        <a:rPr sz="1400" b="0" i="0">
                          <a:solidFill>
                            <a:srgbClr val="1A1A1A"/>
                          </a:solidFill>
                          <a:latin typeface="Calibri"/>
                        </a:rPr>
                        <a:t>66</a:t>
                      </a:r>
                    </a:p>
                  </a:txBody>
                  <a:tcPr marL="50800" marR="50800" marT="25400" marB="25400" anchor="ctr">
                    <a:solidFill>
                      <a:srgbClr val="FFFFFF"/>
                    </a:solidFill>
                  </a:tcPr>
                </a:tc>
              </a:tr>
              <a:tr h="502920">
                <a:tc>
                  <a:txBody>
                    <a:bodyPr wrap="square"/>
                    <a:lstStyle/>
                    <a:p>
                      <a:pPr algn="l"/>
                      <a:r>
                        <a:rPr sz="1400" b="0" i="0">
                          <a:solidFill>
                            <a:srgbClr val="1A1A1A"/>
                          </a:solidFill>
                          <a:latin typeface="Calibri"/>
                        </a:rPr>
                        <a:t>Uniqueness</a:t>
                      </a:r>
                    </a:p>
                  </a:txBody>
                  <a:tcPr marL="50800" marR="50800" marT="25400" marB="25400" anchor="ctr">
                    <a:solidFill>
                      <a:srgbClr val="E9ECF1"/>
                    </a:solidFill>
                  </a:tcPr>
                </a:tc>
                <a:tc>
                  <a:txBody>
                    <a:bodyPr wrap="square"/>
                    <a:lstStyle/>
                    <a:p>
                      <a:pPr algn="l"/>
                      <a:r>
                        <a:rPr sz="1400" b="0" i="0">
                          <a:solidFill>
                            <a:srgbClr val="1A1A1A"/>
                          </a:solidFill>
                          <a:latin typeface="Calibri"/>
                        </a:rPr>
                        <a:t>79</a:t>
                      </a:r>
                    </a:p>
                  </a:txBody>
                  <a:tcPr marL="50800" marR="50800" marT="25400" marB="25400" anchor="ctr">
                    <a:solidFill>
                      <a:srgbClr val="E9ECF1"/>
                    </a:solidFill>
                  </a:tcPr>
                </a:tc>
              </a:tr>
              <a:tr h="502920">
                <a:tc>
                  <a:txBody>
                    <a:bodyPr wrap="square"/>
                    <a:lstStyle/>
                    <a:p>
                      <a:pPr algn="l"/>
                      <a:r>
                        <a:rPr sz="1400" b="0" i="0">
                          <a:solidFill>
                            <a:srgbClr val="1A1A1A"/>
                          </a:solidFill>
                          <a:latin typeface="Calibri"/>
                        </a:rPr>
                        <a:t>Timeliness</a:t>
                      </a:r>
                    </a:p>
                  </a:txBody>
                  <a:tcPr marL="50800" marR="50800" marT="25400" marB="25400" anchor="ctr">
                    <a:solidFill>
                      <a:srgbClr val="FFFFFF"/>
                    </a:solidFill>
                  </a:tcPr>
                </a:tc>
                <a:tc>
                  <a:txBody>
                    <a:bodyPr wrap="square"/>
                    <a:lstStyle/>
                    <a:p>
                      <a:pPr algn="l"/>
                      <a:r>
                        <a:rPr sz="1400" b="0" i="0">
                          <a:solidFill>
                            <a:srgbClr val="1A1A1A"/>
                          </a:solidFill>
                          <a:latin typeface="Calibri"/>
                        </a:rPr>
                        <a:t>91</a:t>
                      </a:r>
                    </a:p>
                  </a:txBody>
                  <a:tcPr marL="50800" marR="50800" marT="25400" marB="25400" anchor="ctr">
                    <a:solidFill>
                      <a:srgbClr val="FFFFFF"/>
                    </a:solidFill>
                  </a:tcPr>
                </a:tc>
              </a:tr>
            </a:tbl>
          </a:graphicData>
        </a:graphic>
      </p:graphicFrame>
      <p:sp>
        <p:nvSpPr>
          <p:cNvPr id="7" name="TextBox 6"/>
          <p:cNvSpPr txBox="1"/>
          <p:nvPr/>
        </p:nvSpPr>
        <p:spPr>
          <a:xfrm>
            <a:off x="548640" y="4709160"/>
            <a:ext cx="10972800" cy="1645920"/>
          </a:xfrm>
          <a:prstGeom prst="rect">
            <a:avLst/>
          </a:prstGeom>
          <a:noFill/>
        </p:spPr>
        <p:txBody>
          <a:bodyPr wrap="square">
            <a:spAutoFit/>
          </a:bodyPr>
          <a:lstStyle/>
          <a:p>
            <a:pPr>
              <a:lnSpc>
                <a:spcPct val="112000"/>
              </a:lnSpc>
              <a:spcAft>
                <a:spcPts val="600"/>
              </a:spcAft>
              <a:defRPr sz="1500">
                <a:solidFill>
                  <a:srgbClr val="1A1A1A"/>
                </a:solidFill>
                <a:latin typeface="Calibri"/>
              </a:defRPr>
            </a:pPr>
            <a:r>
              <a:t>• 24 rules defined (DQ-R-01 to DQ-R-24), 9 failing</a:t>
            </a:r>
          </a:p>
          <a:p>
            <a:pPr lvl="1">
              <a:lnSpc>
                <a:spcPct val="112000"/>
              </a:lnSpc>
              <a:spcAft>
                <a:spcPts val="600"/>
              </a:spcAft>
              <a:defRPr sz="1400">
                <a:solidFill>
                  <a:srgbClr val="1A1A1A"/>
                </a:solidFill>
                <a:latin typeface="Calibri"/>
              </a:defRPr>
            </a:pPr>
            <a:r>
              <a:t>     – One additional completeness rule fails below the materiality threshold, not itemised in this deck</a:t>
            </a:r>
          </a:p>
          <a:p>
            <a:pPr>
              <a:lnSpc>
                <a:spcPct val="112000"/>
              </a:lnSpc>
              <a:spcAft>
                <a:spcPts val="600"/>
              </a:spcAft>
              <a:defRPr sz="1500">
                <a:solidFill>
                  <a:srgbClr val="1A1A1A"/>
                </a:solidFill>
                <a:latin typeface="Calibri"/>
              </a:defRPr>
            </a:pPr>
            <a:r>
              <a:t>• “For a landscape of this age, that is actually not a disaster.”</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31720"/>
            <a:ext cx="1828800" cy="1097280"/>
          </a:xfrm>
          <a:prstGeom prst="rect">
            <a:avLst/>
          </a:prstGeom>
          <a:noFill/>
        </p:spPr>
        <p:txBody>
          <a:bodyPr wrap="none">
            <a:spAutoFit/>
          </a:bodyPr>
          <a:lstStyle/>
          <a:p>
            <a:pPr>
              <a:defRPr sz="5400" b="1">
                <a:solidFill>
                  <a:srgbClr val="B03A2E"/>
                </a:solidFill>
                <a:latin typeface="Calibri"/>
              </a:defRPr>
            </a:pPr>
            <a:r>
              <a:t>02</a:t>
            </a:r>
          </a:p>
        </p:txBody>
      </p:sp>
      <p:sp>
        <p:nvSpPr>
          <p:cNvPr id="4" name="TextBox 3"/>
          <p:cNvSpPr txBox="1"/>
          <p:nvPr/>
        </p:nvSpPr>
        <p:spPr>
          <a:xfrm>
            <a:off x="868680" y="3246120"/>
            <a:ext cx="10058400" cy="1188720"/>
          </a:xfrm>
          <a:prstGeom prst="rect">
            <a:avLst/>
          </a:prstGeom>
          <a:noFill/>
        </p:spPr>
        <p:txBody>
          <a:bodyPr wrap="square">
            <a:spAutoFit/>
          </a:bodyPr>
          <a:lstStyle/>
          <a:p>
            <a:pPr>
              <a:defRPr sz="3600" b="1">
                <a:solidFill>
                  <a:srgbClr val="FFFFFF"/>
                </a:solidFill>
                <a:latin typeface="Calibri"/>
              </a:defRPr>
            </a:pPr>
            <a:r>
              <a:t>Findings by Severity</a:t>
            </a:r>
          </a:p>
        </p:txBody>
      </p:sp>
      <p:sp>
        <p:nvSpPr>
          <p:cNvPr id="5" name="TextBox 4"/>
          <p:cNvSpPr txBox="1"/>
          <p:nvPr/>
        </p:nvSpPr>
        <p:spPr>
          <a:xfrm>
            <a:off x="365760" y="6528816"/>
            <a:ext cx="8778240" cy="274320"/>
          </a:xfrm>
          <a:prstGeom prst="rect">
            <a:avLst/>
          </a:prstGeom>
          <a:noFill/>
        </p:spPr>
        <p:txBody>
          <a:bodyPr wrap="none" tIns="0" bIns="0">
            <a:spAutoFit/>
          </a:bodyPr>
          <a:lstStyle/>
          <a:p>
            <a:pPr>
              <a:defRPr sz="800">
                <a:solidFill>
                  <a:srgbClr val="B9C2D6"/>
                </a:solidFill>
                <a:latin typeface="Calibri"/>
              </a:defRPr>
            </a:pPr>
            <a:r>
              <a:t>Bharadwaj Consumer Products Ltd  |  Project Drishti  |  CONFIDENTIAL - INTERNAL WORKING DRAFT - NOT FOR EXTERNAL DISTRIBUTION</a:t>
            </a:r>
          </a:p>
        </p:txBody>
      </p:sp>
      <p:sp>
        <p:nvSpPr>
          <p:cNvPr id="6" name="TextBox 5"/>
          <p:cNvSpPr txBox="1"/>
          <p:nvPr/>
        </p:nvSpPr>
        <p:spPr>
          <a:xfrm>
            <a:off x="11521440" y="6528816"/>
            <a:ext cx="457200" cy="274320"/>
          </a:xfrm>
          <a:prstGeom prst="rect">
            <a:avLst/>
          </a:prstGeom>
          <a:noFill/>
        </p:spPr>
        <p:txBody>
          <a:bodyPr wrap="none" tIns="0" bIns="0">
            <a:spAutoFit/>
          </a:bodyPr>
          <a:lstStyle/>
          <a:p>
            <a:pPr algn="r">
              <a:defRPr sz="800">
                <a:solidFill>
                  <a:srgbClr val="B9C2D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FINDINGS</a:t>
            </a:r>
          </a:p>
        </p:txBody>
      </p:sp>
      <p:sp>
        <p:nvSpPr>
          <p:cNvPr id="3" name="TextBox 2"/>
          <p:cNvSpPr txBox="1"/>
          <p:nvPr/>
        </p:nvSpPr>
        <p:spPr>
          <a:xfrm>
            <a:off x="457200" y="292608"/>
            <a:ext cx="11247120" cy="640080"/>
          </a:xfrm>
          <a:prstGeom prst="rect">
            <a:avLst/>
          </a:prstGeom>
          <a:noFill/>
        </p:spPr>
        <p:txBody>
          <a:bodyPr wrap="square">
            <a:spAutoFit/>
          </a:bodyPr>
          <a:lstStyle/>
          <a:p>
            <a:pPr>
              <a:defRPr sz="2400" b="1">
                <a:solidFill>
                  <a:srgbClr val="1B2A4A"/>
                </a:solidFill>
                <a:latin typeface="Calibri"/>
              </a:defRPr>
            </a:pPr>
            <a:r>
              <a:t>Findings by severity, all rules discussed today</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914400"/>
          <a:ext cx="11521436" cy="4160520"/>
        </p:xfrm>
        <a:graphic>
          <a:graphicData uri="http://schemas.openxmlformats.org/drawingml/2006/table">
            <a:tbl>
              <a:tblPr firstRow="1" bandRow="1">
                <a:tableStyleId>{5C22544A-7EE6-4342-B048-85BDC9FD1C3A}</a:tableStyleId>
              </a:tblPr>
              <a:tblGrid>
                <a:gridCol w="1111717"/>
                <a:gridCol w="1515978"/>
                <a:gridCol w="4649002"/>
                <a:gridCol w="1111717"/>
                <a:gridCol w="1111717"/>
                <a:gridCol w="2021305"/>
              </a:tblGrid>
              <a:tr h="416052">
                <a:tc>
                  <a:txBody>
                    <a:bodyPr wrap="square"/>
                    <a:lstStyle/>
                    <a:p>
                      <a:pPr algn="l"/>
                      <a:r>
                        <a:rPr sz="1050" b="1" i="0">
                          <a:solidFill>
                            <a:srgbClr val="FFFFFF"/>
                          </a:solidFill>
                          <a:latin typeface="Calibri"/>
                        </a:rPr>
                        <a:t>Rule</a:t>
                      </a:r>
                    </a:p>
                  </a:txBody>
                  <a:tcPr marL="50800" marR="50800" marT="25400" marB="25400" anchor="ctr">
                    <a:solidFill>
                      <a:srgbClr val="1B2A4A"/>
                    </a:solidFill>
                  </a:tcPr>
                </a:tc>
                <a:tc>
                  <a:txBody>
                    <a:bodyPr wrap="square"/>
                    <a:lstStyle/>
                    <a:p>
                      <a:pPr algn="l"/>
                      <a:r>
                        <a:rPr sz="1050" b="1" i="0">
                          <a:solidFill>
                            <a:srgbClr val="FFFFFF"/>
                          </a:solidFill>
                          <a:latin typeface="Calibri"/>
                        </a:rPr>
                        <a:t>Dimension</a:t>
                      </a:r>
                    </a:p>
                  </a:txBody>
                  <a:tcPr marL="50800" marR="50800" marT="25400" marB="25400" anchor="ctr">
                    <a:solidFill>
                      <a:srgbClr val="1B2A4A"/>
                    </a:solidFill>
                  </a:tcPr>
                </a:tc>
                <a:tc>
                  <a:txBody>
                    <a:bodyPr wrap="square"/>
                    <a:lstStyle/>
                    <a:p>
                      <a:pPr algn="l"/>
                      <a:r>
                        <a:rPr sz="1050" b="1" i="0">
                          <a:solidFill>
                            <a:srgbClr val="FFFFFF"/>
                          </a:solidFill>
                          <a:latin typeface="Calibri"/>
                        </a:rPr>
                        <a:t>Statement</a:t>
                      </a:r>
                    </a:p>
                  </a:txBody>
                  <a:tcPr marL="50800" marR="50800" marT="25400" marB="25400" anchor="ctr">
                    <a:solidFill>
                      <a:srgbClr val="1B2A4A"/>
                    </a:solidFill>
                  </a:tcPr>
                </a:tc>
                <a:tc>
                  <a:txBody>
                    <a:bodyPr wrap="square"/>
                    <a:lstStyle/>
                    <a:p>
                      <a:pPr algn="l"/>
                      <a:r>
                        <a:rPr sz="1050" b="1" i="0">
                          <a:solidFill>
                            <a:srgbClr val="FFFFFF"/>
                          </a:solidFill>
                          <a:latin typeface="Calibri"/>
                        </a:rPr>
                        <a:t>Threshold</a:t>
                      </a:r>
                    </a:p>
                  </a:txBody>
                  <a:tcPr marL="50800" marR="50800" marT="25400" marB="25400" anchor="ctr">
                    <a:solidFill>
                      <a:srgbClr val="1B2A4A"/>
                    </a:solidFill>
                  </a:tcPr>
                </a:tc>
                <a:tc>
                  <a:txBody>
                    <a:bodyPr wrap="square"/>
                    <a:lstStyle/>
                    <a:p>
                      <a:pPr algn="l"/>
                      <a:r>
                        <a:rPr sz="1050" b="1" i="0">
                          <a:solidFill>
                            <a:srgbClr val="FFFFFF"/>
                          </a:solidFill>
                          <a:latin typeface="Calibri"/>
                        </a:rPr>
                        <a:t>Actual</a:t>
                      </a:r>
                    </a:p>
                  </a:txBody>
                  <a:tcPr marL="50800" marR="50800" marT="25400" marB="25400" anchor="ctr">
                    <a:solidFill>
                      <a:srgbClr val="1B2A4A"/>
                    </a:solidFill>
                  </a:tcPr>
                </a:tc>
                <a:tc>
                  <a:txBody>
                    <a:bodyPr wrap="square"/>
                    <a:lstStyle/>
                    <a:p>
                      <a:pPr algn="l"/>
                      <a:r>
                        <a:rPr sz="1050" b="1" i="0">
                          <a:solidFill>
                            <a:srgbClr val="FFFFFF"/>
                          </a:solidFill>
                          <a:latin typeface="Calibri"/>
                        </a:rPr>
                        <a:t>Result / severity</a:t>
                      </a:r>
                    </a:p>
                  </a:txBody>
                  <a:tcPr marL="50800" marR="50800" marT="25400" marB="25400" anchor="ctr">
                    <a:solidFill>
                      <a:srgbClr val="1B2A4A"/>
                    </a:solidFill>
                  </a:tcPr>
                </a:tc>
              </a:tr>
              <a:tr h="416052">
                <a:tc>
                  <a:txBody>
                    <a:bodyPr wrap="square"/>
                    <a:lstStyle/>
                    <a:p>
                      <a:pPr algn="l"/>
                      <a:r>
                        <a:rPr sz="1000" b="0" i="0">
                          <a:solidFill>
                            <a:srgbClr val="1A1A1A"/>
                          </a:solidFill>
                          <a:latin typeface="Calibri"/>
                        </a:rPr>
                        <a:t>DQ-R-01</a:t>
                      </a:r>
                    </a:p>
                  </a:txBody>
                  <a:tcPr marL="50800" marR="50800" marT="25400" marB="25400" anchor="ctr">
                    <a:solidFill>
                      <a:srgbClr val="FFFFFF"/>
                    </a:solidFill>
                  </a:tcPr>
                </a:tc>
                <a:tc>
                  <a:txBody>
                    <a:bodyPr wrap="square"/>
                    <a:lstStyle/>
                    <a:p>
                      <a:pPr algn="l"/>
                      <a:r>
                        <a:rPr sz="1000" b="0" i="0">
                          <a:solidFill>
                            <a:srgbClr val="1A1A1A"/>
                          </a:solidFill>
                          <a:latin typeface="Calibri"/>
                        </a:rPr>
                        <a:t>Completeness</a:t>
                      </a:r>
                    </a:p>
                  </a:txBody>
                  <a:tcPr marL="50800" marR="50800" marT="25400" marB="25400" anchor="ctr">
                    <a:solidFill>
                      <a:srgbClr val="FFFFFF"/>
                    </a:solidFill>
                  </a:tcPr>
                </a:tc>
                <a:tc>
                  <a:txBody>
                    <a:bodyPr wrap="square"/>
                    <a:lstStyle/>
                    <a:p>
                      <a:pPr algn="l"/>
                      <a:r>
                        <a:rPr sz="1000" b="0" i="0">
                          <a:solidFill>
                            <a:srgbClr val="1A1A1A"/>
                          </a:solidFill>
                          <a:latin typeface="Calibri"/>
                        </a:rPr>
                        <a:t>Mandatory columns on FACT_INVOICE_LINE are not null</a:t>
                      </a:r>
                    </a:p>
                  </a:txBody>
                  <a:tcPr marL="50800" marR="50800" marT="25400" marB="25400" anchor="ctr">
                    <a:solidFill>
                      <a:srgbClr val="FFFFFF"/>
                    </a:solidFill>
                  </a:tcPr>
                </a:tc>
                <a:tc>
                  <a:txBody>
                    <a:bodyPr wrap="square"/>
                    <a:lstStyle/>
                    <a:p>
                      <a:pPr algn="l"/>
                      <a:r>
                        <a:rPr sz="1000" b="0" i="0">
                          <a:solidFill>
                            <a:srgbClr val="1A1A1A"/>
                          </a:solidFill>
                          <a:latin typeface="Calibri"/>
                        </a:rPr>
                        <a:t>99.9%</a:t>
                      </a:r>
                    </a:p>
                  </a:txBody>
                  <a:tcPr marL="50800" marR="50800" marT="25400" marB="25400" anchor="ctr">
                    <a:solidFill>
                      <a:srgbClr val="FFFFFF"/>
                    </a:solidFill>
                  </a:tcPr>
                </a:tc>
                <a:tc>
                  <a:txBody>
                    <a:bodyPr wrap="square"/>
                    <a:lstStyle/>
                    <a:p>
                      <a:pPr algn="l"/>
                      <a:r>
                        <a:rPr sz="1000" b="0" i="0">
                          <a:solidFill>
                            <a:srgbClr val="1A1A1A"/>
                          </a:solidFill>
                          <a:latin typeface="Calibri"/>
                        </a:rPr>
                        <a:t>99.97%</a:t>
                      </a:r>
                    </a:p>
                  </a:txBody>
                  <a:tcPr marL="50800" marR="50800" marT="25400" marB="25400" anchor="ctr">
                    <a:solidFill>
                      <a:srgbClr val="FFFFFF"/>
                    </a:solidFill>
                  </a:tcPr>
                </a:tc>
                <a:tc>
                  <a:txBody>
                    <a:bodyPr wrap="square"/>
                    <a:lstStyle/>
                    <a:p>
                      <a:pPr algn="l"/>
                      <a:r>
                        <a:rPr sz="1000" b="0" i="0">
                          <a:solidFill>
                            <a:srgbClr val="1A1A1A"/>
                          </a:solidFill>
                          <a:latin typeface="Calibri"/>
                        </a:rPr>
                        <a:t>Pass (reference)</a:t>
                      </a:r>
                    </a:p>
                  </a:txBody>
                  <a:tcPr marL="50800" marR="50800" marT="25400" marB="25400" anchor="ctr">
                    <a:solidFill>
                      <a:srgbClr val="FFFFFF"/>
                    </a:solidFill>
                  </a:tcPr>
                </a:tc>
              </a:tr>
              <a:tr h="416052">
                <a:tc>
                  <a:txBody>
                    <a:bodyPr wrap="square"/>
                    <a:lstStyle/>
                    <a:p>
                      <a:pPr algn="l"/>
                      <a:r>
                        <a:rPr sz="1000" b="0" i="0">
                          <a:solidFill>
                            <a:srgbClr val="1A1A1A"/>
                          </a:solidFill>
                          <a:latin typeface="Calibri"/>
                        </a:rPr>
                        <a:t>DQ-R-07</a:t>
                      </a:r>
                    </a:p>
                  </a:txBody>
                  <a:tcPr marL="50800" marR="50800" marT="25400" marB="25400" anchor="ctr">
                    <a:solidFill>
                      <a:srgbClr val="E9ECF1"/>
                    </a:solidFill>
                  </a:tcPr>
                </a:tc>
                <a:tc>
                  <a:txBody>
                    <a:bodyPr wrap="square"/>
                    <a:lstStyle/>
                    <a:p>
                      <a:pPr algn="l"/>
                      <a:r>
                        <a:rPr sz="1000" b="0" i="0">
                          <a:solidFill>
                            <a:srgbClr val="1A1A1A"/>
                          </a:solidFill>
                          <a:latin typeface="Calibri"/>
                        </a:rPr>
                        <a:t>Uniqueness</a:t>
                      </a:r>
                    </a:p>
                  </a:txBody>
                  <a:tcPr marL="50800" marR="50800" marT="25400" marB="25400" anchor="ctr">
                    <a:solidFill>
                      <a:srgbClr val="E9ECF1"/>
                    </a:solidFill>
                  </a:tcPr>
                </a:tc>
                <a:tc>
                  <a:txBody>
                    <a:bodyPr wrap="square"/>
                    <a:lstStyle/>
                    <a:p>
                      <a:pPr algn="l"/>
                      <a:r>
                        <a:rPr sz="1000" b="0" i="0">
                          <a:solidFill>
                            <a:srgbClr val="1A1A1A"/>
                          </a:solidFill>
                          <a:latin typeface="Calibri"/>
                        </a:rPr>
                        <a:t>Exactly one CURRENT_FLG='Y' row per CUSTOMER_ID</a:t>
                      </a:r>
                    </a:p>
                  </a:txBody>
                  <a:tcPr marL="50800" marR="50800" marT="25400" marB="25400" anchor="ctr">
                    <a:solidFill>
                      <a:srgbClr val="E9ECF1"/>
                    </a:solidFill>
                  </a:tcPr>
                </a:tc>
                <a:tc>
                  <a:txBody>
                    <a:bodyPr wrap="square"/>
                    <a:lstStyle/>
                    <a:p>
                      <a:pPr algn="l"/>
                      <a:r>
                        <a:rPr sz="1000" b="0" i="0">
                          <a:solidFill>
                            <a:srgbClr val="1A1A1A"/>
                          </a:solidFill>
                          <a:latin typeface="Calibri"/>
                        </a:rPr>
                        <a:t>100%</a:t>
                      </a:r>
                    </a:p>
                  </a:txBody>
                  <a:tcPr marL="50800" marR="50800" marT="25400" marB="25400" anchor="ctr">
                    <a:solidFill>
                      <a:srgbClr val="E9ECF1"/>
                    </a:solidFill>
                  </a:tcPr>
                </a:tc>
                <a:tc>
                  <a:txBody>
                    <a:bodyPr wrap="square"/>
                    <a:lstStyle/>
                    <a:p>
                      <a:pPr algn="l"/>
                      <a:r>
                        <a:rPr sz="1000" b="0" i="0">
                          <a:solidFill>
                            <a:srgbClr val="1A1A1A"/>
                          </a:solidFill>
                          <a:latin typeface="Calibri"/>
                        </a:rPr>
                        <a:t>99.16%</a:t>
                      </a:r>
                    </a:p>
                  </a:txBody>
                  <a:tcPr marL="50800" marR="50800" marT="25400" marB="25400" anchor="ctr">
                    <a:solidFill>
                      <a:srgbClr val="E9ECF1"/>
                    </a:solidFill>
                  </a:tcPr>
                </a:tc>
                <a:tc>
                  <a:txBody>
                    <a:bodyPr wrap="square"/>
                    <a:lstStyle/>
                    <a:p>
                      <a:pPr algn="l"/>
                      <a:r>
                        <a:rPr sz="1000" b="0" i="0">
                          <a:solidFill>
                            <a:srgbClr val="1A1A1A"/>
                          </a:solidFill>
                          <a:latin typeface="Calibri"/>
                        </a:rPr>
                        <a:t>Critical</a:t>
                      </a:r>
                    </a:p>
                  </a:txBody>
                  <a:tcPr marL="50800" marR="50800" marT="25400" marB="25400" anchor="ctr">
                    <a:solidFill>
                      <a:srgbClr val="E9ECF1"/>
                    </a:solidFill>
                  </a:tcPr>
                </a:tc>
              </a:tr>
              <a:tr h="416052">
                <a:tc>
                  <a:txBody>
                    <a:bodyPr wrap="square"/>
                    <a:lstStyle/>
                    <a:p>
                      <a:pPr algn="l"/>
                      <a:r>
                        <a:rPr sz="1000" b="0" i="0">
                          <a:solidFill>
                            <a:srgbClr val="1A1A1A"/>
                          </a:solidFill>
                          <a:latin typeface="Calibri"/>
                        </a:rPr>
                        <a:t>DQ-R-23</a:t>
                      </a:r>
                    </a:p>
                  </a:txBody>
                  <a:tcPr marL="50800" marR="50800" marT="25400" marB="25400" anchor="ctr">
                    <a:solidFill>
                      <a:srgbClr val="FFFFFF"/>
                    </a:solidFill>
                  </a:tcPr>
                </a:tc>
                <a:tc>
                  <a:txBody>
                    <a:bodyPr wrap="square"/>
                    <a:lstStyle/>
                    <a:p>
                      <a:pPr algn="l"/>
                      <a:r>
                        <a:rPr sz="1000" b="0" i="0">
                          <a:solidFill>
                            <a:srgbClr val="1A1A1A"/>
                          </a:solidFill>
                          <a:latin typeface="Calibri"/>
                        </a:rPr>
                        <a:t>Consistency</a:t>
                      </a:r>
                    </a:p>
                  </a:txBody>
                  <a:tcPr marL="50800" marR="50800" marT="25400" marB="25400" anchor="ctr">
                    <a:solidFill>
                      <a:srgbClr val="FFFFFF"/>
                    </a:solidFill>
                  </a:tcPr>
                </a:tc>
                <a:tc>
                  <a:txBody>
                    <a:bodyPr wrap="square"/>
                    <a:lstStyle/>
                    <a:p>
                      <a:pPr algn="l"/>
                      <a:r>
                        <a:rPr sz="1000" b="0" i="0">
                          <a:solidFill>
                            <a:srgbClr val="1A1A1A"/>
                          </a:solidFill>
                          <a:latin typeface="Calibri"/>
                        </a:rPr>
                        <a:t>Every fact row resolves to a current DIM_CUSTOMER row</a:t>
                      </a:r>
                    </a:p>
                  </a:txBody>
                  <a:tcPr marL="50800" marR="50800" marT="25400" marB="25400" anchor="ctr">
                    <a:solidFill>
                      <a:srgbClr val="FFFFFF"/>
                    </a:solidFill>
                  </a:tcPr>
                </a:tc>
                <a:tc>
                  <a:txBody>
                    <a:bodyPr wrap="square"/>
                    <a:lstStyle/>
                    <a:p>
                      <a:pPr algn="l"/>
                      <a:r>
                        <a:rPr sz="1000" b="0" i="0">
                          <a:solidFill>
                            <a:srgbClr val="1A1A1A"/>
                          </a:solidFill>
                          <a:latin typeface="Calibri"/>
                        </a:rPr>
                        <a:t>100%</a:t>
                      </a:r>
                    </a:p>
                  </a:txBody>
                  <a:tcPr marL="50800" marR="50800" marT="25400" marB="25400" anchor="ctr">
                    <a:solidFill>
                      <a:srgbClr val="FFFFFF"/>
                    </a:solidFill>
                  </a:tcPr>
                </a:tc>
                <a:tc>
                  <a:txBody>
                    <a:bodyPr wrap="square"/>
                    <a:lstStyle/>
                    <a:p>
                      <a:pPr algn="l"/>
                      <a:r>
                        <a:rPr sz="1000" b="0" i="0">
                          <a:solidFill>
                            <a:srgbClr val="1A1A1A"/>
                          </a:solidFill>
                          <a:latin typeface="Calibri"/>
                        </a:rPr>
                        <a:t>99.71%</a:t>
                      </a:r>
                    </a:p>
                  </a:txBody>
                  <a:tcPr marL="50800" marR="50800" marT="25400" marB="25400" anchor="ctr">
                    <a:solidFill>
                      <a:srgbClr val="FFFFFF"/>
                    </a:solidFill>
                  </a:tcPr>
                </a:tc>
                <a:tc>
                  <a:txBody>
                    <a:bodyPr wrap="square"/>
                    <a:lstStyle/>
                    <a:p>
                      <a:pPr algn="l"/>
                      <a:r>
                        <a:rPr sz="1000" b="0" i="0">
                          <a:solidFill>
                            <a:srgbClr val="1A1A1A"/>
                          </a:solidFill>
                          <a:latin typeface="Calibri"/>
                        </a:rPr>
                        <a:t>Critical (same family as R-07)</a:t>
                      </a:r>
                    </a:p>
                  </a:txBody>
                  <a:tcPr marL="50800" marR="50800" marT="25400" marB="25400" anchor="ctr">
                    <a:solidFill>
                      <a:srgbClr val="FFFFFF"/>
                    </a:solidFill>
                  </a:tcPr>
                </a:tc>
              </a:tr>
              <a:tr h="416052">
                <a:tc>
                  <a:txBody>
                    <a:bodyPr wrap="square"/>
                    <a:lstStyle/>
                    <a:p>
                      <a:pPr algn="l"/>
                      <a:r>
                        <a:rPr sz="1000" b="0" i="0">
                          <a:solidFill>
                            <a:srgbClr val="1A1A1A"/>
                          </a:solidFill>
                          <a:latin typeface="Calibri"/>
                        </a:rPr>
                        <a:t>DQ-R-09</a:t>
                      </a:r>
                    </a:p>
                  </a:txBody>
                  <a:tcPr marL="50800" marR="50800" marT="25400" marB="25400" anchor="ctr">
                    <a:solidFill>
                      <a:srgbClr val="E9ECF1"/>
                    </a:solidFill>
                  </a:tcPr>
                </a:tc>
                <a:tc>
                  <a:txBody>
                    <a:bodyPr wrap="square"/>
                    <a:lstStyle/>
                    <a:p>
                      <a:pPr algn="l"/>
                      <a:r>
                        <a:rPr sz="1000" b="0" i="0">
                          <a:solidFill>
                            <a:srgbClr val="1A1A1A"/>
                          </a:solidFill>
                          <a:latin typeface="Calibri"/>
                        </a:rPr>
                        <a:t>Consistency</a:t>
                      </a:r>
                    </a:p>
                  </a:txBody>
                  <a:tcPr marL="50800" marR="50800" marT="25400" marB="25400" anchor="ctr">
                    <a:solidFill>
                      <a:srgbClr val="E9ECF1"/>
                    </a:solidFill>
                  </a:tcPr>
                </a:tc>
                <a:tc>
                  <a:txBody>
                    <a:bodyPr wrap="square"/>
                    <a:lstStyle/>
                    <a:p>
                      <a:pPr algn="l"/>
                      <a:r>
                        <a:rPr sz="1000" b="0" i="0">
                          <a:solidFill>
                            <a:srgbClr val="1A1A1A"/>
                          </a:solidFill>
                          <a:latin typeface="Calibri"/>
                        </a:rPr>
                        <a:t>One fact row per source invoice line</a:t>
                      </a:r>
                    </a:p>
                  </a:txBody>
                  <a:tcPr marL="50800" marR="50800" marT="25400" marB="25400" anchor="ctr">
                    <a:solidFill>
                      <a:srgbClr val="E9ECF1"/>
                    </a:solidFill>
                  </a:tcPr>
                </a:tc>
                <a:tc>
                  <a:txBody>
                    <a:bodyPr wrap="square"/>
                    <a:lstStyle/>
                    <a:p>
                      <a:pPr algn="l"/>
                      <a:r>
                        <a:rPr sz="1000" b="0" i="0">
                          <a:solidFill>
                            <a:srgbClr val="1A1A1A"/>
                          </a:solidFill>
                          <a:latin typeface="Calibri"/>
                        </a:rPr>
                        <a:t>100%</a:t>
                      </a:r>
                    </a:p>
                  </a:txBody>
                  <a:tcPr marL="50800" marR="50800" marT="25400" marB="25400" anchor="ctr">
                    <a:solidFill>
                      <a:srgbClr val="E9ECF1"/>
                    </a:solidFill>
                  </a:tcPr>
                </a:tc>
                <a:tc>
                  <a:txBody>
                    <a:bodyPr wrap="square"/>
                    <a:lstStyle/>
                    <a:p>
                      <a:pPr algn="l"/>
                      <a:r>
                        <a:rPr sz="1000" b="0" i="0">
                          <a:solidFill>
                            <a:srgbClr val="1A1A1A"/>
                          </a:solidFill>
                          <a:latin typeface="Calibri"/>
                        </a:rPr>
                        <a:t>99.94%</a:t>
                      </a:r>
                    </a:p>
                  </a:txBody>
                  <a:tcPr marL="50800" marR="50800" marT="25400" marB="25400" anchor="ctr">
                    <a:solidFill>
                      <a:srgbClr val="E9ECF1"/>
                    </a:solidFill>
                  </a:tcPr>
                </a:tc>
                <a:tc>
                  <a:txBody>
                    <a:bodyPr wrap="square"/>
                    <a:lstStyle/>
                    <a:p>
                      <a:pPr algn="l"/>
                      <a:r>
                        <a:rPr sz="1000" b="0" i="0">
                          <a:solidFill>
                            <a:srgbClr val="1A1A1A"/>
                          </a:solidFill>
                          <a:latin typeface="Calibri"/>
                        </a:rPr>
                        <a:t>High</a:t>
                      </a:r>
                    </a:p>
                  </a:txBody>
                  <a:tcPr marL="50800" marR="50800" marT="25400" marB="25400" anchor="ctr">
                    <a:solidFill>
                      <a:srgbClr val="E9ECF1"/>
                    </a:solidFill>
                  </a:tcPr>
                </a:tc>
              </a:tr>
              <a:tr h="416052">
                <a:tc>
                  <a:txBody>
                    <a:bodyPr wrap="square"/>
                    <a:lstStyle/>
                    <a:p>
                      <a:pPr algn="l"/>
                      <a:r>
                        <a:rPr sz="1000" b="0" i="0">
                          <a:solidFill>
                            <a:srgbClr val="1A1A1A"/>
                          </a:solidFill>
                          <a:latin typeface="Calibri"/>
                        </a:rPr>
                        <a:t>DQ-R-15</a:t>
                      </a:r>
                    </a:p>
                  </a:txBody>
                  <a:tcPr marL="50800" marR="50800" marT="25400" marB="25400" anchor="ctr">
                    <a:solidFill>
                      <a:srgbClr val="FFFFFF"/>
                    </a:solidFill>
                  </a:tcPr>
                </a:tc>
                <a:tc>
                  <a:txBody>
                    <a:bodyPr wrap="square"/>
                    <a:lstStyle/>
                    <a:p>
                      <a:pPr algn="l"/>
                      <a:r>
                        <a:rPr sz="1000" b="0" i="0">
                          <a:solidFill>
                            <a:srgbClr val="1A1A1A"/>
                          </a:solidFill>
                          <a:latin typeface="Calibri"/>
                        </a:rPr>
                        <a:t>Validity</a:t>
                      </a:r>
                    </a:p>
                  </a:txBody>
                  <a:tcPr marL="50800" marR="50800" marT="25400" marB="25400" anchor="ctr">
                    <a:solidFill>
                      <a:srgbClr val="FFFFFF"/>
                    </a:solidFill>
                  </a:tcPr>
                </a:tc>
                <a:tc>
                  <a:txBody>
                    <a:bodyPr wrap="square"/>
                    <a:lstStyle/>
                    <a:p>
                      <a:pPr algn="l"/>
                      <a:r>
                        <a:rPr sz="1000" b="0" i="0">
                          <a:solidFill>
                            <a:srgbClr val="1A1A1A"/>
                          </a:solidFill>
                          <a:latin typeface="Calibri"/>
                        </a:rPr>
                        <a:t>GST rate matches the rate in force on the invoice date</a:t>
                      </a:r>
                    </a:p>
                  </a:txBody>
                  <a:tcPr marL="50800" marR="50800" marT="25400" marB="25400" anchor="ctr">
                    <a:solidFill>
                      <a:srgbClr val="FFFFFF"/>
                    </a:solidFill>
                  </a:tcPr>
                </a:tc>
                <a:tc>
                  <a:txBody>
                    <a:bodyPr wrap="square"/>
                    <a:lstStyle/>
                    <a:p>
                      <a:pPr algn="l"/>
                      <a:r>
                        <a:rPr sz="1000" b="0" i="0">
                          <a:solidFill>
                            <a:srgbClr val="1A1A1A"/>
                          </a:solidFill>
                          <a:latin typeface="Calibri"/>
                        </a:rPr>
                        <a:t>99.9%</a:t>
                      </a:r>
                    </a:p>
                  </a:txBody>
                  <a:tcPr marL="50800" marR="50800" marT="25400" marB="25400" anchor="ctr">
                    <a:solidFill>
                      <a:srgbClr val="FFFFFF"/>
                    </a:solidFill>
                  </a:tcPr>
                </a:tc>
                <a:tc>
                  <a:txBody>
                    <a:bodyPr wrap="square"/>
                    <a:lstStyle/>
                    <a:p>
                      <a:pPr algn="l"/>
                      <a:r>
                        <a:rPr sz="1000" b="0" i="0">
                          <a:solidFill>
                            <a:srgbClr val="1A1A1A"/>
                          </a:solidFill>
                          <a:latin typeface="Calibri"/>
                        </a:rPr>
                        <a:t>96.3%</a:t>
                      </a:r>
                    </a:p>
                  </a:txBody>
                  <a:tcPr marL="50800" marR="50800" marT="25400" marB="25400" anchor="ctr">
                    <a:solidFill>
                      <a:srgbClr val="FFFFFF"/>
                    </a:solidFill>
                  </a:tcPr>
                </a:tc>
                <a:tc>
                  <a:txBody>
                    <a:bodyPr wrap="square"/>
                    <a:lstStyle/>
                    <a:p>
                      <a:pPr algn="l"/>
                      <a:r>
                        <a:rPr sz="1000" b="0" i="0">
                          <a:solidFill>
                            <a:srgbClr val="1A1A1A"/>
                          </a:solidFill>
                          <a:latin typeface="Calibri"/>
                        </a:rPr>
                        <a:t>High</a:t>
                      </a:r>
                    </a:p>
                  </a:txBody>
                  <a:tcPr marL="50800" marR="50800" marT="25400" marB="25400" anchor="ctr">
                    <a:solidFill>
                      <a:srgbClr val="FFFFFF"/>
                    </a:solidFill>
                  </a:tcPr>
                </a:tc>
              </a:tr>
              <a:tr h="416052">
                <a:tc>
                  <a:txBody>
                    <a:bodyPr wrap="square"/>
                    <a:lstStyle/>
                    <a:p>
                      <a:pPr algn="l"/>
                      <a:r>
                        <a:rPr sz="1000" b="0" i="0">
                          <a:solidFill>
                            <a:srgbClr val="1A1A1A"/>
                          </a:solidFill>
                          <a:latin typeface="Calibri"/>
                        </a:rPr>
                        <a:t>DQ-R-12</a:t>
                      </a:r>
                    </a:p>
                  </a:txBody>
                  <a:tcPr marL="50800" marR="50800" marT="25400" marB="25400" anchor="ctr">
                    <a:solidFill>
                      <a:srgbClr val="E9ECF1"/>
                    </a:solidFill>
                  </a:tcPr>
                </a:tc>
                <a:tc>
                  <a:txBody>
                    <a:bodyPr wrap="square"/>
                    <a:lstStyle/>
                    <a:p>
                      <a:pPr algn="l"/>
                      <a:r>
                        <a:rPr sz="1000" b="0" i="0">
                          <a:solidFill>
                            <a:srgbClr val="1A1A1A"/>
                          </a:solidFill>
                          <a:latin typeface="Calibri"/>
                        </a:rPr>
                        <a:t>Validity</a:t>
                      </a:r>
                    </a:p>
                  </a:txBody>
                  <a:tcPr marL="50800" marR="50800" marT="25400" marB="25400" anchor="ctr">
                    <a:solidFill>
                      <a:srgbClr val="E9ECF1"/>
                    </a:solidFill>
                  </a:tcPr>
                </a:tc>
                <a:tc>
                  <a:txBody>
                    <a:bodyPr wrap="square"/>
                    <a:lstStyle/>
                    <a:p>
                      <a:pPr algn="l"/>
                      <a:r>
                        <a:rPr sz="1000" b="0" i="0">
                          <a:solidFill>
                            <a:srgbClr val="1A1A1A"/>
                          </a:solidFill>
                          <a:latin typeface="Calibri"/>
                        </a:rPr>
                        <a:t>SRC_DELETE_FLAG in ('Y','N')</a:t>
                      </a:r>
                    </a:p>
                  </a:txBody>
                  <a:tcPr marL="50800" marR="50800" marT="25400" marB="25400" anchor="ctr">
                    <a:solidFill>
                      <a:srgbClr val="E9ECF1"/>
                    </a:solidFill>
                  </a:tcPr>
                </a:tc>
                <a:tc>
                  <a:txBody>
                    <a:bodyPr wrap="square"/>
                    <a:lstStyle/>
                    <a:p>
                      <a:pPr algn="l"/>
                      <a:r>
                        <a:rPr sz="1000" b="0" i="0">
                          <a:solidFill>
                            <a:srgbClr val="1A1A1A"/>
                          </a:solidFill>
                          <a:latin typeface="Calibri"/>
                        </a:rPr>
                        <a:t>100%</a:t>
                      </a:r>
                    </a:p>
                  </a:txBody>
                  <a:tcPr marL="50800" marR="50800" marT="25400" marB="25400" anchor="ctr">
                    <a:solidFill>
                      <a:srgbClr val="E9ECF1"/>
                    </a:solidFill>
                  </a:tcPr>
                </a:tc>
                <a:tc>
                  <a:txBody>
                    <a:bodyPr wrap="square"/>
                    <a:lstStyle/>
                    <a:p>
                      <a:pPr algn="l"/>
                      <a:r>
                        <a:rPr sz="1000" b="0" i="0">
                          <a:solidFill>
                            <a:srgbClr val="1A1A1A"/>
                          </a:solidFill>
                          <a:latin typeface="Calibri"/>
                        </a:rPr>
                        <a:t>85.1%*</a:t>
                      </a:r>
                    </a:p>
                  </a:txBody>
                  <a:tcPr marL="50800" marR="50800" marT="25400" marB="25400" anchor="ctr">
                    <a:solidFill>
                      <a:srgbClr val="E9ECF1"/>
                    </a:solidFill>
                  </a:tcPr>
                </a:tc>
                <a:tc>
                  <a:txBody>
                    <a:bodyPr wrap="square"/>
                    <a:lstStyle/>
                    <a:p>
                      <a:pPr algn="l"/>
                      <a:r>
                        <a:rPr sz="1000" b="0" i="0">
                          <a:solidFill>
                            <a:srgbClr val="1A1A1A"/>
                          </a:solidFill>
                          <a:latin typeface="Calibri"/>
                        </a:rPr>
                        <a:t>High (stale, see note)</a:t>
                      </a:r>
                    </a:p>
                  </a:txBody>
                  <a:tcPr marL="50800" marR="50800" marT="25400" marB="25400" anchor="ctr">
                    <a:solidFill>
                      <a:srgbClr val="E9ECF1"/>
                    </a:solidFill>
                  </a:tcPr>
                </a:tc>
              </a:tr>
              <a:tr h="416052">
                <a:tc>
                  <a:txBody>
                    <a:bodyPr wrap="square"/>
                    <a:lstStyle/>
                    <a:p>
                      <a:pPr algn="l"/>
                      <a:r>
                        <a:rPr sz="1000" b="0" i="0">
                          <a:solidFill>
                            <a:srgbClr val="1A1A1A"/>
                          </a:solidFill>
                          <a:latin typeface="Calibri"/>
                        </a:rPr>
                        <a:t>DQ-R-04</a:t>
                      </a:r>
                    </a:p>
                  </a:txBody>
                  <a:tcPr marL="50800" marR="50800" marT="25400" marB="25400" anchor="ctr">
                    <a:solidFill>
                      <a:srgbClr val="FFFFFF"/>
                    </a:solidFill>
                  </a:tcPr>
                </a:tc>
                <a:tc>
                  <a:txBody>
                    <a:bodyPr wrap="square"/>
                    <a:lstStyle/>
                    <a:p>
                      <a:pPr algn="l"/>
                      <a:r>
                        <a:rPr sz="1000" b="0" i="0">
                          <a:solidFill>
                            <a:srgbClr val="1A1A1A"/>
                          </a:solidFill>
                          <a:latin typeface="Calibri"/>
                        </a:rPr>
                        <a:t>Completeness</a:t>
                      </a:r>
                    </a:p>
                  </a:txBody>
                  <a:tcPr marL="50800" marR="50800" marT="25400" marB="25400" anchor="ctr">
                    <a:solidFill>
                      <a:srgbClr val="FFFFFF"/>
                    </a:solidFill>
                  </a:tcPr>
                </a:tc>
                <a:tc>
                  <a:txBody>
                    <a:bodyPr wrap="square"/>
                    <a:lstStyle/>
                    <a:p>
                      <a:pPr algn="l"/>
                      <a:r>
                        <a:rPr sz="1000" b="0" i="0">
                          <a:solidFill>
                            <a:srgbClr val="1A1A1A"/>
                          </a:solidFill>
                          <a:latin typeface="Calibri"/>
                        </a:rPr>
                        <a:t>Every invoiced SKU resolves to a known DIM_PRODUCT member</a:t>
                      </a:r>
                    </a:p>
                  </a:txBody>
                  <a:tcPr marL="50800" marR="50800" marT="25400" marB="25400" anchor="ctr">
                    <a:solidFill>
                      <a:srgbClr val="FFFFFF"/>
                    </a:solidFill>
                  </a:tcPr>
                </a:tc>
                <a:tc>
                  <a:txBody>
                    <a:bodyPr wrap="square"/>
                    <a:lstStyle/>
                    <a:p>
                      <a:pPr algn="l"/>
                      <a:r>
                        <a:rPr sz="1000" b="0" i="0">
                          <a:solidFill>
                            <a:srgbClr val="1A1A1A"/>
                          </a:solidFill>
                          <a:latin typeface="Calibri"/>
                        </a:rPr>
                        <a:t>99.5%</a:t>
                      </a:r>
                    </a:p>
                  </a:txBody>
                  <a:tcPr marL="50800" marR="50800" marT="25400" marB="25400" anchor="ctr">
                    <a:solidFill>
                      <a:srgbClr val="FFFFFF"/>
                    </a:solidFill>
                  </a:tcPr>
                </a:tc>
                <a:tc>
                  <a:txBody>
                    <a:bodyPr wrap="square"/>
                    <a:lstStyle/>
                    <a:p>
                      <a:pPr algn="l"/>
                      <a:r>
                        <a:rPr sz="1000" b="0" i="0">
                          <a:solidFill>
                            <a:srgbClr val="1A1A1A"/>
                          </a:solidFill>
                          <a:latin typeface="Calibri"/>
                        </a:rPr>
                        <a:t>98.0%</a:t>
                      </a:r>
                    </a:p>
                  </a:txBody>
                  <a:tcPr marL="50800" marR="50800" marT="25400" marB="25400" anchor="ctr">
                    <a:solidFill>
                      <a:srgbClr val="FFFFFF"/>
                    </a:solidFill>
                  </a:tcPr>
                </a:tc>
                <a:tc>
                  <a:txBody>
                    <a:bodyPr wrap="square"/>
                    <a:lstStyle/>
                    <a:p>
                      <a:pPr algn="l"/>
                      <a:r>
                        <a:rPr sz="1000" b="0" i="0">
                          <a:solidFill>
                            <a:srgbClr val="1A1A1A"/>
                          </a:solidFill>
                          <a:latin typeface="Calibri"/>
                        </a:rPr>
                        <a:t>Medium</a:t>
                      </a:r>
                    </a:p>
                  </a:txBody>
                  <a:tcPr marL="50800" marR="50800" marT="25400" marB="25400" anchor="ctr">
                    <a:solidFill>
                      <a:srgbClr val="FFFFFF"/>
                    </a:solidFill>
                  </a:tcPr>
                </a:tc>
              </a:tr>
              <a:tr h="416052">
                <a:tc>
                  <a:txBody>
                    <a:bodyPr wrap="square"/>
                    <a:lstStyle/>
                    <a:p>
                      <a:pPr algn="l"/>
                      <a:r>
                        <a:rPr sz="1000" b="0" i="0">
                          <a:solidFill>
                            <a:srgbClr val="1A1A1A"/>
                          </a:solidFill>
                          <a:latin typeface="Calibri"/>
                        </a:rPr>
                        <a:t>DQ-R-21</a:t>
                      </a:r>
                    </a:p>
                  </a:txBody>
                  <a:tcPr marL="50800" marR="50800" marT="25400" marB="25400" anchor="ctr">
                    <a:solidFill>
                      <a:srgbClr val="E9ECF1"/>
                    </a:solidFill>
                  </a:tcPr>
                </a:tc>
                <a:tc>
                  <a:txBody>
                    <a:bodyPr wrap="square"/>
                    <a:lstStyle/>
                    <a:p>
                      <a:pPr algn="l"/>
                      <a:r>
                        <a:rPr sz="1000" b="0" i="0">
                          <a:solidFill>
                            <a:srgbClr val="1A1A1A"/>
                          </a:solidFill>
                          <a:latin typeface="Calibri"/>
                        </a:rPr>
                        <a:t>Consistency</a:t>
                      </a:r>
                    </a:p>
                  </a:txBody>
                  <a:tcPr marL="50800" marR="50800" marT="25400" marB="25400" anchor="ctr">
                    <a:solidFill>
                      <a:srgbClr val="E9ECF1"/>
                    </a:solidFill>
                  </a:tcPr>
                </a:tc>
                <a:tc>
                  <a:txBody>
                    <a:bodyPr wrap="square"/>
                    <a:lstStyle/>
                    <a:p>
                      <a:pPr algn="l"/>
                      <a:r>
                        <a:rPr sz="1000" b="0" i="0">
                          <a:solidFill>
                            <a:srgbClr val="1A1A1A"/>
                          </a:solidFill>
                          <a:latin typeface="Calibri"/>
                        </a:rPr>
                        <a:t>DATE_KEY month equals INVOICE_DT month</a:t>
                      </a:r>
                    </a:p>
                  </a:txBody>
                  <a:tcPr marL="50800" marR="50800" marT="25400" marB="25400" anchor="ctr">
                    <a:solidFill>
                      <a:srgbClr val="E9ECF1"/>
                    </a:solidFill>
                  </a:tcPr>
                </a:tc>
                <a:tc>
                  <a:txBody>
                    <a:bodyPr wrap="square"/>
                    <a:lstStyle/>
                    <a:p>
                      <a:pPr algn="l"/>
                      <a:r>
                        <a:rPr sz="1000" b="0" i="0">
                          <a:solidFill>
                            <a:srgbClr val="1A1A1A"/>
                          </a:solidFill>
                          <a:latin typeface="Calibri"/>
                        </a:rPr>
                        <a:t>100%</a:t>
                      </a:r>
                    </a:p>
                  </a:txBody>
                  <a:tcPr marL="50800" marR="50800" marT="25400" marB="25400" anchor="ctr">
                    <a:solidFill>
                      <a:srgbClr val="E9ECF1"/>
                    </a:solidFill>
                  </a:tcPr>
                </a:tc>
                <a:tc>
                  <a:txBody>
                    <a:bodyPr wrap="square"/>
                    <a:lstStyle/>
                    <a:p>
                      <a:pPr algn="l"/>
                      <a:r>
                        <a:rPr sz="1000" b="0" i="0">
                          <a:solidFill>
                            <a:srgbClr val="1A1A1A"/>
                          </a:solidFill>
                          <a:latin typeface="Calibri"/>
                        </a:rPr>
                        <a:t>99.87%*</a:t>
                      </a:r>
                    </a:p>
                  </a:txBody>
                  <a:tcPr marL="50800" marR="50800" marT="25400" marB="25400" anchor="ctr">
                    <a:solidFill>
                      <a:srgbClr val="E9ECF1"/>
                    </a:solidFill>
                  </a:tcPr>
                </a:tc>
                <a:tc>
                  <a:txBody>
                    <a:bodyPr wrap="square"/>
                    <a:lstStyle/>
                    <a:p>
                      <a:pPr algn="l"/>
                      <a:r>
                        <a:rPr sz="1000" b="0" i="0">
                          <a:solidFill>
                            <a:srgbClr val="1A1A1A"/>
                          </a:solidFill>
                          <a:latin typeface="Calibri"/>
                        </a:rPr>
                        <a:t>Medium (closed)</a:t>
                      </a:r>
                    </a:p>
                  </a:txBody>
                  <a:tcPr marL="50800" marR="50800" marT="25400" marB="25400" anchor="ctr">
                    <a:solidFill>
                      <a:srgbClr val="E9ECF1"/>
                    </a:solidFill>
                  </a:tcPr>
                </a:tc>
              </a:tr>
              <a:tr h="416052">
                <a:tc>
                  <a:txBody>
                    <a:bodyPr wrap="square"/>
                    <a:lstStyle/>
                    <a:p>
                      <a:pPr algn="l"/>
                      <a:r>
                        <a:rPr sz="1000" b="0" i="0">
                          <a:solidFill>
                            <a:srgbClr val="1A1A1A"/>
                          </a:solidFill>
                          <a:latin typeface="Calibri"/>
                        </a:rPr>
                        <a:t>DQ-R-18</a:t>
                      </a:r>
                    </a:p>
                  </a:txBody>
                  <a:tcPr marL="50800" marR="50800" marT="25400" marB="25400" anchor="ctr">
                    <a:solidFill>
                      <a:srgbClr val="FFFFFF"/>
                    </a:solidFill>
                  </a:tcPr>
                </a:tc>
                <a:tc>
                  <a:txBody>
                    <a:bodyPr wrap="square"/>
                    <a:lstStyle/>
                    <a:p>
                      <a:pPr algn="l"/>
                      <a:r>
                        <a:rPr sz="1000" b="0" i="0">
                          <a:solidFill>
                            <a:srgbClr val="1A1A1A"/>
                          </a:solidFill>
                          <a:latin typeface="Calibri"/>
                        </a:rPr>
                        <a:t>Timeliness</a:t>
                      </a:r>
                    </a:p>
                  </a:txBody>
                  <a:tcPr marL="50800" marR="50800" marT="25400" marB="25400" anchor="ctr">
                    <a:solidFill>
                      <a:srgbClr val="FFFFFF"/>
                    </a:solidFill>
                  </a:tcPr>
                </a:tc>
                <a:tc>
                  <a:txBody>
                    <a:bodyPr wrap="square"/>
                    <a:lstStyle/>
                    <a:p>
                      <a:pPr algn="l"/>
                      <a:r>
                        <a:rPr sz="1000" b="0" i="0">
                          <a:solidFill>
                            <a:srgbClr val="1A1A1A"/>
                          </a:solidFill>
                          <a:latin typeface="Calibri"/>
                        </a:rPr>
                        <a:t>Facts available ahead of business start-of-day</a:t>
                      </a:r>
                    </a:p>
                  </a:txBody>
                  <a:tcPr marL="50800" marR="50800" marT="25400" marB="25400" anchor="ctr">
                    <a:solidFill>
                      <a:srgbClr val="FFFFFF"/>
                    </a:solidFill>
                  </a:tcPr>
                </a:tc>
                <a:tc>
                  <a:txBody>
                    <a:bodyPr wrap="square"/>
                    <a:lstStyle/>
                    <a:p>
                      <a:pPr algn="l"/>
                      <a:r>
                        <a:rPr sz="1000" b="0" i="0">
                          <a:solidFill>
                            <a:srgbClr val="1A1A1A"/>
                          </a:solidFill>
                          <a:latin typeface="Calibri"/>
                        </a:rPr>
                        <a:t>98.0%</a:t>
                      </a:r>
                    </a:p>
                  </a:txBody>
                  <a:tcPr marL="50800" marR="50800" marT="25400" marB="25400" anchor="ctr">
                    <a:solidFill>
                      <a:srgbClr val="FFFFFF"/>
                    </a:solidFill>
                  </a:tcPr>
                </a:tc>
                <a:tc>
                  <a:txBody>
                    <a:bodyPr wrap="square"/>
                    <a:lstStyle/>
                    <a:p>
                      <a:pPr algn="l"/>
                      <a:r>
                        <a:rPr sz="1000" b="0" i="0">
                          <a:solidFill>
                            <a:srgbClr val="1A1A1A"/>
                          </a:solidFill>
                          <a:latin typeface="Calibri"/>
                        </a:rPr>
                        <a:t>97.3%</a:t>
                      </a:r>
                    </a:p>
                  </a:txBody>
                  <a:tcPr marL="50800" marR="50800" marT="25400" marB="25400" anchor="ctr">
                    <a:solidFill>
                      <a:srgbClr val="FFFFFF"/>
                    </a:solidFill>
                  </a:tcPr>
                </a:tc>
                <a:tc>
                  <a:txBody>
                    <a:bodyPr wrap="square"/>
                    <a:lstStyle/>
                    <a:p>
                      <a:pPr algn="l"/>
                      <a:r>
                        <a:rPr sz="1000" b="0" i="0">
                          <a:solidFill>
                            <a:srgbClr val="1A1A1A"/>
                          </a:solidFill>
                          <a:latin typeface="Calibri"/>
                        </a:rPr>
                        <a:t>Low / marginal</a:t>
                      </a:r>
                    </a:p>
                  </a:txBody>
                  <a:tcPr marL="50800" marR="50800" marT="25400" marB="25400" anchor="ctr">
                    <a:solidFill>
                      <a:srgbClr val="FFFFFF"/>
                    </a:solidFill>
                  </a:tcPr>
                </a:tc>
              </a:tr>
            </a:tbl>
          </a:graphicData>
        </a:graphic>
      </p:graphicFrame>
      <p:sp>
        <p:nvSpPr>
          <p:cNvPr id="6" name="TextBox 5"/>
          <p:cNvSpPr txBox="1"/>
          <p:nvPr/>
        </p:nvSpPr>
        <p:spPr>
          <a:xfrm>
            <a:off x="320040" y="5166360"/>
            <a:ext cx="11521440" cy="502920"/>
          </a:xfrm>
          <a:prstGeom prst="rect">
            <a:avLst/>
          </a:prstGeom>
          <a:noFill/>
        </p:spPr>
        <p:txBody>
          <a:bodyPr wrap="square">
            <a:spAutoFit/>
          </a:bodyPr>
          <a:lstStyle/>
          <a:p>
            <a:pPr>
              <a:defRPr sz="1000" i="1">
                <a:solidFill>
                  <a:srgbClr val="666666"/>
                </a:solidFill>
                <a:latin typeface="Calibri"/>
              </a:defRPr>
            </a:pPr>
            <a:r>
              <a:t>* Measured 31-May-2026, before the 03-Jun-2026 fix, not yet re-profiled.  9th failing rule (completeness) sits below materiality and is not shown, full detail in the profiling workbook.</a:t>
            </a:r>
          </a:p>
        </p:txBody>
      </p:sp>
      <p:sp>
        <p:nvSpPr>
          <p:cNvPr id="7" name="TextBox 6"/>
          <p:cNvSpPr txBox="1"/>
          <p:nvPr/>
        </p:nvSpPr>
        <p:spPr>
          <a:xfrm>
            <a:off x="320040" y="5715000"/>
            <a:ext cx="8229600" cy="640080"/>
          </a:xfrm>
          <a:prstGeom prst="rect">
            <a:avLst/>
          </a:prstGeom>
          <a:noFill/>
        </p:spPr>
        <p:txBody>
          <a:bodyPr wrap="square">
            <a:spAutoFit/>
          </a:bodyPr>
          <a:lstStyle/>
          <a:p>
            <a:pPr>
              <a:defRPr i="1" sz="1200">
                <a:solidFill>
                  <a:srgbClr val="3E4C66"/>
                </a:solidFill>
                <a:latin typeface="Calibri"/>
              </a:defRPr>
            </a:pPr>
            <a:r>
              <a:t>“Against which rule?” If there is no rule, it is not a data quality finding, it belongs with reconciliation, not with DQ.</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DUPLICATE CUSTOMERS</a:t>
            </a:r>
          </a:p>
        </p:txBody>
      </p:sp>
      <p:sp>
        <p:nvSpPr>
          <p:cNvPr id="3" name="TextBox 2"/>
          <p:cNvSpPr txBox="1"/>
          <p:nvPr/>
        </p:nvSpPr>
        <p:spPr>
          <a:xfrm>
            <a:off x="457200" y="292608"/>
            <a:ext cx="11247120" cy="640080"/>
          </a:xfrm>
          <a:prstGeom prst="rect">
            <a:avLst/>
          </a:prstGeom>
          <a:noFill/>
        </p:spPr>
        <p:txBody>
          <a:bodyPr wrap="square">
            <a:spAutoFit/>
          </a:bodyPr>
          <a:lstStyle/>
          <a:p>
            <a:pPr>
              <a:defRPr sz="2200" b="1">
                <a:solidFill>
                  <a:srgbClr val="1B2A4A"/>
                </a:solidFill>
                <a:latin typeface="Calibri"/>
              </a:defRPr>
            </a:pPr>
            <a:r>
              <a:t>Duplicate customers: DIM_CUSTOMER effective dating (VAR-004)</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43000"/>
            <a:ext cx="10972800" cy="1828800"/>
          </a:xfrm>
          <a:prstGeom prst="rect">
            <a:avLst/>
          </a:prstGeom>
          <a:noFill/>
        </p:spPr>
        <p:txBody>
          <a:bodyPr wrap="square">
            <a:spAutoFit/>
          </a:bodyPr>
          <a:lstStyle/>
          <a:p>
            <a:pPr>
              <a:lnSpc>
                <a:spcPct val="112000"/>
              </a:lnSpc>
              <a:spcAft>
                <a:spcPts val="600"/>
              </a:spcAft>
              <a:defRPr sz="1500">
                <a:solidFill>
                  <a:srgbClr val="1A1A1A"/>
                </a:solidFill>
                <a:latin typeface="Calibri"/>
              </a:defRPr>
            </a:pPr>
            <a:r>
              <a:t>• On a distributor territory reassignment, the closing dimension row's end date is set to the same timestamp as the new row's start date, and the current-row flag is left 'Y' on both rows</a:t>
            </a:r>
          </a:p>
          <a:p>
            <a:pPr>
              <a:lnSpc>
                <a:spcPct val="112000"/>
              </a:lnSpc>
              <a:spcAft>
                <a:spcPts val="600"/>
              </a:spcAft>
              <a:defRPr sz="1500">
                <a:solidFill>
                  <a:srgbClr val="1A1A1A"/>
                </a:solidFill>
                <a:latin typeface="Calibri"/>
              </a:defRPr>
            </a:pPr>
            <a:r>
              <a:t>• Result: a fact row joins to two dimension rows, for that distributor only. This is not a general duplication across the customer base</a:t>
            </a:r>
          </a:p>
          <a:p>
            <a:pPr>
              <a:lnSpc>
                <a:spcPct val="112000"/>
              </a:lnSpc>
              <a:spcAft>
                <a:spcPts val="600"/>
              </a:spcAft>
              <a:defRPr sz="1500">
                <a:solidFill>
                  <a:srgbClr val="1A1A1A"/>
                </a:solidFill>
                <a:latin typeface="Calibri"/>
              </a:defRPr>
            </a:pPr>
            <a:r>
              <a:t>• No unique constraint catches it. Nothing errors, the load just quietly doubles the amount for that one party</a:t>
            </a:r>
          </a:p>
        </p:txBody>
      </p:sp>
      <p:graphicFrame>
        <p:nvGraphicFramePr>
          <p:cNvPr id="6" name="Table 5"/>
          <p:cNvGraphicFramePr>
            <a:graphicFrameLocks noGrp="1"/>
          </p:cNvGraphicFramePr>
          <p:nvPr/>
        </p:nvGraphicFramePr>
        <p:xfrm>
          <a:off x="548640" y="3063240"/>
          <a:ext cx="5212079" cy="1737360"/>
        </p:xfrm>
        <a:graphic>
          <a:graphicData uri="http://schemas.openxmlformats.org/drawingml/2006/table">
            <a:tbl>
              <a:tblPr firstRow="1" bandRow="1">
                <a:tableStyleId>{5C22544A-7EE6-4342-B048-85BDC9FD1C3A}</a:tableStyleId>
              </a:tblPr>
              <a:tblGrid>
                <a:gridCol w="4009292"/>
                <a:gridCol w="1202787"/>
              </a:tblGrid>
              <a:tr h="434340">
                <a:tc>
                  <a:txBody>
                    <a:bodyPr wrap="square"/>
                    <a:lstStyle/>
                    <a:p>
                      <a:pPr algn="l"/>
                      <a:r>
                        <a:rPr sz="1100" b="1" i="0">
                          <a:solidFill>
                            <a:srgbClr val="FFFFFF"/>
                          </a:solidFill>
                          <a:latin typeface="Calibri"/>
                        </a:rPr>
                        <a:t>Population</a:t>
                      </a:r>
                    </a:p>
                  </a:txBody>
                  <a:tcPr marL="50800" marR="50800" marT="25400" marB="25400" anchor="ctr">
                    <a:solidFill>
                      <a:srgbClr val="1B2A4A"/>
                    </a:solidFill>
                  </a:tcPr>
                </a:tc>
                <a:tc>
                  <a:txBody>
                    <a:bodyPr wrap="square"/>
                    <a:lstStyle/>
                    <a:p>
                      <a:pPr algn="l"/>
                      <a:r>
                        <a:rPr sz="1100" b="1" i="0">
                          <a:solidFill>
                            <a:srgbClr val="FFFFFF"/>
                          </a:solidFill>
                          <a:latin typeface="Calibri"/>
                        </a:rPr>
                        <a:t>Count</a:t>
                      </a:r>
                    </a:p>
                  </a:txBody>
                  <a:tcPr marL="50800" marR="50800" marT="25400" marB="25400" anchor="ctr">
                    <a:solidFill>
                      <a:srgbClr val="1B2A4A"/>
                    </a:solidFill>
                  </a:tcPr>
                </a:tc>
              </a:tr>
              <a:tr h="434340">
                <a:tc>
                  <a:txBody>
                    <a:bodyPr wrap="square"/>
                    <a:lstStyle/>
                    <a:p>
                      <a:pPr algn="l"/>
                      <a:r>
                        <a:rPr sz="1200" b="0" i="0">
                          <a:solidFill>
                            <a:srgbClr val="1A1A1A"/>
                          </a:solidFill>
                          <a:latin typeface="Calibri"/>
                        </a:rPr>
                        <a:t>Customers with overlapping effective dates</a:t>
                      </a:r>
                    </a:p>
                  </a:txBody>
                  <a:tcPr marL="50800" marR="50800" marT="25400" marB="25400" anchor="ctr">
                    <a:solidFill>
                      <a:srgbClr val="FFFFFF"/>
                    </a:solidFill>
                  </a:tcPr>
                </a:tc>
                <a:tc>
                  <a:txBody>
                    <a:bodyPr wrap="square"/>
                    <a:lstStyle/>
                    <a:p>
                      <a:pPr algn="l"/>
                      <a:r>
                        <a:rPr sz="1200" b="0" i="0">
                          <a:solidFill>
                            <a:srgbClr val="1A1A1A"/>
                          </a:solidFill>
                          <a:latin typeface="Calibri"/>
                        </a:rPr>
                        <a:t>61</a:t>
                      </a:r>
                    </a:p>
                  </a:txBody>
                  <a:tcPr marL="50800" marR="50800" marT="25400" marB="25400" anchor="ctr">
                    <a:solidFill>
                      <a:srgbClr val="FFFFFF"/>
                    </a:solidFill>
                  </a:tcPr>
                </a:tc>
              </a:tr>
              <a:tr h="434340">
                <a:tc>
                  <a:txBody>
                    <a:bodyPr wrap="square"/>
                    <a:lstStyle/>
                    <a:p>
                      <a:pPr algn="l"/>
                      <a:r>
                        <a:rPr sz="1200" b="0" i="0">
                          <a:solidFill>
                            <a:srgbClr val="1A1A1A"/>
                          </a:solidFill>
                          <a:latin typeface="Calibri"/>
                        </a:rPr>
                        <a:t>...of which carrying two CURRENT_FLG='Y' rows today</a:t>
                      </a:r>
                    </a:p>
                  </a:txBody>
                  <a:tcPr marL="50800" marR="50800" marT="25400" marB="25400" anchor="ctr">
                    <a:solidFill>
                      <a:srgbClr val="E9ECF1"/>
                    </a:solidFill>
                  </a:tcPr>
                </a:tc>
                <a:tc>
                  <a:txBody>
                    <a:bodyPr wrap="square"/>
                    <a:lstStyle/>
                    <a:p>
                      <a:pPr algn="l"/>
                      <a:r>
                        <a:rPr sz="1200" b="0" i="0">
                          <a:solidFill>
                            <a:srgbClr val="1A1A1A"/>
                          </a:solidFill>
                          <a:latin typeface="Calibri"/>
                        </a:rPr>
                        <a:t>18</a:t>
                      </a:r>
                    </a:p>
                  </a:txBody>
                  <a:tcPr marL="50800" marR="50800" marT="25400" marB="25400" anchor="ctr">
                    <a:solidFill>
                      <a:srgbClr val="E9ECF1"/>
                    </a:solidFill>
                  </a:tcPr>
                </a:tc>
              </a:tr>
              <a:tr h="434340">
                <a:tc>
                  <a:txBody>
                    <a:bodyPr wrap="square"/>
                    <a:lstStyle/>
                    <a:p>
                      <a:pPr algn="l"/>
                      <a:r>
                        <a:rPr sz="1200" b="0" i="0">
                          <a:solidFill>
                            <a:srgbClr val="1A1A1A"/>
                          </a:solidFill>
                          <a:latin typeface="Calibri"/>
                        </a:rPr>
                        <a:t>Total DIM_CUSTOMER rows</a:t>
                      </a:r>
                    </a:p>
                  </a:txBody>
                  <a:tcPr marL="50800" marR="50800" marT="25400" marB="25400" anchor="ctr">
                    <a:solidFill>
                      <a:srgbClr val="FFFFFF"/>
                    </a:solidFill>
                  </a:tcPr>
                </a:tc>
                <a:tc>
                  <a:txBody>
                    <a:bodyPr wrap="square"/>
                    <a:lstStyle/>
                    <a:p>
                      <a:pPr algn="l"/>
                      <a:r>
                        <a:rPr sz="1200" b="0" i="0">
                          <a:solidFill>
                            <a:srgbClr val="1A1A1A"/>
                          </a:solidFill>
                          <a:latin typeface="Calibri"/>
                        </a:rPr>
                        <a:t>2,140</a:t>
                      </a:r>
                    </a:p>
                  </a:txBody>
                  <a:tcPr marL="50800" marR="50800" marT="25400" marB="25400" anchor="ctr">
                    <a:solidFill>
                      <a:srgbClr val="FFFFFF"/>
                    </a:solidFill>
                  </a:tcPr>
                </a:tc>
              </a:tr>
            </a:tbl>
          </a:graphicData>
        </a:graphic>
      </p:graphicFrame>
      <p:sp>
        <p:nvSpPr>
          <p:cNvPr id="7" name="TextBox 6"/>
          <p:cNvSpPr txBox="1"/>
          <p:nvPr/>
        </p:nvSpPr>
        <p:spPr>
          <a:xfrm>
            <a:off x="6035040" y="3063240"/>
            <a:ext cx="5577840" cy="2651760"/>
          </a:xfrm>
          <a:prstGeom prst="rect">
            <a:avLst/>
          </a:prstGeom>
          <a:noFill/>
        </p:spPr>
        <p:txBody>
          <a:bodyPr wrap="square">
            <a:spAutoFit/>
          </a:bodyPr>
          <a:lstStyle/>
          <a:p>
            <a:pPr>
              <a:defRPr b="1" sz="1400">
                <a:solidFill>
                  <a:srgbClr val="1B2A4A"/>
                </a:solidFill>
                <a:latin typeface="Calibri"/>
              </a:defRPr>
            </a:pPr>
            <a:r>
              <a:t>Worked example</a:t>
            </a:r>
          </a:p>
          <a:p>
            <a:pPr>
              <a:spcBef>
                <a:spcPts val="600"/>
              </a:spcBef>
              <a:defRPr sz="1300">
                <a:latin typeface="Calibri"/>
              </a:defRPr>
            </a:pPr>
            <a:r>
              <a:t>DIST-W-0241, Mahalaxmi Distributors</a:t>
            </a:r>
          </a:p>
          <a:p>
            <a:pPr>
              <a:defRPr sz="1200">
                <a:solidFill>
                  <a:srgbClr val="666666"/>
                </a:solidFill>
                <a:latin typeface="Calibri"/>
              </a:defRPr>
            </a:pPr>
            <a:r>
              <a:t>Reassigned 17-Apr-2026, TER-W-014 to TER-W-011. Both rows carry CURRENT_FLG='Y' today.</a:t>
            </a:r>
          </a:p>
          <a:p>
            <a:pPr>
              <a:spcBef>
                <a:spcPts val="1000"/>
              </a:spcBef>
              <a:defRPr sz="1300" b="1">
                <a:latin typeface="Calibri"/>
              </a:defRPr>
            </a:pPr>
            <a:r>
              <a:t>FY26 impact: INR 65 L (64,80,500)</a:t>
            </a:r>
          </a:p>
          <a:p>
            <a:pPr>
              <a:defRPr sz="1300">
                <a:latin typeface="Calibri"/>
              </a:defRPr>
            </a:pPr>
            <a:r>
              <a:t>Owner: Farida Contractor   |   Status: Open</a:t>
            </a:r>
          </a:p>
          <a:p>
            <a:pPr>
              <a:defRPr sz="1300">
                <a:solidFill>
                  <a:srgbClr val="666666"/>
                </a:solidFill>
                <a:latin typeface="Calibri"/>
              </a:defRPr>
            </a:pPr>
            <a:r>
              <a:t>Target: effective-dating fix, 03-Jul-2026</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REFERENCE DATA GAPS</a:t>
            </a:r>
          </a:p>
        </p:txBody>
      </p:sp>
      <p:sp>
        <p:nvSpPr>
          <p:cNvPr id="3" name="TextBox 2"/>
          <p:cNvSpPr txBox="1"/>
          <p:nvPr/>
        </p:nvSpPr>
        <p:spPr>
          <a:xfrm>
            <a:off x="457200" y="292608"/>
            <a:ext cx="11247120" cy="640080"/>
          </a:xfrm>
          <a:prstGeom prst="rect">
            <a:avLst/>
          </a:prstGeom>
          <a:noFill/>
        </p:spPr>
        <p:txBody>
          <a:bodyPr wrap="square">
            <a:spAutoFit/>
          </a:bodyPr>
          <a:lstStyle/>
          <a:p>
            <a:pPr>
              <a:defRPr sz="2400" b="1">
                <a:solidFill>
                  <a:srgbClr val="1B2A4A"/>
                </a:solidFill>
                <a:latin typeface="Calibri"/>
              </a:defRPr>
            </a:pPr>
            <a:r>
              <a:t>Reference data gaps: GSTIN, orphan rows, UOM</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005840"/>
          <a:ext cx="11429998" cy="4206240"/>
        </p:xfrm>
        <a:graphic>
          <a:graphicData uri="http://schemas.openxmlformats.org/drawingml/2006/table">
            <a:tbl>
              <a:tblPr firstRow="1" bandRow="1">
                <a:tableStyleId>{5C22544A-7EE6-4342-B048-85BDC9FD1C3A}</a:tableStyleId>
              </a:tblPr>
              <a:tblGrid>
                <a:gridCol w="2701636"/>
                <a:gridCol w="1974272"/>
                <a:gridCol w="6754090"/>
              </a:tblGrid>
              <a:tr h="701040">
                <a:tc>
                  <a:txBody>
                    <a:bodyPr wrap="square"/>
                    <a:lstStyle/>
                    <a:p>
                      <a:pPr algn="l"/>
                      <a:r>
                        <a:rPr sz="1100" b="1" i="0">
                          <a:solidFill>
                            <a:srgbClr val="FFFFFF"/>
                          </a:solidFill>
                          <a:latin typeface="Calibri"/>
                        </a:rPr>
                        <a:t>Area</a:t>
                      </a:r>
                    </a:p>
                  </a:txBody>
                  <a:tcPr marL="50800" marR="50800" marT="25400" marB="25400" anchor="ctr">
                    <a:solidFill>
                      <a:srgbClr val="1B2A4A"/>
                    </a:solidFill>
                  </a:tcPr>
                </a:tc>
                <a:tc>
                  <a:txBody>
                    <a:bodyPr wrap="square"/>
                    <a:lstStyle/>
                    <a:p>
                      <a:pPr algn="l"/>
                      <a:r>
                        <a:rPr sz="1100" b="1" i="0">
                          <a:solidFill>
                            <a:srgbClr val="FFFFFF"/>
                          </a:solidFill>
                          <a:latin typeface="Calibri"/>
                        </a:rPr>
                        <a:t>Status</a:t>
                      </a:r>
                    </a:p>
                  </a:txBody>
                  <a:tcPr marL="50800" marR="50800" marT="25400" marB="25400" anchor="ctr">
                    <a:solidFill>
                      <a:srgbClr val="1B2A4A"/>
                    </a:solidFill>
                  </a:tcPr>
                </a:tc>
                <a:tc>
                  <a:txBody>
                    <a:bodyPr wrap="square"/>
                    <a:lstStyle/>
                    <a:p>
                      <a:pPr algn="l"/>
                      <a:r>
                        <a:rPr sz="1100" b="1" i="0">
                          <a:solidFill>
                            <a:srgbClr val="FFFFFF"/>
                          </a:solidFill>
                          <a:latin typeface="Calibri"/>
                        </a:rPr>
                        <a:t>Note</a:t>
                      </a:r>
                    </a:p>
                  </a:txBody>
                  <a:tcPr marL="50800" marR="50800" marT="25400" marB="25400" anchor="ctr">
                    <a:solidFill>
                      <a:srgbClr val="1B2A4A"/>
                    </a:solidFill>
                  </a:tcPr>
                </a:tc>
              </a:tr>
              <a:tr h="701040">
                <a:tc>
                  <a:txBody>
                    <a:bodyPr wrap="square"/>
                    <a:lstStyle/>
                    <a:p>
                      <a:pPr algn="l"/>
                      <a:r>
                        <a:rPr sz="1100" b="0" i="0">
                          <a:solidFill>
                            <a:srgbClr val="1A1A1A"/>
                          </a:solidFill>
                          <a:latin typeface="Calibri"/>
                        </a:rPr>
                        <a:t>Customer GSTIN format check</a:t>
                      </a:r>
                    </a:p>
                  </a:txBody>
                  <a:tcPr marL="50800" marR="50800" marT="25400" marB="25400" anchor="ctr">
                    <a:solidFill>
                      <a:srgbClr val="FFFFFF"/>
                    </a:solidFill>
                  </a:tcPr>
                </a:tc>
                <a:tc>
                  <a:txBody>
                    <a:bodyPr wrap="square"/>
                    <a:lstStyle/>
                    <a:p>
                      <a:pPr algn="l"/>
                      <a:r>
                        <a:rPr sz="1100" b="0" i="0">
                          <a:solidFill>
                            <a:srgbClr val="1A1A1A"/>
                          </a:solidFill>
                          <a:latin typeface="Calibri"/>
                        </a:rPr>
                        <a:t>Not in the 24 rules</a:t>
                      </a:r>
                    </a:p>
                  </a:txBody>
                  <a:tcPr marL="50800" marR="50800" marT="25400" marB="25400" anchor="ctr">
                    <a:solidFill>
                      <a:srgbClr val="FFFFFF"/>
                    </a:solidFill>
                  </a:tcPr>
                </a:tc>
                <a:tc>
                  <a:txBody>
                    <a:bodyPr wrap="square"/>
                    <a:lstStyle/>
                    <a:p>
                      <a:pPr algn="l"/>
                      <a:r>
                        <a:rPr sz="1100" b="0" i="0">
                          <a:solidFill>
                            <a:srgbClr val="1A1A1A"/>
                          </a:solidFill>
                          <a:latin typeface="Calibri"/>
                        </a:rPr>
                        <a:t>Not profiled in the 31-May run either. No failure count exists. Proposed for the next rule set. TBC.</a:t>
                      </a:r>
                    </a:p>
                  </a:txBody>
                  <a:tcPr marL="50800" marR="50800" marT="25400" marB="25400" anchor="ctr">
                    <a:solidFill>
                      <a:srgbClr val="FFFFFF"/>
                    </a:solidFill>
                  </a:tcPr>
                </a:tc>
              </a:tr>
              <a:tr h="701040">
                <a:tc>
                  <a:txBody>
                    <a:bodyPr wrap="square"/>
                    <a:lstStyle/>
                    <a:p>
                      <a:pPr algn="l"/>
                      <a:r>
                        <a:rPr sz="1100" b="0" i="0">
                          <a:solidFill>
                            <a:srgbClr val="1A1A1A"/>
                          </a:solidFill>
                          <a:latin typeface="Calibri"/>
                        </a:rPr>
                        <a:t>Order line to order header resolution</a:t>
                      </a:r>
                    </a:p>
                  </a:txBody>
                  <a:tcPr marL="50800" marR="50800" marT="25400" marB="25400" anchor="ctr">
                    <a:solidFill>
                      <a:srgbClr val="E9ECF1"/>
                    </a:solidFill>
                  </a:tcPr>
                </a:tc>
                <a:tc>
                  <a:txBody>
                    <a:bodyPr wrap="square"/>
                    <a:lstStyle/>
                    <a:p>
                      <a:pPr algn="l"/>
                      <a:r>
                        <a:rPr sz="1100" b="0" i="0">
                          <a:solidFill>
                            <a:srgbClr val="1A1A1A"/>
                          </a:solidFill>
                          <a:latin typeface="Calibri"/>
                        </a:rPr>
                        <a:t>Under investigation</a:t>
                      </a:r>
                    </a:p>
                  </a:txBody>
                  <a:tcPr marL="50800" marR="50800" marT="25400" marB="25400" anchor="ctr">
                    <a:solidFill>
                      <a:srgbClr val="E9ECF1"/>
                    </a:solidFill>
                  </a:tcPr>
                </a:tc>
                <a:tc>
                  <a:txBody>
                    <a:bodyPr wrap="square"/>
                    <a:lstStyle/>
                    <a:p>
                      <a:pPr algn="l"/>
                      <a:r>
                        <a:rPr sz="1100" b="0" i="0">
                          <a:solidFill>
                            <a:srgbClr val="1A1A1A"/>
                          </a:solidFill>
                          <a:latin typeface="Calibri"/>
                        </a:rPr>
                        <a:t>Sample-based check in progress. Count not yet confirmed, will not be quoted until Meghna signs it off.</a:t>
                      </a:r>
                    </a:p>
                  </a:txBody>
                  <a:tcPr marL="50800" marR="50800" marT="25400" marB="25400" anchor="ctr">
                    <a:solidFill>
                      <a:srgbClr val="E9ECF1"/>
                    </a:solidFill>
                  </a:tcPr>
                </a:tc>
              </a:tr>
              <a:tr h="701040">
                <a:tc>
                  <a:txBody>
                    <a:bodyPr wrap="square"/>
                    <a:lstStyle/>
                    <a:p>
                      <a:pPr algn="l"/>
                      <a:r>
                        <a:rPr sz="1100" b="0" i="0">
                          <a:solidFill>
                            <a:srgbClr val="1A1A1A"/>
                          </a:solidFill>
                          <a:latin typeface="Calibri"/>
                        </a:rPr>
                        <a:t>SKU to product master resolution</a:t>
                      </a:r>
                    </a:p>
                  </a:txBody>
                  <a:tcPr marL="50800" marR="50800" marT="25400" marB="25400" anchor="ctr">
                    <a:solidFill>
                      <a:srgbClr val="FFFFFF"/>
                    </a:solidFill>
                  </a:tcPr>
                </a:tc>
                <a:tc>
                  <a:txBody>
                    <a:bodyPr wrap="square"/>
                    <a:lstStyle/>
                    <a:p>
                      <a:pPr algn="l"/>
                      <a:r>
                        <a:rPr sz="1100" b="0" i="0">
                          <a:solidFill>
                            <a:srgbClr val="1A1A1A"/>
                          </a:solidFill>
                          <a:latin typeface="Calibri"/>
                        </a:rPr>
                        <a:t>Quantified, see VAR-007</a:t>
                      </a:r>
                    </a:p>
                  </a:txBody>
                  <a:tcPr marL="50800" marR="50800" marT="25400" marB="25400" anchor="ctr">
                    <a:solidFill>
                      <a:srgbClr val="FFFFFF"/>
                    </a:solidFill>
                  </a:tcPr>
                </a:tc>
                <a:tc>
                  <a:txBody>
                    <a:bodyPr wrap="square"/>
                    <a:lstStyle/>
                    <a:p>
                      <a:pPr algn="l"/>
                      <a:r>
                        <a:rPr sz="1100" b="0" i="0">
                          <a:solidFill>
                            <a:srgbClr val="1A1A1A"/>
                          </a:solidFill>
                          <a:latin typeface="Calibri"/>
                        </a:rPr>
                        <a:t>2.0% of invoiced volume routes to the UNKNOWN member. Detail on the next slide.</a:t>
                      </a:r>
                    </a:p>
                  </a:txBody>
                  <a:tcPr marL="50800" marR="50800" marT="25400" marB="25400" anchor="ctr">
                    <a:solidFill>
                      <a:srgbClr val="FFFFFF"/>
                    </a:solidFill>
                  </a:tcPr>
                </a:tc>
              </a:tr>
              <a:tr h="701040">
                <a:tc>
                  <a:txBody>
                    <a:bodyPr wrap="square"/>
                    <a:lstStyle/>
                    <a:p>
                      <a:pPr algn="l"/>
                      <a:r>
                        <a:rPr sz="1100" b="0" i="0">
                          <a:solidFill>
                            <a:srgbClr val="1A1A1A"/>
                          </a:solidFill>
                          <a:latin typeface="Calibri"/>
                        </a:rPr>
                        <a:t>Order quantity UOM (EA / CS / KG / LT)</a:t>
                      </a:r>
                    </a:p>
                  </a:txBody>
                  <a:tcPr marL="50800" marR="50800" marT="25400" marB="25400" anchor="ctr">
                    <a:solidFill>
                      <a:srgbClr val="E9ECF1"/>
                    </a:solidFill>
                  </a:tcPr>
                </a:tc>
                <a:tc>
                  <a:txBody>
                    <a:bodyPr wrap="square"/>
                    <a:lstStyle/>
                    <a:p>
                      <a:pPr algn="l"/>
                      <a:r>
                        <a:rPr sz="1100" b="0" i="0">
                          <a:solidFill>
                            <a:srgbClr val="1A1A1A"/>
                          </a:solidFill>
                          <a:latin typeface="Calibri"/>
                        </a:rPr>
                        <a:t>Low priority, parked</a:t>
                      </a:r>
                    </a:p>
                  </a:txBody>
                  <a:tcPr marL="50800" marR="50800" marT="25400" marB="25400" anchor="ctr">
                    <a:solidFill>
                      <a:srgbClr val="E9ECF1"/>
                    </a:solidFill>
                  </a:tcPr>
                </a:tc>
                <a:tc>
                  <a:txBody>
                    <a:bodyPr wrap="square"/>
                    <a:lstStyle/>
                    <a:p>
                      <a:pPr algn="l"/>
                      <a:r>
                        <a:rPr sz="1100" b="0" i="0">
                          <a:solidFill>
                            <a:srgbClr val="1A1A1A"/>
                          </a:solidFill>
                          <a:latin typeface="Calibri"/>
                        </a:rPr>
                        <a:t>Quantities held in the ordering UOM, not normalised to a base UOM. Conversion happens downstream and is not deterministic where the product lookup itself carries duplicate rows.</a:t>
                      </a:r>
                    </a:p>
                  </a:txBody>
                  <a:tcPr marL="50800" marR="50800" marT="25400" marB="25400" anchor="ctr">
                    <a:solidFill>
                      <a:srgbClr val="E9ECF1"/>
                    </a:solidFill>
                  </a:tcPr>
                </a:tc>
              </a:tr>
              <a:tr h="701040">
                <a:tc>
                  <a:txBody>
                    <a:bodyPr wrap="square"/>
                    <a:lstStyle/>
                    <a:p>
                      <a:pPr algn="l"/>
                      <a:r>
                        <a:rPr sz="1100" b="0" i="0">
                          <a:solidFill>
                            <a:srgbClr val="1A1A1A"/>
                          </a:solidFill>
                          <a:latin typeface="Calibri"/>
                        </a:rPr>
                        <a:t>SKU master category (CATEGORY_CD)</a:t>
                      </a:r>
                    </a:p>
                  </a:txBody>
                  <a:tcPr marL="50800" marR="50800" marT="25400" marB="25400" anchor="ctr">
                    <a:solidFill>
                      <a:srgbClr val="FFFFFF"/>
                    </a:solidFill>
                  </a:tcPr>
                </a:tc>
                <a:tc>
                  <a:txBody>
                    <a:bodyPr wrap="square"/>
                    <a:lstStyle/>
                    <a:p>
                      <a:pPr algn="l"/>
                      <a:r>
                        <a:rPr sz="1100" b="0" i="0">
                          <a:solidFill>
                            <a:srgbClr val="1A1A1A"/>
                          </a:solidFill>
                          <a:latin typeface="Calibri"/>
                        </a:rPr>
                        <a:t>Master data gap</a:t>
                      </a:r>
                    </a:p>
                  </a:txBody>
                  <a:tcPr marL="50800" marR="50800" marT="25400" marB="25400" anchor="ctr">
                    <a:solidFill>
                      <a:srgbClr val="FFFFFF"/>
                    </a:solidFill>
                  </a:tcPr>
                </a:tc>
                <a:tc>
                  <a:txBody>
                    <a:bodyPr wrap="square"/>
                    <a:lstStyle/>
                    <a:p>
                      <a:pPr algn="l"/>
                      <a:r>
                        <a:rPr sz="1100" b="0" i="0">
                          <a:solidFill>
                            <a:srgbClr val="1A1A1A"/>
                          </a:solidFill>
                          <a:latin typeface="Calibri"/>
                        </a:rPr>
                        <a:t>37 of 1,246 SKUs carry no category code. No NOT NULL constraint exists on the column.</a:t>
                      </a:r>
                    </a:p>
                  </a:txBody>
                  <a:tcPr marL="50800" marR="50800" marT="25400" marB="25400" anchor="ctr">
                    <a:solidFill>
                      <a:srgbClr val="FFFFFF"/>
                    </a:solidFill>
                  </a:tcPr>
                </a:tc>
              </a:tr>
            </a:tbl>
          </a:graphicData>
        </a:graphic>
      </p:graphicFrame>
      <p:sp>
        <p:nvSpPr>
          <p:cNvPr id="6" name="TextBox 5"/>
          <p:cNvSpPr txBox="1"/>
          <p:nvPr/>
        </p:nvSpPr>
        <p:spPr>
          <a:xfrm>
            <a:off x="365760" y="5349240"/>
            <a:ext cx="11430000" cy="457200"/>
          </a:xfrm>
          <a:prstGeom prst="rect">
            <a:avLst/>
          </a:prstGeom>
          <a:noFill/>
        </p:spPr>
        <p:txBody>
          <a:bodyPr wrap="none">
            <a:spAutoFit/>
          </a:bodyPr>
          <a:lstStyle/>
          <a:p>
            <a:pPr>
              <a:defRPr sz="1100" i="1">
                <a:solidFill>
                  <a:srgbClr val="666666"/>
                </a:solidFill>
                <a:latin typeface="Calibri"/>
              </a:defRPr>
            </a:pPr>
            <a:r>
              <a:t>TBC = to be confirmed. &lt;check with Meghna before the workbook goes out&gt;</a:t>
            </a:r>
          </a:p>
        </p:txBody>
      </p:sp>
      <p:sp>
        <p:nvSpPr>
          <p:cNvPr id="7" name="TextBox 6"/>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8" name="TextBox 7"/>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31720"/>
            <a:ext cx="1828800" cy="1097280"/>
          </a:xfrm>
          <a:prstGeom prst="rect">
            <a:avLst/>
          </a:prstGeom>
          <a:noFill/>
        </p:spPr>
        <p:txBody>
          <a:bodyPr wrap="none">
            <a:spAutoFit/>
          </a:bodyPr>
          <a:lstStyle/>
          <a:p>
            <a:pPr>
              <a:defRPr sz="5400" b="1">
                <a:solidFill>
                  <a:srgbClr val="B03A2E"/>
                </a:solidFill>
                <a:latin typeface="Calibri"/>
              </a:defRPr>
            </a:pPr>
            <a:r>
              <a:t>03</a:t>
            </a:r>
          </a:p>
        </p:txBody>
      </p:sp>
      <p:sp>
        <p:nvSpPr>
          <p:cNvPr id="4" name="TextBox 3"/>
          <p:cNvSpPr txBox="1"/>
          <p:nvPr/>
        </p:nvSpPr>
        <p:spPr>
          <a:xfrm>
            <a:off x="868680" y="3246120"/>
            <a:ext cx="10058400" cy="1188720"/>
          </a:xfrm>
          <a:prstGeom prst="rect">
            <a:avLst/>
          </a:prstGeom>
          <a:noFill/>
        </p:spPr>
        <p:txBody>
          <a:bodyPr wrap="square">
            <a:spAutoFit/>
          </a:bodyPr>
          <a:lstStyle/>
          <a:p>
            <a:pPr>
              <a:defRPr sz="3600" b="1">
                <a:solidFill>
                  <a:srgbClr val="FFFFFF"/>
                </a:solidFill>
                <a:latin typeface="Calibri"/>
              </a:defRPr>
            </a:pPr>
            <a:r>
              <a:t>VAR-006 and VAR-007</a:t>
            </a:r>
          </a:p>
          <a:p>
            <a:pPr>
              <a:spcBef>
                <a:spcPts val="1000"/>
              </a:spcBef>
              <a:defRPr sz="1600">
                <a:solidFill>
                  <a:srgbClr val="C9D2E0"/>
                </a:solidFill>
                <a:latin typeface="Calibri"/>
              </a:defRPr>
            </a:pPr>
            <a:r>
              <a:t>New findings from this assessment cycle</a:t>
            </a:r>
          </a:p>
        </p:txBody>
      </p:sp>
      <p:sp>
        <p:nvSpPr>
          <p:cNvPr id="5" name="TextBox 4"/>
          <p:cNvSpPr txBox="1"/>
          <p:nvPr/>
        </p:nvSpPr>
        <p:spPr>
          <a:xfrm>
            <a:off x="365760" y="6528816"/>
            <a:ext cx="8778240" cy="274320"/>
          </a:xfrm>
          <a:prstGeom prst="rect">
            <a:avLst/>
          </a:prstGeom>
          <a:noFill/>
        </p:spPr>
        <p:txBody>
          <a:bodyPr wrap="none" tIns="0" bIns="0">
            <a:spAutoFit/>
          </a:bodyPr>
          <a:lstStyle/>
          <a:p>
            <a:pPr>
              <a:defRPr sz="800">
                <a:solidFill>
                  <a:srgbClr val="B9C2D6"/>
                </a:solidFill>
                <a:latin typeface="Calibri"/>
              </a:defRPr>
            </a:pPr>
            <a:r>
              <a:t>Bharadwaj Consumer Products Ltd  |  Project Drishti  |  CONFIDENTIAL - INTERNAL WORKING DRAFT - NOT FOR EXTERNAL DISTRIBUTION</a:t>
            </a:r>
          </a:p>
        </p:txBody>
      </p:sp>
      <p:sp>
        <p:nvSpPr>
          <p:cNvPr id="6" name="TextBox 5"/>
          <p:cNvSpPr txBox="1"/>
          <p:nvPr/>
        </p:nvSpPr>
        <p:spPr>
          <a:xfrm>
            <a:off x="11521440" y="6528816"/>
            <a:ext cx="457200" cy="274320"/>
          </a:xfrm>
          <a:prstGeom prst="rect">
            <a:avLst/>
          </a:prstGeom>
          <a:noFill/>
        </p:spPr>
        <p:txBody>
          <a:bodyPr wrap="none" tIns="0" bIns="0">
            <a:spAutoFit/>
          </a:bodyPr>
          <a:lstStyle/>
          <a:p>
            <a:pPr algn="r">
              <a:defRPr sz="800">
                <a:solidFill>
                  <a:srgbClr val="B9C2D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NEW FINDING, THIS CYCLE</a:t>
            </a:r>
          </a:p>
        </p:txBody>
      </p:sp>
      <p:sp>
        <p:nvSpPr>
          <p:cNvPr id="3" name="TextBox 2"/>
          <p:cNvSpPr txBox="1"/>
          <p:nvPr/>
        </p:nvSpPr>
        <p:spPr>
          <a:xfrm>
            <a:off x="457200" y="292608"/>
            <a:ext cx="11247120" cy="640080"/>
          </a:xfrm>
          <a:prstGeom prst="rect">
            <a:avLst/>
          </a:prstGeom>
          <a:noFill/>
        </p:spPr>
        <p:txBody>
          <a:bodyPr wrap="square">
            <a:spAutoFit/>
          </a:bodyPr>
          <a:lstStyle/>
          <a:p>
            <a:pPr>
              <a:defRPr sz="2600" b="1">
                <a:solidFill>
                  <a:srgbClr val="1B2A4A"/>
                </a:solidFill>
                <a:latin typeface="Calibri"/>
              </a:defRPr>
            </a:pPr>
            <a:r>
              <a:t>VAR-006: GST rate change mishandled</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43000"/>
            <a:ext cx="10972800" cy="2103120"/>
          </a:xfrm>
          <a:prstGeom prst="rect">
            <a:avLst/>
          </a:prstGeom>
          <a:noFill/>
        </p:spPr>
        <p:txBody>
          <a:bodyPr wrap="square">
            <a:spAutoFit/>
          </a:bodyPr>
          <a:lstStyle/>
          <a:p>
            <a:pPr>
              <a:lnSpc>
                <a:spcPct val="112000"/>
              </a:lnSpc>
              <a:spcAft>
                <a:spcPts val="600"/>
              </a:spcAft>
              <a:defRPr sz="1500">
                <a:solidFill>
                  <a:srgbClr val="1A1A1A"/>
                </a:solidFill>
                <a:latin typeface="Calibri"/>
              </a:defRPr>
            </a:pPr>
            <a:r>
              <a:t>• BCPL_EDW.TAX_RATE_MASTER is a truncate-and-reload snapshot holding current rates only</a:t>
            </a:r>
          </a:p>
          <a:p>
            <a:pPr>
              <a:lnSpc>
                <a:spcPct val="112000"/>
              </a:lnSpc>
              <a:spcAft>
                <a:spcPts val="600"/>
              </a:spcAft>
              <a:defRPr sz="1500">
                <a:solidFill>
                  <a:srgbClr val="1A1A1A"/>
                </a:solidFill>
                <a:latin typeface="Calibri"/>
              </a:defRPr>
            </a:pPr>
            <a:r>
              <a:t>• The FIN_PROD source table is effective dated, the dates exist upstream, they are just not carried across into the warehouse</a:t>
            </a:r>
          </a:p>
          <a:p>
            <a:pPr>
              <a:lnSpc>
                <a:spcPct val="112000"/>
              </a:lnSpc>
              <a:spcAft>
                <a:spcPts val="600"/>
              </a:spcAft>
              <a:defRPr sz="1500">
                <a:solidFill>
                  <a:srgbClr val="1A1A1A"/>
                </a:solidFill>
                <a:latin typeface="Calibri"/>
              </a:defRPr>
            </a:pPr>
            <a:r>
              <a:t>• Chandanaa, HSN 3401: rate moved from 18% to 12% with effect from 01-Oct-2025</a:t>
            </a:r>
          </a:p>
          <a:p>
            <a:pPr>
              <a:lnSpc>
                <a:spcPct val="112000"/>
              </a:lnSpc>
              <a:spcAft>
                <a:spcPts val="600"/>
              </a:spcAft>
              <a:defRPr sz="1500">
                <a:solidFill>
                  <a:srgbClr val="1A1A1A"/>
                </a:solidFill>
                <a:latin typeface="Calibri"/>
              </a:defRPr>
            </a:pPr>
            <a:r>
              <a:t>• Because the warehouse only ever holds the current rate, the 12% was applied retrospectively to Apr-Sep 2025 as well, the period when 18% was actually in force</a:t>
            </a:r>
          </a:p>
        </p:txBody>
      </p:sp>
      <p:graphicFrame>
        <p:nvGraphicFramePr>
          <p:cNvPr id="6" name="Table 5"/>
          <p:cNvGraphicFramePr>
            <a:graphicFrameLocks noGrp="1"/>
          </p:cNvGraphicFramePr>
          <p:nvPr/>
        </p:nvGraphicFramePr>
        <p:xfrm>
          <a:off x="548640" y="3566160"/>
          <a:ext cx="10698479" cy="2194560"/>
        </p:xfrm>
        <a:graphic>
          <a:graphicData uri="http://schemas.openxmlformats.org/drawingml/2006/table">
            <a:tbl>
              <a:tblPr firstRow="1" bandRow="1">
                <a:tableStyleId>{5C22544A-7EE6-4342-B048-85BDC9FD1C3A}</a:tableStyleId>
              </a:tblPr>
              <a:tblGrid>
                <a:gridCol w="2307515"/>
                <a:gridCol w="8390964"/>
              </a:tblGrid>
              <a:tr h="438912">
                <a:tc>
                  <a:txBody>
                    <a:bodyPr wrap="square"/>
                    <a:lstStyle/>
                    <a:p>
                      <a:pPr algn="l"/>
                      <a:r>
                        <a:rPr sz="1100" b="1" i="0">
                          <a:solidFill>
                            <a:srgbClr val="FFFFFF"/>
                          </a:solidFill>
                          <a:latin typeface="Calibri"/>
                        </a:rPr>
                        <a:t>Item</a:t>
                      </a:r>
                    </a:p>
                  </a:txBody>
                  <a:tcPr marL="50800" marR="50800" marT="25400" marB="25400" anchor="ctr">
                    <a:solidFill>
                      <a:srgbClr val="1B2A4A"/>
                    </a:solidFill>
                  </a:tcPr>
                </a:tc>
                <a:tc>
                  <a:txBody>
                    <a:bodyPr wrap="square"/>
                    <a:lstStyle/>
                    <a:p>
                      <a:pPr algn="l"/>
                      <a:r>
                        <a:rPr sz="1100" b="1" i="0">
                          <a:solidFill>
                            <a:srgbClr val="FFFFFF"/>
                          </a:solidFill>
                          <a:latin typeface="Calibri"/>
                        </a:rPr>
                        <a:t>Value</a:t>
                      </a:r>
                    </a:p>
                  </a:txBody>
                  <a:tcPr marL="50800" marR="50800" marT="25400" marB="25400" anchor="ctr">
                    <a:solidFill>
                      <a:srgbClr val="1B2A4A"/>
                    </a:solidFill>
                  </a:tcPr>
                </a:tc>
              </a:tr>
              <a:tr h="438912">
                <a:tc>
                  <a:txBody>
                    <a:bodyPr wrap="square"/>
                    <a:lstStyle/>
                    <a:p>
                      <a:pPr algn="l"/>
                      <a:r>
                        <a:rPr sz="1300" b="0" i="0">
                          <a:solidFill>
                            <a:srgbClr val="1A1A1A"/>
                          </a:solidFill>
                          <a:latin typeface="Calibri"/>
                        </a:rPr>
                        <a:t>FY26 impact</a:t>
                      </a:r>
                    </a:p>
                  </a:txBody>
                  <a:tcPr marL="50800" marR="50800" marT="25400" marB="25400" anchor="ctr">
                    <a:solidFill>
                      <a:srgbClr val="FFFFFF"/>
                    </a:solidFill>
                  </a:tcPr>
                </a:tc>
                <a:tc>
                  <a:txBody>
                    <a:bodyPr wrap="square"/>
                    <a:lstStyle/>
                    <a:p>
                      <a:pPr algn="l"/>
                      <a:r>
                        <a:rPr sz="1300" b="0" i="0">
                          <a:solidFill>
                            <a:srgbClr val="1A1A1A"/>
                          </a:solidFill>
                          <a:latin typeface="Calibri"/>
                        </a:rPr>
                        <a:t>INR 40 L (39,60,000)</a:t>
                      </a:r>
                    </a:p>
                  </a:txBody>
                  <a:tcPr marL="50800" marR="50800" marT="25400" marB="25400" anchor="ctr">
                    <a:solidFill>
                      <a:srgbClr val="FFFFFF"/>
                    </a:solidFill>
                  </a:tcPr>
                </a:tc>
              </a:tr>
              <a:tr h="438912">
                <a:tc>
                  <a:txBody>
                    <a:bodyPr wrap="square"/>
                    <a:lstStyle/>
                    <a:p>
                      <a:pPr algn="l"/>
                      <a:r>
                        <a:rPr sz="1300" b="0" i="0">
                          <a:solidFill>
                            <a:srgbClr val="1A1A1A"/>
                          </a:solidFill>
                          <a:latin typeface="Calibri"/>
                        </a:rPr>
                        <a:t>Owner</a:t>
                      </a:r>
                    </a:p>
                  </a:txBody>
                  <a:tcPr marL="50800" marR="50800" marT="25400" marB="25400" anchor="ctr">
                    <a:solidFill>
                      <a:srgbClr val="E9ECF1"/>
                    </a:solidFill>
                  </a:tcPr>
                </a:tc>
                <a:tc>
                  <a:txBody>
                    <a:bodyPr wrap="square"/>
                    <a:lstStyle/>
                    <a:p>
                      <a:pPr algn="l"/>
                      <a:r>
                        <a:rPr sz="1300" b="0" i="0">
                          <a:solidFill>
                            <a:srgbClr val="1A1A1A"/>
                          </a:solidFill>
                          <a:latin typeface="Calibri"/>
                        </a:rPr>
                        <a:t>Neha Gokhale</a:t>
                      </a:r>
                    </a:p>
                  </a:txBody>
                  <a:tcPr marL="50800" marR="50800" marT="25400" marB="25400" anchor="ctr">
                    <a:solidFill>
                      <a:srgbClr val="E9ECF1"/>
                    </a:solidFill>
                  </a:tcPr>
                </a:tc>
              </a:tr>
              <a:tr h="438912">
                <a:tc>
                  <a:txBody>
                    <a:bodyPr wrap="square"/>
                    <a:lstStyle/>
                    <a:p>
                      <a:pPr algn="l"/>
                      <a:r>
                        <a:rPr sz="1300" b="0" i="0">
                          <a:solidFill>
                            <a:srgbClr val="1A1A1A"/>
                          </a:solidFill>
                          <a:latin typeface="Calibri"/>
                        </a:rPr>
                        <a:t>Status</a:t>
                      </a:r>
                    </a:p>
                  </a:txBody>
                  <a:tcPr marL="50800" marR="50800" marT="25400" marB="25400" anchor="ctr">
                    <a:solidFill>
                      <a:srgbClr val="FFFFFF"/>
                    </a:solidFill>
                  </a:tcPr>
                </a:tc>
                <a:tc>
                  <a:txBody>
                    <a:bodyPr wrap="square"/>
                    <a:lstStyle/>
                    <a:p>
                      <a:pPr algn="l"/>
                      <a:r>
                        <a:rPr sz="1300" b="0" i="0">
                          <a:solidFill>
                            <a:srgbClr val="1A1A1A"/>
                          </a:solidFill>
                          <a:latin typeface="Calibri"/>
                        </a:rPr>
                        <a:t>Open, new this cycle (raised as VAR-006)</a:t>
                      </a:r>
                    </a:p>
                  </a:txBody>
                  <a:tcPr marL="50800" marR="50800" marT="25400" marB="25400" anchor="ctr">
                    <a:solidFill>
                      <a:srgbClr val="FFFFFF"/>
                    </a:solidFill>
                  </a:tcPr>
                </a:tc>
              </a:tr>
              <a:tr h="438912">
                <a:tc>
                  <a:txBody>
                    <a:bodyPr wrap="square"/>
                    <a:lstStyle/>
                    <a:p>
                      <a:pPr algn="l"/>
                      <a:r>
                        <a:rPr sz="1300" b="0" i="0">
                          <a:solidFill>
                            <a:srgbClr val="1A1A1A"/>
                          </a:solidFill>
                          <a:latin typeface="Calibri"/>
                        </a:rPr>
                        <a:t>Remediation</a:t>
                      </a:r>
                    </a:p>
                  </a:txBody>
                  <a:tcPr marL="50800" marR="50800" marT="25400" marB="25400" anchor="ctr">
                    <a:solidFill>
                      <a:srgbClr val="E9ECF1"/>
                    </a:solidFill>
                  </a:tcPr>
                </a:tc>
                <a:tc>
                  <a:txBody>
                    <a:bodyPr wrap="square"/>
                    <a:lstStyle/>
                    <a:p>
                      <a:pPr algn="l"/>
                      <a:r>
                        <a:rPr sz="1300" b="0" i="0">
                          <a:solidFill>
                            <a:srgbClr val="1A1A1A"/>
                          </a:solidFill>
                          <a:latin typeface="Calibri"/>
                        </a:rPr>
                        <a:t>DIM_TAX_RATE, effective-dated model, under CHG0021339, targeted 26-Aug-2026</a:t>
                      </a:r>
                    </a:p>
                  </a:txBody>
                  <a:tcPr marL="50800" marR="50800" marT="25400" marB="25400" anchor="ctr">
                    <a:solidFill>
                      <a:srgbClr val="E9ECF1"/>
                    </a:solidFill>
                  </a:tcPr>
                </a:tc>
              </a:tr>
            </a:tbl>
          </a:graphicData>
        </a:graphic>
      </p:graphicFrame>
      <p:sp>
        <p:nvSpPr>
          <p:cNvPr id="7" name="TextBox 6"/>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8" name="TextBox 7"/>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NEW FINDING, THIS CYCLE</a:t>
            </a:r>
          </a:p>
        </p:txBody>
      </p:sp>
      <p:sp>
        <p:nvSpPr>
          <p:cNvPr id="3" name="TextBox 2"/>
          <p:cNvSpPr txBox="1"/>
          <p:nvPr/>
        </p:nvSpPr>
        <p:spPr>
          <a:xfrm>
            <a:off x="457200" y="292608"/>
            <a:ext cx="11247120" cy="640080"/>
          </a:xfrm>
          <a:prstGeom prst="rect">
            <a:avLst/>
          </a:prstGeom>
          <a:noFill/>
        </p:spPr>
        <p:txBody>
          <a:bodyPr wrap="square">
            <a:spAutoFit/>
          </a:bodyPr>
          <a:lstStyle/>
          <a:p>
            <a:pPr>
              <a:defRPr sz="2400" b="1">
                <a:solidFill>
                  <a:srgbClr val="1B2A4A"/>
                </a:solidFill>
                <a:latin typeface="Calibri"/>
              </a:defRPr>
            </a:pPr>
            <a:r>
              <a:t>VAR-007: late-arriving SKUs routed to UNKNOWN</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43000"/>
            <a:ext cx="10972800" cy="1828800"/>
          </a:xfrm>
          <a:prstGeom prst="rect">
            <a:avLst/>
          </a:prstGeom>
          <a:noFill/>
        </p:spPr>
        <p:txBody>
          <a:bodyPr wrap="square">
            <a:spAutoFit/>
          </a:bodyPr>
          <a:lstStyle/>
          <a:p>
            <a:pPr>
              <a:lnSpc>
                <a:spcPct val="112000"/>
              </a:lnSpc>
              <a:spcAft>
                <a:spcPts val="600"/>
              </a:spcAft>
              <a:defRPr sz="1500">
                <a:solidFill>
                  <a:srgbClr val="1A1A1A"/>
                </a:solidFill>
                <a:latin typeface="Calibri"/>
              </a:defRPr>
            </a:pPr>
            <a:r>
              <a:t>• No late-arriving dimension handling exists in the invoice line mapping. It was never built, it is not that it is broken</a:t>
            </a:r>
          </a:p>
          <a:p>
            <a:pPr>
              <a:lnSpc>
                <a:spcPct val="112000"/>
              </a:lnSpc>
              <a:spcAft>
                <a:spcPts val="600"/>
              </a:spcAft>
              <a:defRPr sz="1500">
                <a:solidFill>
                  <a:srgbClr val="1A1A1A"/>
                </a:solidFill>
                <a:latin typeface="Calibri"/>
              </a:defRPr>
            </a:pPr>
            <a:r>
              <a:t>• A SKU invoiced before the product dimension has seen it is routed to PRODUCT_KEY = -1 (the Unknown member) and is never re-pointed once the dimension catches up</a:t>
            </a:r>
          </a:p>
          <a:p>
            <a:pPr>
              <a:lnSpc>
                <a:spcPct val="112000"/>
              </a:lnSpc>
              <a:spcAft>
                <a:spcPts val="600"/>
              </a:spcAft>
              <a:defRPr sz="1500">
                <a:solidFill>
                  <a:srgbClr val="1A1A1A"/>
                </a:solidFill>
                <a:latin typeface="Calibri"/>
              </a:defRPr>
            </a:pPr>
            <a:r>
              <a:t>• Fails DQ-R-04 (completeness): 98.0% actual against a 99.5% threshold</a:t>
            </a:r>
          </a:p>
        </p:txBody>
      </p:sp>
      <p:graphicFrame>
        <p:nvGraphicFramePr>
          <p:cNvPr id="6" name="Table 5"/>
          <p:cNvGraphicFramePr>
            <a:graphicFrameLocks noGrp="1"/>
          </p:cNvGraphicFramePr>
          <p:nvPr/>
        </p:nvGraphicFramePr>
        <p:xfrm>
          <a:off x="548640" y="3108960"/>
          <a:ext cx="8229600" cy="2651760"/>
        </p:xfrm>
        <a:graphic>
          <a:graphicData uri="http://schemas.openxmlformats.org/drawingml/2006/table">
            <a:tbl>
              <a:tblPr firstRow="1" bandRow="1">
                <a:tableStyleId>{5C22544A-7EE6-4342-B048-85BDC9FD1C3A}</a:tableStyleId>
              </a:tblPr>
              <a:tblGrid>
                <a:gridCol w="3086100"/>
                <a:gridCol w="5143500"/>
              </a:tblGrid>
              <a:tr h="378822">
                <a:tc>
                  <a:txBody>
                    <a:bodyPr wrap="square"/>
                    <a:lstStyle/>
                    <a:p>
                      <a:pPr algn="l"/>
                      <a:r>
                        <a:rPr sz="1100" b="1" i="0">
                          <a:solidFill>
                            <a:srgbClr val="FFFFFF"/>
                          </a:solidFill>
                          <a:latin typeface="Calibri"/>
                        </a:rPr>
                        <a:t>Item</a:t>
                      </a:r>
                    </a:p>
                  </a:txBody>
                  <a:tcPr marL="50800" marR="50800" marT="25400" marB="25400" anchor="ctr">
                    <a:solidFill>
                      <a:srgbClr val="1B2A4A"/>
                    </a:solidFill>
                  </a:tcPr>
                </a:tc>
                <a:tc>
                  <a:txBody>
                    <a:bodyPr wrap="square"/>
                    <a:lstStyle/>
                    <a:p>
                      <a:pPr algn="l"/>
                      <a:r>
                        <a:rPr sz="1100" b="1" i="0">
                          <a:solidFill>
                            <a:srgbClr val="FFFFFF"/>
                          </a:solidFill>
                          <a:latin typeface="Calibri"/>
                        </a:rPr>
                        <a:t>Value</a:t>
                      </a:r>
                    </a:p>
                  </a:txBody>
                  <a:tcPr marL="50800" marR="50800" marT="25400" marB="25400" anchor="ctr">
                    <a:solidFill>
                      <a:srgbClr val="1B2A4A"/>
                    </a:solidFill>
                  </a:tcPr>
                </a:tc>
              </a:tr>
              <a:tr h="378822">
                <a:tc>
                  <a:txBody>
                    <a:bodyPr wrap="square"/>
                    <a:lstStyle/>
                    <a:p>
                      <a:pPr algn="l"/>
                      <a:r>
                        <a:rPr sz="1200" b="0" i="0">
                          <a:solidFill>
                            <a:srgbClr val="1A1A1A"/>
                          </a:solidFill>
                          <a:latin typeface="Calibri"/>
                        </a:rPr>
                        <a:t>Average lines per month</a:t>
                      </a:r>
                    </a:p>
                  </a:txBody>
                  <a:tcPr marL="50800" marR="50800" marT="25400" marB="25400" anchor="ctr">
                    <a:solidFill>
                      <a:srgbClr val="FFFFFF"/>
                    </a:solidFill>
                  </a:tcPr>
                </a:tc>
                <a:tc>
                  <a:txBody>
                    <a:bodyPr wrap="square"/>
                    <a:lstStyle/>
                    <a:p>
                      <a:pPr algn="l"/>
                      <a:r>
                        <a:rPr sz="1200" b="0" i="0">
                          <a:solidFill>
                            <a:srgbClr val="1A1A1A"/>
                          </a:solidFill>
                          <a:latin typeface="Calibri"/>
                        </a:rPr>
                        <a:t>8,140</a:t>
                      </a:r>
                    </a:p>
                  </a:txBody>
                  <a:tcPr marL="50800" marR="50800" marT="25400" marB="25400" anchor="ctr">
                    <a:solidFill>
                      <a:srgbClr val="FFFFFF"/>
                    </a:solidFill>
                  </a:tcPr>
                </a:tc>
              </a:tr>
              <a:tr h="378822">
                <a:tc>
                  <a:txBody>
                    <a:bodyPr wrap="square"/>
                    <a:lstStyle/>
                    <a:p>
                      <a:pPr algn="l"/>
                      <a:r>
                        <a:rPr sz="1200" b="0" i="0">
                          <a:solidFill>
                            <a:srgbClr val="1A1A1A"/>
                          </a:solidFill>
                          <a:latin typeface="Calibri"/>
                        </a:rPr>
                        <a:t>Peak month</a:t>
                      </a:r>
                    </a:p>
                  </a:txBody>
                  <a:tcPr marL="50800" marR="50800" marT="25400" marB="25400" anchor="ctr">
                    <a:solidFill>
                      <a:srgbClr val="E9ECF1"/>
                    </a:solidFill>
                  </a:tcPr>
                </a:tc>
                <a:tc>
                  <a:txBody>
                    <a:bodyPr wrap="square"/>
                    <a:lstStyle/>
                    <a:p>
                      <a:pPr algn="l"/>
                      <a:r>
                        <a:rPr sz="1200" b="0" i="0">
                          <a:solidFill>
                            <a:srgbClr val="1A1A1A"/>
                          </a:solidFill>
                          <a:latin typeface="Calibri"/>
                        </a:rPr>
                        <a:t>11,902 (Jan-2026)</a:t>
                      </a:r>
                    </a:p>
                  </a:txBody>
                  <a:tcPr marL="50800" marR="50800" marT="25400" marB="25400" anchor="ctr">
                    <a:solidFill>
                      <a:srgbClr val="E9ECF1"/>
                    </a:solidFill>
                  </a:tcPr>
                </a:tc>
              </a:tr>
              <a:tr h="378822">
                <a:tc>
                  <a:txBody>
                    <a:bodyPr wrap="square"/>
                    <a:lstStyle/>
                    <a:p>
                      <a:pPr algn="l"/>
                      <a:r>
                        <a:rPr sz="1200" b="0" i="0">
                          <a:solidFill>
                            <a:srgbClr val="1A1A1A"/>
                          </a:solidFill>
                          <a:latin typeface="Calibri"/>
                        </a:rPr>
                        <a:t>Share of invoiced volume</a:t>
                      </a:r>
                    </a:p>
                  </a:txBody>
                  <a:tcPr marL="50800" marR="50800" marT="25400" marB="25400" anchor="ctr">
                    <a:solidFill>
                      <a:srgbClr val="FFFFFF"/>
                    </a:solidFill>
                  </a:tcPr>
                </a:tc>
                <a:tc>
                  <a:txBody>
                    <a:bodyPr wrap="square"/>
                    <a:lstStyle/>
                    <a:p>
                      <a:pPr algn="l"/>
                      <a:r>
                        <a:rPr sz="1200" b="0" i="0">
                          <a:solidFill>
                            <a:srgbClr val="1A1A1A"/>
                          </a:solidFill>
                          <a:latin typeface="Calibri"/>
                        </a:rPr>
                        <a:t>2.0%</a:t>
                      </a:r>
                    </a:p>
                  </a:txBody>
                  <a:tcPr marL="50800" marR="50800" marT="25400" marB="25400" anchor="ctr">
                    <a:solidFill>
                      <a:srgbClr val="FFFFFF"/>
                    </a:solidFill>
                  </a:tcPr>
                </a:tc>
              </a:tr>
              <a:tr h="378822">
                <a:tc>
                  <a:txBody>
                    <a:bodyPr wrap="square"/>
                    <a:lstStyle/>
                    <a:p>
                      <a:pPr algn="l"/>
                      <a:r>
                        <a:rPr sz="1200" b="0" i="0">
                          <a:solidFill>
                            <a:srgbClr val="1A1A1A"/>
                          </a:solidFill>
                          <a:latin typeface="Calibri"/>
                        </a:rPr>
                        <a:t>INR value</a:t>
                      </a:r>
                    </a:p>
                  </a:txBody>
                  <a:tcPr marL="50800" marR="50800" marT="25400" marB="25400" anchor="ctr">
                    <a:solidFill>
                      <a:srgbClr val="E9ECF1"/>
                    </a:solidFill>
                  </a:tcPr>
                </a:tc>
                <a:tc>
                  <a:txBody>
                    <a:bodyPr wrap="square"/>
                    <a:lstStyle/>
                    <a:p>
                      <a:pPr algn="l"/>
                      <a:r>
                        <a:rPr sz="1200" b="0" i="0">
                          <a:solidFill>
                            <a:srgbClr val="1A1A1A"/>
                          </a:solidFill>
                          <a:latin typeface="Calibri"/>
                        </a:rPr>
                        <a:t>Not assigned, deliberately (see note below)</a:t>
                      </a:r>
                    </a:p>
                  </a:txBody>
                  <a:tcPr marL="50800" marR="50800" marT="25400" marB="25400" anchor="ctr">
                    <a:solidFill>
                      <a:srgbClr val="E9ECF1"/>
                    </a:solidFill>
                  </a:tcPr>
                </a:tc>
              </a:tr>
              <a:tr h="378822">
                <a:tc>
                  <a:txBody>
                    <a:bodyPr wrap="square"/>
                    <a:lstStyle/>
                    <a:p>
                      <a:pPr algn="l"/>
                      <a:r>
                        <a:rPr sz="1200" b="0" i="0">
                          <a:solidFill>
                            <a:srgbClr val="1A1A1A"/>
                          </a:solidFill>
                          <a:latin typeface="Calibri"/>
                        </a:rPr>
                        <a:t>Owner</a:t>
                      </a:r>
                    </a:p>
                  </a:txBody>
                  <a:tcPr marL="50800" marR="50800" marT="25400" marB="25400" anchor="ctr">
                    <a:solidFill>
                      <a:srgbClr val="FFFFFF"/>
                    </a:solidFill>
                  </a:tcPr>
                </a:tc>
                <a:tc>
                  <a:txBody>
                    <a:bodyPr wrap="square"/>
                    <a:lstStyle/>
                    <a:p>
                      <a:pPr algn="l"/>
                      <a:r>
                        <a:rPr sz="1200" b="0" i="0">
                          <a:solidFill>
                            <a:srgbClr val="1A1A1A"/>
                          </a:solidFill>
                          <a:latin typeface="Calibri"/>
                        </a:rPr>
                        <a:t>Ritwik Ghosh (reporting workstream)</a:t>
                      </a:r>
                    </a:p>
                  </a:txBody>
                  <a:tcPr marL="50800" marR="50800" marT="25400" marB="25400" anchor="ctr">
                    <a:solidFill>
                      <a:srgbClr val="FFFFFF"/>
                    </a:solidFill>
                  </a:tcPr>
                </a:tc>
              </a:tr>
              <a:tr h="378828">
                <a:tc>
                  <a:txBody>
                    <a:bodyPr wrap="square"/>
                    <a:lstStyle/>
                    <a:p>
                      <a:pPr algn="l"/>
                      <a:r>
                        <a:rPr sz="1200" b="0" i="0">
                          <a:solidFill>
                            <a:srgbClr val="1A1A1A"/>
                          </a:solidFill>
                          <a:latin typeface="Calibri"/>
                        </a:rPr>
                        <a:t>Status</a:t>
                      </a:r>
                    </a:p>
                  </a:txBody>
                  <a:tcPr marL="50800" marR="50800" marT="25400" marB="25400" anchor="ctr">
                    <a:solidFill>
                      <a:srgbClr val="E9ECF1"/>
                    </a:solidFill>
                  </a:tcPr>
                </a:tc>
                <a:tc>
                  <a:txBody>
                    <a:bodyPr wrap="square"/>
                    <a:lstStyle/>
                    <a:p>
                      <a:pPr algn="l"/>
                      <a:r>
                        <a:rPr sz="1200" b="0" i="0">
                          <a:solidFill>
                            <a:srgbClr val="1A1A1A"/>
                          </a:solidFill>
                          <a:latin typeface="Calibri"/>
                        </a:rPr>
                        <a:t>Open, new this cycle (raised as VAR-007)</a:t>
                      </a:r>
                    </a:p>
                  </a:txBody>
                  <a:tcPr marL="50800" marR="50800" marT="25400" marB="25400" anchor="ctr">
                    <a:solidFill>
                      <a:srgbClr val="E9ECF1"/>
                    </a:solidFill>
                  </a:tcPr>
                </a:tc>
              </a:tr>
            </a:tbl>
          </a:graphicData>
        </a:graphic>
      </p:graphicFrame>
      <p:sp>
        <p:nvSpPr>
          <p:cNvPr id="7" name="TextBox 6"/>
          <p:cNvSpPr txBox="1"/>
          <p:nvPr/>
        </p:nvSpPr>
        <p:spPr>
          <a:xfrm>
            <a:off x="9006840" y="3108960"/>
            <a:ext cx="2651760" cy="2651760"/>
          </a:xfrm>
          <a:prstGeom prst="rect">
            <a:avLst/>
          </a:prstGeom>
          <a:noFill/>
        </p:spPr>
        <p:txBody>
          <a:bodyPr wrap="square">
            <a:spAutoFit/>
          </a:bodyPr>
          <a:lstStyle/>
          <a:p>
            <a:pPr>
              <a:defRPr sz="1100" i="1">
                <a:solidFill>
                  <a:srgbClr val="666666"/>
                </a:solidFill>
                <a:latin typeface="Calibri"/>
              </a:defRPr>
            </a:pPr>
            <a:r>
              <a:t>This is a volume percentage, not a rupee figure, and it is being kept that way on purpose so it does not get added to a total it does not belong in.</a:t>
            </a:r>
          </a:p>
        </p:txBody>
      </p:sp>
      <p:sp>
        <p:nvSpPr>
          <p:cNvPr id="8" name="TextBox 7"/>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9" name="TextBox 8"/>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31720"/>
            <a:ext cx="1828800" cy="1097280"/>
          </a:xfrm>
          <a:prstGeom prst="rect">
            <a:avLst/>
          </a:prstGeom>
          <a:noFill/>
        </p:spPr>
        <p:txBody>
          <a:bodyPr wrap="none">
            <a:spAutoFit/>
          </a:bodyPr>
          <a:lstStyle/>
          <a:p>
            <a:pPr>
              <a:defRPr sz="5400" b="1">
                <a:solidFill>
                  <a:srgbClr val="B03A2E"/>
                </a:solidFill>
                <a:latin typeface="Calibri"/>
              </a:defRPr>
            </a:pPr>
            <a:r>
              <a:t>04</a:t>
            </a:r>
          </a:p>
        </p:txBody>
      </p:sp>
      <p:sp>
        <p:nvSpPr>
          <p:cNvPr id="4" name="TextBox 3"/>
          <p:cNvSpPr txBox="1"/>
          <p:nvPr/>
        </p:nvSpPr>
        <p:spPr>
          <a:xfrm>
            <a:off x="868680" y="3246120"/>
            <a:ext cx="10058400" cy="1188720"/>
          </a:xfrm>
          <a:prstGeom prst="rect">
            <a:avLst/>
          </a:prstGeom>
          <a:noFill/>
        </p:spPr>
        <p:txBody>
          <a:bodyPr wrap="square">
            <a:spAutoFit/>
          </a:bodyPr>
          <a:lstStyle/>
          <a:p>
            <a:pPr>
              <a:defRPr sz="3600" b="1">
                <a:solidFill>
                  <a:srgbClr val="FFFFFF"/>
                </a:solidFill>
                <a:latin typeface="Calibri"/>
              </a:defRPr>
            </a:pPr>
            <a:r>
              <a:t>Remediation and Next Steps</a:t>
            </a:r>
          </a:p>
        </p:txBody>
      </p:sp>
      <p:sp>
        <p:nvSpPr>
          <p:cNvPr id="5" name="TextBox 4"/>
          <p:cNvSpPr txBox="1"/>
          <p:nvPr/>
        </p:nvSpPr>
        <p:spPr>
          <a:xfrm>
            <a:off x="365760" y="6528816"/>
            <a:ext cx="8778240" cy="274320"/>
          </a:xfrm>
          <a:prstGeom prst="rect">
            <a:avLst/>
          </a:prstGeom>
          <a:noFill/>
        </p:spPr>
        <p:txBody>
          <a:bodyPr wrap="none" tIns="0" bIns="0">
            <a:spAutoFit/>
          </a:bodyPr>
          <a:lstStyle/>
          <a:p>
            <a:pPr>
              <a:defRPr sz="800">
                <a:solidFill>
                  <a:srgbClr val="B9C2D6"/>
                </a:solidFill>
                <a:latin typeface="Calibri"/>
              </a:defRPr>
            </a:pPr>
            <a:r>
              <a:t>Bharadwaj Consumer Products Ltd  |  Project Drishti  |  CONFIDENTIAL - INTERNAL WORKING DRAFT - NOT FOR EXTERNAL DISTRIBUTION</a:t>
            </a:r>
          </a:p>
        </p:txBody>
      </p:sp>
      <p:sp>
        <p:nvSpPr>
          <p:cNvPr id="6" name="TextBox 5"/>
          <p:cNvSpPr txBox="1"/>
          <p:nvPr/>
        </p:nvSpPr>
        <p:spPr>
          <a:xfrm>
            <a:off x="11521440" y="6528816"/>
            <a:ext cx="457200" cy="274320"/>
          </a:xfrm>
          <a:prstGeom prst="rect">
            <a:avLst/>
          </a:prstGeom>
          <a:noFill/>
        </p:spPr>
        <p:txBody>
          <a:bodyPr wrap="none" tIns="0" bIns="0">
            <a:spAutoFit/>
          </a:bodyPr>
          <a:lstStyle/>
          <a:p>
            <a:pPr algn="r">
              <a:defRPr sz="800">
                <a:solidFill>
                  <a:srgbClr val="B9C2D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REMEDIATION BACKLOG</a:t>
            </a:r>
          </a:p>
        </p:txBody>
      </p:sp>
      <p:sp>
        <p:nvSpPr>
          <p:cNvPr id="3" name="TextBox 2"/>
          <p:cNvSpPr txBox="1"/>
          <p:nvPr/>
        </p:nvSpPr>
        <p:spPr>
          <a:xfrm>
            <a:off x="457200" y="292608"/>
            <a:ext cx="11247120" cy="594360"/>
          </a:xfrm>
          <a:prstGeom prst="rect">
            <a:avLst/>
          </a:prstGeom>
          <a:noFill/>
        </p:spPr>
        <p:txBody>
          <a:bodyPr wrap="square">
            <a:spAutoFit/>
          </a:bodyPr>
          <a:lstStyle/>
          <a:p>
            <a:pPr>
              <a:defRPr sz="2600" b="1">
                <a:solidFill>
                  <a:srgbClr val="1B2A4A"/>
                </a:solidFill>
                <a:latin typeface="Calibri"/>
              </a:defRPr>
            </a:pPr>
            <a:r>
              <a:t>Remediation backlog</a:t>
            </a:r>
          </a:p>
        </p:txBody>
      </p:sp>
      <p:sp>
        <p:nvSpPr>
          <p:cNvPr id="4" name="Rectangle 3"/>
          <p:cNvSpPr/>
          <p:nvPr/>
        </p:nvSpPr>
        <p:spPr>
          <a:xfrm>
            <a:off x="457200" y="86868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914400"/>
          <a:ext cx="11658596" cy="4754880"/>
        </p:xfrm>
        <a:graphic>
          <a:graphicData uri="http://schemas.openxmlformats.org/drawingml/2006/table">
            <a:tbl>
              <a:tblPr firstRow="1" bandRow="1">
                <a:tableStyleId>{5C22544A-7EE6-4342-B048-85BDC9FD1C3A}</a:tableStyleId>
              </a:tblPr>
              <a:tblGrid>
                <a:gridCol w="1131902"/>
                <a:gridCol w="1584664"/>
                <a:gridCol w="1924234"/>
                <a:gridCol w="1924234"/>
                <a:gridCol w="1697854"/>
                <a:gridCol w="3395708"/>
              </a:tblGrid>
              <a:tr h="679268">
                <a:tc>
                  <a:txBody>
                    <a:bodyPr wrap="square"/>
                    <a:lstStyle/>
                    <a:p>
                      <a:pPr algn="l"/>
                      <a:r>
                        <a:rPr sz="1000" b="1" i="0">
                          <a:solidFill>
                            <a:srgbClr val="FFFFFF"/>
                          </a:solidFill>
                          <a:latin typeface="Calibri"/>
                        </a:rPr>
                        <a:t>Item</a:t>
                      </a:r>
                    </a:p>
                  </a:txBody>
                  <a:tcPr marL="50800" marR="50800" marT="25400" marB="25400" anchor="ctr">
                    <a:solidFill>
                      <a:srgbClr val="1B2A4A"/>
                    </a:solidFill>
                  </a:tcPr>
                </a:tc>
                <a:tc>
                  <a:txBody>
                    <a:bodyPr wrap="square"/>
                    <a:lstStyle/>
                    <a:p>
                      <a:pPr algn="l"/>
                      <a:r>
                        <a:rPr sz="1000" b="1" i="0">
                          <a:solidFill>
                            <a:srgbClr val="FFFFFF"/>
                          </a:solidFill>
                          <a:latin typeface="Calibri"/>
                        </a:rPr>
                        <a:t>Rule / ref</a:t>
                      </a:r>
                    </a:p>
                  </a:txBody>
                  <a:tcPr marL="50800" marR="50800" marT="25400" marB="25400" anchor="ctr">
                    <a:solidFill>
                      <a:srgbClr val="1B2A4A"/>
                    </a:solidFill>
                  </a:tcPr>
                </a:tc>
                <a:tc>
                  <a:txBody>
                    <a:bodyPr wrap="square"/>
                    <a:lstStyle/>
                    <a:p>
                      <a:pPr algn="l"/>
                      <a:r>
                        <a:rPr sz="1000" b="1" i="0">
                          <a:solidFill>
                            <a:srgbClr val="FFFFFF"/>
                          </a:solidFill>
                          <a:latin typeface="Calibri"/>
                        </a:rPr>
                        <a:t>FY26 impact</a:t>
                      </a:r>
                    </a:p>
                  </a:txBody>
                  <a:tcPr marL="50800" marR="50800" marT="25400" marB="25400" anchor="ctr">
                    <a:solidFill>
                      <a:srgbClr val="1B2A4A"/>
                    </a:solidFill>
                  </a:tcPr>
                </a:tc>
                <a:tc>
                  <a:txBody>
                    <a:bodyPr wrap="square"/>
                    <a:lstStyle/>
                    <a:p>
                      <a:pPr algn="l"/>
                      <a:r>
                        <a:rPr sz="1000" b="1" i="0">
                          <a:solidFill>
                            <a:srgbClr val="FFFFFF"/>
                          </a:solidFill>
                          <a:latin typeface="Calibri"/>
                        </a:rPr>
                        <a:t>Owner</a:t>
                      </a:r>
                    </a:p>
                  </a:txBody>
                  <a:tcPr marL="50800" marR="50800" marT="25400" marB="25400" anchor="ctr">
                    <a:solidFill>
                      <a:srgbClr val="1B2A4A"/>
                    </a:solidFill>
                  </a:tcPr>
                </a:tc>
                <a:tc>
                  <a:txBody>
                    <a:bodyPr wrap="square"/>
                    <a:lstStyle/>
                    <a:p>
                      <a:pPr algn="l"/>
                      <a:r>
                        <a:rPr sz="1000" b="1" i="0">
                          <a:solidFill>
                            <a:srgbClr val="FFFFFF"/>
                          </a:solidFill>
                          <a:latin typeface="Calibri"/>
                        </a:rPr>
                        <a:t>Status</a:t>
                      </a:r>
                    </a:p>
                  </a:txBody>
                  <a:tcPr marL="50800" marR="50800" marT="25400" marB="25400" anchor="ctr">
                    <a:solidFill>
                      <a:srgbClr val="1B2A4A"/>
                    </a:solidFill>
                  </a:tcPr>
                </a:tc>
                <a:tc>
                  <a:txBody>
                    <a:bodyPr wrap="square"/>
                    <a:lstStyle/>
                    <a:p>
                      <a:pPr algn="l"/>
                      <a:r>
                        <a:rPr sz="1000" b="1" i="0">
                          <a:solidFill>
                            <a:srgbClr val="FFFFFF"/>
                          </a:solidFill>
                          <a:latin typeface="Calibri"/>
                        </a:rPr>
                        <a:t>Target</a:t>
                      </a:r>
                    </a:p>
                  </a:txBody>
                  <a:tcPr marL="50800" marR="50800" marT="25400" marB="25400" anchor="ctr">
                    <a:solidFill>
                      <a:srgbClr val="1B2A4A"/>
                    </a:solidFill>
                  </a:tcPr>
                </a:tc>
              </a:tr>
              <a:tr h="679268">
                <a:tc>
                  <a:txBody>
                    <a:bodyPr wrap="square"/>
                    <a:lstStyle/>
                    <a:p>
                      <a:pPr algn="l"/>
                      <a:r>
                        <a:rPr sz="950" b="0" i="0">
                          <a:solidFill>
                            <a:srgbClr val="1A1A1A"/>
                          </a:solidFill>
                          <a:latin typeface="Calibri"/>
                        </a:rPr>
                        <a:t>VAR-001</a:t>
                      </a:r>
                    </a:p>
                  </a:txBody>
                  <a:tcPr marL="50800" marR="50800" marT="25400" marB="25400" anchor="ctr">
                    <a:solidFill>
                      <a:srgbClr val="FFFFFF"/>
                    </a:solidFill>
                  </a:tcPr>
                </a:tc>
                <a:tc>
                  <a:txBody>
                    <a:bodyPr wrap="square"/>
                    <a:lstStyle/>
                    <a:p>
                      <a:pPr algn="l"/>
                      <a:r>
                        <a:rPr sz="950" b="0" i="0">
                          <a:solidFill>
                            <a:srgbClr val="1A1A1A"/>
                          </a:solidFill>
                          <a:latin typeface="Calibri"/>
                        </a:rPr>
                        <a:t>DQ-R-12</a:t>
                      </a:r>
                    </a:p>
                  </a:txBody>
                  <a:tcPr marL="50800" marR="50800" marT="25400" marB="25400" anchor="ctr">
                    <a:solidFill>
                      <a:srgbClr val="FFFFFF"/>
                    </a:solidFill>
                  </a:tcPr>
                </a:tc>
                <a:tc>
                  <a:txBody>
                    <a:bodyPr wrap="square"/>
                    <a:lstStyle/>
                    <a:p>
                      <a:pPr algn="l"/>
                      <a:r>
                        <a:rPr sz="950" b="0" i="0">
                          <a:solidFill>
                            <a:srgbClr val="1A1A1A"/>
                          </a:solidFill>
                          <a:latin typeface="Calibri"/>
                        </a:rPr>
                        <a:t>INR 4.2 Cr</a:t>
                      </a:r>
                    </a:p>
                    <a:p>
                      <a:pPr algn="l"/>
                      <a:r>
                        <a:rPr sz="950" b="0" i="0">
                          <a:solidFill>
                            <a:srgbClr val="1A1A1A"/>
                          </a:solidFill>
                          <a:latin typeface="Calibri"/>
                        </a:rPr>
                        <a:t>(4,21,63,910)</a:t>
                      </a:r>
                    </a:p>
                  </a:txBody>
                  <a:tcPr marL="50800" marR="50800" marT="25400" marB="25400" anchor="ctr">
                    <a:solidFill>
                      <a:srgbClr val="FFFFFF"/>
                    </a:solidFill>
                  </a:tcPr>
                </a:tc>
                <a:tc>
                  <a:txBody>
                    <a:bodyPr wrap="square"/>
                    <a:lstStyle/>
                    <a:p>
                      <a:pPr algn="l"/>
                      <a:r>
                        <a:rPr sz="950" b="0" i="0">
                          <a:solidFill>
                            <a:srgbClr val="1A1A1A"/>
                          </a:solidFill>
                          <a:latin typeface="Calibri"/>
                        </a:rPr>
                        <a:t>Farida Contractor</a:t>
                      </a:r>
                    </a:p>
                  </a:txBody>
                  <a:tcPr marL="50800" marR="50800" marT="25400" marB="25400" anchor="ctr">
                    <a:solidFill>
                      <a:srgbClr val="FFFFFF"/>
                    </a:solidFill>
                  </a:tcPr>
                </a:tc>
                <a:tc>
                  <a:txBody>
                    <a:bodyPr wrap="square"/>
                    <a:lstStyle/>
                    <a:p>
                      <a:pPr algn="l"/>
                      <a:r>
                        <a:rPr sz="950" b="0" i="0">
                          <a:solidFill>
                            <a:srgbClr val="1A1A1A"/>
                          </a:solidFill>
                          <a:latin typeface="Calibri"/>
                        </a:rPr>
                        <a:t>Closed 12-Jun-2026</a:t>
                      </a:r>
                    </a:p>
                  </a:txBody>
                  <a:tcPr marL="50800" marR="50800" marT="25400" marB="25400" anchor="ctr">
                    <a:solidFill>
                      <a:srgbClr val="FFFFFF"/>
                    </a:solidFill>
                  </a:tcPr>
                </a:tc>
                <a:tc>
                  <a:txBody>
                    <a:bodyPr wrap="square"/>
                    <a:lstStyle/>
                    <a:p>
                      <a:pPr algn="l"/>
                      <a:r>
                        <a:rPr sz="950" b="0" i="0">
                          <a:solidFill>
                            <a:srgbClr val="1A1A1A"/>
                          </a:solidFill>
                          <a:latin typeface="Calibri"/>
                        </a:rPr>
                        <a:t>NVL(DELETE_FLAG,'N')='N'</a:t>
                      </a:r>
                    </a:p>
                    <a:p>
                      <a:pPr algn="l"/>
                      <a:r>
                        <a:rPr sz="950" b="0" i="0">
                          <a:solidFill>
                            <a:srgbClr val="1A1A1A"/>
                          </a:solidFill>
                          <a:latin typeface="Calibri"/>
                        </a:rPr>
                        <a:t>CHG0021184, 03-Jun-2026</a:t>
                      </a:r>
                    </a:p>
                  </a:txBody>
                  <a:tcPr marL="50800" marR="50800" marT="25400" marB="25400" anchor="ctr">
                    <a:solidFill>
                      <a:srgbClr val="FFFFFF"/>
                    </a:solidFill>
                  </a:tcPr>
                </a:tc>
              </a:tr>
              <a:tr h="679268">
                <a:tc>
                  <a:txBody>
                    <a:bodyPr wrap="square"/>
                    <a:lstStyle/>
                    <a:p>
                      <a:pPr algn="l"/>
                      <a:r>
                        <a:rPr sz="950" b="0" i="0">
                          <a:solidFill>
                            <a:srgbClr val="1A1A1A"/>
                          </a:solidFill>
                          <a:latin typeface="Calibri"/>
                        </a:rPr>
                        <a:t>VAR-002</a:t>
                      </a:r>
                    </a:p>
                  </a:txBody>
                  <a:tcPr marL="50800" marR="50800" marT="25400" marB="25400" anchor="ctr">
                    <a:solidFill>
                      <a:srgbClr val="E9ECF1"/>
                    </a:solidFill>
                  </a:tcPr>
                </a:tc>
                <a:tc>
                  <a:txBody>
                    <a:bodyPr wrap="square"/>
                    <a:lstStyle/>
                    <a:p>
                      <a:pPr algn="l"/>
                      <a:r>
                        <a:rPr sz="950" b="0" i="0">
                          <a:solidFill>
                            <a:srgbClr val="1A1A1A"/>
                          </a:solidFill>
                          <a:latin typeface="Calibri"/>
                        </a:rPr>
                        <a:t>DQ-R-21</a:t>
                      </a:r>
                    </a:p>
                  </a:txBody>
                  <a:tcPr marL="50800" marR="50800" marT="25400" marB="25400" anchor="ctr">
                    <a:solidFill>
                      <a:srgbClr val="E9ECF1"/>
                    </a:solidFill>
                  </a:tcPr>
                </a:tc>
                <a:tc>
                  <a:txBody>
                    <a:bodyPr wrap="square"/>
                    <a:lstStyle/>
                    <a:p>
                      <a:pPr algn="l"/>
                      <a:r>
                        <a:rPr sz="950" b="0" i="0">
                          <a:solidFill>
                            <a:srgbClr val="1A1A1A"/>
                          </a:solidFill>
                          <a:latin typeface="Calibri"/>
                        </a:rPr>
                        <a:t>INR 90 L</a:t>
                      </a:r>
                    </a:p>
                    <a:p>
                      <a:pPr algn="l"/>
                      <a:r>
                        <a:rPr sz="950" b="0" i="0">
                          <a:solidFill>
                            <a:srgbClr val="1A1A1A"/>
                          </a:solidFill>
                          <a:latin typeface="Calibri"/>
                        </a:rPr>
                        <a:t>(89,74,200)</a:t>
                      </a:r>
                    </a:p>
                  </a:txBody>
                  <a:tcPr marL="50800" marR="50800" marT="25400" marB="25400" anchor="ctr">
                    <a:solidFill>
                      <a:srgbClr val="E9ECF1"/>
                    </a:solidFill>
                  </a:tcPr>
                </a:tc>
                <a:tc>
                  <a:txBody>
                    <a:bodyPr wrap="square"/>
                    <a:lstStyle/>
                    <a:p>
                      <a:pPr algn="l"/>
                      <a:r>
                        <a:rPr sz="950" b="0" i="0">
                          <a:solidFill>
                            <a:srgbClr val="1A1A1A"/>
                          </a:solidFill>
                          <a:latin typeface="Calibri"/>
                        </a:rPr>
                        <a:t>Karthik Subramanian</a:t>
                      </a:r>
                    </a:p>
                  </a:txBody>
                  <a:tcPr marL="50800" marR="50800" marT="25400" marB="25400" anchor="ctr">
                    <a:solidFill>
                      <a:srgbClr val="E9ECF1"/>
                    </a:solidFill>
                  </a:tcPr>
                </a:tc>
                <a:tc>
                  <a:txBody>
                    <a:bodyPr wrap="square"/>
                    <a:lstStyle/>
                    <a:p>
                      <a:pPr algn="l"/>
                      <a:r>
                        <a:rPr sz="950" b="0" i="0">
                          <a:solidFill>
                            <a:srgbClr val="1A1A1A"/>
                          </a:solidFill>
                          <a:latin typeface="Calibri"/>
                        </a:rPr>
                        <a:t>Closed 12-Jun-2026</a:t>
                      </a:r>
                    </a:p>
                  </a:txBody>
                  <a:tcPr marL="50800" marR="50800" marT="25400" marB="25400" anchor="ctr">
                    <a:solidFill>
                      <a:srgbClr val="E9ECF1"/>
                    </a:solidFill>
                  </a:tcPr>
                </a:tc>
                <a:tc>
                  <a:txBody>
                    <a:bodyPr wrap="square"/>
                    <a:lstStyle/>
                    <a:p>
                      <a:pPr algn="l"/>
                      <a:r>
                        <a:rPr sz="950" b="0" i="0">
                          <a:solidFill>
                            <a:srgbClr val="1A1A1A"/>
                          </a:solidFill>
                          <a:latin typeface="Calibri"/>
                        </a:rPr>
                        <a:t>DATE_KEY from INVOICE_DT</a:t>
                      </a:r>
                    </a:p>
                    <a:p>
                      <a:pPr algn="l"/>
                      <a:r>
                        <a:rPr sz="950" b="0" i="0">
                          <a:solidFill>
                            <a:srgbClr val="1A1A1A"/>
                          </a:solidFill>
                          <a:latin typeface="Calibri"/>
                        </a:rPr>
                        <a:t>ADR-005 / CHG0021207, 03-Jun-2026</a:t>
                      </a:r>
                    </a:p>
                  </a:txBody>
                  <a:tcPr marL="50800" marR="50800" marT="25400" marB="25400" anchor="ctr">
                    <a:solidFill>
                      <a:srgbClr val="E9ECF1"/>
                    </a:solidFill>
                  </a:tcPr>
                </a:tc>
              </a:tr>
              <a:tr h="679268">
                <a:tc>
                  <a:txBody>
                    <a:bodyPr wrap="square"/>
                    <a:lstStyle/>
                    <a:p>
                      <a:pPr algn="l"/>
                      <a:r>
                        <a:rPr sz="950" b="0" i="0">
                          <a:solidFill>
                            <a:srgbClr val="1A1A1A"/>
                          </a:solidFill>
                          <a:latin typeface="Calibri"/>
                        </a:rPr>
                        <a:t>VAR-003</a:t>
                      </a:r>
                    </a:p>
                  </a:txBody>
                  <a:tcPr marL="50800" marR="50800" marT="25400" marB="25400" anchor="ctr">
                    <a:solidFill>
                      <a:srgbClr val="FFFFFF"/>
                    </a:solidFill>
                  </a:tcPr>
                </a:tc>
                <a:tc>
                  <a:txBody>
                    <a:bodyPr wrap="square"/>
                    <a:lstStyle/>
                    <a:p>
                      <a:pPr algn="l"/>
                      <a:r>
                        <a:rPr sz="950" b="0" i="0">
                          <a:solidFill>
                            <a:srgbClr val="1A1A1A"/>
                          </a:solidFill>
                          <a:latin typeface="Calibri"/>
                        </a:rPr>
                        <a:t>DQ-R-09</a:t>
                      </a:r>
                    </a:p>
                  </a:txBody>
                  <a:tcPr marL="50800" marR="50800" marT="25400" marB="25400" anchor="ctr">
                    <a:solidFill>
                      <a:srgbClr val="FFFFFF"/>
                    </a:solidFill>
                  </a:tcPr>
                </a:tc>
                <a:tc>
                  <a:txBody>
                    <a:bodyPr wrap="square"/>
                    <a:lstStyle/>
                    <a:p>
                      <a:pPr algn="l"/>
                      <a:r>
                        <a:rPr sz="950" b="0" i="0">
                          <a:solidFill>
                            <a:srgbClr val="1A1A1A"/>
                          </a:solidFill>
                          <a:latin typeface="Calibri"/>
                        </a:rPr>
                        <a:t>INR 1.7 Cr</a:t>
                      </a:r>
                    </a:p>
                    <a:p>
                      <a:pPr algn="l"/>
                      <a:r>
                        <a:rPr sz="950" b="0" i="0">
                          <a:solidFill>
                            <a:srgbClr val="1A1A1A"/>
                          </a:solidFill>
                          <a:latin typeface="Calibri"/>
                        </a:rPr>
                        <a:t>(1,68,90,000)</a:t>
                      </a:r>
                    </a:p>
                  </a:txBody>
                  <a:tcPr marL="50800" marR="50800" marT="25400" marB="25400" anchor="ctr">
                    <a:solidFill>
                      <a:srgbClr val="FFFFFF"/>
                    </a:solidFill>
                  </a:tcPr>
                </a:tc>
                <a:tc>
                  <a:txBody>
                    <a:bodyPr wrap="square"/>
                    <a:lstStyle/>
                    <a:p>
                      <a:pPr algn="l"/>
                      <a:r>
                        <a:rPr sz="950" b="0" i="0">
                          <a:solidFill>
                            <a:srgbClr val="1A1A1A"/>
                          </a:solidFill>
                          <a:latin typeface="Calibri"/>
                        </a:rPr>
                        <a:t>-</a:t>
                      </a:r>
                    </a:p>
                  </a:txBody>
                  <a:tcPr marL="50800" marR="50800" marT="25400" marB="25400" anchor="ctr">
                    <a:solidFill>
                      <a:srgbClr val="FFFFFF"/>
                    </a:solidFill>
                  </a:tcPr>
                </a:tc>
                <a:tc>
                  <a:txBody>
                    <a:bodyPr wrap="square"/>
                    <a:lstStyle/>
                    <a:p>
                      <a:pPr algn="l"/>
                      <a:r>
                        <a:rPr sz="950" b="0" i="0">
                          <a:solidFill>
                            <a:srgbClr val="1A1A1A"/>
                          </a:solidFill>
                          <a:latin typeface="Calibri"/>
                        </a:rPr>
                        <a:t>Open</a:t>
                      </a:r>
                    </a:p>
                  </a:txBody>
                  <a:tcPr marL="50800" marR="50800" marT="25400" marB="25400" anchor="ctr">
                    <a:solidFill>
                      <a:srgbClr val="FFFFFF"/>
                    </a:solidFill>
                  </a:tcPr>
                </a:tc>
                <a:tc>
                  <a:txBody>
                    <a:bodyPr wrap="square"/>
                    <a:lstStyle/>
                    <a:p>
                      <a:pPr algn="l"/>
                      <a:r>
                        <a:rPr sz="950" b="0" i="0">
                          <a:solidFill>
                            <a:srgbClr val="1A1A1A"/>
                          </a:solidFill>
                          <a:latin typeface="Calibri"/>
                        </a:rPr>
                        <a:t>Root-cause sprint continuing. Not a DQ item, see architecture workstream</a:t>
                      </a:r>
                    </a:p>
                  </a:txBody>
                  <a:tcPr marL="50800" marR="50800" marT="25400" marB="25400" anchor="ctr">
                    <a:solidFill>
                      <a:srgbClr val="FFFFFF"/>
                    </a:solidFill>
                  </a:tcPr>
                </a:tc>
              </a:tr>
              <a:tr h="679268">
                <a:tc>
                  <a:txBody>
                    <a:bodyPr wrap="square"/>
                    <a:lstStyle/>
                    <a:p>
                      <a:pPr algn="l"/>
                      <a:r>
                        <a:rPr sz="950" b="0" i="0">
                          <a:solidFill>
                            <a:srgbClr val="1A1A1A"/>
                          </a:solidFill>
                          <a:latin typeface="Calibri"/>
                        </a:rPr>
                        <a:t>VAR-004</a:t>
                      </a:r>
                    </a:p>
                  </a:txBody>
                  <a:tcPr marL="50800" marR="50800" marT="25400" marB="25400" anchor="ctr">
                    <a:solidFill>
                      <a:srgbClr val="E9ECF1"/>
                    </a:solidFill>
                  </a:tcPr>
                </a:tc>
                <a:tc>
                  <a:txBody>
                    <a:bodyPr wrap="square"/>
                    <a:lstStyle/>
                    <a:p>
                      <a:pPr algn="l"/>
                      <a:r>
                        <a:rPr sz="950" b="0" i="0">
                          <a:solidFill>
                            <a:srgbClr val="1A1A1A"/>
                          </a:solidFill>
                          <a:latin typeface="Calibri"/>
                        </a:rPr>
                        <a:t>DQ-R-07 / DQ-R-23</a:t>
                      </a:r>
                    </a:p>
                  </a:txBody>
                  <a:tcPr marL="50800" marR="50800" marT="25400" marB="25400" anchor="ctr">
                    <a:solidFill>
                      <a:srgbClr val="E9ECF1"/>
                    </a:solidFill>
                  </a:tcPr>
                </a:tc>
                <a:tc>
                  <a:txBody>
                    <a:bodyPr wrap="square"/>
                    <a:lstStyle/>
                    <a:p>
                      <a:pPr algn="l"/>
                      <a:r>
                        <a:rPr sz="950" b="0" i="0">
                          <a:solidFill>
                            <a:srgbClr val="1A1A1A"/>
                          </a:solidFill>
                          <a:latin typeface="Calibri"/>
                        </a:rPr>
                        <a:t>INR 65 L</a:t>
                      </a:r>
                    </a:p>
                    <a:p>
                      <a:pPr algn="l"/>
                      <a:r>
                        <a:rPr sz="950" b="0" i="0">
                          <a:solidFill>
                            <a:srgbClr val="1A1A1A"/>
                          </a:solidFill>
                          <a:latin typeface="Calibri"/>
                        </a:rPr>
                        <a:t>(64,80,500)</a:t>
                      </a:r>
                    </a:p>
                  </a:txBody>
                  <a:tcPr marL="50800" marR="50800" marT="25400" marB="25400" anchor="ctr">
                    <a:solidFill>
                      <a:srgbClr val="E9ECF1"/>
                    </a:solidFill>
                  </a:tcPr>
                </a:tc>
                <a:tc>
                  <a:txBody>
                    <a:bodyPr wrap="square"/>
                    <a:lstStyle/>
                    <a:p>
                      <a:pPr algn="l"/>
                      <a:r>
                        <a:rPr sz="950" b="0" i="0">
                          <a:solidFill>
                            <a:srgbClr val="1A1A1A"/>
                          </a:solidFill>
                          <a:latin typeface="Calibri"/>
                        </a:rPr>
                        <a:t>Farida Contractor</a:t>
                      </a:r>
                    </a:p>
                  </a:txBody>
                  <a:tcPr marL="50800" marR="50800" marT="25400" marB="25400" anchor="ctr">
                    <a:solidFill>
                      <a:srgbClr val="E9ECF1"/>
                    </a:solidFill>
                  </a:tcPr>
                </a:tc>
                <a:tc>
                  <a:txBody>
                    <a:bodyPr wrap="square"/>
                    <a:lstStyle/>
                    <a:p>
                      <a:pPr algn="l"/>
                      <a:r>
                        <a:rPr sz="950" b="0" i="0">
                          <a:solidFill>
                            <a:srgbClr val="1A1A1A"/>
                          </a:solidFill>
                          <a:latin typeface="Calibri"/>
                        </a:rPr>
                        <a:t>Open</a:t>
                      </a:r>
                    </a:p>
                  </a:txBody>
                  <a:tcPr marL="50800" marR="50800" marT="25400" marB="25400" anchor="ctr">
                    <a:solidFill>
                      <a:srgbClr val="E9ECF1"/>
                    </a:solidFill>
                  </a:tcPr>
                </a:tc>
                <a:tc>
                  <a:txBody>
                    <a:bodyPr wrap="square"/>
                    <a:lstStyle/>
                    <a:p>
                      <a:pPr algn="l"/>
                      <a:r>
                        <a:rPr sz="950" b="0" i="0">
                          <a:solidFill>
                            <a:srgbClr val="1A1A1A"/>
                          </a:solidFill>
                          <a:latin typeface="Calibri"/>
                        </a:rPr>
                        <a:t>Effective-dating fix, targeted 03-Jul-2026</a:t>
                      </a:r>
                    </a:p>
                  </a:txBody>
                  <a:tcPr marL="50800" marR="50800" marT="25400" marB="25400" anchor="ctr">
                    <a:solidFill>
                      <a:srgbClr val="E9ECF1"/>
                    </a:solidFill>
                  </a:tcPr>
                </a:tc>
              </a:tr>
              <a:tr h="679268">
                <a:tc>
                  <a:txBody>
                    <a:bodyPr wrap="square"/>
                    <a:lstStyle/>
                    <a:p>
                      <a:pPr algn="l"/>
                      <a:r>
                        <a:rPr sz="950" b="0" i="0">
                          <a:solidFill>
                            <a:srgbClr val="1A1A1A"/>
                          </a:solidFill>
                          <a:latin typeface="Calibri"/>
                        </a:rPr>
                        <a:t>VAR-006</a:t>
                      </a:r>
                    </a:p>
                  </a:txBody>
                  <a:tcPr marL="50800" marR="50800" marT="25400" marB="25400" anchor="ctr">
                    <a:solidFill>
                      <a:srgbClr val="FFFFFF"/>
                    </a:solidFill>
                  </a:tcPr>
                </a:tc>
                <a:tc>
                  <a:txBody>
                    <a:bodyPr wrap="square"/>
                    <a:lstStyle/>
                    <a:p>
                      <a:pPr algn="l"/>
                      <a:r>
                        <a:rPr sz="950" b="0" i="0">
                          <a:solidFill>
                            <a:srgbClr val="1A1A1A"/>
                          </a:solidFill>
                          <a:latin typeface="Calibri"/>
                        </a:rPr>
                        <a:t>DQ-R-15</a:t>
                      </a:r>
                    </a:p>
                  </a:txBody>
                  <a:tcPr marL="50800" marR="50800" marT="25400" marB="25400" anchor="ctr">
                    <a:solidFill>
                      <a:srgbClr val="FFFFFF"/>
                    </a:solidFill>
                  </a:tcPr>
                </a:tc>
                <a:tc>
                  <a:txBody>
                    <a:bodyPr wrap="square"/>
                    <a:lstStyle/>
                    <a:p>
                      <a:pPr algn="l"/>
                      <a:r>
                        <a:rPr sz="950" b="0" i="0">
                          <a:solidFill>
                            <a:srgbClr val="1A1A1A"/>
                          </a:solidFill>
                          <a:latin typeface="Calibri"/>
                        </a:rPr>
                        <a:t>INR 40 L</a:t>
                      </a:r>
                    </a:p>
                    <a:p>
                      <a:pPr algn="l"/>
                      <a:r>
                        <a:rPr sz="950" b="0" i="0">
                          <a:solidFill>
                            <a:srgbClr val="1A1A1A"/>
                          </a:solidFill>
                          <a:latin typeface="Calibri"/>
                        </a:rPr>
                        <a:t>(39,60,000)</a:t>
                      </a:r>
                    </a:p>
                  </a:txBody>
                  <a:tcPr marL="50800" marR="50800" marT="25400" marB="25400" anchor="ctr">
                    <a:solidFill>
                      <a:srgbClr val="FFFFFF"/>
                    </a:solidFill>
                  </a:tcPr>
                </a:tc>
                <a:tc>
                  <a:txBody>
                    <a:bodyPr wrap="square"/>
                    <a:lstStyle/>
                    <a:p>
                      <a:pPr algn="l"/>
                      <a:r>
                        <a:rPr sz="950" b="0" i="0">
                          <a:solidFill>
                            <a:srgbClr val="1A1A1A"/>
                          </a:solidFill>
                          <a:latin typeface="Calibri"/>
                        </a:rPr>
                        <a:t>Neha Gokhale</a:t>
                      </a:r>
                    </a:p>
                  </a:txBody>
                  <a:tcPr marL="50800" marR="50800" marT="25400" marB="25400" anchor="ctr">
                    <a:solidFill>
                      <a:srgbClr val="FFFFFF"/>
                    </a:solidFill>
                  </a:tcPr>
                </a:tc>
                <a:tc>
                  <a:txBody>
                    <a:bodyPr wrap="square"/>
                    <a:lstStyle/>
                    <a:p>
                      <a:pPr algn="l"/>
                      <a:r>
                        <a:rPr sz="950" b="0" i="0">
                          <a:solidFill>
                            <a:srgbClr val="1A1A1A"/>
                          </a:solidFill>
                          <a:latin typeface="Calibri"/>
                        </a:rPr>
                        <a:t>Open, new this cycle</a:t>
                      </a:r>
                    </a:p>
                  </a:txBody>
                  <a:tcPr marL="50800" marR="50800" marT="25400" marB="25400" anchor="ctr">
                    <a:solidFill>
                      <a:srgbClr val="FFFFFF"/>
                    </a:solidFill>
                  </a:tcPr>
                </a:tc>
                <a:tc>
                  <a:txBody>
                    <a:bodyPr wrap="square"/>
                    <a:lstStyle/>
                    <a:p>
                      <a:pPr algn="l"/>
                      <a:r>
                        <a:rPr sz="950" b="0" i="0">
                          <a:solidFill>
                            <a:srgbClr val="1A1A1A"/>
                          </a:solidFill>
                          <a:latin typeface="Calibri"/>
                        </a:rPr>
                        <a:t>DIM_TAX_RATE, CHG0021339, targeted 26-Aug-2026</a:t>
                      </a:r>
                    </a:p>
                  </a:txBody>
                  <a:tcPr marL="50800" marR="50800" marT="25400" marB="25400" anchor="ctr">
                    <a:solidFill>
                      <a:srgbClr val="FFFFFF"/>
                    </a:solidFill>
                  </a:tcPr>
                </a:tc>
              </a:tr>
              <a:tr h="679272">
                <a:tc>
                  <a:txBody>
                    <a:bodyPr wrap="square"/>
                    <a:lstStyle/>
                    <a:p>
                      <a:pPr algn="l"/>
                      <a:r>
                        <a:rPr sz="950" b="0" i="0">
                          <a:solidFill>
                            <a:srgbClr val="1A1A1A"/>
                          </a:solidFill>
                          <a:latin typeface="Calibri"/>
                        </a:rPr>
                        <a:t>VAR-007</a:t>
                      </a:r>
                    </a:p>
                  </a:txBody>
                  <a:tcPr marL="50800" marR="50800" marT="25400" marB="25400" anchor="ctr">
                    <a:solidFill>
                      <a:srgbClr val="E9ECF1"/>
                    </a:solidFill>
                  </a:tcPr>
                </a:tc>
                <a:tc>
                  <a:txBody>
                    <a:bodyPr wrap="square"/>
                    <a:lstStyle/>
                    <a:p>
                      <a:pPr algn="l"/>
                      <a:r>
                        <a:rPr sz="950" b="0" i="0">
                          <a:solidFill>
                            <a:srgbClr val="1A1A1A"/>
                          </a:solidFill>
                          <a:latin typeface="Calibri"/>
                        </a:rPr>
                        <a:t>DQ-R-04</a:t>
                      </a:r>
                    </a:p>
                  </a:txBody>
                  <a:tcPr marL="50800" marR="50800" marT="25400" marB="25400" anchor="ctr">
                    <a:solidFill>
                      <a:srgbClr val="E9ECF1"/>
                    </a:solidFill>
                  </a:tcPr>
                </a:tc>
                <a:tc>
                  <a:txBody>
                    <a:bodyPr wrap="square"/>
                    <a:lstStyle/>
                    <a:p>
                      <a:pPr algn="l"/>
                      <a:r>
                        <a:rPr sz="950" b="0" i="0">
                          <a:solidFill>
                            <a:srgbClr val="1A1A1A"/>
                          </a:solidFill>
                          <a:latin typeface="Calibri"/>
                        </a:rPr>
                        <a:t>2.0% of invoiced volume</a:t>
                      </a:r>
                    </a:p>
                    <a:p>
                      <a:pPr algn="l"/>
                      <a:r>
                        <a:rPr sz="950" b="0" i="0">
                          <a:solidFill>
                            <a:srgbClr val="1A1A1A"/>
                          </a:solidFill>
                          <a:latin typeface="Calibri"/>
                        </a:rPr>
                        <a:t>(not monetised)</a:t>
                      </a:r>
                    </a:p>
                  </a:txBody>
                  <a:tcPr marL="50800" marR="50800" marT="25400" marB="25400" anchor="ctr">
                    <a:solidFill>
                      <a:srgbClr val="E9ECF1"/>
                    </a:solidFill>
                  </a:tcPr>
                </a:tc>
                <a:tc>
                  <a:txBody>
                    <a:bodyPr wrap="square"/>
                    <a:lstStyle/>
                    <a:p>
                      <a:pPr algn="l"/>
                      <a:r>
                        <a:rPr sz="950" b="0" i="0">
                          <a:solidFill>
                            <a:srgbClr val="1A1A1A"/>
                          </a:solidFill>
                          <a:latin typeface="Calibri"/>
                        </a:rPr>
                        <a:t>Ritwik Ghosh</a:t>
                      </a:r>
                    </a:p>
                  </a:txBody>
                  <a:tcPr marL="50800" marR="50800" marT="25400" marB="25400" anchor="ctr">
                    <a:solidFill>
                      <a:srgbClr val="E9ECF1"/>
                    </a:solidFill>
                  </a:tcPr>
                </a:tc>
                <a:tc>
                  <a:txBody>
                    <a:bodyPr wrap="square"/>
                    <a:lstStyle/>
                    <a:p>
                      <a:pPr algn="l"/>
                      <a:r>
                        <a:rPr sz="950" b="0" i="0">
                          <a:solidFill>
                            <a:srgbClr val="1A1A1A"/>
                          </a:solidFill>
                          <a:latin typeface="Calibri"/>
                        </a:rPr>
                        <a:t>Open, new this cycle</a:t>
                      </a:r>
                    </a:p>
                  </a:txBody>
                  <a:tcPr marL="50800" marR="50800" marT="25400" marB="25400" anchor="ctr">
                    <a:solidFill>
                      <a:srgbClr val="E9ECF1"/>
                    </a:solidFill>
                  </a:tcPr>
                </a:tc>
                <a:tc>
                  <a:txBody>
                    <a:bodyPr wrap="square"/>
                    <a:lstStyle/>
                    <a:p>
                      <a:pPr algn="l"/>
                      <a:r>
                        <a:rPr sz="950" b="0" i="0">
                          <a:solidFill>
                            <a:srgbClr val="1A1A1A"/>
                          </a:solidFill>
                          <a:latin typeface="Calibri"/>
                        </a:rPr>
                        <a:t>Late-arriving dimension handling, design pending</a:t>
                      </a:r>
                    </a:p>
                  </a:txBody>
                  <a:tcPr marL="50800" marR="50800" marT="25400" marB="25400" anchor="ctr">
                    <a:solidFill>
                      <a:srgbClr val="E9ECF1"/>
                    </a:solidFill>
                  </a:tcPr>
                </a:tc>
              </a:tr>
            </a:tbl>
          </a:graphicData>
        </a:graphic>
      </p:graphicFrame>
      <p:sp>
        <p:nvSpPr>
          <p:cNvPr id="6" name="TextBox 5"/>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7" name="TextBox 6"/>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CUMULATIVE VARIANCE</a:t>
            </a:r>
          </a:p>
        </p:txBody>
      </p:sp>
      <p:sp>
        <p:nvSpPr>
          <p:cNvPr id="3" name="TextBox 2"/>
          <p:cNvSpPr txBox="1"/>
          <p:nvPr/>
        </p:nvSpPr>
        <p:spPr>
          <a:xfrm>
            <a:off x="457200" y="292608"/>
            <a:ext cx="11247120" cy="640080"/>
          </a:xfrm>
          <a:prstGeom prst="rect">
            <a:avLst/>
          </a:prstGeom>
          <a:noFill/>
        </p:spPr>
        <p:txBody>
          <a:bodyPr wrap="square">
            <a:spAutoFit/>
          </a:bodyPr>
          <a:lstStyle/>
          <a:p>
            <a:pPr>
              <a:defRPr sz="2600" b="1">
                <a:solidFill>
                  <a:srgbClr val="1B2A4A"/>
                </a:solidFill>
                <a:latin typeface="Calibri"/>
              </a:defRPr>
            </a:pPr>
            <a:r>
              <a:t>Cumulative quantified variance: INR 13.15 Cr</a:t>
            </a:r>
          </a:p>
        </p:txBody>
      </p:sp>
      <p:sp>
        <p:nvSpPr>
          <p:cNvPr id="4" name="Rectangle 3"/>
          <p:cNvSpPr/>
          <p:nvPr/>
        </p:nvSpPr>
        <p:spPr>
          <a:xfrm>
            <a:off x="457200" y="91440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2377440"/>
          </a:xfrm>
          <a:prstGeom prst="rect">
            <a:avLst/>
          </a:prstGeom>
          <a:noFill/>
        </p:spPr>
        <p:txBody>
          <a:bodyPr wrap="square">
            <a:spAutoFit/>
          </a:bodyPr>
          <a:lstStyle/>
          <a:p>
            <a:pPr>
              <a:lnSpc>
                <a:spcPct val="112000"/>
              </a:lnSpc>
              <a:spcAft>
                <a:spcPts val="600"/>
              </a:spcAft>
              <a:defRPr sz="1700">
                <a:solidFill>
                  <a:srgbClr val="1A1A1A"/>
                </a:solidFill>
                <a:latin typeface="Calibri"/>
              </a:defRPr>
            </a:pPr>
            <a:r>
              <a:t>• Includes all items identified through this assessment cycle</a:t>
            </a:r>
          </a:p>
          <a:p>
            <a:pPr>
              <a:lnSpc>
                <a:spcPct val="112000"/>
              </a:lnSpc>
              <a:spcAft>
                <a:spcPts val="600"/>
              </a:spcAft>
              <a:defRPr sz="1700">
                <a:solidFill>
                  <a:srgbClr val="1A1A1A"/>
                </a:solidFill>
                <a:latin typeface="Calibri"/>
              </a:defRPr>
            </a:pPr>
            <a:r>
              <a:t>• VAR-007 is tracked as a volume percentage, not converted to money, see the previous slide for why</a:t>
            </a:r>
          </a:p>
          <a:p>
            <a:pPr>
              <a:lnSpc>
                <a:spcPct val="112000"/>
              </a:lnSpc>
              <a:spcAft>
                <a:spcPts val="600"/>
              </a:spcAft>
              <a:defRPr sz="1700">
                <a:solidFill>
                  <a:srgbClr val="1A1A1A"/>
                </a:solidFill>
                <a:latin typeface="Calibri"/>
              </a:defRPr>
            </a:pPr>
            <a:r>
              <a:t>• Additional variance items sit on the master tracker outside the data quality workstream and are not itemised in this deck</a:t>
            </a:r>
          </a:p>
          <a:p>
            <a:pPr>
              <a:lnSpc>
                <a:spcPct val="112000"/>
              </a:lnSpc>
              <a:spcAft>
                <a:spcPts val="600"/>
              </a:spcAft>
              <a:defRPr sz="1700">
                <a:solidFill>
                  <a:srgbClr val="1A1A1A"/>
                </a:solidFill>
                <a:latin typeface="Calibri"/>
              </a:defRPr>
            </a:pPr>
            <a:r>
              <a:t>• Full register: variance tracker (Sneha Pillai maintains the master copy)</a:t>
            </a:r>
          </a:p>
        </p:txBody>
      </p:sp>
      <p:sp>
        <p:nvSpPr>
          <p:cNvPr id="6" name="TextBox 5"/>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7" name="TextBox 6"/>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7315200" cy="274320"/>
          </a:xfrm>
          <a:prstGeom prst="rect">
            <a:avLst/>
          </a:prstGeom>
          <a:noFill/>
        </p:spPr>
        <p:txBody>
          <a:bodyPr wrap="none">
            <a:spAutoFit/>
          </a:bodyPr>
          <a:lstStyle/>
          <a:p>
            <a:pPr>
              <a:defRPr sz="1100" b="1">
                <a:solidFill>
                  <a:srgbClr val="B03A2E"/>
                </a:solidFill>
                <a:latin typeface="Calibri"/>
              </a:defRPr>
            </a:pPr>
            <a:r>
              <a:t>NEXT STEPS</a:t>
            </a:r>
          </a:p>
        </p:txBody>
      </p:sp>
      <p:sp>
        <p:nvSpPr>
          <p:cNvPr id="3" name="TextBox 2"/>
          <p:cNvSpPr txBox="1"/>
          <p:nvPr/>
        </p:nvSpPr>
        <p:spPr>
          <a:xfrm>
            <a:off x="457200" y="292608"/>
            <a:ext cx="11247120" cy="777240"/>
          </a:xfrm>
          <a:prstGeom prst="rect">
            <a:avLst/>
          </a:prstGeom>
          <a:noFill/>
        </p:spPr>
        <p:txBody>
          <a:bodyPr wrap="square">
            <a:spAutoFit/>
          </a:bodyPr>
          <a:lstStyle/>
          <a:p>
            <a:pPr>
              <a:defRPr sz="2800" b="1">
                <a:solidFill>
                  <a:srgbClr val="1B2A4A"/>
                </a:solidFill>
                <a:latin typeface="Calibri"/>
              </a:defRPr>
            </a:pPr>
            <a:r>
              <a:t>Next steps</a:t>
            </a:r>
          </a:p>
        </p:txBody>
      </p:sp>
      <p:sp>
        <p:nvSpPr>
          <p:cNvPr id="4" name="Rectangle 3"/>
          <p:cNvSpPr/>
          <p:nvPr/>
        </p:nvSpPr>
        <p:spPr>
          <a:xfrm>
            <a:off x="457200" y="1051560"/>
            <a:ext cx="2926080" cy="30480"/>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0972800" cy="4846320"/>
          </a:xfrm>
          <a:prstGeom prst="rect">
            <a:avLst/>
          </a:prstGeom>
          <a:noFill/>
        </p:spPr>
        <p:txBody>
          <a:bodyPr wrap="square">
            <a:spAutoFit/>
          </a:bodyPr>
          <a:lstStyle/>
          <a:p>
            <a:pPr>
              <a:lnSpc>
                <a:spcPct val="112000"/>
              </a:lnSpc>
              <a:spcAft>
                <a:spcPts val="600"/>
              </a:spcAft>
              <a:defRPr sz="1600">
                <a:solidFill>
                  <a:srgbClr val="1A1A1A"/>
                </a:solidFill>
                <a:latin typeface="Calibri"/>
              </a:defRPr>
            </a:pPr>
            <a:r>
              <a:t>• Circulate this deck and the DQ profiling workbook - Neha Gokhale, 18-Jun-2026 (today)</a:t>
            </a:r>
          </a:p>
          <a:p>
            <a:pPr>
              <a:lnSpc>
                <a:spcPct val="112000"/>
              </a:lnSpc>
              <a:spcAft>
                <a:spcPts val="600"/>
              </a:spcAft>
              <a:defRPr sz="1600">
                <a:solidFill>
                  <a:srgbClr val="1A1A1A"/>
                </a:solidFill>
                <a:latin typeface="Calibri"/>
              </a:defRPr>
            </a:pPr>
            <a:r>
              <a:t>• Confirm order line to header orphan count and fill rate impact - Ishaan Bhatt, 26-Jun-2026</a:t>
            </a:r>
          </a:p>
          <a:p>
            <a:pPr>
              <a:lnSpc>
                <a:spcPct val="112000"/>
              </a:lnSpc>
              <a:spcAft>
                <a:spcPts val="600"/>
              </a:spcAft>
              <a:defRPr sz="1600">
                <a:solidFill>
                  <a:srgbClr val="1A1A1A"/>
                </a:solidFill>
                <a:latin typeface="Calibri"/>
              </a:defRPr>
            </a:pPr>
            <a:r>
              <a:t>• Propose a GSTIN format validity rule for the next rule set - Neha Gokhale, 10-Jul-2026</a:t>
            </a:r>
          </a:p>
          <a:p>
            <a:pPr>
              <a:lnSpc>
                <a:spcPct val="112000"/>
              </a:lnSpc>
              <a:spcAft>
                <a:spcPts val="600"/>
              </a:spcAft>
              <a:defRPr sz="1600">
                <a:solidFill>
                  <a:srgbClr val="1A1A1A"/>
                </a:solidFill>
                <a:latin typeface="Calibri"/>
              </a:defRPr>
            </a:pPr>
            <a:r>
              <a:t>• Re-profile DIM_CUSTOMER after the June release, confirm the 18 is down - Meghna Rao, 26-Jun-2026</a:t>
            </a:r>
          </a:p>
          <a:p>
            <a:pPr>
              <a:lnSpc>
                <a:spcPct val="112000"/>
              </a:lnSpc>
              <a:spcAft>
                <a:spcPts val="600"/>
              </a:spcAft>
              <a:defRPr sz="1600">
                <a:solidFill>
                  <a:srgbClr val="1A1A1A"/>
                </a:solidFill>
                <a:latin typeface="Calibri"/>
              </a:defRPr>
            </a:pPr>
            <a:r>
              <a:t>• Fix DIM_CUSTOMER effective dating (VAR-004) so only one row carries CURRENT_FLG='Y' - Farida Contractor, 03-Jul-2026</a:t>
            </a:r>
          </a:p>
          <a:p>
            <a:pPr>
              <a:lnSpc>
                <a:spcPct val="112000"/>
              </a:lnSpc>
              <a:spcAft>
                <a:spcPts val="600"/>
              </a:spcAft>
              <a:defRPr sz="1600">
                <a:solidFill>
                  <a:srgbClr val="1A1A1A"/>
                </a:solidFill>
                <a:latin typeface="Calibri"/>
              </a:defRPr>
            </a:pPr>
            <a:r>
              <a:t>• Raise VAR-006 formally, put a remediation option on the tracker - Neha Gokhale, 24-Jun-2026</a:t>
            </a:r>
          </a:p>
          <a:p>
            <a:pPr>
              <a:lnSpc>
                <a:spcPct val="112000"/>
              </a:lnSpc>
              <a:spcAft>
                <a:spcPts val="600"/>
              </a:spcAft>
              <a:defRPr sz="1600">
                <a:solidFill>
                  <a:srgbClr val="1A1A1A"/>
                </a:solidFill>
                <a:latin typeface="Calibri"/>
              </a:defRPr>
            </a:pPr>
            <a:r>
              <a:t>• Assign VAR-007 to the reporting workstream - Ananya Krishnan, 24-Jun-2026</a:t>
            </a:r>
          </a:p>
          <a:p>
            <a:pPr>
              <a:lnSpc>
                <a:spcPct val="112000"/>
              </a:lnSpc>
              <a:spcAft>
                <a:spcPts val="600"/>
              </a:spcAft>
              <a:defRPr sz="1600">
                <a:solidFill>
                  <a:srgbClr val="1A1A1A"/>
                </a:solidFill>
                <a:latin typeface="Calibri"/>
              </a:defRPr>
            </a:pPr>
            <a:r>
              <a:t>• Ongoing.</a:t>
            </a:r>
          </a:p>
        </p:txBody>
      </p:sp>
      <p:sp>
        <p:nvSpPr>
          <p:cNvPr id="6" name="TextBox 5"/>
          <p:cNvSpPr txBox="1"/>
          <p:nvPr/>
        </p:nvSpPr>
        <p:spPr>
          <a:xfrm>
            <a:off x="365760" y="6528816"/>
            <a:ext cx="8778240" cy="274320"/>
          </a:xfrm>
          <a:prstGeom prst="rect">
            <a:avLst/>
          </a:prstGeom>
          <a:noFill/>
        </p:spPr>
        <p:txBody>
          <a:bodyPr wrap="none" tIns="0" bIns="0">
            <a:spAutoFit/>
          </a:bodyPr>
          <a:lstStyle/>
          <a:p>
            <a:pPr>
              <a:defRPr sz="800">
                <a:solidFill>
                  <a:srgbClr val="666666"/>
                </a:solidFill>
                <a:latin typeface="Calibri"/>
              </a:defRPr>
            </a:pPr>
            <a:r>
              <a:t>Bharadwaj Consumer Products Ltd  |  Project Drishti  |  CONFIDENTIAL - INTERNAL WORKING DRAFT - NOT FOR EXTERNAL DISTRIBUTION</a:t>
            </a:r>
          </a:p>
        </p:txBody>
      </p:sp>
      <p:sp>
        <p:nvSpPr>
          <p:cNvPr id="7" name="TextBox 6"/>
          <p:cNvSpPr txBox="1"/>
          <p:nvPr/>
        </p:nvSpPr>
        <p:spPr>
          <a:xfrm>
            <a:off x="11521440" y="6528816"/>
            <a:ext cx="457200" cy="274320"/>
          </a:xfrm>
          <a:prstGeom prst="rect">
            <a:avLst/>
          </a:prstGeom>
          <a:noFill/>
        </p:spPr>
        <p:txBody>
          <a:bodyPr wrap="none" tIns="0" bIns="0">
            <a:spAutoFit/>
          </a:bodyPr>
          <a:lstStyle/>
          <a:p>
            <a:pPr algn="r">
              <a:defRPr sz="800">
                <a:solidFill>
                  <a:srgbClr val="66666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063240"/>
            <a:ext cx="10332720" cy="822960"/>
          </a:xfrm>
          <a:prstGeom prst="rect">
            <a:avLst/>
          </a:prstGeom>
          <a:noFill/>
        </p:spPr>
        <p:txBody>
          <a:bodyPr wrap="square">
            <a:spAutoFit/>
          </a:bodyPr>
          <a:lstStyle/>
          <a:p>
            <a:pPr algn="ctr">
              <a:defRPr sz="1600">
                <a:solidFill>
                  <a:srgbClr val="666666"/>
                </a:solidFill>
                <a:latin typeface="Calibri"/>
              </a:defRPr>
            </a:pPr>
            <a: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Drishti - Data Quality Assessment</dc:title>
  <dc:subject>Data quality assessment - Bharadwaj Consumer Products Ltd / Northlane Analytics</dc:subject>
  <dc:creator>Neha Gokhale</dc:creator>
  <cp:keywords/>
  <dc:description>SYNTHETIC — generated for internal demo. No real entity depicted.</dc:description>
  <cp:lastModifiedBy>Neha Gokhale</cp:lastModifiedBy>
  <cp:revision>1</cp:revision>
  <dcterms:created xsi:type="dcterms:W3CDTF">2026-06-16T19:40:00Z</dcterms:created>
  <dcterms:modified xsi:type="dcterms:W3CDTF">2026-06-18T09:05:00Z</dcterms:modified>
  <cp:category>Data Quality</cp:category>
</cp:coreProperties>
</file>