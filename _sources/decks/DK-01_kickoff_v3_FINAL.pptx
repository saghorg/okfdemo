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Venue is the Nashik board room, 4th floor, Andheri East. The wifi in that room drops constantly - if the screen share fails, switch to a hotspot rather than fighting the office network for ten minutes like we did in the dry run. Marijke van der Berg dials in from Amsterdam and is only on for the first twenty minutes (10:30-10:50 her time), so do not schedule her questions for late in the hour - front-load objectives and the plan while she is still on the line. Recording will sit on the site for ninety days per the usual policy, mention that once at the start and do not bring it up again.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 stop at 60 minutes, Rajeev has another call at four. If we are behind by the As-Is section, cut Ways of Working, not the plan slide or the reporting scope slide - those two are what Rajeev actually remembers from any deck of ours. Do not read this out loud, but the version on screen today replaces the copy that went out on Friday - only slide four changed since then, nothing else did, so do not re-litigate the rest of the pack if someone says it looks different from what they printed.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Vikram pushes back that stockist-level reporting is not called out by name, remind him distributor-level reporting is covered under objective one - he uses his own word for the same thing, do not rename the bullet on screen just for him, it will only confuse Priya and Ritwik who use different words again. Keep this slide to two minutes, it is scene setting, not the sale - the sale already happened, the SOW is signed.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ONLY DATE THAT MATTERS TO RAJEEV ON THIS WHOLE DECK: Tuesday 15 September 2026. Say it exactly like that on the call, not 'mid-September', not 'Q3 2026'. If Shalini asks whether the UAT window (10 to 28 August) is realistic given everything scheduled ahead of it, the honest answer is that it is tight and we have said so internally already - do not volunteer that on the call today, answer only if asked directly. Do not read out the phase boundaries in detail. They overlap on purpose at this stage - nobody has reconciled them line by line yet, that happens once discovery findings land.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 (Aniruddh Deshpande) is not on this call today, patching commitment, Rajeev is chasing him for the next session. He was there when ORION was originally built back in 2009 and is genuinely the only person who remembers why some of it is the way it is - nobody else in the room today can go deep on ORION history, so park any vintage question for the OLTP discovery session rather than guessing on this call.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deliberately the busy one - it is doing the job of making the case for the programme, resist tidying it live on screen, the mess is the point today. If someone asks for a number on how bad the data actually is, we do not have one yet - that is the whole point of discovery. Say that plainly rather than guessing at a figure to sound prepared, a wrong number said out loud in this room will follow us for months.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Shalini will ask, in some form, whether we can tie the dashboard back to the trial balance. The honest answer today is that we don't know yet, we have not looked at a single row. Say that plainly rather than reassuring her - she will trust 'we don't know yet, but here is how we will find out' far more than a confident guess. Do not name a rupee figure on this call. We do not have one, and we should not invent one to fill a silence.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Rajeev will ask how many dashboards he is getting. Answer: twelve, D01 through D12, exactly as listed here. That is one of only two numbers he retains from this entire deck - the other is the go-live date on slide four. Do not get pulled into sequencing which of the twelve get built first, that is a conversation for the dashboard workshops later in the programme, not for kickoff.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Karthik's workstream (root cause and data architecture) is the one everything else waits on. If time runs short on the call, protect his slot and cut short the Ways of Working slide instead - governance can be sent round as a follow-up note, discovery approach cannot.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Photos are still pending from HR as of this morning, do not apologise for the placeholders more than once. Ani (Aniruddh Deshpande) is not on today's call either, patching commitment - Rajeev is chasing him for the next session. On the Northlane Analytics side, Ishaan starts next week and Neha comes in around the quality assessment, per Ananya's own line to the room today. Meghna Rao (BCPL, Data Quality Analyst) is not shown on this slide; she formally joins once the Data Quality Assessment phase opens in May, and will not be on most calls before then.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Steerco membership is fixed: Rajeev chairs, Shalini, Vikram, Marijke, Ananya and Karthik sit on it. Sneha takes the minutes and is not formally a member, though she is on every single call so people tend to assume she is - do not correct anyone on this in the room, it does not matter. Get the steerco invites out for the whole year in one go, not month by month, Rajeev asked for that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Farida raises the load window as a risk, acknowledge it warmly and do not commit to a number - nothing has been measured yet, that is deliberately the whole point of discovery. Same answer if anyone asks how bad the data quality actually is: we genuinely do not know, and saying so is the right answer today, not a weak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Ananya owes Shalini and the room a written recap. Sneha's note needs to go out quickly, by tomorrow at the latest - Shalini chases fast if it slips, first with a gentle reminder, then with a much shorter one. Do not let the note wait for the corrected deck to be formatted, send the notes and the deck can follow within the hour if needed.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close - thank the room, remind them Sneha sends the notes and the corrected pack today, and that the first working session is next Tuesday at 16:00 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160520"/>
            <a:ext cx="12191695" cy="54864"/>
          </a:xfrm>
          <a:prstGeom prst="rect">
            <a:avLst/>
          </a:prstGeom>
          <a:solidFill>
            <a:srgbClr val="C78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554480"/>
            <a:ext cx="10515600" cy="457200"/>
          </a:xfrm>
          <a:prstGeom prst="rect">
            <a:avLst/>
          </a:prstGeom>
          <a:noFill/>
        </p:spPr>
        <p:txBody>
          <a:bodyPr wrap="square">
            <a:spAutoFit/>
          </a:bodyPr>
          <a:lstStyle/>
          <a:p>
            <a:pPr algn="l">
              <a:spcAft>
                <a:spcPts val="0"/>
              </a:spcAft>
              <a:buNone/>
            </a:pPr>
            <a:r>
              <a:rPr sz="2000" b="1" i="0">
                <a:solidFill>
                  <a:srgbClr val="C8CED9"/>
                </a:solidFill>
                <a:latin typeface="Calibri"/>
              </a:rPr>
              <a:t>PROJECT DRISHTI</a:t>
            </a:r>
          </a:p>
        </p:txBody>
      </p:sp>
      <p:sp>
        <p:nvSpPr>
          <p:cNvPr id="4" name="TextBox 3"/>
          <p:cNvSpPr txBox="1"/>
          <p:nvPr/>
        </p:nvSpPr>
        <p:spPr>
          <a:xfrm>
            <a:off x="822960" y="1965960"/>
            <a:ext cx="10515600" cy="1280160"/>
          </a:xfrm>
          <a:prstGeom prst="rect">
            <a:avLst/>
          </a:prstGeom>
          <a:noFill/>
        </p:spPr>
        <p:txBody>
          <a:bodyPr wrap="square">
            <a:spAutoFit/>
          </a:bodyPr>
          <a:lstStyle/>
          <a:p>
            <a:pPr algn="l">
              <a:spcAft>
                <a:spcPts val="0"/>
              </a:spcAft>
              <a:buNone/>
            </a:pPr>
            <a:r>
              <a:rPr sz="3800" b="1" i="0">
                <a:solidFill>
                  <a:srgbClr val="FFFFFF"/>
                </a:solidFill>
                <a:latin typeface="Calibri"/>
              </a:rPr>
              <a:t>Kickoff: Data, Analytics &amp; Reporting Transformation</a:t>
            </a:r>
          </a:p>
        </p:txBody>
      </p:sp>
      <p:sp>
        <p:nvSpPr>
          <p:cNvPr id="5" name="TextBox 4"/>
          <p:cNvSpPr txBox="1"/>
          <p:nvPr/>
        </p:nvSpPr>
        <p:spPr>
          <a:xfrm>
            <a:off x="822960" y="2880360"/>
            <a:ext cx="10515600" cy="457200"/>
          </a:xfrm>
          <a:prstGeom prst="rect">
            <a:avLst/>
          </a:prstGeom>
          <a:noFill/>
        </p:spPr>
        <p:txBody>
          <a:bodyPr wrap="square">
            <a:spAutoFit/>
          </a:bodyPr>
          <a:lstStyle/>
          <a:p>
            <a:pPr algn="l">
              <a:spcAft>
                <a:spcPts val="0"/>
              </a:spcAft>
              <a:buNone/>
            </a:pPr>
            <a:r>
              <a:rPr sz="1800" b="0" i="0">
                <a:solidFill>
                  <a:srgbClr val="C8CED9"/>
                </a:solidFill>
                <a:latin typeface="Calibri"/>
              </a:rPr>
              <a:t>Prepared for Bharadwaj Consumer Products Ltd, by Northlane Analytics</a:t>
            </a:r>
          </a:p>
        </p:txBody>
      </p:sp>
      <p:sp>
        <p:nvSpPr>
          <p:cNvPr id="6" name="TextBox 5"/>
          <p:cNvSpPr txBox="1"/>
          <p:nvPr/>
        </p:nvSpPr>
        <p:spPr>
          <a:xfrm>
            <a:off x="822960" y="4434840"/>
            <a:ext cx="6583680" cy="1463040"/>
          </a:xfrm>
          <a:prstGeom prst="rect">
            <a:avLst/>
          </a:prstGeom>
          <a:noFill/>
        </p:spPr>
        <p:txBody>
          <a:bodyPr wrap="square">
            <a:spAutoFit/>
          </a:bodyPr>
          <a:lstStyle/>
          <a:p>
            <a:pPr algn="l">
              <a:spcAft>
                <a:spcPts val="400"/>
              </a:spcAft>
              <a:buNone/>
            </a:pPr>
            <a:r>
              <a:rPr sz="1500" b="0" i="0">
                <a:solidFill>
                  <a:srgbClr val="E4E7EC"/>
                </a:solidFill>
                <a:latin typeface="Calibri"/>
              </a:rPr>
              <a:t>Wednesday 11 February 2026, 15:00–16:00 IST</a:t>
            </a:r>
          </a:p>
          <a:p>
            <a:pPr algn="l">
              <a:spcAft>
                <a:spcPts val="400"/>
              </a:spcAft>
              <a:buNone/>
            </a:pPr>
            <a:r>
              <a:rPr sz="1500" b="0" i="0">
                <a:solidFill>
                  <a:srgbClr val="E4E7EC"/>
                </a:solidFill>
                <a:latin typeface="Calibri"/>
              </a:rPr>
              <a:t>Board room “Nashik”, 4th Floor, Andheri East office (with remote joiners)</a:t>
            </a:r>
          </a:p>
          <a:p>
            <a:pPr algn="l">
              <a:spcAft>
                <a:spcPts val="400"/>
              </a:spcAft>
              <a:buNone/>
            </a:pPr>
            <a:r>
              <a:rPr sz="1500" b="0" i="0">
                <a:solidFill>
                  <a:srgbClr val="E4E7EC"/>
                </a:solidFill>
                <a:latin typeface="Calibri"/>
              </a:rPr>
              <a:t>Presented by Ananya Krishnan, Engagement Lead</a:t>
            </a:r>
          </a:p>
        </p:txBody>
      </p:sp>
      <p:sp>
        <p:nvSpPr>
          <p:cNvPr id="7" name="TextBox 6"/>
          <p:cNvSpPr txBox="1"/>
          <p:nvPr/>
        </p:nvSpPr>
        <p:spPr>
          <a:xfrm>
            <a:off x="8229600" y="6172200"/>
            <a:ext cx="3566160" cy="365760"/>
          </a:xfrm>
          <a:prstGeom prst="rect">
            <a:avLst/>
          </a:prstGeom>
          <a:noFill/>
        </p:spPr>
        <p:txBody>
          <a:bodyPr wrap="square">
            <a:spAutoFit/>
          </a:bodyPr>
          <a:lstStyle/>
          <a:p>
            <a:pPr algn="r">
              <a:spcAft>
                <a:spcPts val="0"/>
              </a:spcAft>
              <a:buNone/>
            </a:pPr>
            <a:r>
              <a:rPr sz="1050" b="0" i="0">
                <a:solidFill>
                  <a:srgbClr val="8C96A6"/>
                </a:solidFill>
                <a:latin typeface="Calibri"/>
              </a:rPr>
              <a:t>Deck prepared 10/02/2026</a:t>
            </a:r>
          </a:p>
        </p:txBody>
      </p:sp>
      <p:sp>
        <p:nvSpPr>
          <p:cNvPr id="8" name="Rectangle 7"/>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10" name="TextBox 9"/>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2800" b="1" i="0">
                <a:solidFill>
                  <a:srgbClr val="FFFFFF"/>
                </a:solidFill>
                <a:latin typeface="Calibri"/>
              </a:rPr>
              <a:t>Agenda</a:t>
            </a:r>
          </a:p>
        </p:txBody>
      </p:sp>
      <p:sp>
        <p:nvSpPr>
          <p:cNvPr id="4" name="TextBox 3"/>
          <p:cNvSpPr txBox="1"/>
          <p:nvPr/>
        </p:nvSpPr>
        <p:spPr>
          <a:xfrm>
            <a:off x="822960" y="1371600"/>
            <a:ext cx="7315200" cy="4846320"/>
          </a:xfrm>
          <a:prstGeom prst="rect">
            <a:avLst/>
          </a:prstGeom>
          <a:noFill/>
        </p:spPr>
        <p:txBody>
          <a:bodyPr wrap="square">
            <a:spAutoFit/>
          </a:bodyPr>
          <a:lstStyle/>
          <a:p>
            <a:pPr algn="l">
              <a:spcAft>
                <a:spcPts val="1400"/>
              </a:spcAft>
              <a:buFont typeface="Arial"/>
              <a:buChar char="▪"/>
            </a:pPr>
            <a:r>
              <a:rPr sz="2000" b="0" i="0">
                <a:solidFill>
                  <a:srgbClr val="202226"/>
                </a:solidFill>
                <a:latin typeface="Calibri"/>
              </a:rPr>
              <a:t>Engagement Objectives</a:t>
            </a:r>
          </a:p>
          <a:p>
            <a:pPr algn="l">
              <a:spcAft>
                <a:spcPts val="1400"/>
              </a:spcAft>
              <a:buFont typeface="Arial"/>
              <a:buChar char="▪"/>
            </a:pPr>
            <a:r>
              <a:rPr sz="2000" b="0" i="0">
                <a:solidFill>
                  <a:srgbClr val="202226"/>
                </a:solidFill>
                <a:latin typeface="Calibri"/>
              </a:rPr>
              <a:t>Plan on a Page</a:t>
            </a:r>
          </a:p>
          <a:p>
            <a:pPr algn="l">
              <a:spcAft>
                <a:spcPts val="1400"/>
              </a:spcAft>
              <a:buFont typeface="Arial"/>
              <a:buChar char="▪"/>
            </a:pPr>
            <a:r>
              <a:rPr sz="2000" b="0" i="0">
                <a:solidFill>
                  <a:srgbClr val="202226"/>
                </a:solidFill>
                <a:latin typeface="Calibri"/>
              </a:rPr>
              <a:t>Current State: As-Is Landscape</a:t>
            </a:r>
          </a:p>
          <a:p>
            <a:pPr algn="l">
              <a:spcAft>
                <a:spcPts val="1400"/>
              </a:spcAft>
              <a:buFont typeface="Arial"/>
              <a:buChar char="▪"/>
            </a:pPr>
            <a:r>
              <a:rPr sz="2000" b="0" i="0">
                <a:solidFill>
                  <a:srgbClr val="202226"/>
                </a:solidFill>
                <a:latin typeface="Calibri"/>
              </a:rPr>
              <a:t>Problem Statement</a:t>
            </a:r>
          </a:p>
          <a:p>
            <a:pPr algn="l">
              <a:spcAft>
                <a:spcPts val="1400"/>
              </a:spcAft>
              <a:buFont typeface="Arial"/>
              <a:buChar char="▪"/>
            </a:pPr>
            <a:r>
              <a:rPr sz="2000" b="0" i="0">
                <a:solidFill>
                  <a:srgbClr val="202226"/>
                </a:solidFill>
                <a:latin typeface="Calibri"/>
              </a:rPr>
              <a:t>Reporting Scope</a:t>
            </a:r>
          </a:p>
          <a:p>
            <a:pPr algn="l">
              <a:spcAft>
                <a:spcPts val="1400"/>
              </a:spcAft>
              <a:buFont typeface="Arial"/>
              <a:buChar char="▪"/>
            </a:pPr>
            <a:r>
              <a:rPr sz="2000" b="0" i="0">
                <a:solidFill>
                  <a:srgbClr val="202226"/>
                </a:solidFill>
                <a:latin typeface="Calibri"/>
              </a:rPr>
              <a:t>Approach: Workstreams</a:t>
            </a:r>
          </a:p>
          <a:p>
            <a:pPr algn="l">
              <a:spcAft>
                <a:spcPts val="1400"/>
              </a:spcAft>
              <a:buFont typeface="Arial"/>
              <a:buChar char="▪"/>
            </a:pPr>
            <a:r>
              <a:rPr sz="2000" b="0" i="0">
                <a:solidFill>
                  <a:srgbClr val="202226"/>
                </a:solidFill>
                <a:latin typeface="Calibri"/>
              </a:rPr>
              <a:t>Team</a:t>
            </a:r>
          </a:p>
          <a:p>
            <a:pPr algn="l">
              <a:spcAft>
                <a:spcPts val="1400"/>
              </a:spcAft>
              <a:buFont typeface="Arial"/>
              <a:buChar char="▪"/>
            </a:pPr>
            <a:r>
              <a:rPr sz="2000" b="0" i="0">
                <a:solidFill>
                  <a:srgbClr val="202226"/>
                </a:solidFill>
                <a:latin typeface="Calibri"/>
              </a:rPr>
              <a:t>Ways of Working &amp; Governance</a:t>
            </a:r>
          </a:p>
          <a:p>
            <a:pPr algn="l">
              <a:spcAft>
                <a:spcPts val="1400"/>
              </a:spcAft>
              <a:buFont typeface="Arial"/>
              <a:buChar char="▪"/>
            </a:pPr>
            <a:r>
              <a:rPr sz="2000" b="0" i="0">
                <a:solidFill>
                  <a:srgbClr val="202226"/>
                </a:solidFill>
                <a:latin typeface="Calibri"/>
              </a:rPr>
              <a:t>Risks &amp; Assumptions</a:t>
            </a:r>
          </a:p>
          <a:p>
            <a:pPr algn="l">
              <a:spcAft>
                <a:spcPts val="1400"/>
              </a:spcAft>
              <a:buFont typeface="Arial"/>
              <a:buChar char="▪"/>
            </a:pPr>
            <a:r>
              <a:rPr sz="2000" b="0" i="0">
                <a:solidFill>
                  <a:srgbClr val="202226"/>
                </a:solidFill>
                <a:latin typeface="Calibri"/>
              </a:rPr>
              <a:t>Next Steps</a:t>
            </a:r>
          </a:p>
          <a:p>
            <a:pPr algn="l">
              <a:spcAft>
                <a:spcPts val="1400"/>
              </a:spcAft>
              <a:buFont typeface="Arial"/>
              <a:buChar char="▪"/>
            </a:pPr>
            <a:r>
              <a:rPr sz="2000" b="0" i="0">
                <a:solidFill>
                  <a:srgbClr val="202226"/>
                </a:solidFill>
                <a:latin typeface="Calibri"/>
              </a:rPr>
              <a:t>Questions</a:t>
            </a:r>
          </a:p>
        </p:txBody>
      </p:sp>
      <p:sp>
        <p:nvSpPr>
          <p:cNvPr id="5" name="TextBox 4"/>
          <p:cNvSpPr txBox="1"/>
          <p:nvPr/>
        </p:nvSpPr>
        <p:spPr>
          <a:xfrm>
            <a:off x="8412480" y="1463040"/>
            <a:ext cx="3200400" cy="4114800"/>
          </a:xfrm>
          <a:prstGeom prst="rect">
            <a:avLst/>
          </a:prstGeom>
          <a:noFill/>
        </p:spPr>
        <p:txBody>
          <a:bodyPr wrap="square">
            <a:spAutoFit/>
          </a:bodyPr>
          <a:lstStyle/>
          <a:p>
            <a:pPr algn="l">
              <a:spcAft>
                <a:spcPts val="400"/>
              </a:spcAft>
              <a:buNone/>
            </a:pPr>
            <a:r>
              <a:rPr sz="1400" b="1" i="0">
                <a:solidFill>
                  <a:srgbClr val="4C5C75"/>
                </a:solidFill>
                <a:latin typeface="Calibri"/>
              </a:rPr>
              <a:t>60 minutes, hard stop.</a:t>
            </a:r>
          </a:p>
          <a:p>
            <a:pPr algn="l">
              <a:spcAft>
                <a:spcPts val="400"/>
              </a:spcAft>
              <a:buNone/>
            </a:pPr>
            <a:r>
              <a:rPr sz="1250" b="0" i="0">
                <a:solidFill>
                  <a:srgbClr val="5B6370"/>
                </a:solidFill>
                <a:latin typeface="Calibri"/>
              </a:rPr>
              <a:t>Marijke joins for the first 20 minutes only.</a:t>
            </a:r>
          </a:p>
          <a:p>
            <a:pPr algn="l">
              <a:spcAft>
                <a:spcPts val="0"/>
              </a:spcAft>
              <a:buNone/>
            </a:pPr>
            <a:r>
              <a:rPr sz="1250" b="0" i="0">
                <a:solidFill>
                  <a:srgbClr val="5B6370"/>
                </a:solidFill>
                <a:latin typeface="Calibri"/>
              </a:rPr>
              <a:t>Kindly hold detailed questions on any one slide until the end, or we will not get through the pack otherwise.</a:t>
            </a:r>
          </a:p>
        </p:txBody>
      </p:sp>
      <p:sp>
        <p:nvSpPr>
          <p:cNvPr id="6" name="Rectangle 5"/>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v2</a:t>
            </a:r>
          </a:p>
        </p:txBody>
      </p:sp>
      <p:sp>
        <p:nvSpPr>
          <p:cNvPr id="8" name="TextBox 7"/>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2800" b="1" i="0">
                <a:solidFill>
                  <a:srgbClr val="FFFFFF"/>
                </a:solidFill>
                <a:latin typeface="Calibri"/>
              </a:rPr>
              <a:t>Engagement Objectives</a:t>
            </a:r>
          </a:p>
        </p:txBody>
      </p:sp>
      <p:sp>
        <p:nvSpPr>
          <p:cNvPr id="4" name="TextBox 3"/>
          <p:cNvSpPr txBox="1"/>
          <p:nvPr/>
        </p:nvSpPr>
        <p:spPr>
          <a:xfrm>
            <a:off x="548640" y="1143000"/>
            <a:ext cx="10881360" cy="457200"/>
          </a:xfrm>
          <a:prstGeom prst="rect">
            <a:avLst/>
          </a:prstGeom>
          <a:noFill/>
        </p:spPr>
        <p:txBody>
          <a:bodyPr wrap="square">
            <a:spAutoFit/>
          </a:bodyPr>
          <a:lstStyle/>
          <a:p>
            <a:pPr algn="l">
              <a:spcAft>
                <a:spcPts val="0"/>
              </a:spcAft>
              <a:buNone/>
            </a:pPr>
            <a:r>
              <a:rPr sz="1450" b="0" i="1">
                <a:solidFill>
                  <a:srgbClr val="5B6370"/>
                </a:solidFill>
                <a:latin typeface="Calibri"/>
              </a:rPr>
              <a:t>Building on our conversations with Rajeev and Shalini over the past fortnight, this is what we are here to deliver.</a:t>
            </a:r>
          </a:p>
        </p:txBody>
      </p:sp>
      <p:sp>
        <p:nvSpPr>
          <p:cNvPr id="5" name="TextBox 4"/>
          <p:cNvSpPr txBox="1"/>
          <p:nvPr/>
        </p:nvSpPr>
        <p:spPr>
          <a:xfrm>
            <a:off x="548640" y="1691640"/>
            <a:ext cx="11064240" cy="4480560"/>
          </a:xfrm>
          <a:prstGeom prst="rect">
            <a:avLst/>
          </a:prstGeom>
          <a:noFill/>
        </p:spPr>
        <p:txBody>
          <a:bodyPr wrap="square">
            <a:spAutoFit/>
          </a:bodyPr>
          <a:lstStyle/>
          <a:p>
            <a:pPr algn="l">
              <a:spcAft>
                <a:spcPts val="800"/>
              </a:spcAft>
              <a:buFont typeface="Arial"/>
              <a:buChar char="▪"/>
            </a:pPr>
            <a:r>
              <a:rPr sz="1600" b="1" i="0">
                <a:solidFill>
                  <a:srgbClr val="202226"/>
                </a:solidFill>
                <a:latin typeface="Calibri"/>
              </a:rPr>
              <a:t>Establish a single, trusted source of sales and Distributor reporting for BCPL, replacing today's mix of OBIEE reports and shadow Excel trackers</a:t>
            </a:r>
          </a:p>
          <a:p>
            <a:pPr lvl="1" algn="l">
              <a:spcAft>
                <a:spcPts val="800"/>
              </a:spcAft>
              <a:buFont typeface="Arial"/>
              <a:buChar char="–"/>
            </a:pPr>
            <a:r>
              <a:rPr sz="1450" b="0" i="0">
                <a:solidFill>
                  <a:srgbClr val="202226"/>
                </a:solidFill>
                <a:latin typeface="Calibri"/>
              </a:rPr>
              <a:t>One version of the truth for Primary and Secondary sales, by distributor, by SKU, by region</a:t>
            </a:r>
          </a:p>
          <a:p>
            <a:pPr lvl="1" algn="l">
              <a:spcAft>
                <a:spcPts val="800"/>
              </a:spcAft>
              <a:buFont typeface="Arial"/>
              <a:buChar char="–"/>
            </a:pPr>
            <a:r>
              <a:rPr sz="1450" b="0" i="0">
                <a:solidFill>
                  <a:srgbClr val="202226"/>
                </a:solidFill>
                <a:latin typeface="Calibri"/>
              </a:rPr>
              <a:t>Numbers that tie back cleanly across Sales Ops, Finance and the Klarissen Group pack</a:t>
            </a:r>
          </a:p>
          <a:p>
            <a:pPr algn="l">
              <a:spcAft>
                <a:spcPts val="800"/>
              </a:spcAft>
              <a:buFont typeface="Arial"/>
              <a:buChar char="▪"/>
            </a:pPr>
            <a:r>
              <a:rPr sz="1600" b="1" i="0">
                <a:solidFill>
                  <a:srgbClr val="202226"/>
                </a:solidFill>
                <a:latin typeface="Calibri"/>
              </a:rPr>
              <a:t>Modernise the reporting stack onto Power BI, sunsetting OBIEE and cutting the manual Excel effort</a:t>
            </a:r>
          </a:p>
          <a:p>
            <a:pPr lvl="1" algn="l">
              <a:spcAft>
                <a:spcPts val="800"/>
              </a:spcAft>
              <a:buFont typeface="Arial"/>
              <a:buChar char="–"/>
            </a:pPr>
            <a:r>
              <a:rPr sz="1450" b="0" i="0">
                <a:solidFill>
                  <a:srgbClr val="202226"/>
                </a:solidFill>
                <a:latin typeface="Calibri"/>
              </a:rPr>
              <a:t>12 dashboards scoped for go-live (full list on the Reporting Scope slide)</a:t>
            </a:r>
          </a:p>
          <a:p>
            <a:pPr lvl="1" algn="l">
              <a:spcAft>
                <a:spcPts val="800"/>
              </a:spcAft>
              <a:buFont typeface="Arial"/>
              <a:buChar char="–"/>
            </a:pPr>
            <a:r>
              <a:rPr sz="1450" b="0" i="0">
                <a:solidFill>
                  <a:srgbClr val="202226"/>
                </a:solidFill>
                <a:latin typeface="Calibri"/>
              </a:rPr>
              <a:t>A considered migration path for the reports Priya's team actually uses today, not just everything sitting in the catalogue</a:t>
            </a:r>
          </a:p>
          <a:p>
            <a:pPr algn="l">
              <a:spcAft>
                <a:spcPts val="800"/>
              </a:spcAft>
              <a:buFont typeface="Arial"/>
              <a:buChar char="▪"/>
            </a:pPr>
            <a:r>
              <a:rPr sz="1600" b="1" i="0">
                <a:solidFill>
                  <a:srgbClr val="202226"/>
                </a:solidFill>
                <a:latin typeface="Calibri"/>
              </a:rPr>
              <a:t>Build a defensible, well-governed data foundation in the warehouse that BCPL and Klarissen can both stand behind</a:t>
            </a:r>
          </a:p>
          <a:p>
            <a:pPr lvl="1" algn="l">
              <a:spcAft>
                <a:spcPts val="800"/>
              </a:spcAft>
              <a:buFont typeface="Arial"/>
              <a:buChar char="–"/>
            </a:pPr>
            <a:r>
              <a:rPr sz="1450" b="0" i="0">
                <a:solidFill>
                  <a:srgbClr val="202226"/>
                </a:solidFill>
                <a:latin typeface="Calibri"/>
              </a:rPr>
              <a:t>Documented lineage from ORION through ODI into BCPL_EDW</a:t>
            </a:r>
          </a:p>
          <a:p>
            <a:pPr lvl="1" algn="l">
              <a:spcAft>
                <a:spcPts val="800"/>
              </a:spcAft>
              <a:buFont typeface="Arial"/>
              <a:buChar char="–"/>
            </a:pPr>
            <a:r>
              <a:rPr sz="1450" b="0" i="0">
                <a:solidFill>
                  <a:srgbClr val="202226"/>
                </a:solidFill>
                <a:latin typeface="Calibri"/>
              </a:rPr>
              <a:t>A data quality baseline the business agrees with, not just IT</a:t>
            </a:r>
          </a:p>
          <a:p>
            <a:pPr algn="l">
              <a:spcAft>
                <a:spcPts val="800"/>
              </a:spcAft>
              <a:buFont typeface="Arial"/>
              <a:buChar char="▪"/>
            </a:pPr>
            <a:r>
              <a:rPr sz="1600" b="1" i="0">
                <a:solidFill>
                  <a:srgbClr val="202226"/>
                </a:solidFill>
                <a:latin typeface="Calibri"/>
              </a:rPr>
              <a:t>Deliver all of the above by go-live, GO-LIVE 15 SEPTEMBER 2026, with minimal disruption to the daily sales cycle</a:t>
            </a:r>
          </a:p>
        </p:txBody>
      </p:sp>
      <p:sp>
        <p:nvSpPr>
          <p:cNvPr id="6" name="Rectangle 5"/>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8" name="TextBox 7"/>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1200" b="1" i="0">
                <a:solidFill>
                  <a:srgbClr val="C8CED9"/>
                </a:solidFill>
                <a:latin typeface="Calibri"/>
              </a:rPr>
              <a:t>PROGRAMME TIMELINE</a:t>
            </a:r>
          </a:p>
          <a:p>
            <a:pPr algn="l">
              <a:spcAft>
                <a:spcPts val="0"/>
              </a:spcAft>
              <a:buNone/>
            </a:pPr>
            <a:r>
              <a:rPr sz="2600" b="1" i="0">
                <a:solidFill>
                  <a:srgbClr val="FFFFFF"/>
                </a:solidFill>
                <a:latin typeface="Calibri"/>
              </a:rPr>
              <a:t>Plan on a Page</a:t>
            </a:r>
          </a:p>
        </p:txBody>
      </p:sp>
      <p:graphicFrame>
        <p:nvGraphicFramePr>
          <p:cNvPr id="4" name="Table 3"/>
          <p:cNvGraphicFramePr>
            <a:graphicFrameLocks noGrp="1"/>
          </p:cNvGraphicFramePr>
          <p:nvPr/>
        </p:nvGraphicFramePr>
        <p:xfrm>
          <a:off x="502920" y="1143000"/>
          <a:ext cx="8321039" cy="4160520"/>
        </p:xfrm>
        <a:graphic>
          <a:graphicData uri="http://schemas.openxmlformats.org/drawingml/2006/table">
            <a:tbl>
              <a:tblPr firstRow="1" bandRow="1">
                <a:tableStyleId>{5C22544A-7EE6-4342-B048-85BDC9FD1C3A}</a:tableStyleId>
              </a:tblPr>
              <a:tblGrid>
                <a:gridCol w="3145759"/>
                <a:gridCol w="2739854"/>
                <a:gridCol w="2435426"/>
              </a:tblGrid>
              <a:tr h="520065">
                <a:tc>
                  <a:txBody>
                    <a:bodyPr wrap="square"/>
                    <a:lstStyle/>
                    <a:p>
                      <a:r>
                        <a:rPr sz="1250" b="1" i="0">
                          <a:solidFill>
                            <a:srgbClr val="FFFFFF"/>
                          </a:solidFill>
                          <a:latin typeface="Calibri"/>
                        </a:rPr>
                        <a:t>Phase</a:t>
                      </a:r>
                    </a:p>
                  </a:txBody>
                  <a:tcPr anchor="ctr" marT="38100" marB="38100" marL="76200" marR="76200">
                    <a:solidFill>
                      <a:srgbClr val="1F2A44"/>
                    </a:solidFill>
                  </a:tcPr>
                </a:tc>
                <a:tc>
                  <a:txBody>
                    <a:bodyPr wrap="square"/>
                    <a:lstStyle/>
                    <a:p>
                      <a:r>
                        <a:rPr sz="1250" b="1" i="0">
                          <a:solidFill>
                            <a:srgbClr val="FFFFFF"/>
                          </a:solidFill>
                          <a:latin typeface="Calibri"/>
                        </a:rPr>
                        <a:t>Milestone</a:t>
                      </a:r>
                    </a:p>
                  </a:txBody>
                  <a:tcPr anchor="ctr" marT="38100" marB="38100" marL="76200" marR="76200">
                    <a:solidFill>
                      <a:srgbClr val="1F2A44"/>
                    </a:solidFill>
                  </a:tcPr>
                </a:tc>
                <a:tc>
                  <a:txBody>
                    <a:bodyPr wrap="square"/>
                    <a:lstStyle/>
                    <a:p>
                      <a:r>
                        <a:rPr sz="1250" b="1" i="0">
                          <a:solidFill>
                            <a:srgbClr val="FFFFFF"/>
                          </a:solidFill>
                          <a:latin typeface="Calibri"/>
                        </a:rPr>
                        <a:t>Dates</a:t>
                      </a:r>
                    </a:p>
                  </a:txBody>
                  <a:tcPr anchor="ctr" marT="38100" marB="38100" marL="76200" marR="76200">
                    <a:solidFill>
                      <a:srgbClr val="1F2A44"/>
                    </a:solidFill>
                  </a:tcPr>
                </a:tc>
              </a:tr>
              <a:tr h="520065">
                <a:tc>
                  <a:txBody>
                    <a:bodyPr wrap="square"/>
                    <a:lstStyle/>
                    <a:p>
                      <a:r>
                        <a:rPr sz="1250" b="0" i="0">
                          <a:solidFill>
                            <a:srgbClr val="202226"/>
                          </a:solidFill>
                          <a:latin typeface="Calibri"/>
                        </a:rPr>
                        <a:t>Phase 1 – Discovery &amp; Variance Root Cause</a:t>
                      </a:r>
                    </a:p>
                  </a:txBody>
                  <a:tcPr anchor="ctr" marT="38100" marB="38100" marL="76200" marR="76200">
                    <a:solidFill>
                      <a:srgbClr val="FFFFFF"/>
                    </a:solidFill>
                  </a:tcPr>
                </a:tc>
                <a:tc>
                  <a:txBody>
                    <a:bodyPr wrap="square"/>
                    <a:lstStyle/>
                    <a:p>
                      <a:r>
                        <a:rPr sz="1250" b="0" i="0">
                          <a:solidFill>
                            <a:srgbClr val="202226"/>
                          </a:solidFill>
                          <a:latin typeface="Calibri"/>
                        </a:rPr>
                        <a:t>Discovery</a:t>
                      </a:r>
                    </a:p>
                  </a:txBody>
                  <a:tcPr anchor="ctr" marT="38100" marB="38100" marL="76200" marR="76200">
                    <a:solidFill>
                      <a:srgbClr val="FFFFFF"/>
                    </a:solidFill>
                  </a:tcPr>
                </a:tc>
                <a:tc>
                  <a:txBody>
                    <a:bodyPr wrap="square"/>
                    <a:lstStyle/>
                    <a:p>
                      <a:r>
                        <a:rPr sz="1250" b="0" i="0">
                          <a:solidFill>
                            <a:srgbClr val="202226"/>
                          </a:solidFill>
                          <a:latin typeface="Calibri"/>
                        </a:rPr>
                        <a:t>11-Feb-2026 to 27-Mar-2026</a:t>
                      </a:r>
                    </a:p>
                  </a:txBody>
                  <a:tcPr anchor="ctr" marT="38100" marB="38100" marL="76200" marR="76200">
                    <a:solidFill>
                      <a:srgbClr val="FFFFFF"/>
                    </a:solidFill>
                  </a:tcPr>
                </a:tc>
              </a:tr>
              <a:tr h="520065">
                <a:tc>
                  <a:txBody>
                    <a:bodyPr wrap="square"/>
                    <a:lstStyle/>
                    <a:p>
                      <a:r>
                        <a:rPr sz="1250" b="0" i="0">
                          <a:solidFill>
                            <a:srgbClr val="202226"/>
                          </a:solidFill>
                          <a:latin typeface="Calibri"/>
                        </a:rPr>
                        <a:t>Phase 1 – Discovery &amp; Variance Root Cause</a:t>
                      </a:r>
                    </a:p>
                  </a:txBody>
                  <a:tcPr anchor="ctr" marT="38100" marB="38100" marL="76200" marR="76200">
                    <a:solidFill>
                      <a:srgbClr val="ECEEF1"/>
                    </a:solidFill>
                  </a:tcPr>
                </a:tc>
                <a:tc>
                  <a:txBody>
                    <a:bodyPr wrap="square"/>
                    <a:lstStyle/>
                    <a:p>
                      <a:r>
                        <a:rPr sz="1250" b="0" i="0">
                          <a:solidFill>
                            <a:srgbClr val="202226"/>
                          </a:solidFill>
                          <a:latin typeface="Calibri"/>
                        </a:rPr>
                        <a:t>Variance Root-Cause Sprint</a:t>
                      </a:r>
                    </a:p>
                  </a:txBody>
                  <a:tcPr anchor="ctr" marT="38100" marB="38100" marL="76200" marR="76200">
                    <a:solidFill>
                      <a:srgbClr val="ECEEF1"/>
                    </a:solidFill>
                  </a:tcPr>
                </a:tc>
                <a:tc>
                  <a:txBody>
                    <a:bodyPr wrap="square"/>
                    <a:lstStyle/>
                    <a:p>
                      <a:r>
                        <a:rPr sz="1250" b="0" i="0">
                          <a:solidFill>
                            <a:srgbClr val="202226"/>
                          </a:solidFill>
                          <a:latin typeface="Calibri"/>
                        </a:rPr>
                        <a:t>09-Mar-2026 to 08-May-2026</a:t>
                      </a:r>
                    </a:p>
                  </a:txBody>
                  <a:tcPr anchor="ctr" marT="38100" marB="38100" marL="76200" marR="76200">
                    <a:solidFill>
                      <a:srgbClr val="ECEEF1"/>
                    </a:solidFill>
                  </a:tcPr>
                </a:tc>
              </a:tr>
              <a:tr h="520065">
                <a:tc>
                  <a:txBody>
                    <a:bodyPr wrap="square"/>
                    <a:lstStyle/>
                    <a:p>
                      <a:r>
                        <a:rPr sz="1250" b="0" i="0">
                          <a:solidFill>
                            <a:srgbClr val="202226"/>
                          </a:solidFill>
                          <a:latin typeface="Calibri"/>
                        </a:rPr>
                        <a:t>Phase 2 – Remediation &amp; Warehouse Rebuild</a:t>
                      </a:r>
                    </a:p>
                  </a:txBody>
                  <a:tcPr anchor="ctr" marT="38100" marB="38100" marL="76200" marR="76200">
                    <a:solidFill>
                      <a:srgbClr val="FFFFFF"/>
                    </a:solidFill>
                  </a:tcPr>
                </a:tc>
                <a:tc>
                  <a:txBody>
                    <a:bodyPr wrap="square"/>
                    <a:lstStyle/>
                    <a:p>
                      <a:r>
                        <a:rPr sz="1250" b="0" i="0">
                          <a:solidFill>
                            <a:srgbClr val="202226"/>
                          </a:solidFill>
                          <a:latin typeface="Calibri"/>
                        </a:rPr>
                        <a:t>Data Quality Assessment</a:t>
                      </a:r>
                    </a:p>
                  </a:txBody>
                  <a:tcPr anchor="ctr" marT="38100" marB="38100" marL="76200" marR="76200">
                    <a:solidFill>
                      <a:srgbClr val="FFFFFF"/>
                    </a:solidFill>
                  </a:tcPr>
                </a:tc>
                <a:tc>
                  <a:txBody>
                    <a:bodyPr wrap="square"/>
                    <a:lstStyle/>
                    <a:p>
                      <a:r>
                        <a:rPr sz="1250" b="0" i="0">
                          <a:solidFill>
                            <a:srgbClr val="202226"/>
                          </a:solidFill>
                          <a:latin typeface="Calibri"/>
                        </a:rPr>
                        <a:t>04-May-2026 to 19-Jun-2026</a:t>
                      </a:r>
                    </a:p>
                  </a:txBody>
                  <a:tcPr anchor="ctr" marT="38100" marB="38100" marL="76200" marR="76200">
                    <a:solidFill>
                      <a:srgbClr val="FFFFFF"/>
                    </a:solidFill>
                  </a:tcPr>
                </a:tc>
              </a:tr>
              <a:tr h="520065">
                <a:tc>
                  <a:txBody>
                    <a:bodyPr wrap="square"/>
                    <a:lstStyle/>
                    <a:p>
                      <a:r>
                        <a:rPr sz="1250" b="0" i="0">
                          <a:solidFill>
                            <a:srgbClr val="202226"/>
                          </a:solidFill>
                          <a:latin typeface="Calibri"/>
                        </a:rPr>
                        <a:t>Phase 2 – Remediation &amp; Warehouse Rebuild</a:t>
                      </a:r>
                    </a:p>
                  </a:txBody>
                  <a:tcPr anchor="ctr" marT="38100" marB="38100" marL="76200" marR="76200">
                    <a:solidFill>
                      <a:srgbClr val="ECEEF1"/>
                    </a:solidFill>
                  </a:tcPr>
                </a:tc>
                <a:tc>
                  <a:txBody>
                    <a:bodyPr wrap="square"/>
                    <a:lstStyle/>
                    <a:p>
                      <a:r>
                        <a:rPr sz="1250" b="0" i="0">
                          <a:solidFill>
                            <a:srgbClr val="202226"/>
                          </a:solidFill>
                          <a:latin typeface="Calibri"/>
                        </a:rPr>
                        <a:t>Remediation Build</a:t>
                      </a:r>
                    </a:p>
                  </a:txBody>
                  <a:tcPr anchor="ctr" marT="38100" marB="38100" marL="76200" marR="76200">
                    <a:solidFill>
                      <a:srgbClr val="ECEEF1"/>
                    </a:solidFill>
                  </a:tcPr>
                </a:tc>
                <a:tc>
                  <a:txBody>
                    <a:bodyPr wrap="square"/>
                    <a:lstStyle/>
                    <a:p>
                      <a:r>
                        <a:rPr sz="1250" b="0" i="0">
                          <a:solidFill>
                            <a:srgbClr val="202226"/>
                          </a:solidFill>
                          <a:latin typeface="Calibri"/>
                        </a:rPr>
                        <a:t>15-Jun-2026 to 25-Sep-2026</a:t>
                      </a:r>
                    </a:p>
                  </a:txBody>
                  <a:tcPr anchor="ctr" marT="38100" marB="38100" marL="76200" marR="76200">
                    <a:solidFill>
                      <a:srgbClr val="ECEEF1"/>
                    </a:solidFill>
                  </a:tcPr>
                </a:tc>
              </a:tr>
              <a:tr h="520065">
                <a:tc>
                  <a:txBody>
                    <a:bodyPr wrap="square"/>
                    <a:lstStyle/>
                    <a:p>
                      <a:r>
                        <a:rPr sz="1250" b="0" i="0">
                          <a:solidFill>
                            <a:srgbClr val="202226"/>
                          </a:solidFill>
                          <a:latin typeface="Calibri"/>
                        </a:rPr>
                        <a:t>Phase 3 – Power BI Build &amp; Testing</a:t>
                      </a:r>
                    </a:p>
                  </a:txBody>
                  <a:tcPr anchor="ctr" marT="38100" marB="38100" marL="76200" marR="76200">
                    <a:solidFill>
                      <a:srgbClr val="FFFFFF"/>
                    </a:solidFill>
                  </a:tcPr>
                </a:tc>
                <a:tc>
                  <a:txBody>
                    <a:bodyPr wrap="square"/>
                    <a:lstStyle/>
                    <a:p>
                      <a:r>
                        <a:rPr sz="1250" b="0" i="0">
                          <a:solidFill>
                            <a:srgbClr val="202226"/>
                          </a:solidFill>
                          <a:latin typeface="Calibri"/>
                        </a:rPr>
                        <a:t>Dashboard Build</a:t>
                      </a:r>
                    </a:p>
                  </a:txBody>
                  <a:tcPr anchor="ctr" marT="38100" marB="38100" marL="76200" marR="76200">
                    <a:solidFill>
                      <a:srgbClr val="FFFFFF"/>
                    </a:solidFill>
                  </a:tcPr>
                </a:tc>
                <a:tc>
                  <a:txBody>
                    <a:bodyPr wrap="square"/>
                    <a:lstStyle/>
                    <a:p>
                      <a:r>
                        <a:rPr sz="1250" b="0" i="0">
                          <a:solidFill>
                            <a:srgbClr val="202226"/>
                          </a:solidFill>
                          <a:latin typeface="Calibri"/>
                        </a:rPr>
                        <a:t>03-Aug-2026 to 09-Oct-2026</a:t>
                      </a:r>
                    </a:p>
                  </a:txBody>
                  <a:tcPr anchor="ctr" marT="38100" marB="38100" marL="76200" marR="76200">
                    <a:solidFill>
                      <a:srgbClr val="FFFFFF"/>
                    </a:solidFill>
                  </a:tcPr>
                </a:tc>
              </a:tr>
              <a:tr h="520065">
                <a:tc>
                  <a:txBody>
                    <a:bodyPr wrap="square"/>
                    <a:lstStyle/>
                    <a:p>
                      <a:r>
                        <a:rPr sz="1250" b="0" i="0">
                          <a:solidFill>
                            <a:srgbClr val="202226"/>
                          </a:solidFill>
                          <a:latin typeface="Calibri"/>
                        </a:rPr>
                        <a:t>Phase 3 – Power BI Build &amp; Testing</a:t>
                      </a:r>
                    </a:p>
                  </a:txBody>
                  <a:tcPr anchor="ctr" marT="38100" marB="38100" marL="76200" marR="76200">
                    <a:solidFill>
                      <a:srgbClr val="ECEEF1"/>
                    </a:solidFill>
                  </a:tcPr>
                </a:tc>
                <a:tc>
                  <a:txBody>
                    <a:bodyPr wrap="square"/>
                    <a:lstStyle/>
                    <a:p>
                      <a:r>
                        <a:rPr sz="1250" b="0" i="0">
                          <a:solidFill>
                            <a:srgbClr val="202226"/>
                          </a:solidFill>
                          <a:latin typeface="Calibri"/>
                        </a:rPr>
                        <a:t>UAT</a:t>
                      </a:r>
                    </a:p>
                  </a:txBody>
                  <a:tcPr anchor="ctr" marT="38100" marB="38100" marL="76200" marR="76200">
                    <a:solidFill>
                      <a:srgbClr val="ECEEF1"/>
                    </a:solidFill>
                  </a:tcPr>
                </a:tc>
                <a:tc>
                  <a:txBody>
                    <a:bodyPr wrap="square"/>
                    <a:lstStyle/>
                    <a:p>
                      <a:r>
                        <a:rPr sz="1250" b="0" i="0">
                          <a:solidFill>
                            <a:srgbClr val="202226"/>
                          </a:solidFill>
                          <a:latin typeface="Calibri"/>
                        </a:rPr>
                        <a:t>10-Aug-2026 to 28-Aug-2026</a:t>
                      </a:r>
                    </a:p>
                  </a:txBody>
                  <a:tcPr anchor="ctr" marT="38100" marB="38100" marL="76200" marR="76200">
                    <a:solidFill>
                      <a:srgbClr val="ECEEF1"/>
                    </a:solidFill>
                  </a:tcPr>
                </a:tc>
              </a:tr>
              <a:tr h="520065">
                <a:tc>
                  <a:txBody>
                    <a:bodyPr wrap="square"/>
                    <a:lstStyle/>
                    <a:p>
                      <a:r>
                        <a:rPr sz="1250" b="0" i="0">
                          <a:solidFill>
                            <a:srgbClr val="202226"/>
                          </a:solidFill>
                          <a:latin typeface="Calibri"/>
                        </a:rPr>
                        <a:t>Phase 4 – Cutover, Go-Live &amp; Hypercare</a:t>
                      </a:r>
                    </a:p>
                  </a:txBody>
                  <a:tcPr anchor="ctr" marT="38100" marB="38100" marL="76200" marR="76200">
                    <a:solidFill>
                      <a:srgbClr val="FFFFFF"/>
                    </a:solidFill>
                  </a:tcPr>
                </a:tc>
                <a:tc>
                  <a:txBody>
                    <a:bodyPr wrap="square"/>
                    <a:lstStyle/>
                    <a:p>
                      <a:r>
                        <a:rPr sz="1250" b="1" i="0">
                          <a:solidFill>
                            <a:srgbClr val="202226"/>
                          </a:solidFill>
                          <a:latin typeface="Calibri"/>
                        </a:rPr>
                        <a:t>GO-LIVE</a:t>
                      </a:r>
                    </a:p>
                  </a:txBody>
                  <a:tcPr anchor="ctr" marT="38100" marB="38100" marL="76200" marR="76200">
                    <a:solidFill>
                      <a:srgbClr val="FFFFFF"/>
                    </a:solidFill>
                  </a:tcPr>
                </a:tc>
                <a:tc>
                  <a:txBody>
                    <a:bodyPr wrap="square"/>
                    <a:lstStyle/>
                    <a:p>
                      <a:r>
                        <a:rPr sz="1250" b="1" i="0">
                          <a:solidFill>
                            <a:srgbClr val="202226"/>
                          </a:solidFill>
                          <a:latin typeface="Calibri"/>
                        </a:rPr>
                        <a:t>15 SEPTEMBER 2026</a:t>
                      </a:r>
                    </a:p>
                  </a:txBody>
                  <a:tcPr anchor="ctr" marT="38100" marB="38100" marL="76200" marR="76200">
                    <a:solidFill>
                      <a:srgbClr val="FFFFFF"/>
                    </a:solidFill>
                  </a:tcPr>
                </a:tc>
              </a:tr>
            </a:tbl>
          </a:graphicData>
        </a:graphic>
      </p:graphicFrame>
      <p:sp>
        <p:nvSpPr>
          <p:cNvPr id="5" name="Rounded Rectangle 4"/>
          <p:cNvSpPr/>
          <p:nvPr/>
        </p:nvSpPr>
        <p:spPr>
          <a:xfrm>
            <a:off x="9098280" y="1234440"/>
            <a:ext cx="2606040" cy="1965960"/>
          </a:xfrm>
          <a:prstGeom prst="roundRect">
            <a:avLst/>
          </a:prstGeom>
          <a:solidFill>
            <a:srgbClr val="1F2A44"/>
          </a:solidFill>
          <a:ln w="25400">
            <a:solidFill>
              <a:srgbClr val="C78A0A"/>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ctr">
              <a:spcAft>
                <a:spcPts val="200"/>
              </a:spcAft>
              <a:buNone/>
            </a:pPr>
            <a:r>
              <a:rPr sz="1600" b="1" i="0">
                <a:solidFill>
                  <a:srgbClr val="C8CED9"/>
                </a:solidFill>
                <a:latin typeface="Calibri"/>
              </a:rPr>
              <a:t>GO-LIVE</a:t>
            </a:r>
          </a:p>
          <a:p>
            <a:pPr algn="ctr">
              <a:spcAft>
                <a:spcPts val="200"/>
              </a:spcAft>
              <a:buNone/>
            </a:pPr>
            <a:r>
              <a:rPr sz="2200" b="1" i="0">
                <a:solidFill>
                  <a:srgbClr val="FFFFFF"/>
                </a:solidFill>
                <a:latin typeface="Calibri"/>
              </a:rPr>
              <a:t>15 SEPTEMBER 2026</a:t>
            </a:r>
          </a:p>
          <a:p>
            <a:pPr algn="ctr">
              <a:spcAft>
                <a:spcPts val="0"/>
              </a:spcAft>
              <a:buNone/>
            </a:pPr>
            <a:r>
              <a:rPr sz="1300" b="0" i="0">
                <a:solidFill>
                  <a:srgbClr val="C8CED9"/>
                </a:solidFill>
                <a:latin typeface="Calibri"/>
              </a:rPr>
              <a:t>Tuesday</a:t>
            </a:r>
          </a:p>
        </p:txBody>
      </p:sp>
      <p:sp>
        <p:nvSpPr>
          <p:cNvPr id="6" name="TextBox 5"/>
          <p:cNvSpPr txBox="1"/>
          <p:nvPr/>
        </p:nvSpPr>
        <p:spPr>
          <a:xfrm>
            <a:off x="9098280" y="3429000"/>
            <a:ext cx="2606040" cy="1920240"/>
          </a:xfrm>
          <a:prstGeom prst="rect">
            <a:avLst/>
          </a:prstGeom>
          <a:noFill/>
        </p:spPr>
        <p:txBody>
          <a:bodyPr wrap="square">
            <a:spAutoFit/>
          </a:bodyPr>
          <a:lstStyle/>
          <a:p>
            <a:pPr algn="l">
              <a:spcAft>
                <a:spcPts val="600"/>
              </a:spcAft>
              <a:buNone/>
            </a:pPr>
            <a:r>
              <a:rPr sz="1250" b="1" i="0">
                <a:solidFill>
                  <a:srgbClr val="4C5C75"/>
                </a:solidFill>
                <a:latin typeface="Calibri"/>
              </a:rPr>
              <a:t>31 weeks, kickoff to go-live, across four phases.</a:t>
            </a:r>
          </a:p>
          <a:p>
            <a:pPr algn="l">
              <a:spcAft>
                <a:spcPts val="0"/>
              </a:spcAft>
              <a:buNone/>
            </a:pPr>
            <a:r>
              <a:rPr sz="1150" b="0" i="0">
                <a:solidFill>
                  <a:srgbClr val="5B6370"/>
                </a:solidFill>
                <a:latin typeface="Calibri"/>
              </a:rPr>
              <a:t>Full cutover and hypercare plan to follow in Phase 4. OBIEE is targeted for decommission 90 days after go-live.</a:t>
            </a:r>
          </a:p>
        </p:txBody>
      </p:sp>
      <p:sp>
        <p:nvSpPr>
          <p:cNvPr id="7" name="Rectangle 6"/>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9" name="TextBox 8"/>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C2E"/>
        </a:solidFill>
        <a:effectLst/>
      </p:bgPr>
    </p:bg>
    <p:spTree>
      <p:nvGrpSpPr>
        <p:cNvPr id="1" name=""/>
        <p:cNvGrpSpPr/>
        <p:nvPr/>
      </p:nvGrpSpPr>
      <p:grpSpPr/>
      <p:sp>
        <p:nvSpPr>
          <p:cNvPr id="2" name="Rectangle 1"/>
          <p:cNvSpPr/>
          <p:nvPr/>
        </p:nvSpPr>
        <p:spPr>
          <a:xfrm>
            <a:off x="822960" y="3246120"/>
            <a:ext cx="1005840" cy="54864"/>
          </a:xfrm>
          <a:prstGeom prst="rect">
            <a:avLst/>
          </a:prstGeom>
          <a:solidFill>
            <a:srgbClr val="C78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058400" cy="548640"/>
          </a:xfrm>
          <a:prstGeom prst="rect">
            <a:avLst/>
          </a:prstGeom>
          <a:noFill/>
        </p:spPr>
        <p:txBody>
          <a:bodyPr wrap="square">
            <a:spAutoFit/>
          </a:bodyPr>
          <a:lstStyle/>
          <a:p>
            <a:pPr algn="l">
              <a:spcAft>
                <a:spcPts val="0"/>
              </a:spcAft>
              <a:buNone/>
            </a:pPr>
            <a:r>
              <a:rPr sz="1600" b="1" i="0">
                <a:solidFill>
                  <a:srgbClr val="C8CED9"/>
                </a:solidFill>
                <a:latin typeface="Calibri"/>
              </a:rPr>
              <a:t>SECTION 1</a:t>
            </a:r>
          </a:p>
        </p:txBody>
      </p:sp>
      <p:sp>
        <p:nvSpPr>
          <p:cNvPr id="4" name="TextBox 3"/>
          <p:cNvSpPr txBox="1"/>
          <p:nvPr/>
        </p:nvSpPr>
        <p:spPr>
          <a:xfrm>
            <a:off x="822960" y="3383280"/>
            <a:ext cx="10058400" cy="914400"/>
          </a:xfrm>
          <a:prstGeom prst="rect">
            <a:avLst/>
          </a:prstGeom>
          <a:noFill/>
        </p:spPr>
        <p:txBody>
          <a:bodyPr wrap="square">
            <a:spAutoFit/>
          </a:bodyPr>
          <a:lstStyle/>
          <a:p>
            <a:pPr algn="l">
              <a:spcAft>
                <a:spcPts val="0"/>
              </a:spcAft>
              <a:buNone/>
            </a:pPr>
            <a:r>
              <a:rPr sz="3400" b="1" i="0">
                <a:solidFill>
                  <a:srgbClr val="FFFFFF"/>
                </a:solidFill>
                <a:latin typeface="Calibri"/>
              </a:rPr>
              <a:t>Current State: As-Is Landscape</a:t>
            </a:r>
          </a:p>
        </p:txBody>
      </p:sp>
      <p:sp>
        <p:nvSpPr>
          <p:cNvPr id="5" name="Rectangle 4"/>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7" name="TextBox 6"/>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2800" b="1" i="0">
                <a:solidFill>
                  <a:srgbClr val="FFFFFF"/>
                </a:solidFill>
                <a:latin typeface="Calibri"/>
              </a:rPr>
              <a:t>As-Is Landscape: Systems Overview</a:t>
            </a:r>
          </a:p>
        </p:txBody>
      </p:sp>
      <p:graphicFrame>
        <p:nvGraphicFramePr>
          <p:cNvPr id="4" name="Table 3"/>
          <p:cNvGraphicFramePr>
            <a:graphicFrameLocks noGrp="1"/>
          </p:cNvGraphicFramePr>
          <p:nvPr/>
        </p:nvGraphicFramePr>
        <p:xfrm>
          <a:off x="502920" y="1188720"/>
          <a:ext cx="11201400" cy="4572000"/>
        </p:xfrm>
        <a:graphic>
          <a:graphicData uri="http://schemas.openxmlformats.org/drawingml/2006/table">
            <a:tbl>
              <a:tblPr firstRow="1" bandRow="1">
                <a:tableStyleId>{5C22544A-7EE6-4342-B048-85BDC9FD1C3A}</a:tableStyleId>
              </a:tblPr>
              <a:tblGrid>
                <a:gridCol w="1463040"/>
                <a:gridCol w="5486400"/>
                <a:gridCol w="4251960"/>
              </a:tblGrid>
              <a:tr h="653142">
                <a:tc>
                  <a:txBody>
                    <a:bodyPr wrap="square"/>
                    <a:lstStyle/>
                    <a:p>
                      <a:r>
                        <a:rPr sz="1300" b="1" i="0">
                          <a:solidFill>
                            <a:srgbClr val="FFFFFF"/>
                          </a:solidFill>
                          <a:latin typeface="Calibri"/>
                        </a:rPr>
                        <a:t>System</a:t>
                      </a:r>
                    </a:p>
                  </a:txBody>
                  <a:tcPr anchor="ctr" marT="38100" marB="38100" marL="76200" marR="76200">
                    <a:solidFill>
                      <a:srgbClr val="1F2A44"/>
                    </a:solidFill>
                  </a:tcPr>
                </a:tc>
                <a:tc>
                  <a:txBody>
                    <a:bodyPr wrap="square"/>
                    <a:lstStyle/>
                    <a:p>
                      <a:r>
                        <a:rPr sz="1300" b="1" i="0">
                          <a:solidFill>
                            <a:srgbClr val="FFFFFF"/>
                          </a:solidFill>
                          <a:latin typeface="Calibri"/>
                        </a:rPr>
                        <a:t>What it does</a:t>
                      </a:r>
                    </a:p>
                  </a:txBody>
                  <a:tcPr anchor="ctr" marT="38100" marB="38100" marL="76200" marR="76200">
                    <a:solidFill>
                      <a:srgbClr val="1F2A44"/>
                    </a:solidFill>
                  </a:tcPr>
                </a:tc>
                <a:tc>
                  <a:txBody>
                    <a:bodyPr wrap="square"/>
                    <a:lstStyle/>
                    <a:p>
                      <a:r>
                        <a:rPr sz="1300" b="1" i="0">
                          <a:solidFill>
                            <a:srgbClr val="FFFFFF"/>
                          </a:solidFill>
                          <a:latin typeface="Calibri"/>
                        </a:rPr>
                        <a:t>Platform</a:t>
                      </a:r>
                    </a:p>
                  </a:txBody>
                  <a:tcPr anchor="ctr" marT="38100" marB="38100" marL="76200" marR="76200">
                    <a:solidFill>
                      <a:srgbClr val="1F2A44"/>
                    </a:solidFill>
                  </a:tcPr>
                </a:tc>
              </a:tr>
              <a:tr h="653142">
                <a:tc>
                  <a:txBody>
                    <a:bodyPr wrap="square"/>
                    <a:lstStyle/>
                    <a:p>
                      <a:r>
                        <a:rPr sz="1300" b="0" i="0">
                          <a:solidFill>
                            <a:srgbClr val="202226"/>
                          </a:solidFill>
                          <a:latin typeface="Calibri"/>
                        </a:rPr>
                        <a:t>ORION</a:t>
                      </a:r>
                    </a:p>
                  </a:txBody>
                  <a:tcPr anchor="ctr" marT="38100" marB="38100" marL="76200" marR="76200">
                    <a:solidFill>
                      <a:srgbClr val="FFFFFF"/>
                    </a:solidFill>
                  </a:tcPr>
                </a:tc>
                <a:tc>
                  <a:txBody>
                    <a:bodyPr wrap="square"/>
                    <a:lstStyle/>
                    <a:p>
                      <a:r>
                        <a:rPr sz="1300" b="0" i="0">
                          <a:solidFill>
                            <a:srgbClr val="202226"/>
                          </a:solidFill>
                          <a:latin typeface="Calibri"/>
                        </a:rPr>
                        <a:t>Core order-to-cash OLTP: orders, invoices, credit notes, schemes. Built 2009.</a:t>
                      </a:r>
                    </a:p>
                  </a:txBody>
                  <a:tcPr anchor="ctr" marT="38100" marB="38100" marL="76200" marR="76200">
                    <a:solidFill>
                      <a:srgbClr val="FFFFFF"/>
                    </a:solidFill>
                  </a:tcPr>
                </a:tc>
                <a:tc>
                  <a:txBody>
                    <a:bodyPr wrap="square"/>
                    <a:lstStyle/>
                    <a:p>
                      <a:r>
                        <a:rPr sz="1300" b="0" i="0">
                          <a:solidFill>
                            <a:srgbClr val="202226"/>
                          </a:solidFill>
                          <a:latin typeface="Calibri"/>
                        </a:rPr>
                        <a:t>Oracle Database 19c; Oracle Forms/Reports, partially re-fronted in ADF</a:t>
                      </a:r>
                    </a:p>
                  </a:txBody>
                  <a:tcPr anchor="ctr" marT="38100" marB="38100" marL="76200" marR="76200">
                    <a:solidFill>
                      <a:srgbClr val="FFFFFF"/>
                    </a:solidFill>
                  </a:tcPr>
                </a:tc>
              </a:tr>
              <a:tr h="653142">
                <a:tc>
                  <a:txBody>
                    <a:bodyPr wrap="square"/>
                    <a:lstStyle/>
                    <a:p>
                      <a:r>
                        <a:rPr sz="1300" b="0" i="0">
                          <a:solidFill>
                            <a:srgbClr val="202226"/>
                          </a:solidFill>
                          <a:latin typeface="Calibri"/>
                        </a:rPr>
                        <a:t>ODI</a:t>
                      </a:r>
                    </a:p>
                  </a:txBody>
                  <a:tcPr anchor="ctr" marT="38100" marB="38100" marL="76200" marR="76200">
                    <a:solidFill>
                      <a:srgbClr val="ECEEF1"/>
                    </a:solidFill>
                  </a:tcPr>
                </a:tc>
                <a:tc>
                  <a:txBody>
                    <a:bodyPr wrap="square"/>
                    <a:lstStyle/>
                    <a:p>
                      <a:r>
                        <a:rPr sz="1300" b="0" i="0">
                          <a:solidFill>
                            <a:srgbClr val="202226"/>
                          </a:solidFill>
                          <a:latin typeface="Calibri"/>
                        </a:rPr>
                        <a:t>Extracts and loads ORION data into the warehouse on a nightly batch cycle</a:t>
                      </a:r>
                    </a:p>
                  </a:txBody>
                  <a:tcPr anchor="ctr" marT="38100" marB="38100" marL="76200" marR="76200">
                    <a:solidFill>
                      <a:srgbClr val="ECEEF1"/>
                    </a:solidFill>
                  </a:tcPr>
                </a:tc>
                <a:tc>
                  <a:txBody>
                    <a:bodyPr wrap="square"/>
                    <a:lstStyle/>
                    <a:p>
                      <a:r>
                        <a:rPr sz="1300" b="0" i="0">
                          <a:solidFill>
                            <a:srgbClr val="202226"/>
                          </a:solidFill>
                          <a:latin typeface="Calibri"/>
                        </a:rPr>
                        <a:t>Oracle Data Integrator 12c</a:t>
                      </a:r>
                    </a:p>
                  </a:txBody>
                  <a:tcPr anchor="ctr" marT="38100" marB="38100" marL="76200" marR="76200">
                    <a:solidFill>
                      <a:srgbClr val="ECEEF1"/>
                    </a:solidFill>
                  </a:tcPr>
                </a:tc>
              </a:tr>
              <a:tr h="653142">
                <a:tc>
                  <a:txBody>
                    <a:bodyPr wrap="square"/>
                    <a:lstStyle/>
                    <a:p>
                      <a:r>
                        <a:rPr sz="1300" b="0" i="0">
                          <a:solidFill>
                            <a:srgbClr val="202226"/>
                          </a:solidFill>
                          <a:latin typeface="Calibri"/>
                        </a:rPr>
                        <a:t>BCPL_EDW</a:t>
                      </a:r>
                    </a:p>
                  </a:txBody>
                  <a:tcPr anchor="ctr" marT="38100" marB="38100" marL="76200" marR="76200">
                    <a:solidFill>
                      <a:srgbClr val="FFFFFF"/>
                    </a:solidFill>
                  </a:tcPr>
                </a:tc>
                <a:tc>
                  <a:txBody>
                    <a:bodyPr wrap="square"/>
                    <a:lstStyle/>
                    <a:p>
                      <a:r>
                        <a:rPr sz="1300" b="0" i="0">
                          <a:solidFill>
                            <a:srgbClr val="202226"/>
                          </a:solidFill>
                          <a:latin typeface="Calibri"/>
                        </a:rPr>
                        <a:t>Central sales and distribution warehouse, star schema</a:t>
                      </a:r>
                    </a:p>
                  </a:txBody>
                  <a:tcPr anchor="ctr" marT="38100" marB="38100" marL="76200" marR="76200">
                    <a:solidFill>
                      <a:srgbClr val="FFFFFF"/>
                    </a:solidFill>
                  </a:tcPr>
                </a:tc>
                <a:tc>
                  <a:txBody>
                    <a:bodyPr wrap="square"/>
                    <a:lstStyle/>
                    <a:p>
                      <a:r>
                        <a:rPr sz="1300" b="0" i="0">
                          <a:solidFill>
                            <a:srgbClr val="202226"/>
                          </a:solidFill>
                          <a:latin typeface="Calibri"/>
                        </a:rPr>
                        <a:t>Oracle Database 19c</a:t>
                      </a:r>
                    </a:p>
                  </a:txBody>
                  <a:tcPr anchor="ctr" marT="38100" marB="38100" marL="76200" marR="76200">
                    <a:solidFill>
                      <a:srgbClr val="FFFFFF"/>
                    </a:solidFill>
                  </a:tcPr>
                </a:tc>
              </a:tr>
              <a:tr h="653142">
                <a:tc>
                  <a:txBody>
                    <a:bodyPr wrap="square"/>
                    <a:lstStyle/>
                    <a:p>
                      <a:r>
                        <a:rPr sz="1300" b="0" i="0">
                          <a:solidFill>
                            <a:srgbClr val="202226"/>
                          </a:solidFill>
                          <a:latin typeface="Calibri"/>
                        </a:rPr>
                        <a:t>OBIEE</a:t>
                      </a:r>
                    </a:p>
                  </a:txBody>
                  <a:tcPr anchor="ctr" marT="38100" marB="38100" marL="76200" marR="76200">
                    <a:solidFill>
                      <a:srgbClr val="ECEEF1"/>
                    </a:solidFill>
                  </a:tcPr>
                </a:tc>
                <a:tc>
                  <a:txBody>
                    <a:bodyPr wrap="square"/>
                    <a:lstStyle/>
                    <a:p>
                      <a:r>
                        <a:rPr sz="1300" b="0" i="0">
                          <a:solidFill>
                            <a:srgbClr val="202226"/>
                          </a:solidFill>
                          <a:latin typeface="Calibri"/>
                        </a:rPr>
                        <a:t>Legacy BI / reporting layer; 41 catalogue reports, a small number actually used</a:t>
                      </a:r>
                    </a:p>
                  </a:txBody>
                  <a:tcPr anchor="ctr" marT="38100" marB="38100" marL="76200" marR="76200">
                    <a:solidFill>
                      <a:srgbClr val="ECEEF1"/>
                    </a:solidFill>
                  </a:tcPr>
                </a:tc>
                <a:tc>
                  <a:txBody>
                    <a:bodyPr wrap="square"/>
                    <a:lstStyle/>
                    <a:p>
                      <a:r>
                        <a:rPr sz="1300" b="0" i="0">
                          <a:solidFill>
                            <a:srgbClr val="202226"/>
                          </a:solidFill>
                          <a:latin typeface="Calibri"/>
                        </a:rPr>
                        <a:t>Oracle BI EE 11g; RPD last touched 2019</a:t>
                      </a:r>
                    </a:p>
                  </a:txBody>
                  <a:tcPr anchor="ctr" marT="38100" marB="38100" marL="76200" marR="76200">
                    <a:solidFill>
                      <a:srgbClr val="ECEEF1"/>
                    </a:solidFill>
                  </a:tcPr>
                </a:tc>
              </a:tr>
              <a:tr h="653142">
                <a:tc>
                  <a:txBody>
                    <a:bodyPr wrap="square"/>
                    <a:lstStyle/>
                    <a:p>
                      <a:r>
                        <a:rPr sz="1300" b="0" i="0">
                          <a:solidFill>
                            <a:srgbClr val="202226"/>
                          </a:solidFill>
                          <a:latin typeface="Calibri"/>
                        </a:rPr>
                        <a:t>Excel</a:t>
                      </a:r>
                    </a:p>
                  </a:txBody>
                  <a:tcPr anchor="ctr" marT="38100" marB="38100" marL="76200" marR="76200">
                    <a:solidFill>
                      <a:srgbClr val="FFFFFF"/>
                    </a:solidFill>
                  </a:tcPr>
                </a:tc>
                <a:tc>
                  <a:txBody>
                    <a:bodyPr wrap="square"/>
                    <a:lstStyle/>
                    <a:p>
                      <a:r>
                        <a:rPr sz="1300" b="0" i="0">
                          <a:solidFill>
                            <a:srgbClr val="202226"/>
                          </a:solidFill>
                          <a:latin typeface="Calibri"/>
                        </a:rPr>
                        <a:t>The de facto reporting layer for Finance and Sales Ops; Distributor and scheme numbers often re-keyed by hand</a:t>
                      </a:r>
                    </a:p>
                  </a:txBody>
                  <a:tcPr anchor="ctr" marT="38100" marB="38100" marL="76200" marR="76200">
                    <a:solidFill>
                      <a:srgbClr val="FFFFFF"/>
                    </a:solidFill>
                  </a:tcPr>
                </a:tc>
                <a:tc>
                  <a:txBody>
                    <a:bodyPr wrap="square"/>
                    <a:lstStyle/>
                    <a:p>
                      <a:r>
                        <a:rPr sz="1300" b="0" i="0">
                          <a:solidFill>
                            <a:srgbClr val="202226"/>
                          </a:solidFill>
                          <a:latin typeface="Calibri"/>
                        </a:rPr>
                        <a:t>Shadow workbooks, manual reconciliation</a:t>
                      </a:r>
                    </a:p>
                  </a:txBody>
                  <a:tcPr anchor="ctr" marT="38100" marB="38100" marL="76200" marR="76200">
                    <a:solidFill>
                      <a:srgbClr val="FFFFFF"/>
                    </a:solidFill>
                  </a:tcPr>
                </a:tc>
              </a:tr>
              <a:tr h="653148">
                <a:tc>
                  <a:txBody>
                    <a:bodyPr wrap="square"/>
                    <a:lstStyle/>
                    <a:p>
                      <a:r>
                        <a:rPr sz="1300" b="0" i="0">
                          <a:solidFill>
                            <a:srgbClr val="202226"/>
                          </a:solidFill>
                          <a:latin typeface="Calibri"/>
                        </a:rPr>
                        <a:t>Power BI</a:t>
                      </a:r>
                    </a:p>
                  </a:txBody>
                  <a:tcPr anchor="ctr" marT="38100" marB="38100" marL="76200" marR="76200">
                    <a:solidFill>
                      <a:srgbClr val="ECEEF1"/>
                    </a:solidFill>
                  </a:tcPr>
                </a:tc>
                <a:tc>
                  <a:txBody>
                    <a:bodyPr wrap="square"/>
                    <a:lstStyle/>
                    <a:p>
                      <a:r>
                        <a:rPr sz="1300" b="0" i="0">
                          <a:solidFill>
                            <a:srgbClr val="202226"/>
                          </a:solidFill>
                          <a:latin typeface="Calibri"/>
                        </a:rPr>
                        <a:t>Target reporting platform for Project Drishti, replacing OBIEE and reducing the Excel dependency</a:t>
                      </a:r>
                    </a:p>
                  </a:txBody>
                  <a:tcPr anchor="ctr" marT="38100" marB="38100" marL="76200" marR="76200">
                    <a:solidFill>
                      <a:srgbClr val="ECEEF1"/>
                    </a:solidFill>
                  </a:tcPr>
                </a:tc>
                <a:tc>
                  <a:txBody>
                    <a:bodyPr wrap="square"/>
                    <a:lstStyle/>
                    <a:p>
                      <a:r>
                        <a:rPr sz="1300" b="0" i="0">
                          <a:solidFill>
                            <a:srgbClr val="202226"/>
                          </a:solidFill>
                          <a:latin typeface="Calibri"/>
                        </a:rPr>
                        <a:t>Microsoft Power BI</a:t>
                      </a:r>
                    </a:p>
                  </a:txBody>
                  <a:tcPr anchor="ctr" marT="38100" marB="38100" marL="76200" marR="76200">
                    <a:solidFill>
                      <a:srgbClr val="ECEEF1"/>
                    </a:solidFill>
                  </a:tcPr>
                </a:tc>
              </a:tr>
            </a:tbl>
          </a:graphicData>
        </a:graphic>
      </p:graphicFrame>
      <p:sp>
        <p:nvSpPr>
          <p:cNvPr id="5" name="Rectangle 4"/>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7" name="TextBox 6"/>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1200" b="1" i="0">
                <a:solidFill>
                  <a:srgbClr val="C8CED9"/>
                </a:solidFill>
                <a:latin typeface="Calibri"/>
              </a:rPr>
              <a:t>AS-IS LANDSCAPE, CONTINUED</a:t>
            </a:r>
          </a:p>
          <a:p>
            <a:pPr algn="l">
              <a:spcAft>
                <a:spcPts val="0"/>
              </a:spcAft>
              <a:buNone/>
            </a:pPr>
            <a:r>
              <a:rPr sz="2600" b="1" i="0">
                <a:solidFill>
                  <a:srgbClr val="FFFFFF"/>
                </a:solidFill>
                <a:latin typeface="Calibri"/>
              </a:rPr>
              <a:t>Current State: Known Pain Points</a:t>
            </a:r>
          </a:p>
        </p:txBody>
      </p:sp>
      <p:sp>
        <p:nvSpPr>
          <p:cNvPr id="4" name="TextBox 3"/>
          <p:cNvSpPr txBox="1"/>
          <p:nvPr/>
        </p:nvSpPr>
        <p:spPr>
          <a:xfrm>
            <a:off x="502920" y="1097280"/>
            <a:ext cx="11247120" cy="5394960"/>
          </a:xfrm>
          <a:prstGeom prst="rect">
            <a:avLst/>
          </a:prstGeom>
          <a:noFill/>
        </p:spPr>
        <p:txBody>
          <a:bodyPr wrap="square">
            <a:spAutoFit/>
          </a:bodyPr>
          <a:lstStyle/>
          <a:p>
            <a:pPr algn="l">
              <a:spcAft>
                <a:spcPts val="400"/>
              </a:spcAft>
              <a:buFont typeface="Arial"/>
              <a:buChar char="▪"/>
            </a:pPr>
            <a:r>
              <a:rPr sz="1350" b="0" i="0">
                <a:solidFill>
                  <a:srgbClr val="202226"/>
                </a:solidFill>
                <a:latin typeface="Calibri"/>
              </a:rPr>
              <a:t>ORION was built in 2009 by a vendor relationship that ended in 2014; institutional knowledge now sits with a handful of people</a:t>
            </a:r>
          </a:p>
          <a:p>
            <a:pPr lvl="1" algn="l">
              <a:spcAft>
                <a:spcPts val="400"/>
              </a:spcAft>
              <a:buFont typeface="Arial"/>
              <a:buChar char="–"/>
            </a:pPr>
            <a:r>
              <a:rPr sz="1200" b="0" i="0">
                <a:solidFill>
                  <a:srgbClr val="202226"/>
                </a:solidFill>
                <a:latin typeface="Calibri"/>
              </a:rPr>
              <a:t>Original functional specifications are not readily available</a:t>
            </a:r>
          </a:p>
          <a:p>
            <a:pPr lvl="1" algn="l">
              <a:spcAft>
                <a:spcPts val="400"/>
              </a:spcAft>
              <a:buFont typeface="Arial"/>
              <a:buChar char="–"/>
            </a:pPr>
            <a:r>
              <a:rPr sz="1200" b="0" i="0">
                <a:solidFill>
                  <a:srgbClr val="202226"/>
                </a:solidFill>
                <a:latin typeface="Calibri"/>
              </a:rPr>
              <a:t>Fifteen-plus years of schema changes are not fully documented anywhere central</a:t>
            </a:r>
          </a:p>
          <a:p>
            <a:pPr algn="l">
              <a:spcAft>
                <a:spcPts val="400"/>
              </a:spcAft>
              <a:buFont typeface="Arial"/>
              <a:buChar char="▪"/>
            </a:pPr>
            <a:r>
              <a:rPr sz="1350" b="0" i="0">
                <a:solidFill>
                  <a:srgbClr val="202226"/>
                </a:solidFill>
                <a:latin typeface="Calibri"/>
              </a:rPr>
              <a:t>Nightly batch loads move data from ORION into the warehouse; the business only sees yesterday's numbers, never today's</a:t>
            </a:r>
          </a:p>
          <a:p>
            <a:pPr lvl="1" algn="l">
              <a:spcAft>
                <a:spcPts val="400"/>
              </a:spcAft>
              <a:buFont typeface="Arial"/>
              <a:buChar char="–"/>
            </a:pPr>
            <a:r>
              <a:rPr sz="1200" b="0" i="0">
                <a:solidFill>
                  <a:srgbClr val="202226"/>
                </a:solidFill>
                <a:latin typeface="Calibri"/>
              </a:rPr>
              <a:t>Sales Ops, Finance and BI cannot self-serve; every ad-hoc question becomes a ticket or an email chain</a:t>
            </a:r>
          </a:p>
          <a:p>
            <a:pPr lvl="1" algn="l">
              <a:spcAft>
                <a:spcPts val="400"/>
              </a:spcAft>
              <a:buFont typeface="Arial"/>
              <a:buChar char="–"/>
            </a:pPr>
            <a:r>
              <a:rPr sz="1200" b="0" i="0">
                <a:solidFill>
                  <a:srgbClr val="202226"/>
                </a:solidFill>
                <a:latin typeface="Calibri"/>
              </a:rPr>
              <a:t>Change requests to the load queue behind ORION support work, not warehouse priorities</a:t>
            </a:r>
          </a:p>
          <a:p>
            <a:pPr algn="l">
              <a:spcAft>
                <a:spcPts val="400"/>
              </a:spcAft>
              <a:buFont typeface="Arial"/>
              <a:buChar char="▪"/>
            </a:pPr>
            <a:r>
              <a:rPr sz="1350" b="0" i="0">
                <a:solidFill>
                  <a:srgbClr val="202226"/>
                </a:solidFill>
                <a:latin typeface="Calibri"/>
              </a:rPr>
              <a:t>OBIEE is fifteen-year-old technology; the RPD has not been touched since 2019</a:t>
            </a:r>
          </a:p>
          <a:p>
            <a:pPr lvl="1" algn="l">
              <a:spcAft>
                <a:spcPts val="400"/>
              </a:spcAft>
              <a:buFont typeface="Arial"/>
              <a:buChar char="–"/>
            </a:pPr>
            <a:r>
              <a:rPr sz="1200" b="0" i="0">
                <a:solidFill>
                  <a:srgbClr val="202226"/>
                </a:solidFill>
                <a:latin typeface="Calibri"/>
              </a:rPr>
              <a:t>Only a small number of the 41 catalogue reports are actually opened month to month</a:t>
            </a:r>
          </a:p>
          <a:p>
            <a:pPr lvl="1" algn="l">
              <a:spcAft>
                <a:spcPts val="400"/>
              </a:spcAft>
              <a:buFont typeface="Arial"/>
              <a:buChar char="–"/>
            </a:pPr>
            <a:r>
              <a:rPr sz="1200" b="0" i="0">
                <a:solidFill>
                  <a:srgbClr val="202226"/>
                </a:solidFill>
                <a:latin typeface="Calibri"/>
              </a:rPr>
              <a:t>Nobody formally owns retiring the reports that are not used</a:t>
            </a:r>
          </a:p>
          <a:p>
            <a:pPr lvl="1" algn="l">
              <a:spcAft>
                <a:spcPts val="400"/>
              </a:spcAft>
              <a:buFont typeface="Arial"/>
              <a:buChar char="–"/>
            </a:pPr>
            <a:r>
              <a:rPr sz="1200" b="0" i="0">
                <a:solidFill>
                  <a:srgbClr val="202226"/>
                </a:solidFill>
                <a:latin typeface="Calibri"/>
              </a:rPr>
              <a:t>Report definitions live in people's heads, not in a document</a:t>
            </a:r>
          </a:p>
          <a:p>
            <a:pPr algn="l">
              <a:spcAft>
                <a:spcPts val="400"/>
              </a:spcAft>
              <a:buFont typeface="Arial"/>
              <a:buChar char="▪"/>
            </a:pPr>
            <a:r>
              <a:rPr sz="1350" b="0" i="0">
                <a:solidFill>
                  <a:srgbClr val="202226"/>
                </a:solidFill>
                <a:latin typeface="Calibri"/>
              </a:rPr>
              <a:t>Excel has become the real reporting layer, in practice</a:t>
            </a:r>
          </a:p>
          <a:p>
            <a:pPr lvl="1" algn="l">
              <a:spcAft>
                <a:spcPts val="400"/>
              </a:spcAft>
              <a:buFont typeface="Arial"/>
              <a:buChar char="–"/>
            </a:pPr>
            <a:r>
              <a:rPr sz="1200" b="0" i="0">
                <a:solidFill>
                  <a:srgbClr val="202226"/>
                </a:solidFill>
                <a:latin typeface="Calibri"/>
              </a:rPr>
              <a:t>Finance and Sales Ops each maintain their own shadow workbooks</a:t>
            </a:r>
          </a:p>
          <a:p>
            <a:pPr lvl="1" algn="l">
              <a:spcAft>
                <a:spcPts val="400"/>
              </a:spcAft>
              <a:buFont typeface="Arial"/>
              <a:buChar char="–"/>
            </a:pPr>
            <a:r>
              <a:rPr sz="1200" b="0" i="0">
                <a:solidFill>
                  <a:srgbClr val="202226"/>
                </a:solidFill>
                <a:latin typeface="Calibri"/>
              </a:rPr>
              <a:t>Numbers get rekeyed by hand between systems, more than once a month, per team</a:t>
            </a:r>
          </a:p>
          <a:p>
            <a:pPr algn="l">
              <a:spcAft>
                <a:spcPts val="400"/>
              </a:spcAft>
              <a:buFont typeface="Arial"/>
              <a:buChar char="▪"/>
            </a:pPr>
            <a:r>
              <a:rPr sz="1350" b="0" i="0">
                <a:solidFill>
                  <a:srgbClr val="202226"/>
                </a:solidFill>
                <a:latin typeface="Calibri"/>
              </a:rPr>
              <a:t>Reporting is fragmented across systems and teams; data recieved from ORION does not always match what people see downstream</a:t>
            </a:r>
          </a:p>
          <a:p>
            <a:pPr algn="l">
              <a:spcAft>
                <a:spcPts val="400"/>
              </a:spcAft>
              <a:buFont typeface="Arial"/>
              <a:buChar char="▪"/>
            </a:pPr>
            <a:r>
              <a:rPr sz="1350" b="0" i="0">
                <a:solidFill>
                  <a:srgbClr val="202226"/>
                </a:solidFill>
                <a:latin typeface="Calibri"/>
              </a:rPr>
              <a:t>Nobody today owns “the number” end to end, across ORION, ODI and OBIEE</a:t>
            </a:r>
          </a:p>
          <a:p>
            <a:pPr algn="l">
              <a:spcAft>
                <a:spcPts val="400"/>
              </a:spcAft>
              <a:buFont typeface="Arial"/>
              <a:buChar char="▪"/>
            </a:pPr>
            <a:r>
              <a:rPr sz="1350" b="0" i="0">
                <a:solidFill>
                  <a:srgbClr val="202226"/>
                </a:solidFill>
                <a:latin typeface="Calibri"/>
              </a:rPr>
              <a:t>None of this is new to BCPL. It has been true for years, and it is getting worse as the business grows, not better -</a:t>
            </a:r>
          </a:p>
        </p:txBody>
      </p:sp>
      <p:sp>
        <p:nvSpPr>
          <p:cNvPr id="5" name="Rectangle 4"/>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7" name="TextBox 6"/>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2800" b="1" i="0">
                <a:solidFill>
                  <a:srgbClr val="FFFFFF"/>
                </a:solidFill>
                <a:latin typeface="Calibri"/>
              </a:rPr>
              <a:t>Problem Statement</a:t>
            </a:r>
          </a:p>
        </p:txBody>
      </p:sp>
      <p:sp>
        <p:nvSpPr>
          <p:cNvPr id="4" name="TextBox 3"/>
          <p:cNvSpPr txBox="1"/>
          <p:nvPr/>
        </p:nvSpPr>
        <p:spPr>
          <a:xfrm>
            <a:off x="548640" y="1280160"/>
            <a:ext cx="11064240" cy="4206240"/>
          </a:xfrm>
          <a:prstGeom prst="rect">
            <a:avLst/>
          </a:prstGeom>
          <a:noFill/>
        </p:spPr>
        <p:txBody>
          <a:bodyPr wrap="square">
            <a:spAutoFit/>
          </a:bodyPr>
          <a:lstStyle/>
          <a:p>
            <a:pPr algn="l">
              <a:spcAft>
                <a:spcPts val="1400"/>
              </a:spcAft>
              <a:buFont typeface="Arial"/>
              <a:buChar char="▪"/>
            </a:pPr>
            <a:r>
              <a:rPr sz="1700" b="0" i="0">
                <a:solidFill>
                  <a:srgbClr val="202226"/>
                </a:solidFill>
                <a:latin typeface="Calibri"/>
              </a:rPr>
              <a:t>Sales Ops, Finance and the Klarissen Group pack routinely see different numbers for the same period, and reconciling them takes days, not hours</a:t>
            </a:r>
          </a:p>
          <a:p>
            <a:pPr algn="l">
              <a:spcAft>
                <a:spcPts val="1400"/>
              </a:spcAft>
              <a:buFont typeface="Arial"/>
              <a:buChar char="▪"/>
            </a:pPr>
            <a:r>
              <a:rPr sz="1700" b="0" i="0">
                <a:solidFill>
                  <a:srgbClr val="202226"/>
                </a:solidFill>
                <a:latin typeface="Calibri"/>
              </a:rPr>
              <a:t>There is no single, governed definition of “the number”. Primary sales, Secondary sales and scheme figures get quoted loosely and interchangeably across teams</a:t>
            </a:r>
          </a:p>
          <a:p>
            <a:pPr algn="l">
              <a:spcAft>
                <a:spcPts val="1400"/>
              </a:spcAft>
              <a:buFont typeface="Arial"/>
              <a:buChar char="▪"/>
            </a:pPr>
            <a:r>
              <a:rPr sz="1700" b="0" i="0">
                <a:solidFill>
                  <a:srgbClr val="202226"/>
                </a:solidFill>
                <a:latin typeface="Calibri"/>
              </a:rPr>
              <a:t>Data recieved from ORION does not always match what shows up in OBIEE, or in the Excel trackers Finance and Sales Ops each keep on the side</a:t>
            </a:r>
          </a:p>
          <a:p>
            <a:pPr algn="l">
              <a:spcAft>
                <a:spcPts val="1400"/>
              </a:spcAft>
              <a:buFont typeface="Arial"/>
              <a:buChar char="▪"/>
            </a:pPr>
            <a:r>
              <a:rPr sz="1700" b="0" i="0">
                <a:solidFill>
                  <a:srgbClr val="202226"/>
                </a:solidFill>
                <a:latin typeface="Calibri"/>
              </a:rPr>
              <a:t>Nobody can say, with confidence, today, how much of the reported revenue would survive a detailed line-by-line audit</a:t>
            </a:r>
          </a:p>
          <a:p>
            <a:pPr algn="l">
              <a:spcAft>
                <a:spcPts val="1400"/>
              </a:spcAft>
              <a:buFont typeface="Arial"/>
              <a:buChar char="▪"/>
            </a:pPr>
            <a:r>
              <a:rPr sz="1700" b="0" i="0">
                <a:solidFill>
                  <a:srgbClr val="202226"/>
                </a:solidFill>
                <a:latin typeface="Calibri"/>
              </a:rPr>
              <a:t>The current stack (ORION, through ODI, into OBIEE) was built for a much smaller business and has not kept pace with BCPL's growth or with Klarissen's group reporting needs</a:t>
            </a:r>
          </a:p>
          <a:p>
            <a:pPr algn="l">
              <a:spcAft>
                <a:spcPts val="1400"/>
              </a:spcAft>
              <a:buFont typeface="Arial"/>
              <a:buChar char="▪"/>
            </a:pPr>
            <a:r>
              <a:rPr sz="1700" b="0" i="0">
                <a:solidFill>
                  <a:srgbClr val="202226"/>
                </a:solidFill>
                <a:latin typeface="Calibri"/>
              </a:rPr>
              <a:t>This is costing real management time every month end, and it is not getting easier -</a:t>
            </a:r>
          </a:p>
        </p:txBody>
      </p:sp>
      <p:sp>
        <p:nvSpPr>
          <p:cNvPr id="5" name="TextBox 4"/>
          <p:cNvSpPr txBox="1"/>
          <p:nvPr/>
        </p:nvSpPr>
        <p:spPr>
          <a:xfrm>
            <a:off x="548640" y="5806440"/>
            <a:ext cx="11064240" cy="457200"/>
          </a:xfrm>
          <a:prstGeom prst="rect">
            <a:avLst/>
          </a:prstGeom>
          <a:noFill/>
        </p:spPr>
        <p:txBody>
          <a:bodyPr wrap="square">
            <a:spAutoFit/>
          </a:bodyPr>
          <a:lstStyle/>
          <a:p>
            <a:pPr algn="l">
              <a:spcAft>
                <a:spcPts val="0"/>
              </a:spcAft>
              <a:buNone/>
            </a:pPr>
            <a:r>
              <a:rPr sz="1500" b="1" i="1">
                <a:solidFill>
                  <a:srgbClr val="4C5C75"/>
                </a:solidFill>
                <a:latin typeface="Calibri"/>
              </a:rPr>
              <a:t>This, in one line, is why Project Drishti exists.</a:t>
            </a:r>
          </a:p>
        </p:txBody>
      </p:sp>
      <p:sp>
        <p:nvSpPr>
          <p:cNvPr id="6" name="Rectangle 5"/>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8" name="TextBox 7"/>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1200" b="1" i="0">
                <a:solidFill>
                  <a:srgbClr val="C8CED9"/>
                </a:solidFill>
                <a:latin typeface="Calibri"/>
              </a:rPr>
              <a:t>12 DASHBOARDS IN SCOPE FOR GO-LIVE</a:t>
            </a:r>
          </a:p>
          <a:p>
            <a:pPr algn="l">
              <a:spcAft>
                <a:spcPts val="0"/>
              </a:spcAft>
              <a:buNone/>
            </a:pPr>
            <a:r>
              <a:rPr sz="2600" b="1" i="0">
                <a:solidFill>
                  <a:srgbClr val="FFFFFF"/>
                </a:solidFill>
                <a:latin typeface="Calibri"/>
              </a:rPr>
              <a:t>Reporting Scope</a:t>
            </a:r>
          </a:p>
        </p:txBody>
      </p:sp>
      <p:graphicFrame>
        <p:nvGraphicFramePr>
          <p:cNvPr id="4" name="Table 3"/>
          <p:cNvGraphicFramePr>
            <a:graphicFrameLocks noGrp="1"/>
          </p:cNvGraphicFramePr>
          <p:nvPr/>
        </p:nvGraphicFramePr>
        <p:xfrm>
          <a:off x="502920" y="1234440"/>
          <a:ext cx="8549638" cy="4709160"/>
        </p:xfrm>
        <a:graphic>
          <a:graphicData uri="http://schemas.openxmlformats.org/drawingml/2006/table">
            <a:tbl>
              <a:tblPr firstRow="1" bandRow="1">
                <a:tableStyleId>{5C22544A-7EE6-4342-B048-85BDC9FD1C3A}</a:tableStyleId>
              </a:tblPr>
              <a:tblGrid>
                <a:gridCol w="814251"/>
                <a:gridCol w="4478382"/>
                <a:gridCol w="3257005"/>
              </a:tblGrid>
              <a:tr h="362243">
                <a:tc>
                  <a:txBody>
                    <a:bodyPr wrap="square"/>
                    <a:lstStyle/>
                    <a:p>
                      <a:r>
                        <a:rPr sz="1300" b="1" i="0">
                          <a:solidFill>
                            <a:srgbClr val="FFFFFF"/>
                          </a:solidFill>
                          <a:latin typeface="Calibri"/>
                        </a:rPr>
                        <a:t>ID</a:t>
                      </a:r>
                    </a:p>
                  </a:txBody>
                  <a:tcPr anchor="ctr" marT="38100" marB="38100" marL="76200" marR="76200">
                    <a:solidFill>
                      <a:srgbClr val="1F2A44"/>
                    </a:solidFill>
                  </a:tcPr>
                </a:tc>
                <a:tc>
                  <a:txBody>
                    <a:bodyPr wrap="square"/>
                    <a:lstStyle/>
                    <a:p>
                      <a:r>
                        <a:rPr sz="1300" b="1" i="0">
                          <a:solidFill>
                            <a:srgbClr val="FFFFFF"/>
                          </a:solidFill>
                          <a:latin typeface="Calibri"/>
                        </a:rPr>
                        <a:t>Dashboard</a:t>
                      </a:r>
                    </a:p>
                  </a:txBody>
                  <a:tcPr anchor="ctr" marT="38100" marB="38100" marL="76200" marR="76200">
                    <a:solidFill>
                      <a:srgbClr val="1F2A44"/>
                    </a:solidFill>
                  </a:tcPr>
                </a:tc>
                <a:tc>
                  <a:txBody>
                    <a:bodyPr wrap="square"/>
                    <a:lstStyle/>
                    <a:p>
                      <a:r>
                        <a:rPr sz="1300" b="1" i="0">
                          <a:solidFill>
                            <a:srgbClr val="FFFFFF"/>
                          </a:solidFill>
                          <a:latin typeface="Calibri"/>
                        </a:rPr>
                        <a:t>Primary Data</a:t>
                      </a:r>
                    </a:p>
                  </a:txBody>
                  <a:tcPr anchor="ctr" marT="38100" marB="38100" marL="76200" marR="76200">
                    <a:solidFill>
                      <a:srgbClr val="1F2A44"/>
                    </a:solidFill>
                  </a:tcPr>
                </a:tc>
              </a:tr>
              <a:tr h="362243">
                <a:tc>
                  <a:txBody>
                    <a:bodyPr wrap="square"/>
                    <a:lstStyle/>
                    <a:p>
                      <a:r>
                        <a:rPr sz="1250" b="0" i="0">
                          <a:solidFill>
                            <a:srgbClr val="202226"/>
                          </a:solidFill>
                          <a:latin typeface="Calibri"/>
                        </a:rPr>
                        <a:t>D01</a:t>
                      </a:r>
                    </a:p>
                  </a:txBody>
                  <a:tcPr anchor="ctr" marT="38100" marB="38100" marL="76200" marR="76200">
                    <a:solidFill>
                      <a:srgbClr val="FFFFFF"/>
                    </a:solidFill>
                  </a:tcPr>
                </a:tc>
                <a:tc>
                  <a:txBody>
                    <a:bodyPr wrap="square"/>
                    <a:lstStyle/>
                    <a:p>
                      <a:r>
                        <a:rPr sz="1250" b="0" i="0">
                          <a:solidFill>
                            <a:srgbClr val="202226"/>
                          </a:solidFill>
                          <a:latin typeface="Calibri"/>
                        </a:rPr>
                        <a:t>Primary Sales Performance</a:t>
                      </a:r>
                    </a:p>
                  </a:txBody>
                  <a:tcPr anchor="ctr" marT="38100" marB="38100" marL="76200" marR="76200">
                    <a:solidFill>
                      <a:srgbClr val="FFFFFF"/>
                    </a:solidFill>
                  </a:tcPr>
                </a:tc>
                <a:tc>
                  <a:txBody>
                    <a:bodyPr wrap="square"/>
                    <a:lstStyle/>
                    <a:p>
                      <a:r>
                        <a:rPr sz="1250" b="0" i="0">
                          <a:solidFill>
                            <a:srgbClr val="202226"/>
                          </a:solidFill>
                          <a:latin typeface="Calibri"/>
                        </a:rPr>
                        <a:t>FACT_INVOICE_LINE</a:t>
                      </a:r>
                    </a:p>
                  </a:txBody>
                  <a:tcPr anchor="ctr" marT="38100" marB="38100" marL="76200" marR="76200">
                    <a:solidFill>
                      <a:srgbClr val="FFFFFF"/>
                    </a:solidFill>
                  </a:tcPr>
                </a:tc>
              </a:tr>
              <a:tr h="362243">
                <a:tc>
                  <a:txBody>
                    <a:bodyPr wrap="square"/>
                    <a:lstStyle/>
                    <a:p>
                      <a:r>
                        <a:rPr sz="1250" b="0" i="0">
                          <a:solidFill>
                            <a:srgbClr val="202226"/>
                          </a:solidFill>
                          <a:latin typeface="Calibri"/>
                        </a:rPr>
                        <a:t>D02</a:t>
                      </a:r>
                    </a:p>
                  </a:txBody>
                  <a:tcPr anchor="ctr" marT="38100" marB="38100" marL="76200" marR="76200">
                    <a:solidFill>
                      <a:srgbClr val="ECEEF1"/>
                    </a:solidFill>
                  </a:tcPr>
                </a:tc>
                <a:tc>
                  <a:txBody>
                    <a:bodyPr wrap="square"/>
                    <a:lstStyle/>
                    <a:p>
                      <a:r>
                        <a:rPr sz="1250" b="0" i="0">
                          <a:solidFill>
                            <a:srgbClr val="202226"/>
                          </a:solidFill>
                          <a:latin typeface="Calibri"/>
                        </a:rPr>
                        <a:t>Secondary Sales Coverage</a:t>
                      </a:r>
                    </a:p>
                  </a:txBody>
                  <a:tcPr anchor="ctr" marT="38100" marB="38100" marL="76200" marR="76200">
                    <a:solidFill>
                      <a:srgbClr val="ECEEF1"/>
                    </a:solidFill>
                  </a:tcPr>
                </a:tc>
                <a:tc>
                  <a:txBody>
                    <a:bodyPr wrap="square"/>
                    <a:lstStyle/>
                    <a:p>
                      <a:r>
                        <a:rPr sz="1250" b="0" i="0">
                          <a:solidFill>
                            <a:srgbClr val="202226"/>
                          </a:solidFill>
                          <a:latin typeface="Calibri"/>
                        </a:rPr>
                        <a:t>FACT_SECONDARY_SALES</a:t>
                      </a:r>
                    </a:p>
                  </a:txBody>
                  <a:tcPr anchor="ctr" marT="38100" marB="38100" marL="76200" marR="76200">
                    <a:solidFill>
                      <a:srgbClr val="ECEEF1"/>
                    </a:solidFill>
                  </a:tcPr>
                </a:tc>
              </a:tr>
              <a:tr h="362243">
                <a:tc>
                  <a:txBody>
                    <a:bodyPr wrap="square"/>
                    <a:lstStyle/>
                    <a:p>
                      <a:r>
                        <a:rPr sz="1250" b="0" i="0">
                          <a:solidFill>
                            <a:srgbClr val="202226"/>
                          </a:solidFill>
                          <a:latin typeface="Calibri"/>
                        </a:rPr>
                        <a:t>D03</a:t>
                      </a:r>
                    </a:p>
                  </a:txBody>
                  <a:tcPr anchor="ctr" marT="38100" marB="38100" marL="76200" marR="76200">
                    <a:solidFill>
                      <a:srgbClr val="FFFFFF"/>
                    </a:solidFill>
                  </a:tcPr>
                </a:tc>
                <a:tc>
                  <a:txBody>
                    <a:bodyPr wrap="square"/>
                    <a:lstStyle/>
                    <a:p>
                      <a:r>
                        <a:rPr sz="1250" b="0" i="0">
                          <a:solidFill>
                            <a:srgbClr val="202226"/>
                          </a:solidFill>
                          <a:latin typeface="Calibri"/>
                        </a:rPr>
                        <a:t>Distributor Scorecard</a:t>
                      </a:r>
                    </a:p>
                  </a:txBody>
                  <a:tcPr anchor="ctr" marT="38100" marB="38100" marL="76200" marR="76200">
                    <a:solidFill>
                      <a:srgbClr val="FFFFFF"/>
                    </a:solidFill>
                  </a:tcPr>
                </a:tc>
                <a:tc>
                  <a:txBody>
                    <a:bodyPr wrap="square"/>
                    <a:lstStyle/>
                    <a:p>
                      <a:r>
                        <a:rPr sz="1250" b="0" i="0">
                          <a:solidFill>
                            <a:srgbClr val="202226"/>
                          </a:solidFill>
                          <a:latin typeface="Calibri"/>
                        </a:rPr>
                        <a:t>FACT_INVOICE_LINE</a:t>
                      </a:r>
                    </a:p>
                  </a:txBody>
                  <a:tcPr anchor="ctr" marT="38100" marB="38100" marL="76200" marR="76200">
                    <a:solidFill>
                      <a:srgbClr val="FFFFFF"/>
                    </a:solidFill>
                  </a:tcPr>
                </a:tc>
              </a:tr>
              <a:tr h="362243">
                <a:tc>
                  <a:txBody>
                    <a:bodyPr wrap="square"/>
                    <a:lstStyle/>
                    <a:p>
                      <a:r>
                        <a:rPr sz="1250" b="0" i="0">
                          <a:solidFill>
                            <a:srgbClr val="202226"/>
                          </a:solidFill>
                          <a:latin typeface="Calibri"/>
                        </a:rPr>
                        <a:t>D04</a:t>
                      </a:r>
                    </a:p>
                  </a:txBody>
                  <a:tcPr anchor="ctr" marT="38100" marB="38100" marL="76200" marR="76200">
                    <a:solidFill>
                      <a:srgbClr val="ECEEF1"/>
                    </a:solidFill>
                  </a:tcPr>
                </a:tc>
                <a:tc>
                  <a:txBody>
                    <a:bodyPr wrap="square"/>
                    <a:lstStyle/>
                    <a:p>
                      <a:r>
                        <a:rPr sz="1250" b="0" i="0">
                          <a:solidFill>
                            <a:srgbClr val="202226"/>
                          </a:solidFill>
                          <a:latin typeface="Calibri"/>
                        </a:rPr>
                        <a:t>Scheme Effectiveness</a:t>
                      </a:r>
                    </a:p>
                  </a:txBody>
                  <a:tcPr anchor="ctr" marT="38100" marB="38100" marL="76200" marR="76200">
                    <a:solidFill>
                      <a:srgbClr val="ECEEF1"/>
                    </a:solidFill>
                  </a:tcPr>
                </a:tc>
                <a:tc>
                  <a:txBody>
                    <a:bodyPr wrap="square"/>
                    <a:lstStyle/>
                    <a:p>
                      <a:r>
                        <a:rPr sz="1250" b="0" i="0">
                          <a:solidFill>
                            <a:srgbClr val="202226"/>
                          </a:solidFill>
                          <a:latin typeface="Calibri"/>
                        </a:rPr>
                        <a:t>FACT_INVOICE_LINE + DIM_SCHEME</a:t>
                      </a:r>
                    </a:p>
                  </a:txBody>
                  <a:tcPr anchor="ctr" marT="38100" marB="38100" marL="76200" marR="76200">
                    <a:solidFill>
                      <a:srgbClr val="ECEEF1"/>
                    </a:solidFill>
                  </a:tcPr>
                </a:tc>
              </a:tr>
              <a:tr h="362243">
                <a:tc>
                  <a:txBody>
                    <a:bodyPr wrap="square"/>
                    <a:lstStyle/>
                    <a:p>
                      <a:r>
                        <a:rPr sz="1250" b="0" i="0">
                          <a:solidFill>
                            <a:srgbClr val="202226"/>
                          </a:solidFill>
                          <a:latin typeface="Calibri"/>
                        </a:rPr>
                        <a:t>D05</a:t>
                      </a:r>
                    </a:p>
                  </a:txBody>
                  <a:tcPr anchor="ctr" marT="38100" marB="38100" marL="76200" marR="76200">
                    <a:solidFill>
                      <a:srgbClr val="FFFFFF"/>
                    </a:solidFill>
                  </a:tcPr>
                </a:tc>
                <a:tc>
                  <a:txBody>
                    <a:bodyPr wrap="square"/>
                    <a:lstStyle/>
                    <a:p>
                      <a:r>
                        <a:rPr sz="1250" b="0" i="0">
                          <a:solidFill>
                            <a:srgbClr val="202226"/>
                          </a:solidFill>
                          <a:latin typeface="Calibri"/>
                        </a:rPr>
                        <a:t>Stock and Despatch</a:t>
                      </a:r>
                    </a:p>
                  </a:txBody>
                  <a:tcPr anchor="ctr" marT="38100" marB="38100" marL="76200" marR="76200">
                    <a:solidFill>
                      <a:srgbClr val="FFFFFF"/>
                    </a:solidFill>
                  </a:tcPr>
                </a:tc>
                <a:tc>
                  <a:txBody>
                    <a:bodyPr wrap="square"/>
                    <a:lstStyle/>
                    <a:p>
                      <a:r>
                        <a:rPr sz="1250" b="0" i="0">
                          <a:solidFill>
                            <a:srgbClr val="202226"/>
                          </a:solidFill>
                          <a:latin typeface="Calibri"/>
                        </a:rPr>
                        <a:t>FACT_INVOICE_LINE</a:t>
                      </a:r>
                    </a:p>
                  </a:txBody>
                  <a:tcPr anchor="ctr" marT="38100" marB="38100" marL="76200" marR="76200">
                    <a:solidFill>
                      <a:srgbClr val="FFFFFF"/>
                    </a:solidFill>
                  </a:tcPr>
                </a:tc>
              </a:tr>
              <a:tr h="362243">
                <a:tc>
                  <a:txBody>
                    <a:bodyPr wrap="square"/>
                    <a:lstStyle/>
                    <a:p>
                      <a:r>
                        <a:rPr sz="1250" b="0" i="0">
                          <a:solidFill>
                            <a:srgbClr val="202226"/>
                          </a:solidFill>
                          <a:latin typeface="Calibri"/>
                        </a:rPr>
                        <a:t>D06</a:t>
                      </a:r>
                    </a:p>
                  </a:txBody>
                  <a:tcPr anchor="ctr" marT="38100" marB="38100" marL="76200" marR="76200">
                    <a:solidFill>
                      <a:srgbClr val="ECEEF1"/>
                    </a:solidFill>
                  </a:tcPr>
                </a:tc>
                <a:tc>
                  <a:txBody>
                    <a:bodyPr wrap="square"/>
                    <a:lstStyle/>
                    <a:p>
                      <a:r>
                        <a:rPr sz="1250" b="0" i="0">
                          <a:solidFill>
                            <a:srgbClr val="202226"/>
                          </a:solidFill>
                          <a:latin typeface="Calibri"/>
                        </a:rPr>
                        <a:t>Order Fulfilment and Fill Rate</a:t>
                      </a:r>
                    </a:p>
                  </a:txBody>
                  <a:tcPr anchor="ctr" marT="38100" marB="38100" marL="76200" marR="76200">
                    <a:solidFill>
                      <a:srgbClr val="ECEEF1"/>
                    </a:solidFill>
                  </a:tcPr>
                </a:tc>
                <a:tc>
                  <a:txBody>
                    <a:bodyPr wrap="square"/>
                    <a:lstStyle/>
                    <a:p>
                      <a:r>
                        <a:rPr sz="1250" b="0" i="0">
                          <a:solidFill>
                            <a:srgbClr val="202226"/>
                          </a:solidFill>
                          <a:latin typeface="Calibri"/>
                        </a:rPr>
                        <a:t>FACT_ORDER_LINE</a:t>
                      </a:r>
                    </a:p>
                  </a:txBody>
                  <a:tcPr anchor="ctr" marT="38100" marB="38100" marL="76200" marR="76200">
                    <a:solidFill>
                      <a:srgbClr val="ECEEF1"/>
                    </a:solidFill>
                  </a:tcPr>
                </a:tc>
              </a:tr>
              <a:tr h="362243">
                <a:tc>
                  <a:txBody>
                    <a:bodyPr wrap="square"/>
                    <a:lstStyle/>
                    <a:p>
                      <a:r>
                        <a:rPr sz="1250" b="0" i="0">
                          <a:solidFill>
                            <a:srgbClr val="202226"/>
                          </a:solidFill>
                          <a:latin typeface="Calibri"/>
                        </a:rPr>
                        <a:t>D07</a:t>
                      </a:r>
                    </a:p>
                  </a:txBody>
                  <a:tcPr anchor="ctr" marT="38100" marB="38100" marL="76200" marR="76200">
                    <a:solidFill>
                      <a:srgbClr val="FFFFFF"/>
                    </a:solidFill>
                  </a:tcPr>
                </a:tc>
                <a:tc>
                  <a:txBody>
                    <a:bodyPr wrap="square"/>
                    <a:lstStyle/>
                    <a:p>
                      <a:r>
                        <a:rPr sz="1250" b="0" i="0">
                          <a:solidFill>
                            <a:srgbClr val="202226"/>
                          </a:solidFill>
                          <a:latin typeface="Calibri"/>
                        </a:rPr>
                        <a:t>Revenue Reconciliation</a:t>
                      </a:r>
                    </a:p>
                  </a:txBody>
                  <a:tcPr anchor="ctr" marT="38100" marB="38100" marL="76200" marR="76200">
                    <a:solidFill>
                      <a:srgbClr val="FFFFFF"/>
                    </a:solidFill>
                  </a:tcPr>
                </a:tc>
                <a:tc>
                  <a:txBody>
                    <a:bodyPr wrap="square"/>
                    <a:lstStyle/>
                    <a:p>
                      <a:r>
                        <a:rPr sz="1250" b="0" i="0">
                          <a:solidFill>
                            <a:srgbClr val="202226"/>
                          </a:solidFill>
                          <a:latin typeface="Calibri"/>
                        </a:rPr>
                        <a:t>FACT_INVOICE_LINE</a:t>
                      </a:r>
                    </a:p>
                  </a:txBody>
                  <a:tcPr anchor="ctr" marT="38100" marB="38100" marL="76200" marR="76200">
                    <a:solidFill>
                      <a:srgbClr val="FFFFFF"/>
                    </a:solidFill>
                  </a:tcPr>
                </a:tc>
              </a:tr>
              <a:tr h="362243">
                <a:tc>
                  <a:txBody>
                    <a:bodyPr wrap="square"/>
                    <a:lstStyle/>
                    <a:p>
                      <a:r>
                        <a:rPr sz="1250" b="0" i="0">
                          <a:solidFill>
                            <a:srgbClr val="202226"/>
                          </a:solidFill>
                          <a:latin typeface="Calibri"/>
                        </a:rPr>
                        <a:t>D08</a:t>
                      </a:r>
                    </a:p>
                  </a:txBody>
                  <a:tcPr anchor="ctr" marT="38100" marB="38100" marL="76200" marR="76200">
                    <a:solidFill>
                      <a:srgbClr val="ECEEF1"/>
                    </a:solidFill>
                  </a:tcPr>
                </a:tc>
                <a:tc>
                  <a:txBody>
                    <a:bodyPr wrap="square"/>
                    <a:lstStyle/>
                    <a:p>
                      <a:r>
                        <a:rPr sz="1250" b="0" i="0">
                          <a:solidFill>
                            <a:srgbClr val="202226"/>
                          </a:solidFill>
                          <a:latin typeface="Calibri"/>
                        </a:rPr>
                        <a:t>GST and Tax Summary</a:t>
                      </a:r>
                    </a:p>
                  </a:txBody>
                  <a:tcPr anchor="ctr" marT="38100" marB="38100" marL="76200" marR="76200">
                    <a:solidFill>
                      <a:srgbClr val="ECEEF1"/>
                    </a:solidFill>
                  </a:tcPr>
                </a:tc>
                <a:tc>
                  <a:txBody>
                    <a:bodyPr wrap="square"/>
                    <a:lstStyle/>
                    <a:p>
                      <a:r>
                        <a:rPr sz="1250" b="0" i="0">
                          <a:solidFill>
                            <a:srgbClr val="202226"/>
                          </a:solidFill>
                          <a:latin typeface="Calibri"/>
                        </a:rPr>
                        <a:t>FACT_INVOICE_LINE + DIM_TAX_RATE</a:t>
                      </a:r>
                    </a:p>
                  </a:txBody>
                  <a:tcPr anchor="ctr" marT="38100" marB="38100" marL="76200" marR="76200">
                    <a:solidFill>
                      <a:srgbClr val="ECEEF1"/>
                    </a:solidFill>
                  </a:tcPr>
                </a:tc>
              </a:tr>
              <a:tr h="362243">
                <a:tc>
                  <a:txBody>
                    <a:bodyPr wrap="square"/>
                    <a:lstStyle/>
                    <a:p>
                      <a:r>
                        <a:rPr sz="1250" b="0" i="0">
                          <a:solidFill>
                            <a:srgbClr val="202226"/>
                          </a:solidFill>
                          <a:latin typeface="Calibri"/>
                        </a:rPr>
                        <a:t>D09</a:t>
                      </a:r>
                    </a:p>
                  </a:txBody>
                  <a:tcPr anchor="ctr" marT="38100" marB="38100" marL="76200" marR="76200">
                    <a:solidFill>
                      <a:srgbClr val="FFFFFF"/>
                    </a:solidFill>
                  </a:tcPr>
                </a:tc>
                <a:tc>
                  <a:txBody>
                    <a:bodyPr wrap="square"/>
                    <a:lstStyle/>
                    <a:p>
                      <a:r>
                        <a:rPr sz="1250" b="0" i="0">
                          <a:solidFill>
                            <a:srgbClr val="202226"/>
                          </a:solidFill>
                          <a:latin typeface="Calibri"/>
                        </a:rPr>
                        <a:t>Product Mix and Contribution</a:t>
                      </a:r>
                    </a:p>
                  </a:txBody>
                  <a:tcPr anchor="ctr" marT="38100" marB="38100" marL="76200" marR="76200">
                    <a:solidFill>
                      <a:srgbClr val="FFFFFF"/>
                    </a:solidFill>
                  </a:tcPr>
                </a:tc>
                <a:tc>
                  <a:txBody>
                    <a:bodyPr wrap="square"/>
                    <a:lstStyle/>
                    <a:p>
                      <a:r>
                        <a:rPr sz="1250" b="0" i="0">
                          <a:solidFill>
                            <a:srgbClr val="202226"/>
                          </a:solidFill>
                          <a:latin typeface="Calibri"/>
                        </a:rPr>
                        <a:t>FACT_INVOICE_LINE</a:t>
                      </a:r>
                    </a:p>
                  </a:txBody>
                  <a:tcPr anchor="ctr" marT="38100" marB="38100" marL="76200" marR="76200">
                    <a:solidFill>
                      <a:srgbClr val="FFFFFF"/>
                    </a:solidFill>
                  </a:tcPr>
                </a:tc>
              </a:tr>
              <a:tr h="362243">
                <a:tc>
                  <a:txBody>
                    <a:bodyPr wrap="square"/>
                    <a:lstStyle/>
                    <a:p>
                      <a:r>
                        <a:rPr sz="1250" b="0" i="0">
                          <a:solidFill>
                            <a:srgbClr val="202226"/>
                          </a:solidFill>
                          <a:latin typeface="Calibri"/>
                        </a:rPr>
                        <a:t>D10</a:t>
                      </a:r>
                    </a:p>
                  </a:txBody>
                  <a:tcPr anchor="ctr" marT="38100" marB="38100" marL="76200" marR="76200">
                    <a:solidFill>
                      <a:srgbClr val="ECEEF1"/>
                    </a:solidFill>
                  </a:tcPr>
                </a:tc>
                <a:tc>
                  <a:txBody>
                    <a:bodyPr wrap="square"/>
                    <a:lstStyle/>
                    <a:p>
                      <a:r>
                        <a:rPr sz="1250" b="0" i="0">
                          <a:solidFill>
                            <a:srgbClr val="202226"/>
                          </a:solidFill>
                          <a:latin typeface="Calibri"/>
                        </a:rPr>
                        <a:t>Sales Rep Productivity</a:t>
                      </a:r>
                    </a:p>
                  </a:txBody>
                  <a:tcPr anchor="ctr" marT="38100" marB="38100" marL="76200" marR="76200">
                    <a:solidFill>
                      <a:srgbClr val="ECEEF1"/>
                    </a:solidFill>
                  </a:tcPr>
                </a:tc>
                <a:tc>
                  <a:txBody>
                    <a:bodyPr wrap="square"/>
                    <a:lstStyle/>
                    <a:p>
                      <a:r>
                        <a:rPr sz="1250" b="0" i="0">
                          <a:solidFill>
                            <a:srgbClr val="202226"/>
                          </a:solidFill>
                          <a:latin typeface="Calibri"/>
                        </a:rPr>
                        <a:t>FACT_INVOICE_LINE + DIM_SALESREP</a:t>
                      </a:r>
                    </a:p>
                  </a:txBody>
                  <a:tcPr anchor="ctr" marT="38100" marB="38100" marL="76200" marR="76200">
                    <a:solidFill>
                      <a:srgbClr val="ECEEF1"/>
                    </a:solidFill>
                  </a:tcPr>
                </a:tc>
              </a:tr>
              <a:tr h="362243">
                <a:tc>
                  <a:txBody>
                    <a:bodyPr wrap="square"/>
                    <a:lstStyle/>
                    <a:p>
                      <a:r>
                        <a:rPr sz="1250" b="0" i="0">
                          <a:solidFill>
                            <a:srgbClr val="202226"/>
                          </a:solidFill>
                          <a:latin typeface="Calibri"/>
                        </a:rPr>
                        <a:t>D11</a:t>
                      </a:r>
                    </a:p>
                  </a:txBody>
                  <a:tcPr anchor="ctr" marT="38100" marB="38100" marL="76200" marR="76200">
                    <a:solidFill>
                      <a:srgbClr val="FFFFFF"/>
                    </a:solidFill>
                  </a:tcPr>
                </a:tc>
                <a:tc>
                  <a:txBody>
                    <a:bodyPr wrap="square"/>
                    <a:lstStyle/>
                    <a:p>
                      <a:r>
                        <a:rPr sz="1250" b="0" i="0">
                          <a:solidFill>
                            <a:srgbClr val="202226"/>
                          </a:solidFill>
                          <a:latin typeface="Calibri"/>
                        </a:rPr>
                        <a:t>Credit and Receivables Exposure</a:t>
                      </a:r>
                    </a:p>
                  </a:txBody>
                  <a:tcPr anchor="ctr" marT="38100" marB="38100" marL="76200" marR="76200">
                    <a:solidFill>
                      <a:srgbClr val="FFFFFF"/>
                    </a:solidFill>
                  </a:tcPr>
                </a:tc>
                <a:tc>
                  <a:txBody>
                    <a:bodyPr wrap="square"/>
                    <a:lstStyle/>
                    <a:p>
                      <a:r>
                        <a:rPr sz="1250" b="0" i="0">
                          <a:solidFill>
                            <a:srgbClr val="202226"/>
                          </a:solidFill>
                          <a:latin typeface="Calibri"/>
                        </a:rPr>
                        <a:t>AR_OPEN_ITEM extract</a:t>
                      </a:r>
                    </a:p>
                  </a:txBody>
                  <a:tcPr anchor="ctr" marT="38100" marB="38100" marL="76200" marR="76200">
                    <a:solidFill>
                      <a:srgbClr val="FFFFFF"/>
                    </a:solidFill>
                  </a:tcPr>
                </a:tc>
              </a:tr>
              <a:tr h="362244">
                <a:tc>
                  <a:txBody>
                    <a:bodyPr wrap="square"/>
                    <a:lstStyle/>
                    <a:p>
                      <a:r>
                        <a:rPr sz="1250" b="0" i="0">
                          <a:solidFill>
                            <a:srgbClr val="202226"/>
                          </a:solidFill>
                          <a:latin typeface="Calibri"/>
                        </a:rPr>
                        <a:t>D12</a:t>
                      </a:r>
                    </a:p>
                  </a:txBody>
                  <a:tcPr anchor="ctr" marT="38100" marB="38100" marL="76200" marR="76200">
                    <a:solidFill>
                      <a:srgbClr val="ECEEF1"/>
                    </a:solidFill>
                  </a:tcPr>
                </a:tc>
                <a:tc>
                  <a:txBody>
                    <a:bodyPr wrap="square"/>
                    <a:lstStyle/>
                    <a:p>
                      <a:r>
                        <a:rPr sz="1250" b="0" i="0">
                          <a:solidFill>
                            <a:srgbClr val="202226"/>
                          </a:solidFill>
                          <a:latin typeface="Calibri"/>
                        </a:rPr>
                        <a:t>Executive Summary (Group View)</a:t>
                      </a:r>
                    </a:p>
                  </a:txBody>
                  <a:tcPr anchor="ctr" marT="38100" marB="38100" marL="76200" marR="76200">
                    <a:solidFill>
                      <a:srgbClr val="ECEEF1"/>
                    </a:solidFill>
                  </a:tcPr>
                </a:tc>
                <a:tc>
                  <a:txBody>
                    <a:bodyPr wrap="square"/>
                    <a:lstStyle/>
                    <a:p>
                      <a:r>
                        <a:rPr sz="1250" b="0" i="0">
                          <a:solidFill>
                            <a:srgbClr val="202226"/>
                          </a:solidFill>
                          <a:latin typeface="Calibri"/>
                        </a:rPr>
                        <a:t>Aggregate, all of the above</a:t>
                      </a:r>
                    </a:p>
                  </a:txBody>
                  <a:tcPr anchor="ctr" marT="38100" marB="38100" marL="76200" marR="76200">
                    <a:solidFill>
                      <a:srgbClr val="ECEEF1"/>
                    </a:solidFill>
                  </a:tcPr>
                </a:tc>
              </a:tr>
            </a:tbl>
          </a:graphicData>
        </a:graphic>
      </p:graphicFrame>
      <p:sp>
        <p:nvSpPr>
          <p:cNvPr id="5" name="Rounded Rectangle 4"/>
          <p:cNvSpPr/>
          <p:nvPr/>
        </p:nvSpPr>
        <p:spPr>
          <a:xfrm>
            <a:off x="9326880" y="1371600"/>
            <a:ext cx="2377440" cy="1737360"/>
          </a:xfrm>
          <a:prstGeom prst="roundRect">
            <a:avLst/>
          </a:prstGeom>
          <a:solidFill>
            <a:srgbClr val="C78A0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buNone/>
            </a:pPr>
            <a:r>
              <a:rPr sz="4400" b="1" i="0">
                <a:solidFill>
                  <a:srgbClr val="FFFFFF"/>
                </a:solidFill>
                <a:latin typeface="Calibri"/>
              </a:rPr>
              <a:t>12</a:t>
            </a:r>
          </a:p>
          <a:p>
            <a:pPr algn="ctr">
              <a:spcAft>
                <a:spcPts val="0"/>
              </a:spcAft>
              <a:buNone/>
            </a:pPr>
            <a:r>
              <a:rPr sz="1400" b="1" i="0">
                <a:solidFill>
                  <a:srgbClr val="141C2E"/>
                </a:solidFill>
                <a:latin typeface="Calibri"/>
              </a:rPr>
              <a:t>DASHBOARDS</a:t>
            </a:r>
          </a:p>
        </p:txBody>
      </p:sp>
      <p:sp>
        <p:nvSpPr>
          <p:cNvPr id="6" name="TextBox 5"/>
          <p:cNvSpPr txBox="1"/>
          <p:nvPr/>
        </p:nvSpPr>
        <p:spPr>
          <a:xfrm>
            <a:off x="9326880" y="3246120"/>
            <a:ext cx="2377440" cy="2651760"/>
          </a:xfrm>
          <a:prstGeom prst="rect">
            <a:avLst/>
          </a:prstGeom>
          <a:noFill/>
        </p:spPr>
        <p:txBody>
          <a:bodyPr wrap="square">
            <a:spAutoFit/>
          </a:bodyPr>
          <a:lstStyle/>
          <a:p>
            <a:pPr algn="l">
              <a:spcAft>
                <a:spcPts val="600"/>
              </a:spcAft>
              <a:buNone/>
            </a:pPr>
            <a:r>
              <a:rPr sz="1200" b="1" i="0">
                <a:solidFill>
                  <a:srgbClr val="4C5C75"/>
                </a:solidFill>
                <a:latin typeface="Calibri"/>
              </a:rPr>
              <a:t>D01–D12, in scope for go-live per the SOW.</a:t>
            </a:r>
          </a:p>
          <a:p>
            <a:pPr algn="l">
              <a:spcAft>
                <a:spcPts val="0"/>
              </a:spcAft>
              <a:buNone/>
            </a:pPr>
            <a:r>
              <a:rPr sz="1100" b="0" i="0">
                <a:solidFill>
                  <a:srgbClr val="5B6370"/>
                </a:solidFill>
                <a:latin typeface="Calibri"/>
              </a:rPr>
              <a:t>Sequencing and dashboard-by-dashboard wireframes are worked out with each business owner during the Dashboard Build phase.</a:t>
            </a:r>
          </a:p>
        </p:txBody>
      </p:sp>
      <p:sp>
        <p:nvSpPr>
          <p:cNvPr id="7" name="Rectangle 6"/>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9" name="TextBox 8"/>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C2E"/>
        </a:solidFill>
        <a:effectLst/>
      </p:bgPr>
    </p:bg>
    <p:spTree>
      <p:nvGrpSpPr>
        <p:cNvPr id="1" name=""/>
        <p:cNvGrpSpPr/>
        <p:nvPr/>
      </p:nvGrpSpPr>
      <p:grpSpPr/>
      <p:sp>
        <p:nvSpPr>
          <p:cNvPr id="2" name="Rectangle 1"/>
          <p:cNvSpPr/>
          <p:nvPr/>
        </p:nvSpPr>
        <p:spPr>
          <a:xfrm>
            <a:off x="822960" y="3246120"/>
            <a:ext cx="1005840" cy="54864"/>
          </a:xfrm>
          <a:prstGeom prst="rect">
            <a:avLst/>
          </a:prstGeom>
          <a:solidFill>
            <a:srgbClr val="C78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058400" cy="548640"/>
          </a:xfrm>
          <a:prstGeom prst="rect">
            <a:avLst/>
          </a:prstGeom>
          <a:noFill/>
        </p:spPr>
        <p:txBody>
          <a:bodyPr wrap="square">
            <a:spAutoFit/>
          </a:bodyPr>
          <a:lstStyle/>
          <a:p>
            <a:pPr algn="l">
              <a:spcAft>
                <a:spcPts val="0"/>
              </a:spcAft>
              <a:buNone/>
            </a:pPr>
            <a:r>
              <a:rPr sz="1600" b="1" i="0">
                <a:solidFill>
                  <a:srgbClr val="C8CED9"/>
                </a:solidFill>
                <a:latin typeface="Calibri"/>
              </a:rPr>
              <a:t>SECTION 2</a:t>
            </a:r>
          </a:p>
        </p:txBody>
      </p:sp>
      <p:sp>
        <p:nvSpPr>
          <p:cNvPr id="4" name="TextBox 3"/>
          <p:cNvSpPr txBox="1"/>
          <p:nvPr/>
        </p:nvSpPr>
        <p:spPr>
          <a:xfrm>
            <a:off x="822960" y="3383280"/>
            <a:ext cx="10058400" cy="914400"/>
          </a:xfrm>
          <a:prstGeom prst="rect">
            <a:avLst/>
          </a:prstGeom>
          <a:noFill/>
        </p:spPr>
        <p:txBody>
          <a:bodyPr wrap="square">
            <a:spAutoFit/>
          </a:bodyPr>
          <a:lstStyle/>
          <a:p>
            <a:pPr algn="l">
              <a:spcAft>
                <a:spcPts val="0"/>
              </a:spcAft>
              <a:buNone/>
            </a:pPr>
            <a:r>
              <a:rPr sz="3400" b="1" i="0">
                <a:solidFill>
                  <a:srgbClr val="FFFFFF"/>
                </a:solidFill>
                <a:latin typeface="Calibri"/>
              </a:rPr>
              <a:t>Our Approach</a:t>
            </a:r>
          </a:p>
        </p:txBody>
      </p:sp>
      <p:sp>
        <p:nvSpPr>
          <p:cNvPr id="5" name="Rectangle 4"/>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7" name="TextBox 6"/>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2800" b="1" i="0">
                <a:solidFill>
                  <a:srgbClr val="FFFFFF"/>
                </a:solidFill>
                <a:latin typeface="Calibri"/>
              </a:rPr>
              <a:t>Workstreams</a:t>
            </a:r>
          </a:p>
        </p:txBody>
      </p:sp>
      <p:graphicFrame>
        <p:nvGraphicFramePr>
          <p:cNvPr id="4" name="Table 3"/>
          <p:cNvGraphicFramePr>
            <a:graphicFrameLocks noGrp="1"/>
          </p:cNvGraphicFramePr>
          <p:nvPr/>
        </p:nvGraphicFramePr>
        <p:xfrm>
          <a:off x="502920" y="1188720"/>
          <a:ext cx="11201398" cy="4480560"/>
        </p:xfrm>
        <a:graphic>
          <a:graphicData uri="http://schemas.openxmlformats.org/drawingml/2006/table">
            <a:tbl>
              <a:tblPr firstRow="1" bandRow="1">
                <a:tableStyleId>{5C22544A-7EE6-4342-B048-85BDC9FD1C3A}</a:tableStyleId>
              </a:tblPr>
              <a:tblGrid>
                <a:gridCol w="2872153"/>
                <a:gridCol w="6318738"/>
                <a:gridCol w="2010507"/>
              </a:tblGrid>
              <a:tr h="746760">
                <a:tc>
                  <a:txBody>
                    <a:bodyPr wrap="square"/>
                    <a:lstStyle/>
                    <a:p>
                      <a:r>
                        <a:rPr sz="1300" b="1" i="0">
                          <a:solidFill>
                            <a:srgbClr val="FFFFFF"/>
                          </a:solidFill>
                          <a:latin typeface="Calibri"/>
                        </a:rPr>
                        <a:t>Workstream</a:t>
                      </a:r>
                    </a:p>
                  </a:txBody>
                  <a:tcPr anchor="ctr" marT="38100" marB="38100" marL="76200" marR="76200">
                    <a:solidFill>
                      <a:srgbClr val="1F2A44"/>
                    </a:solidFill>
                  </a:tcPr>
                </a:tc>
                <a:tc>
                  <a:txBody>
                    <a:bodyPr wrap="square"/>
                    <a:lstStyle/>
                    <a:p>
                      <a:r>
                        <a:rPr sz="1300" b="1" i="0">
                          <a:solidFill>
                            <a:srgbClr val="FFFFFF"/>
                          </a:solidFill>
                          <a:latin typeface="Calibri"/>
                        </a:rPr>
                        <a:t>Focus</a:t>
                      </a:r>
                    </a:p>
                  </a:txBody>
                  <a:tcPr anchor="ctr" marT="38100" marB="38100" marL="76200" marR="76200">
                    <a:solidFill>
                      <a:srgbClr val="1F2A44"/>
                    </a:solidFill>
                  </a:tcPr>
                </a:tc>
                <a:tc>
                  <a:txBody>
                    <a:bodyPr wrap="square"/>
                    <a:lstStyle/>
                    <a:p>
                      <a:r>
                        <a:rPr sz="1300" b="1" i="0">
                          <a:solidFill>
                            <a:srgbClr val="FFFFFF"/>
                          </a:solidFill>
                          <a:latin typeface="Calibri"/>
                        </a:rPr>
                        <a:t>Lead</a:t>
                      </a:r>
                    </a:p>
                  </a:txBody>
                  <a:tcPr anchor="ctr" marT="38100" marB="38100" marL="76200" marR="76200">
                    <a:solidFill>
                      <a:srgbClr val="1F2A44"/>
                    </a:solidFill>
                  </a:tcPr>
                </a:tc>
              </a:tr>
              <a:tr h="746760">
                <a:tc>
                  <a:txBody>
                    <a:bodyPr wrap="square"/>
                    <a:lstStyle/>
                    <a:p>
                      <a:r>
                        <a:rPr sz="1300" b="0" i="0">
                          <a:solidFill>
                            <a:srgbClr val="202226"/>
                          </a:solidFill>
                          <a:latin typeface="Calibri"/>
                        </a:rPr>
                        <a:t>WS1 – Data &amp; Variance Root Cause</a:t>
                      </a:r>
                    </a:p>
                  </a:txBody>
                  <a:tcPr anchor="ctr" marT="38100" marB="38100" marL="76200" marR="76200">
                    <a:solidFill>
                      <a:srgbClr val="FFFFFF"/>
                    </a:solidFill>
                  </a:tcPr>
                </a:tc>
                <a:tc>
                  <a:txBody>
                    <a:bodyPr wrap="square"/>
                    <a:lstStyle/>
                    <a:p>
                      <a:r>
                        <a:rPr sz="1300" b="0" i="0">
                          <a:solidFill>
                            <a:srgbClr val="202226"/>
                          </a:solidFill>
                          <a:latin typeface="Calibri"/>
                        </a:rPr>
                        <a:t>Inventory every source of a sales number, define terms precisely, profile the actual tables, and trace one period end to end from ORION through to the report</a:t>
                      </a:r>
                    </a:p>
                  </a:txBody>
                  <a:tcPr anchor="ctr" marT="38100" marB="38100" marL="76200" marR="76200">
                    <a:solidFill>
                      <a:srgbClr val="FFFFFF"/>
                    </a:solidFill>
                  </a:tcPr>
                </a:tc>
                <a:tc>
                  <a:txBody>
                    <a:bodyPr wrap="square"/>
                    <a:lstStyle/>
                    <a:p>
                      <a:r>
                        <a:rPr sz="1300" b="0" i="0">
                          <a:solidFill>
                            <a:srgbClr val="202226"/>
                          </a:solidFill>
                          <a:latin typeface="Calibri"/>
                        </a:rPr>
                        <a:t>Karthik Subramanian</a:t>
                      </a:r>
                    </a:p>
                  </a:txBody>
                  <a:tcPr anchor="ctr" marT="38100" marB="38100" marL="76200" marR="76200">
                    <a:solidFill>
                      <a:srgbClr val="FFFFFF"/>
                    </a:solidFill>
                  </a:tcPr>
                </a:tc>
              </a:tr>
              <a:tr h="746760">
                <a:tc>
                  <a:txBody>
                    <a:bodyPr wrap="square"/>
                    <a:lstStyle/>
                    <a:p>
                      <a:r>
                        <a:rPr sz="1300" b="0" i="0">
                          <a:solidFill>
                            <a:srgbClr val="202226"/>
                          </a:solidFill>
                          <a:latin typeface="Calibri"/>
                        </a:rPr>
                        <a:t>WS2 – Data Quality</a:t>
                      </a:r>
                    </a:p>
                  </a:txBody>
                  <a:tcPr anchor="ctr" marT="38100" marB="38100" marL="76200" marR="76200">
                    <a:solidFill>
                      <a:srgbClr val="ECEEF1"/>
                    </a:solidFill>
                  </a:tcPr>
                </a:tc>
                <a:tc>
                  <a:txBody>
                    <a:bodyPr wrap="square"/>
                    <a:lstStyle/>
                    <a:p>
                      <a:r>
                        <a:rPr sz="1300" b="0" i="0">
                          <a:solidFill>
                            <a:srgbClr val="202226"/>
                          </a:solidFill>
                          <a:latin typeface="Calibri"/>
                        </a:rPr>
                        <a:t>Baseline and improve completeness, validity, consistency, uniqueness and timeliness of core sales data</a:t>
                      </a:r>
                    </a:p>
                  </a:txBody>
                  <a:tcPr anchor="ctr" marT="38100" marB="38100" marL="76200" marR="76200">
                    <a:solidFill>
                      <a:srgbClr val="ECEEF1"/>
                    </a:solidFill>
                  </a:tcPr>
                </a:tc>
                <a:tc>
                  <a:txBody>
                    <a:bodyPr wrap="square"/>
                    <a:lstStyle/>
                    <a:p>
                      <a:r>
                        <a:rPr sz="1300" b="0" i="0">
                          <a:solidFill>
                            <a:srgbClr val="202226"/>
                          </a:solidFill>
                          <a:latin typeface="Calibri"/>
                        </a:rPr>
                        <a:t>Neha Gokhale</a:t>
                      </a:r>
                    </a:p>
                  </a:txBody>
                  <a:tcPr anchor="ctr" marT="38100" marB="38100" marL="76200" marR="76200">
                    <a:solidFill>
                      <a:srgbClr val="ECEEF1"/>
                    </a:solidFill>
                  </a:tcPr>
                </a:tc>
              </a:tr>
              <a:tr h="746760">
                <a:tc>
                  <a:txBody>
                    <a:bodyPr wrap="square"/>
                    <a:lstStyle/>
                    <a:p>
                      <a:r>
                        <a:rPr sz="1300" b="0" i="0">
                          <a:solidFill>
                            <a:srgbClr val="202226"/>
                          </a:solidFill>
                          <a:latin typeface="Calibri"/>
                        </a:rPr>
                        <a:t>WS3 – Dashboard Design &amp; Build</a:t>
                      </a:r>
                    </a:p>
                  </a:txBody>
                  <a:tcPr anchor="ctr" marT="38100" marB="38100" marL="76200" marR="76200">
                    <a:solidFill>
                      <a:srgbClr val="FFFFFF"/>
                    </a:solidFill>
                  </a:tcPr>
                </a:tc>
                <a:tc>
                  <a:txBody>
                    <a:bodyPr wrap="square"/>
                    <a:lstStyle/>
                    <a:p>
                      <a:r>
                        <a:rPr sz="1300" b="0" i="0">
                          <a:solidFill>
                            <a:srgbClr val="202226"/>
                          </a:solidFill>
                          <a:latin typeface="Calibri"/>
                        </a:rPr>
                        <a:t>Design and build the Power BI dashboards, retiring OBIEE reports as we go</a:t>
                      </a:r>
                    </a:p>
                  </a:txBody>
                  <a:tcPr anchor="ctr" marT="38100" marB="38100" marL="76200" marR="76200">
                    <a:solidFill>
                      <a:srgbClr val="FFFFFF"/>
                    </a:solidFill>
                  </a:tcPr>
                </a:tc>
                <a:tc>
                  <a:txBody>
                    <a:bodyPr wrap="square"/>
                    <a:lstStyle/>
                    <a:p>
                      <a:r>
                        <a:rPr sz="1300" b="0" i="0">
                          <a:solidFill>
                            <a:srgbClr val="202226"/>
                          </a:solidFill>
                          <a:latin typeface="Calibri"/>
                        </a:rPr>
                        <a:t>Ritwik Ghosh</a:t>
                      </a:r>
                    </a:p>
                  </a:txBody>
                  <a:tcPr anchor="ctr" marT="38100" marB="38100" marL="76200" marR="76200">
                    <a:solidFill>
                      <a:srgbClr val="FFFFFF"/>
                    </a:solidFill>
                  </a:tcPr>
                </a:tc>
              </a:tr>
              <a:tr h="746760">
                <a:tc>
                  <a:txBody>
                    <a:bodyPr wrap="square"/>
                    <a:lstStyle/>
                    <a:p>
                      <a:r>
                        <a:rPr sz="1300" b="0" i="0">
                          <a:solidFill>
                            <a:srgbClr val="202226"/>
                          </a:solidFill>
                          <a:latin typeface="Calibri"/>
                        </a:rPr>
                        <a:t>WS4 – Change, UAT &amp; Cutover</a:t>
                      </a:r>
                    </a:p>
                  </a:txBody>
                  <a:tcPr anchor="ctr" marT="38100" marB="38100" marL="76200" marR="76200">
                    <a:solidFill>
                      <a:srgbClr val="ECEEF1"/>
                    </a:solidFill>
                  </a:tcPr>
                </a:tc>
                <a:tc>
                  <a:txBody>
                    <a:bodyPr wrap="square"/>
                    <a:lstStyle/>
                    <a:p>
                      <a:r>
                        <a:rPr sz="1300" b="0" i="0">
                          <a:solidFill>
                            <a:srgbClr val="202226"/>
                          </a:solidFill>
                          <a:latin typeface="Calibri"/>
                        </a:rPr>
                        <a:t>User acceptance testing, training and cutover planning</a:t>
                      </a:r>
                    </a:p>
                  </a:txBody>
                  <a:tcPr anchor="ctr" marT="38100" marB="38100" marL="76200" marR="76200">
                    <a:solidFill>
                      <a:srgbClr val="ECEEF1"/>
                    </a:solidFill>
                  </a:tcPr>
                </a:tc>
                <a:tc>
                  <a:txBody>
                    <a:bodyPr wrap="square"/>
                    <a:lstStyle/>
                    <a:p>
                      <a:r>
                        <a:rPr sz="1300" b="0" i="0">
                          <a:solidFill>
                            <a:srgbClr val="202226"/>
                          </a:solidFill>
                          <a:latin typeface="Calibri"/>
                        </a:rPr>
                        <a:t>Ananya Krishnan</a:t>
                      </a:r>
                    </a:p>
                  </a:txBody>
                  <a:tcPr anchor="ctr" marT="38100" marB="38100" marL="76200" marR="76200">
                    <a:solidFill>
                      <a:srgbClr val="ECEEF1"/>
                    </a:solidFill>
                  </a:tcPr>
                </a:tc>
              </a:tr>
              <a:tr h="746760">
                <a:tc>
                  <a:txBody>
                    <a:bodyPr wrap="square"/>
                    <a:lstStyle/>
                    <a:p>
                      <a:r>
                        <a:rPr sz="1300" b="0" i="0">
                          <a:solidFill>
                            <a:srgbClr val="202226"/>
                          </a:solidFill>
                          <a:latin typeface="Calibri"/>
                        </a:rPr>
                        <a:t>WS5 – Programme Governance</a:t>
                      </a:r>
                    </a:p>
                  </a:txBody>
                  <a:tcPr anchor="ctr" marT="38100" marB="38100" marL="76200" marR="76200">
                    <a:solidFill>
                      <a:srgbClr val="FFFFFF"/>
                    </a:solidFill>
                  </a:tcPr>
                </a:tc>
                <a:tc>
                  <a:txBody>
                    <a:bodyPr wrap="square"/>
                    <a:lstStyle/>
                    <a:p>
                      <a:r>
                        <a:rPr sz="1300" b="0" i="0">
                          <a:solidFill>
                            <a:srgbClr val="202226"/>
                          </a:solidFill>
                          <a:latin typeface="Calibri"/>
                        </a:rPr>
                        <a:t>Steering, RAID management and status reporting</a:t>
                      </a:r>
                    </a:p>
                  </a:txBody>
                  <a:tcPr anchor="ctr" marT="38100" marB="38100" marL="76200" marR="76200">
                    <a:solidFill>
                      <a:srgbClr val="FFFFFF"/>
                    </a:solidFill>
                  </a:tcPr>
                </a:tc>
                <a:tc>
                  <a:txBody>
                    <a:bodyPr wrap="square"/>
                    <a:lstStyle/>
                    <a:p>
                      <a:r>
                        <a:rPr sz="1300" b="0" i="0">
                          <a:solidFill>
                            <a:srgbClr val="202226"/>
                          </a:solidFill>
                          <a:latin typeface="Calibri"/>
                        </a:rPr>
                        <a:t>Ananya Krishnan</a:t>
                      </a:r>
                    </a:p>
                  </a:txBody>
                  <a:tcPr anchor="ctr" marT="38100" marB="38100" marL="76200" marR="76200">
                    <a:solidFill>
                      <a:srgbClr val="FFFFFF"/>
                    </a:solidFill>
                  </a:tcPr>
                </a:tc>
              </a:tr>
            </a:tbl>
          </a:graphicData>
        </a:graphic>
      </p:graphicFrame>
      <p:sp>
        <p:nvSpPr>
          <p:cNvPr id="5" name="Rectangle 4"/>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7" name="TextBox 6"/>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2800" b="1" i="0">
                <a:solidFill>
                  <a:srgbClr val="FFFFFF"/>
                </a:solidFill>
                <a:latin typeface="Calibri"/>
              </a:rPr>
              <a:t>The Team</a:t>
            </a:r>
          </a:p>
        </p:txBody>
      </p:sp>
      <p:sp>
        <p:nvSpPr>
          <p:cNvPr id="4" name="Rectangle 3"/>
          <p:cNvSpPr/>
          <p:nvPr/>
        </p:nvSpPr>
        <p:spPr>
          <a:xfrm>
            <a:off x="9464040" y="1078992"/>
            <a:ext cx="2240280" cy="365760"/>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1" i="0">
                <a:solidFill>
                  <a:srgbClr val="FFFFFF"/>
                </a:solidFill>
                <a:latin typeface="Calibri"/>
              </a:rPr>
              <a:t>DRAFT: photos pending</a:t>
            </a:r>
          </a:p>
        </p:txBody>
      </p:sp>
      <p:sp>
        <p:nvSpPr>
          <p:cNvPr id="5" name="TextBox 4"/>
          <p:cNvSpPr txBox="1"/>
          <p:nvPr/>
        </p:nvSpPr>
        <p:spPr>
          <a:xfrm>
            <a:off x="502920" y="1143000"/>
            <a:ext cx="8686800" cy="320040"/>
          </a:xfrm>
          <a:prstGeom prst="rect">
            <a:avLst/>
          </a:prstGeom>
          <a:noFill/>
        </p:spPr>
        <p:txBody>
          <a:bodyPr wrap="square">
            <a:spAutoFit/>
          </a:bodyPr>
          <a:lstStyle/>
          <a:p>
            <a:pPr algn="l">
              <a:spcAft>
                <a:spcPts val="0"/>
              </a:spcAft>
              <a:buNone/>
            </a:pPr>
            <a:r>
              <a:rPr sz="1300" b="1" i="0">
                <a:solidFill>
                  <a:srgbClr val="4C5C75"/>
                </a:solidFill>
                <a:latin typeface="Calibri"/>
              </a:rPr>
              <a:t>Bharadwaj Consumer Products Ltd</a:t>
            </a:r>
          </a:p>
        </p:txBody>
      </p:sp>
      <p:sp>
        <p:nvSpPr>
          <p:cNvPr id="6" name="Rectangle 5"/>
          <p:cNvSpPr/>
          <p:nvPr/>
        </p:nvSpPr>
        <p:spPr>
          <a:xfrm>
            <a:off x="502920" y="1508760"/>
            <a:ext cx="169164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7" name="TextBox 6"/>
          <p:cNvSpPr txBox="1"/>
          <p:nvPr/>
        </p:nvSpPr>
        <p:spPr>
          <a:xfrm>
            <a:off x="502920" y="2587752"/>
            <a:ext cx="1691640" cy="566928"/>
          </a:xfrm>
          <a:prstGeom prst="rect">
            <a:avLst/>
          </a:prstGeom>
          <a:noFill/>
        </p:spPr>
        <p:txBody>
          <a:bodyPr wrap="square">
            <a:spAutoFit/>
          </a:bodyPr>
          <a:lstStyle/>
          <a:p>
            <a:pPr algn="ctr">
              <a:spcAft>
                <a:spcPts val="100"/>
              </a:spcAft>
              <a:buNone/>
            </a:pPr>
            <a:r>
              <a:rPr sz="1050" b="1" i="0">
                <a:solidFill>
                  <a:srgbClr val="202226"/>
                </a:solidFill>
                <a:latin typeface="Calibri"/>
              </a:rPr>
              <a:t>Rajeev Menon</a:t>
            </a:r>
          </a:p>
          <a:p>
            <a:pPr algn="ctr">
              <a:spcAft>
                <a:spcPts val="0"/>
              </a:spcAft>
              <a:buNone/>
            </a:pPr>
            <a:r>
              <a:rPr sz="869" b="0" i="0">
                <a:solidFill>
                  <a:srgbClr val="5B6370"/>
                </a:solidFill>
                <a:latin typeface="Calibri"/>
              </a:rPr>
              <a:t>CIO, Executive Sponsor</a:t>
            </a:r>
          </a:p>
        </p:txBody>
      </p:sp>
      <p:sp>
        <p:nvSpPr>
          <p:cNvPr id="8" name="Rectangle 7"/>
          <p:cNvSpPr/>
          <p:nvPr/>
        </p:nvSpPr>
        <p:spPr>
          <a:xfrm>
            <a:off x="2359152" y="1508760"/>
            <a:ext cx="169164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9" name="TextBox 8"/>
          <p:cNvSpPr txBox="1"/>
          <p:nvPr/>
        </p:nvSpPr>
        <p:spPr>
          <a:xfrm>
            <a:off x="2359152" y="2587752"/>
            <a:ext cx="1691640" cy="566928"/>
          </a:xfrm>
          <a:prstGeom prst="rect">
            <a:avLst/>
          </a:prstGeom>
          <a:noFill/>
        </p:spPr>
        <p:txBody>
          <a:bodyPr wrap="square">
            <a:spAutoFit/>
          </a:bodyPr>
          <a:lstStyle/>
          <a:p>
            <a:pPr algn="ctr">
              <a:spcAft>
                <a:spcPts val="100"/>
              </a:spcAft>
              <a:buNone/>
            </a:pPr>
            <a:r>
              <a:rPr sz="1050" b="1" i="0">
                <a:solidFill>
                  <a:srgbClr val="202226"/>
                </a:solidFill>
                <a:latin typeface="Calibri"/>
              </a:rPr>
              <a:t>Shalini Iyer</a:t>
            </a:r>
          </a:p>
          <a:p>
            <a:pPr algn="ctr">
              <a:spcAft>
                <a:spcPts val="0"/>
              </a:spcAft>
              <a:buNone/>
            </a:pPr>
            <a:r>
              <a:rPr sz="869" b="0" i="0">
                <a:solidFill>
                  <a:srgbClr val="5B6370"/>
                </a:solidFill>
                <a:latin typeface="Calibri"/>
              </a:rPr>
              <a:t>Head of Finance Systems, Business Sponsor</a:t>
            </a:r>
          </a:p>
        </p:txBody>
      </p:sp>
      <p:sp>
        <p:nvSpPr>
          <p:cNvPr id="10" name="Rectangle 9"/>
          <p:cNvSpPr/>
          <p:nvPr/>
        </p:nvSpPr>
        <p:spPr>
          <a:xfrm>
            <a:off x="4215384" y="1508760"/>
            <a:ext cx="169164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11" name="TextBox 10"/>
          <p:cNvSpPr txBox="1"/>
          <p:nvPr/>
        </p:nvSpPr>
        <p:spPr>
          <a:xfrm>
            <a:off x="4215384" y="2587752"/>
            <a:ext cx="1691640" cy="566928"/>
          </a:xfrm>
          <a:prstGeom prst="rect">
            <a:avLst/>
          </a:prstGeom>
          <a:noFill/>
        </p:spPr>
        <p:txBody>
          <a:bodyPr wrap="square">
            <a:spAutoFit/>
          </a:bodyPr>
          <a:lstStyle/>
          <a:p>
            <a:pPr algn="ctr">
              <a:spcAft>
                <a:spcPts val="100"/>
              </a:spcAft>
              <a:buNone/>
            </a:pPr>
            <a:r>
              <a:rPr sz="1050" b="1" i="0">
                <a:solidFill>
                  <a:srgbClr val="202226"/>
                </a:solidFill>
                <a:latin typeface="Calibri"/>
              </a:rPr>
              <a:t>Vikram Sethi</a:t>
            </a:r>
          </a:p>
          <a:p>
            <a:pPr algn="ctr">
              <a:spcAft>
                <a:spcPts val="0"/>
              </a:spcAft>
              <a:buNone/>
            </a:pPr>
            <a:r>
              <a:rPr sz="869" b="0" i="0">
                <a:solidFill>
                  <a:srgbClr val="5B6370"/>
                </a:solidFill>
                <a:latin typeface="Calibri"/>
              </a:rPr>
              <a:t>National Sales Operations Manager</a:t>
            </a:r>
          </a:p>
        </p:txBody>
      </p:sp>
      <p:sp>
        <p:nvSpPr>
          <p:cNvPr id="12" name="Rectangle 11"/>
          <p:cNvSpPr/>
          <p:nvPr/>
        </p:nvSpPr>
        <p:spPr>
          <a:xfrm>
            <a:off x="6071616" y="1508760"/>
            <a:ext cx="169164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13" name="TextBox 12"/>
          <p:cNvSpPr txBox="1"/>
          <p:nvPr/>
        </p:nvSpPr>
        <p:spPr>
          <a:xfrm>
            <a:off x="6071616" y="2587752"/>
            <a:ext cx="1691640" cy="566928"/>
          </a:xfrm>
          <a:prstGeom prst="rect">
            <a:avLst/>
          </a:prstGeom>
          <a:noFill/>
        </p:spPr>
        <p:txBody>
          <a:bodyPr wrap="square">
            <a:spAutoFit/>
          </a:bodyPr>
          <a:lstStyle/>
          <a:p>
            <a:pPr algn="ctr">
              <a:spcAft>
                <a:spcPts val="100"/>
              </a:spcAft>
              <a:buNone/>
            </a:pPr>
            <a:r>
              <a:rPr sz="1050" b="1" i="0">
                <a:solidFill>
                  <a:srgbClr val="202226"/>
                </a:solidFill>
                <a:latin typeface="Calibri"/>
              </a:rPr>
              <a:t>Priya Nair</a:t>
            </a:r>
          </a:p>
          <a:p>
            <a:pPr algn="ctr">
              <a:spcAft>
                <a:spcPts val="0"/>
              </a:spcAft>
              <a:buNone/>
            </a:pPr>
            <a:r>
              <a:rPr sz="869" b="0" i="0">
                <a:solidFill>
                  <a:srgbClr val="5B6370"/>
                </a:solidFill>
                <a:latin typeface="Calibri"/>
              </a:rPr>
              <a:t>BI Analyst</a:t>
            </a:r>
          </a:p>
        </p:txBody>
      </p:sp>
      <p:sp>
        <p:nvSpPr>
          <p:cNvPr id="14" name="Rectangle 13"/>
          <p:cNvSpPr/>
          <p:nvPr/>
        </p:nvSpPr>
        <p:spPr>
          <a:xfrm>
            <a:off x="7927848" y="1508760"/>
            <a:ext cx="169164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15" name="TextBox 14"/>
          <p:cNvSpPr txBox="1"/>
          <p:nvPr/>
        </p:nvSpPr>
        <p:spPr>
          <a:xfrm>
            <a:off x="7927848" y="2587752"/>
            <a:ext cx="1691640" cy="566928"/>
          </a:xfrm>
          <a:prstGeom prst="rect">
            <a:avLst/>
          </a:prstGeom>
          <a:noFill/>
        </p:spPr>
        <p:txBody>
          <a:bodyPr wrap="square">
            <a:spAutoFit/>
          </a:bodyPr>
          <a:lstStyle/>
          <a:p>
            <a:pPr algn="ctr">
              <a:spcAft>
                <a:spcPts val="100"/>
              </a:spcAft>
              <a:buNone/>
            </a:pPr>
            <a:r>
              <a:rPr sz="1050" b="1" i="0">
                <a:solidFill>
                  <a:srgbClr val="202226"/>
                </a:solidFill>
                <a:latin typeface="Calibri"/>
              </a:rPr>
              <a:t>Farida Contractor</a:t>
            </a:r>
          </a:p>
          <a:p>
            <a:pPr algn="ctr">
              <a:spcAft>
                <a:spcPts val="0"/>
              </a:spcAft>
              <a:buNone/>
            </a:pPr>
            <a:r>
              <a:rPr sz="869" b="0" i="0">
                <a:solidFill>
                  <a:srgbClr val="5B6370"/>
                </a:solidFill>
                <a:latin typeface="Calibri"/>
              </a:rPr>
              <a:t>ODI / ETL Lead</a:t>
            </a:r>
          </a:p>
        </p:txBody>
      </p:sp>
      <p:sp>
        <p:nvSpPr>
          <p:cNvPr id="16" name="Rectangle 15"/>
          <p:cNvSpPr/>
          <p:nvPr/>
        </p:nvSpPr>
        <p:spPr>
          <a:xfrm>
            <a:off x="9784080" y="1508760"/>
            <a:ext cx="169164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17" name="TextBox 16"/>
          <p:cNvSpPr txBox="1"/>
          <p:nvPr/>
        </p:nvSpPr>
        <p:spPr>
          <a:xfrm>
            <a:off x="9784080" y="2587752"/>
            <a:ext cx="1691640" cy="566928"/>
          </a:xfrm>
          <a:prstGeom prst="rect">
            <a:avLst/>
          </a:prstGeom>
          <a:noFill/>
        </p:spPr>
        <p:txBody>
          <a:bodyPr wrap="square">
            <a:spAutoFit/>
          </a:bodyPr>
          <a:lstStyle/>
          <a:p>
            <a:pPr algn="ctr">
              <a:spcAft>
                <a:spcPts val="100"/>
              </a:spcAft>
              <a:buNone/>
            </a:pPr>
            <a:r>
              <a:rPr sz="1050" b="1" i="0">
                <a:solidFill>
                  <a:srgbClr val="202226"/>
                </a:solidFill>
                <a:latin typeface="Calibri"/>
              </a:rPr>
              <a:t>Aniruddh Deshpande</a:t>
            </a:r>
          </a:p>
          <a:p>
            <a:pPr algn="ctr">
              <a:spcAft>
                <a:spcPts val="0"/>
              </a:spcAft>
              <a:buNone/>
            </a:pPr>
            <a:r>
              <a:rPr sz="869" b="0" i="0">
                <a:solidFill>
                  <a:srgbClr val="5B6370"/>
                </a:solidFill>
                <a:latin typeface="Calibri"/>
              </a:rPr>
              <a:t>Senior Oracle DBA</a:t>
            </a:r>
          </a:p>
        </p:txBody>
      </p:sp>
      <p:sp>
        <p:nvSpPr>
          <p:cNvPr id="18" name="TextBox 17"/>
          <p:cNvSpPr txBox="1"/>
          <p:nvPr/>
        </p:nvSpPr>
        <p:spPr>
          <a:xfrm>
            <a:off x="502920" y="3429000"/>
            <a:ext cx="2103120" cy="256032"/>
          </a:xfrm>
          <a:prstGeom prst="rect">
            <a:avLst/>
          </a:prstGeom>
          <a:noFill/>
        </p:spPr>
        <p:txBody>
          <a:bodyPr wrap="square">
            <a:spAutoFit/>
          </a:bodyPr>
          <a:lstStyle/>
          <a:p>
            <a:pPr algn="l">
              <a:spcAft>
                <a:spcPts val="0"/>
              </a:spcAft>
              <a:buNone/>
            </a:pPr>
            <a:r>
              <a:rPr sz="1200" b="1" i="0">
                <a:solidFill>
                  <a:srgbClr val="4C5C75"/>
                </a:solidFill>
                <a:latin typeface="Calibri"/>
              </a:rPr>
              <a:t>Klarissen (Sponsor)</a:t>
            </a:r>
          </a:p>
        </p:txBody>
      </p:sp>
      <p:sp>
        <p:nvSpPr>
          <p:cNvPr id="19" name="Rectangle 18"/>
          <p:cNvSpPr/>
          <p:nvPr/>
        </p:nvSpPr>
        <p:spPr>
          <a:xfrm>
            <a:off x="502920" y="3703320"/>
            <a:ext cx="169164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20" name="TextBox 19"/>
          <p:cNvSpPr txBox="1"/>
          <p:nvPr/>
        </p:nvSpPr>
        <p:spPr>
          <a:xfrm>
            <a:off x="502920" y="4782312"/>
            <a:ext cx="1691640" cy="566928"/>
          </a:xfrm>
          <a:prstGeom prst="rect">
            <a:avLst/>
          </a:prstGeom>
          <a:noFill/>
        </p:spPr>
        <p:txBody>
          <a:bodyPr wrap="square">
            <a:spAutoFit/>
          </a:bodyPr>
          <a:lstStyle/>
          <a:p>
            <a:pPr algn="ctr">
              <a:spcAft>
                <a:spcPts val="100"/>
              </a:spcAft>
              <a:buNone/>
            </a:pPr>
            <a:r>
              <a:rPr sz="1050" b="1" i="0">
                <a:solidFill>
                  <a:srgbClr val="202226"/>
                </a:solidFill>
                <a:latin typeface="Calibri"/>
              </a:rPr>
              <a:t>Marijke van der Berg</a:t>
            </a:r>
          </a:p>
          <a:p>
            <a:pPr algn="ctr">
              <a:spcAft>
                <a:spcPts val="0"/>
              </a:spcAft>
              <a:buNone/>
            </a:pPr>
            <a:r>
              <a:rPr sz="869" b="0" i="0">
                <a:solidFill>
                  <a:srgbClr val="5B6370"/>
                </a:solidFill>
                <a:latin typeface="Calibri"/>
              </a:rPr>
              <a:t>Group CFO, Klarissen Group N.V.</a:t>
            </a:r>
          </a:p>
        </p:txBody>
      </p:sp>
      <p:sp>
        <p:nvSpPr>
          <p:cNvPr id="21" name="TextBox 20"/>
          <p:cNvSpPr txBox="1"/>
          <p:nvPr/>
        </p:nvSpPr>
        <p:spPr>
          <a:xfrm>
            <a:off x="2606040" y="3429000"/>
            <a:ext cx="3657600" cy="256032"/>
          </a:xfrm>
          <a:prstGeom prst="rect">
            <a:avLst/>
          </a:prstGeom>
          <a:noFill/>
        </p:spPr>
        <p:txBody>
          <a:bodyPr wrap="square">
            <a:spAutoFit/>
          </a:bodyPr>
          <a:lstStyle/>
          <a:p>
            <a:pPr algn="l">
              <a:spcAft>
                <a:spcPts val="0"/>
              </a:spcAft>
              <a:buNone/>
            </a:pPr>
            <a:r>
              <a:rPr sz="1200" b="1" i="0">
                <a:solidFill>
                  <a:srgbClr val="4C5C75"/>
                </a:solidFill>
                <a:latin typeface="Calibri"/>
              </a:rPr>
              <a:t>Northlane Analytics</a:t>
            </a:r>
          </a:p>
        </p:txBody>
      </p:sp>
      <p:sp>
        <p:nvSpPr>
          <p:cNvPr id="22" name="Rectangle 21"/>
          <p:cNvSpPr/>
          <p:nvPr/>
        </p:nvSpPr>
        <p:spPr>
          <a:xfrm>
            <a:off x="2606040" y="3703320"/>
            <a:ext cx="141732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23" name="TextBox 22"/>
          <p:cNvSpPr txBox="1"/>
          <p:nvPr/>
        </p:nvSpPr>
        <p:spPr>
          <a:xfrm>
            <a:off x="2606040" y="4782312"/>
            <a:ext cx="1417320" cy="566928"/>
          </a:xfrm>
          <a:prstGeom prst="rect">
            <a:avLst/>
          </a:prstGeom>
          <a:noFill/>
        </p:spPr>
        <p:txBody>
          <a:bodyPr wrap="square">
            <a:spAutoFit/>
          </a:bodyPr>
          <a:lstStyle/>
          <a:p>
            <a:pPr algn="ctr">
              <a:spcAft>
                <a:spcPts val="100"/>
              </a:spcAft>
              <a:buNone/>
            </a:pPr>
            <a:r>
              <a:rPr sz="1050" b="1" i="0">
                <a:solidFill>
                  <a:srgbClr val="202226"/>
                </a:solidFill>
                <a:latin typeface="Calibri"/>
              </a:rPr>
              <a:t>Ananya Krishnan</a:t>
            </a:r>
          </a:p>
          <a:p>
            <a:pPr algn="ctr">
              <a:spcAft>
                <a:spcPts val="0"/>
              </a:spcAft>
              <a:buNone/>
            </a:pPr>
            <a:r>
              <a:rPr sz="869" b="0" i="0">
                <a:solidFill>
                  <a:srgbClr val="5B6370"/>
                </a:solidFill>
                <a:latin typeface="Calibri"/>
              </a:rPr>
              <a:t>Engagement Lead</a:t>
            </a:r>
          </a:p>
        </p:txBody>
      </p:sp>
      <p:sp>
        <p:nvSpPr>
          <p:cNvPr id="24" name="Rectangle 23"/>
          <p:cNvSpPr/>
          <p:nvPr/>
        </p:nvSpPr>
        <p:spPr>
          <a:xfrm>
            <a:off x="4133088" y="3703320"/>
            <a:ext cx="141732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25" name="TextBox 24"/>
          <p:cNvSpPr txBox="1"/>
          <p:nvPr/>
        </p:nvSpPr>
        <p:spPr>
          <a:xfrm>
            <a:off x="4133088" y="4782312"/>
            <a:ext cx="1417320" cy="566928"/>
          </a:xfrm>
          <a:prstGeom prst="rect">
            <a:avLst/>
          </a:prstGeom>
          <a:noFill/>
        </p:spPr>
        <p:txBody>
          <a:bodyPr wrap="square">
            <a:spAutoFit/>
          </a:bodyPr>
          <a:lstStyle/>
          <a:p>
            <a:pPr algn="ctr">
              <a:spcAft>
                <a:spcPts val="100"/>
              </a:spcAft>
              <a:buNone/>
            </a:pPr>
            <a:r>
              <a:rPr sz="1050" b="1" i="0">
                <a:solidFill>
                  <a:srgbClr val="202226"/>
                </a:solidFill>
                <a:latin typeface="Calibri"/>
              </a:rPr>
              <a:t>Karthik Subramanian</a:t>
            </a:r>
          </a:p>
          <a:p>
            <a:pPr algn="ctr">
              <a:spcAft>
                <a:spcPts val="0"/>
              </a:spcAft>
              <a:buNone/>
            </a:pPr>
            <a:r>
              <a:rPr sz="869" b="0" i="0">
                <a:solidFill>
                  <a:srgbClr val="5B6370"/>
                </a:solidFill>
                <a:latin typeface="Calibri"/>
              </a:rPr>
              <a:t>Data Architect</a:t>
            </a:r>
          </a:p>
        </p:txBody>
      </p:sp>
      <p:sp>
        <p:nvSpPr>
          <p:cNvPr id="26" name="Rectangle 25"/>
          <p:cNvSpPr/>
          <p:nvPr/>
        </p:nvSpPr>
        <p:spPr>
          <a:xfrm>
            <a:off x="5660136" y="3703320"/>
            <a:ext cx="141732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27" name="TextBox 26"/>
          <p:cNvSpPr txBox="1"/>
          <p:nvPr/>
        </p:nvSpPr>
        <p:spPr>
          <a:xfrm>
            <a:off x="5660136" y="4782312"/>
            <a:ext cx="1417320" cy="566928"/>
          </a:xfrm>
          <a:prstGeom prst="rect">
            <a:avLst/>
          </a:prstGeom>
          <a:noFill/>
        </p:spPr>
        <p:txBody>
          <a:bodyPr wrap="square">
            <a:spAutoFit/>
          </a:bodyPr>
          <a:lstStyle/>
          <a:p>
            <a:pPr algn="ctr">
              <a:spcAft>
                <a:spcPts val="100"/>
              </a:spcAft>
              <a:buNone/>
            </a:pPr>
            <a:r>
              <a:rPr sz="1050" b="1" i="0">
                <a:solidFill>
                  <a:srgbClr val="202226"/>
                </a:solidFill>
                <a:latin typeface="Calibri"/>
              </a:rPr>
              <a:t>Ishaan Bhatt</a:t>
            </a:r>
          </a:p>
          <a:p>
            <a:pPr algn="ctr">
              <a:spcAft>
                <a:spcPts val="0"/>
              </a:spcAft>
              <a:buNone/>
            </a:pPr>
            <a:r>
              <a:rPr sz="869" b="0" i="0">
                <a:solidFill>
                  <a:srgbClr val="5B6370"/>
                </a:solidFill>
                <a:latin typeface="Calibri"/>
              </a:rPr>
              <a:t>Analytics Engineer</a:t>
            </a:r>
          </a:p>
        </p:txBody>
      </p:sp>
      <p:sp>
        <p:nvSpPr>
          <p:cNvPr id="28" name="Rectangle 27"/>
          <p:cNvSpPr/>
          <p:nvPr/>
        </p:nvSpPr>
        <p:spPr>
          <a:xfrm>
            <a:off x="7187184" y="3703320"/>
            <a:ext cx="141732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29" name="TextBox 28"/>
          <p:cNvSpPr txBox="1"/>
          <p:nvPr/>
        </p:nvSpPr>
        <p:spPr>
          <a:xfrm>
            <a:off x="7187184" y="4782312"/>
            <a:ext cx="1417320" cy="566928"/>
          </a:xfrm>
          <a:prstGeom prst="rect">
            <a:avLst/>
          </a:prstGeom>
          <a:noFill/>
        </p:spPr>
        <p:txBody>
          <a:bodyPr wrap="square">
            <a:spAutoFit/>
          </a:bodyPr>
          <a:lstStyle/>
          <a:p>
            <a:pPr algn="ctr">
              <a:spcAft>
                <a:spcPts val="100"/>
              </a:spcAft>
              <a:buNone/>
            </a:pPr>
            <a:r>
              <a:rPr sz="1050" b="1" i="0">
                <a:solidFill>
                  <a:srgbClr val="202226"/>
                </a:solidFill>
                <a:latin typeface="Calibri"/>
              </a:rPr>
              <a:t>Neha Gokhale</a:t>
            </a:r>
          </a:p>
          <a:p>
            <a:pPr algn="ctr">
              <a:spcAft>
                <a:spcPts val="0"/>
              </a:spcAft>
              <a:buNone/>
            </a:pPr>
            <a:r>
              <a:rPr sz="869" b="0" i="0">
                <a:solidFill>
                  <a:srgbClr val="5B6370"/>
                </a:solidFill>
                <a:latin typeface="Calibri"/>
              </a:rPr>
              <a:t>Data Quality Lead</a:t>
            </a:r>
          </a:p>
        </p:txBody>
      </p:sp>
      <p:sp>
        <p:nvSpPr>
          <p:cNvPr id="30" name="Rectangle 29"/>
          <p:cNvSpPr/>
          <p:nvPr/>
        </p:nvSpPr>
        <p:spPr>
          <a:xfrm>
            <a:off x="8714232" y="3703320"/>
            <a:ext cx="141732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31" name="TextBox 30"/>
          <p:cNvSpPr txBox="1"/>
          <p:nvPr/>
        </p:nvSpPr>
        <p:spPr>
          <a:xfrm>
            <a:off x="8714232" y="4782312"/>
            <a:ext cx="1417320" cy="566928"/>
          </a:xfrm>
          <a:prstGeom prst="rect">
            <a:avLst/>
          </a:prstGeom>
          <a:noFill/>
        </p:spPr>
        <p:txBody>
          <a:bodyPr wrap="square">
            <a:spAutoFit/>
          </a:bodyPr>
          <a:lstStyle/>
          <a:p>
            <a:pPr algn="ctr">
              <a:spcAft>
                <a:spcPts val="100"/>
              </a:spcAft>
              <a:buNone/>
            </a:pPr>
            <a:r>
              <a:rPr sz="1050" b="1" i="0">
                <a:solidFill>
                  <a:srgbClr val="202226"/>
                </a:solidFill>
                <a:latin typeface="Calibri"/>
              </a:rPr>
              <a:t>Ritwik Ghosh</a:t>
            </a:r>
          </a:p>
          <a:p>
            <a:pPr algn="ctr">
              <a:spcAft>
                <a:spcPts val="0"/>
              </a:spcAft>
              <a:buNone/>
            </a:pPr>
            <a:r>
              <a:rPr sz="869" b="0" i="0">
                <a:solidFill>
                  <a:srgbClr val="5B6370"/>
                </a:solidFill>
                <a:latin typeface="Calibri"/>
              </a:rPr>
              <a:t>BI Developer</a:t>
            </a:r>
          </a:p>
        </p:txBody>
      </p:sp>
      <p:sp>
        <p:nvSpPr>
          <p:cNvPr id="32" name="Rectangle 31"/>
          <p:cNvSpPr/>
          <p:nvPr/>
        </p:nvSpPr>
        <p:spPr>
          <a:xfrm>
            <a:off x="10241280" y="3703320"/>
            <a:ext cx="1417320" cy="1051560"/>
          </a:xfrm>
          <a:prstGeom prst="rect">
            <a:avLst/>
          </a:prstGeom>
          <a:solidFill>
            <a:srgbClr val="E4E7EC"/>
          </a:solidFill>
          <a:ln>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100" b="0" i="0">
                <a:solidFill>
                  <a:srgbClr val="5B6370"/>
                </a:solidFill>
                <a:latin typeface="Calibri"/>
              </a:rPr>
              <a:t>PHOTO
PENDING</a:t>
            </a:r>
          </a:p>
        </p:txBody>
      </p:sp>
      <p:sp>
        <p:nvSpPr>
          <p:cNvPr id="33" name="TextBox 32"/>
          <p:cNvSpPr txBox="1"/>
          <p:nvPr/>
        </p:nvSpPr>
        <p:spPr>
          <a:xfrm>
            <a:off x="10241280" y="4782312"/>
            <a:ext cx="1417320" cy="566928"/>
          </a:xfrm>
          <a:prstGeom prst="rect">
            <a:avLst/>
          </a:prstGeom>
          <a:noFill/>
        </p:spPr>
        <p:txBody>
          <a:bodyPr wrap="square">
            <a:spAutoFit/>
          </a:bodyPr>
          <a:lstStyle/>
          <a:p>
            <a:pPr algn="ctr">
              <a:spcAft>
                <a:spcPts val="100"/>
              </a:spcAft>
              <a:buNone/>
            </a:pPr>
            <a:r>
              <a:rPr sz="1050" b="1" i="0">
                <a:solidFill>
                  <a:srgbClr val="202226"/>
                </a:solidFill>
                <a:latin typeface="Calibri"/>
              </a:rPr>
              <a:t>Sneha Pillai</a:t>
            </a:r>
          </a:p>
          <a:p>
            <a:pPr algn="ctr">
              <a:spcAft>
                <a:spcPts val="0"/>
              </a:spcAft>
              <a:buNone/>
            </a:pPr>
            <a:r>
              <a:rPr sz="869" b="0" i="0">
                <a:solidFill>
                  <a:srgbClr val="5B6370"/>
                </a:solidFill>
                <a:latin typeface="Calibri"/>
              </a:rPr>
              <a:t>Business Analyst</a:t>
            </a:r>
          </a:p>
        </p:txBody>
      </p:sp>
      <p:sp>
        <p:nvSpPr>
          <p:cNvPr id="34" name="TextBox 33"/>
          <p:cNvSpPr txBox="1"/>
          <p:nvPr/>
        </p:nvSpPr>
        <p:spPr>
          <a:xfrm>
            <a:off x="502920" y="5897880"/>
            <a:ext cx="10881360" cy="502920"/>
          </a:xfrm>
          <a:prstGeom prst="rect">
            <a:avLst/>
          </a:prstGeom>
          <a:noFill/>
        </p:spPr>
        <p:txBody>
          <a:bodyPr wrap="square">
            <a:spAutoFit/>
          </a:bodyPr>
          <a:lstStyle/>
          <a:p>
            <a:pPr algn="l">
              <a:spcAft>
                <a:spcPts val="0"/>
              </a:spcAft>
              <a:buNone/>
            </a:pPr>
            <a:r>
              <a:rPr sz="950" b="0" i="0">
                <a:solidFill>
                  <a:srgbClr val="5B6370"/>
                </a:solidFill>
                <a:latin typeface="Calibri"/>
              </a:rPr>
              <a:t>Team composition as at SOW signature (28-Jan-2026): 6 named Northlane Analytics consultants plus 2 offshore developers (join for the build phase). Photos pending from HR only, placeholders shown above.</a:t>
            </a:r>
          </a:p>
        </p:txBody>
      </p:sp>
      <p:sp>
        <p:nvSpPr>
          <p:cNvPr id="35" name="Rectangle 34"/>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37" name="TextBox 36"/>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2800" b="1" i="0">
                <a:solidFill>
                  <a:srgbClr val="FFFFFF"/>
                </a:solidFill>
                <a:latin typeface="Calibri"/>
              </a:rPr>
              <a:t>Ways of Working &amp; Governance</a:t>
            </a:r>
          </a:p>
        </p:txBody>
      </p:sp>
      <p:graphicFrame>
        <p:nvGraphicFramePr>
          <p:cNvPr id="4" name="Table 3"/>
          <p:cNvGraphicFramePr>
            <a:graphicFrameLocks noGrp="1"/>
          </p:cNvGraphicFramePr>
          <p:nvPr/>
        </p:nvGraphicFramePr>
        <p:xfrm>
          <a:off x="502920" y="1188720"/>
          <a:ext cx="11201399" cy="2377440"/>
        </p:xfrm>
        <a:graphic>
          <a:graphicData uri="http://schemas.openxmlformats.org/drawingml/2006/table">
            <a:tbl>
              <a:tblPr firstRow="1" bandRow="1">
                <a:tableStyleId>{5C22544A-7EE6-4342-B048-85BDC9FD1C3A}</a:tableStyleId>
              </a:tblPr>
              <a:tblGrid>
                <a:gridCol w="2106246"/>
                <a:gridCol w="2393461"/>
                <a:gridCol w="4403969"/>
                <a:gridCol w="2297723"/>
              </a:tblGrid>
              <a:tr h="475488">
                <a:tc>
                  <a:txBody>
                    <a:bodyPr wrap="square"/>
                    <a:lstStyle/>
                    <a:p>
                      <a:r>
                        <a:rPr sz="1250" b="1" i="0">
                          <a:solidFill>
                            <a:srgbClr val="FFFFFF"/>
                          </a:solidFill>
                          <a:latin typeface="Calibri"/>
                        </a:rPr>
                        <a:t>Forum</a:t>
                      </a:r>
                    </a:p>
                  </a:txBody>
                  <a:tcPr anchor="ctr" marT="38100" marB="38100" marL="76200" marR="76200">
                    <a:solidFill>
                      <a:srgbClr val="1F2A44"/>
                    </a:solidFill>
                  </a:tcPr>
                </a:tc>
                <a:tc>
                  <a:txBody>
                    <a:bodyPr wrap="square"/>
                    <a:lstStyle/>
                    <a:p>
                      <a:r>
                        <a:rPr sz="1250" b="1" i="0">
                          <a:solidFill>
                            <a:srgbClr val="FFFFFF"/>
                          </a:solidFill>
                          <a:latin typeface="Calibri"/>
                        </a:rPr>
                        <a:t>Frequency</a:t>
                      </a:r>
                    </a:p>
                  </a:txBody>
                  <a:tcPr anchor="ctr" marT="38100" marB="38100" marL="76200" marR="76200">
                    <a:solidFill>
                      <a:srgbClr val="1F2A44"/>
                    </a:solidFill>
                  </a:tcPr>
                </a:tc>
                <a:tc>
                  <a:txBody>
                    <a:bodyPr wrap="square"/>
                    <a:lstStyle/>
                    <a:p>
                      <a:r>
                        <a:rPr sz="1250" b="1" i="0">
                          <a:solidFill>
                            <a:srgbClr val="FFFFFF"/>
                          </a:solidFill>
                          <a:latin typeface="Calibri"/>
                        </a:rPr>
                        <a:t>Attendees</a:t>
                      </a:r>
                    </a:p>
                  </a:txBody>
                  <a:tcPr anchor="ctr" marT="38100" marB="38100" marL="76200" marR="76200">
                    <a:solidFill>
                      <a:srgbClr val="1F2A44"/>
                    </a:solidFill>
                  </a:tcPr>
                </a:tc>
                <a:tc>
                  <a:txBody>
                    <a:bodyPr wrap="square"/>
                    <a:lstStyle/>
                    <a:p>
                      <a:r>
                        <a:rPr sz="1250" b="1" i="0">
                          <a:solidFill>
                            <a:srgbClr val="FFFFFF"/>
                          </a:solidFill>
                          <a:latin typeface="Calibri"/>
                        </a:rPr>
                        <a:t>Mode</a:t>
                      </a:r>
                    </a:p>
                  </a:txBody>
                  <a:tcPr anchor="ctr" marT="38100" marB="38100" marL="76200" marR="76200">
                    <a:solidFill>
                      <a:srgbClr val="1F2A44"/>
                    </a:solidFill>
                  </a:tcPr>
                </a:tc>
              </a:tr>
              <a:tr h="475488">
                <a:tc>
                  <a:txBody>
                    <a:bodyPr wrap="square"/>
                    <a:lstStyle/>
                    <a:p>
                      <a:r>
                        <a:rPr sz="1250" b="0" i="0">
                          <a:solidFill>
                            <a:srgbClr val="202226"/>
                          </a:solidFill>
                          <a:latin typeface="Calibri"/>
                        </a:rPr>
                        <a:t>Steering Committee</a:t>
                      </a:r>
                    </a:p>
                  </a:txBody>
                  <a:tcPr anchor="ctr" marT="38100" marB="38100" marL="76200" marR="76200">
                    <a:solidFill>
                      <a:srgbClr val="FFFFFF"/>
                    </a:solidFill>
                  </a:tcPr>
                </a:tc>
                <a:tc>
                  <a:txBody>
                    <a:bodyPr wrap="square"/>
                    <a:lstStyle/>
                    <a:p>
                      <a:r>
                        <a:rPr sz="1250" b="0" i="0">
                          <a:solidFill>
                            <a:srgbClr val="202226"/>
                          </a:solidFill>
                          <a:latin typeface="Calibri"/>
                        </a:rPr>
                        <a:t>Monthly</a:t>
                      </a:r>
                    </a:p>
                  </a:txBody>
                  <a:tcPr anchor="ctr" marT="38100" marB="38100" marL="76200" marR="76200">
                    <a:solidFill>
                      <a:srgbClr val="FFFFFF"/>
                    </a:solidFill>
                  </a:tcPr>
                </a:tc>
                <a:tc>
                  <a:txBody>
                    <a:bodyPr wrap="square"/>
                    <a:lstStyle/>
                    <a:p>
                      <a:r>
                        <a:rPr sz="1250" b="0" i="0">
                          <a:solidFill>
                            <a:srgbClr val="202226"/>
                          </a:solidFill>
                          <a:latin typeface="Calibri"/>
                        </a:rPr>
                        <a:t>Rajeev (Chair), Shalini, Vikram, Marijke, Ananya, Karthik</a:t>
                      </a:r>
                    </a:p>
                  </a:txBody>
                  <a:tcPr anchor="ctr" marT="38100" marB="38100" marL="76200" marR="76200">
                    <a:solidFill>
                      <a:srgbClr val="FFFFFF"/>
                    </a:solidFill>
                  </a:tcPr>
                </a:tc>
                <a:tc>
                  <a:txBody>
                    <a:bodyPr wrap="square"/>
                    <a:lstStyle/>
                    <a:p>
                      <a:r>
                        <a:rPr sz="1250" b="0" i="0">
                          <a:solidFill>
                            <a:srgbClr val="202226"/>
                          </a:solidFill>
                          <a:latin typeface="Calibri"/>
                        </a:rPr>
                        <a:t>Video call</a:t>
                      </a:r>
                    </a:p>
                  </a:txBody>
                  <a:tcPr anchor="ctr" marT="38100" marB="38100" marL="76200" marR="76200">
                    <a:solidFill>
                      <a:srgbClr val="FFFFFF"/>
                    </a:solidFill>
                  </a:tcPr>
                </a:tc>
              </a:tr>
              <a:tr h="475488">
                <a:tc>
                  <a:txBody>
                    <a:bodyPr wrap="square"/>
                    <a:lstStyle/>
                    <a:p>
                      <a:r>
                        <a:rPr sz="1250" b="0" i="0">
                          <a:solidFill>
                            <a:srgbClr val="202226"/>
                          </a:solidFill>
                          <a:latin typeface="Calibri"/>
                        </a:rPr>
                        <a:t>Core Working Session</a:t>
                      </a:r>
                    </a:p>
                  </a:txBody>
                  <a:tcPr anchor="ctr" marT="38100" marB="38100" marL="76200" marR="76200">
                    <a:solidFill>
                      <a:srgbClr val="ECEEF1"/>
                    </a:solidFill>
                  </a:tcPr>
                </a:tc>
                <a:tc>
                  <a:txBody>
                    <a:bodyPr wrap="square"/>
                    <a:lstStyle/>
                    <a:p>
                      <a:r>
                        <a:rPr sz="1250" b="0" i="0">
                          <a:solidFill>
                            <a:srgbClr val="202226"/>
                          </a:solidFill>
                          <a:latin typeface="Calibri"/>
                        </a:rPr>
                        <a:t>Weekly, Tuesdays 16:00 IST</a:t>
                      </a:r>
                    </a:p>
                  </a:txBody>
                  <a:tcPr anchor="ctr" marT="38100" marB="38100" marL="76200" marR="76200">
                    <a:solidFill>
                      <a:srgbClr val="ECEEF1"/>
                    </a:solidFill>
                  </a:tcPr>
                </a:tc>
                <a:tc>
                  <a:txBody>
                    <a:bodyPr wrap="square"/>
                    <a:lstStyle/>
                    <a:p>
                      <a:r>
                        <a:rPr sz="1250" b="0" i="0">
                          <a:solidFill>
                            <a:srgbClr val="202226"/>
                          </a:solidFill>
                          <a:latin typeface="Calibri"/>
                        </a:rPr>
                        <a:t>Farida, Karthik, Ishaan, Priya, Ani, Ananya, Sneha</a:t>
                      </a:r>
                    </a:p>
                  </a:txBody>
                  <a:tcPr anchor="ctr" marT="38100" marB="38100" marL="76200" marR="76200">
                    <a:solidFill>
                      <a:srgbClr val="ECEEF1"/>
                    </a:solidFill>
                  </a:tcPr>
                </a:tc>
                <a:tc>
                  <a:txBody>
                    <a:bodyPr wrap="square"/>
                    <a:lstStyle/>
                    <a:p>
                      <a:r>
                        <a:rPr sz="1250" b="0" i="0">
                          <a:solidFill>
                            <a:srgbClr val="202226"/>
                          </a:solidFill>
                          <a:latin typeface="Calibri"/>
                        </a:rPr>
                        <a:t>Video call</a:t>
                      </a:r>
                    </a:p>
                  </a:txBody>
                  <a:tcPr anchor="ctr" marT="38100" marB="38100" marL="76200" marR="76200">
                    <a:solidFill>
                      <a:srgbClr val="ECEEF1"/>
                    </a:solidFill>
                  </a:tcPr>
                </a:tc>
              </a:tr>
              <a:tr h="475488">
                <a:tc>
                  <a:txBody>
                    <a:bodyPr wrap="square"/>
                    <a:lstStyle/>
                    <a:p>
                      <a:r>
                        <a:rPr sz="1250" b="0" i="0">
                          <a:solidFill>
                            <a:srgbClr val="202226"/>
                          </a:solidFill>
                          <a:latin typeface="Calibri"/>
                        </a:rPr>
                        <a:t>Status Report</a:t>
                      </a:r>
                    </a:p>
                  </a:txBody>
                  <a:tcPr anchor="ctr" marT="38100" marB="38100" marL="76200" marR="76200">
                    <a:solidFill>
                      <a:srgbClr val="FFFFFF"/>
                    </a:solidFill>
                  </a:tcPr>
                </a:tc>
                <a:tc>
                  <a:txBody>
                    <a:bodyPr wrap="square"/>
                    <a:lstStyle/>
                    <a:p>
                      <a:r>
                        <a:rPr sz="1250" b="0" i="0">
                          <a:solidFill>
                            <a:srgbClr val="202226"/>
                          </a:solidFill>
                          <a:latin typeface="Calibri"/>
                        </a:rPr>
                        <a:t>Weekly, Friday</a:t>
                      </a:r>
                    </a:p>
                  </a:txBody>
                  <a:tcPr anchor="ctr" marT="38100" marB="38100" marL="76200" marR="76200">
                    <a:solidFill>
                      <a:srgbClr val="FFFFFF"/>
                    </a:solidFill>
                  </a:tcPr>
                </a:tc>
                <a:tc>
                  <a:txBody>
                    <a:bodyPr wrap="square"/>
                    <a:lstStyle/>
                    <a:p>
                      <a:r>
                        <a:rPr sz="1250" b="0" i="0">
                          <a:solidFill>
                            <a:srgbClr val="202226"/>
                          </a:solidFill>
                          <a:latin typeface="Calibri"/>
                        </a:rPr>
                        <a:t>Circulated to the steering committee distribution list</a:t>
                      </a:r>
                    </a:p>
                  </a:txBody>
                  <a:tcPr anchor="ctr" marT="38100" marB="38100" marL="76200" marR="76200">
                    <a:solidFill>
                      <a:srgbClr val="FFFFFF"/>
                    </a:solidFill>
                  </a:tcPr>
                </a:tc>
                <a:tc>
                  <a:txBody>
                    <a:bodyPr wrap="square"/>
                    <a:lstStyle/>
                    <a:p>
                      <a:r>
                        <a:rPr sz="1250" b="0" i="0">
                          <a:solidFill>
                            <a:srgbClr val="202226"/>
                          </a:solidFill>
                          <a:latin typeface="Calibri"/>
                        </a:rPr>
                        <a:t>Email</a:t>
                      </a:r>
                    </a:p>
                  </a:txBody>
                  <a:tcPr anchor="ctr" marT="38100" marB="38100" marL="76200" marR="76200">
                    <a:solidFill>
                      <a:srgbClr val="FFFFFF"/>
                    </a:solidFill>
                  </a:tcPr>
                </a:tc>
              </a:tr>
              <a:tr h="475488">
                <a:tc>
                  <a:txBody>
                    <a:bodyPr wrap="square"/>
                    <a:lstStyle/>
                    <a:p>
                      <a:r>
                        <a:rPr sz="1250" b="0" i="0">
                          <a:solidFill>
                            <a:srgbClr val="202226"/>
                          </a:solidFill>
                          <a:latin typeface="Calibri"/>
                        </a:rPr>
                        <a:t>Workshops</a:t>
                      </a:r>
                    </a:p>
                  </a:txBody>
                  <a:tcPr anchor="ctr" marT="38100" marB="38100" marL="76200" marR="76200">
                    <a:solidFill>
                      <a:srgbClr val="ECEEF1"/>
                    </a:solidFill>
                  </a:tcPr>
                </a:tc>
                <a:tc>
                  <a:txBody>
                    <a:bodyPr wrap="square"/>
                    <a:lstStyle/>
                    <a:p>
                      <a:r>
                        <a:rPr sz="1250" b="0" i="0">
                          <a:solidFill>
                            <a:srgbClr val="202226"/>
                          </a:solidFill>
                          <a:latin typeface="Calibri"/>
                        </a:rPr>
                        <a:t>As required, per workstream</a:t>
                      </a:r>
                    </a:p>
                  </a:txBody>
                  <a:tcPr anchor="ctr" marT="38100" marB="38100" marL="76200" marR="76200">
                    <a:solidFill>
                      <a:srgbClr val="ECEEF1"/>
                    </a:solidFill>
                  </a:tcPr>
                </a:tc>
                <a:tc>
                  <a:txBody>
                    <a:bodyPr wrap="square"/>
                    <a:lstStyle/>
                    <a:p>
                      <a:r>
                        <a:rPr sz="1250" b="0" i="0">
                          <a:solidFill>
                            <a:srgbClr val="202226"/>
                          </a:solidFill>
                          <a:latin typeface="Calibri"/>
                        </a:rPr>
                        <a:t>Workstream leads plus SMEs</a:t>
                      </a:r>
                    </a:p>
                  </a:txBody>
                  <a:tcPr anchor="ctr" marT="38100" marB="38100" marL="76200" marR="76200">
                    <a:solidFill>
                      <a:srgbClr val="ECEEF1"/>
                    </a:solidFill>
                  </a:tcPr>
                </a:tc>
                <a:tc>
                  <a:txBody>
                    <a:bodyPr wrap="square"/>
                    <a:lstStyle/>
                    <a:p>
                      <a:r>
                        <a:rPr sz="1250" b="0" i="0">
                          <a:solidFill>
                            <a:srgbClr val="202226"/>
                          </a:solidFill>
                          <a:latin typeface="Calibri"/>
                        </a:rPr>
                        <a:t>Andheri office (“Nashik”) or video call</a:t>
                      </a:r>
                    </a:p>
                  </a:txBody>
                  <a:tcPr anchor="ctr" marT="38100" marB="38100" marL="76200" marR="76200">
                    <a:solidFill>
                      <a:srgbClr val="ECEEF1"/>
                    </a:solidFill>
                  </a:tcPr>
                </a:tc>
              </a:tr>
            </a:tbl>
          </a:graphicData>
        </a:graphic>
      </p:graphicFrame>
      <p:sp>
        <p:nvSpPr>
          <p:cNvPr id="5" name="TextBox 4"/>
          <p:cNvSpPr txBox="1"/>
          <p:nvPr/>
        </p:nvSpPr>
        <p:spPr>
          <a:xfrm>
            <a:off x="502920" y="3840480"/>
            <a:ext cx="11201400" cy="2103120"/>
          </a:xfrm>
          <a:prstGeom prst="rect">
            <a:avLst/>
          </a:prstGeom>
          <a:noFill/>
        </p:spPr>
        <p:txBody>
          <a:bodyPr wrap="square">
            <a:spAutoFit/>
          </a:bodyPr>
          <a:lstStyle/>
          <a:p>
            <a:pPr algn="l">
              <a:spcAft>
                <a:spcPts val="1000"/>
              </a:spcAft>
              <a:buFont typeface="Arial"/>
              <a:buChar char="▪"/>
            </a:pPr>
            <a:r>
              <a:rPr sz="1500" b="0" i="0">
                <a:solidFill>
                  <a:srgbClr val="202226"/>
                </a:solidFill>
                <a:latin typeface="Calibri"/>
              </a:rPr>
              <a:t>One issue, one owner, one due date, tracked centrally in the action tracker, not in someone's inbox</a:t>
            </a:r>
          </a:p>
          <a:p>
            <a:pPr algn="l">
              <a:spcAft>
                <a:spcPts val="1000"/>
              </a:spcAft>
              <a:buFont typeface="Arial"/>
              <a:buChar char="▪"/>
            </a:pPr>
            <a:r>
              <a:rPr sz="1500" b="0" i="0">
                <a:solidFill>
                  <a:srgbClr val="202226"/>
                </a:solidFill>
                <a:latin typeface="Calibri"/>
              </a:rPr>
              <a:t>Every status call reviews open actions before anything new is discussed</a:t>
            </a:r>
          </a:p>
          <a:p>
            <a:pPr algn="l">
              <a:spcAft>
                <a:spcPts val="1000"/>
              </a:spcAft>
              <a:buFont typeface="Arial"/>
              <a:buChar char="▪"/>
            </a:pPr>
            <a:r>
              <a:rPr sz="1500" b="0" i="0">
                <a:solidFill>
                  <a:srgbClr val="202226"/>
                </a:solidFill>
                <a:latin typeface="Calibri"/>
              </a:rPr>
              <a:t>Escalate early, not late. Rajeev wants to hear about a problem before the steerco, not in it</a:t>
            </a:r>
          </a:p>
          <a:p>
            <a:pPr algn="l">
              <a:spcAft>
                <a:spcPts val="1000"/>
              </a:spcAft>
              <a:buFont typeface="Arial"/>
              <a:buChar char="▪"/>
            </a:pPr>
            <a:r>
              <a:rPr sz="1500" b="0" i="0">
                <a:solidFill>
                  <a:srgbClr val="202226"/>
                </a:solidFill>
                <a:latin typeface="Calibri"/>
              </a:rPr>
              <a:t>Nothing touches production between now and the FY26 close on 31-Mar-2026</a:t>
            </a:r>
          </a:p>
        </p:txBody>
      </p:sp>
      <p:sp>
        <p:nvSpPr>
          <p:cNvPr id="6" name="Rectangle 5"/>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8" name="TextBox 7"/>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2800" b="1" i="0">
                <a:solidFill>
                  <a:srgbClr val="FFFFFF"/>
                </a:solidFill>
                <a:latin typeface="Calibri"/>
              </a:rPr>
              <a:t>Risks &amp; Assumptions</a:t>
            </a:r>
          </a:p>
        </p:txBody>
      </p:sp>
      <p:graphicFrame>
        <p:nvGraphicFramePr>
          <p:cNvPr id="4" name="Table 3"/>
          <p:cNvGraphicFramePr>
            <a:graphicFrameLocks noGrp="1"/>
          </p:cNvGraphicFramePr>
          <p:nvPr/>
        </p:nvGraphicFramePr>
        <p:xfrm>
          <a:off x="502920" y="1188720"/>
          <a:ext cx="11201399" cy="4572000"/>
        </p:xfrm>
        <a:graphic>
          <a:graphicData uri="http://schemas.openxmlformats.org/drawingml/2006/table">
            <a:tbl>
              <a:tblPr firstRow="1" bandRow="1">
                <a:tableStyleId>{5C22544A-7EE6-4342-B048-85BDC9FD1C3A}</a:tableStyleId>
              </a:tblPr>
              <a:tblGrid>
                <a:gridCol w="4874683"/>
                <a:gridCol w="4667250"/>
                <a:gridCol w="1659466"/>
              </a:tblGrid>
              <a:tr h="762000">
                <a:tc>
                  <a:txBody>
                    <a:bodyPr wrap="square"/>
                    <a:lstStyle/>
                    <a:p>
                      <a:r>
                        <a:rPr sz="1250" b="1" i="0">
                          <a:solidFill>
                            <a:srgbClr val="FFFFFF"/>
                          </a:solidFill>
                          <a:latin typeface="Calibri"/>
                        </a:rPr>
                        <a:t>Risk / Assumption</a:t>
                      </a:r>
                    </a:p>
                  </a:txBody>
                  <a:tcPr anchor="ctr" marT="38100" marB="38100" marL="76200" marR="76200">
                    <a:solidFill>
                      <a:srgbClr val="1F2A44"/>
                    </a:solidFill>
                  </a:tcPr>
                </a:tc>
                <a:tc>
                  <a:txBody>
                    <a:bodyPr wrap="square"/>
                    <a:lstStyle/>
                    <a:p>
                      <a:r>
                        <a:rPr sz="1250" b="1" i="0">
                          <a:solidFill>
                            <a:srgbClr val="FFFFFF"/>
                          </a:solidFill>
                          <a:latin typeface="Calibri"/>
                        </a:rPr>
                        <a:t>Mitigation</a:t>
                      </a:r>
                    </a:p>
                  </a:txBody>
                  <a:tcPr anchor="ctr" marT="38100" marB="38100" marL="76200" marR="76200">
                    <a:solidFill>
                      <a:srgbClr val="1F2A44"/>
                    </a:solidFill>
                  </a:tcPr>
                </a:tc>
                <a:tc>
                  <a:txBody>
                    <a:bodyPr wrap="square"/>
                    <a:lstStyle/>
                    <a:p>
                      <a:r>
                        <a:rPr sz="1250" b="1" i="0">
                          <a:solidFill>
                            <a:srgbClr val="FFFFFF"/>
                          </a:solidFill>
                          <a:latin typeface="Calibri"/>
                        </a:rPr>
                        <a:t>Owner</a:t>
                      </a:r>
                    </a:p>
                  </a:txBody>
                  <a:tcPr anchor="ctr" marT="38100" marB="38100" marL="76200" marR="76200">
                    <a:solidFill>
                      <a:srgbClr val="1F2A44"/>
                    </a:solidFill>
                  </a:tcPr>
                </a:tc>
              </a:tr>
              <a:tr h="762000">
                <a:tc>
                  <a:txBody>
                    <a:bodyPr wrap="square"/>
                    <a:lstStyle/>
                    <a:p>
                      <a:r>
                        <a:rPr sz="1250" b="0" i="0">
                          <a:solidFill>
                            <a:srgbClr val="202226"/>
                          </a:solidFill>
                          <a:latin typeface="Calibri"/>
                        </a:rPr>
                        <a:t>Legacy system knowledge is concentrated in a small number of people</a:t>
                      </a:r>
                    </a:p>
                  </a:txBody>
                  <a:tcPr anchor="ctr" marT="38100" marB="38100" marL="76200" marR="76200">
                    <a:solidFill>
                      <a:srgbClr val="FFFFFF"/>
                    </a:solidFill>
                  </a:tcPr>
                </a:tc>
                <a:tc>
                  <a:txBody>
                    <a:bodyPr wrap="square"/>
                    <a:lstStyle/>
                    <a:p>
                      <a:r>
                        <a:rPr sz="1250" b="0" i="0">
                          <a:solidFill>
                            <a:srgbClr val="202226"/>
                          </a:solidFill>
                          <a:latin typeface="Calibri"/>
                        </a:rPr>
                        <a:t>Document as we go; do not rely on tribal memory alone</a:t>
                      </a:r>
                    </a:p>
                  </a:txBody>
                  <a:tcPr anchor="ctr" marT="38100" marB="38100" marL="76200" marR="76200">
                    <a:solidFill>
                      <a:srgbClr val="FFFFFF"/>
                    </a:solidFill>
                  </a:tcPr>
                </a:tc>
                <a:tc>
                  <a:txBody>
                    <a:bodyPr wrap="square"/>
                    <a:lstStyle/>
                    <a:p>
                      <a:r>
                        <a:rPr sz="1250" b="0" i="0">
                          <a:solidFill>
                            <a:srgbClr val="202226"/>
                          </a:solidFill>
                          <a:latin typeface="Calibri"/>
                        </a:rPr>
                        <a:t>Karthik / Ani</a:t>
                      </a:r>
                    </a:p>
                  </a:txBody>
                  <a:tcPr anchor="ctr" marT="38100" marB="38100" marL="76200" marR="76200">
                    <a:solidFill>
                      <a:srgbClr val="FFFFFF"/>
                    </a:solidFill>
                  </a:tcPr>
                </a:tc>
              </a:tr>
              <a:tr h="762000">
                <a:tc>
                  <a:txBody>
                    <a:bodyPr wrap="square"/>
                    <a:lstStyle/>
                    <a:p>
                      <a:r>
                        <a:rPr sz="1250" b="0" i="0">
                          <a:solidFill>
                            <a:srgbClr val="202226"/>
                          </a:solidFill>
                          <a:latin typeface="Calibri"/>
                        </a:rPr>
                        <a:t>The nightly batch load has a fixed business-availability window; any change to it adds elapsed time</a:t>
                      </a:r>
                    </a:p>
                  </a:txBody>
                  <a:tcPr anchor="ctr" marT="38100" marB="38100" marL="76200" marR="76200">
                    <a:solidFill>
                      <a:srgbClr val="ECEEF1"/>
                    </a:solidFill>
                  </a:tcPr>
                </a:tc>
                <a:tc>
                  <a:txBody>
                    <a:bodyPr wrap="square"/>
                    <a:lstStyle/>
                    <a:p>
                      <a:r>
                        <a:rPr sz="1250" b="0" i="0">
                          <a:solidFill>
                            <a:srgbClr val="202226"/>
                          </a:solidFill>
                          <a:latin typeface="Calibri"/>
                        </a:rPr>
                        <a:t>Any remediation is measured on DEV before it goes near PROD</a:t>
                      </a:r>
                    </a:p>
                  </a:txBody>
                  <a:tcPr anchor="ctr" marT="38100" marB="38100" marL="76200" marR="76200">
                    <a:solidFill>
                      <a:srgbClr val="ECEEF1"/>
                    </a:solidFill>
                  </a:tcPr>
                </a:tc>
                <a:tc>
                  <a:txBody>
                    <a:bodyPr wrap="square"/>
                    <a:lstStyle/>
                    <a:p>
                      <a:r>
                        <a:rPr sz="1250" b="0" i="0">
                          <a:solidFill>
                            <a:srgbClr val="202226"/>
                          </a:solidFill>
                          <a:latin typeface="Calibri"/>
                        </a:rPr>
                        <a:t>Farida / Karthik</a:t>
                      </a:r>
                    </a:p>
                  </a:txBody>
                  <a:tcPr anchor="ctr" marT="38100" marB="38100" marL="76200" marR="76200">
                    <a:solidFill>
                      <a:srgbClr val="ECEEF1"/>
                    </a:solidFill>
                  </a:tcPr>
                </a:tc>
              </a:tr>
              <a:tr h="762000">
                <a:tc>
                  <a:txBody>
                    <a:bodyPr wrap="square"/>
                    <a:lstStyle/>
                    <a:p>
                      <a:r>
                        <a:rPr sz="1250" b="0" i="0">
                          <a:solidFill>
                            <a:srgbClr val="202226"/>
                          </a:solidFill>
                          <a:latin typeface="Calibri"/>
                        </a:rPr>
                        <a:t>Reporting scope depends on Klarissen budget approval each planning cycle</a:t>
                      </a:r>
                    </a:p>
                  </a:txBody>
                  <a:tcPr anchor="ctr" marT="38100" marB="38100" marL="76200" marR="76200">
                    <a:solidFill>
                      <a:srgbClr val="FFFFFF"/>
                    </a:solidFill>
                  </a:tcPr>
                </a:tc>
                <a:tc>
                  <a:txBody>
                    <a:bodyPr wrap="square"/>
                    <a:lstStyle/>
                    <a:p>
                      <a:r>
                        <a:rPr sz="1250" b="0" i="0">
                          <a:solidFill>
                            <a:srgbClr val="202226"/>
                          </a:solidFill>
                          <a:latin typeface="Calibri"/>
                        </a:rPr>
                        <a:t>Track as a standing dependency in the steerco pack</a:t>
                      </a:r>
                    </a:p>
                  </a:txBody>
                  <a:tcPr anchor="ctr" marT="38100" marB="38100" marL="76200" marR="76200">
                    <a:solidFill>
                      <a:srgbClr val="FFFFFF"/>
                    </a:solidFill>
                  </a:tcPr>
                </a:tc>
                <a:tc>
                  <a:txBody>
                    <a:bodyPr wrap="square"/>
                    <a:lstStyle/>
                    <a:p>
                      <a:r>
                        <a:rPr sz="1250" b="0" i="0">
                          <a:solidFill>
                            <a:srgbClr val="202226"/>
                          </a:solidFill>
                          <a:latin typeface="Calibri"/>
                        </a:rPr>
                        <a:t>Ananya</a:t>
                      </a:r>
                    </a:p>
                  </a:txBody>
                  <a:tcPr anchor="ctr" marT="38100" marB="38100" marL="76200" marR="76200">
                    <a:solidFill>
                      <a:srgbClr val="FFFFFF"/>
                    </a:solidFill>
                  </a:tcPr>
                </a:tc>
              </a:tr>
              <a:tr h="762000">
                <a:tc>
                  <a:txBody>
                    <a:bodyPr wrap="square"/>
                    <a:lstStyle/>
                    <a:p>
                      <a:r>
                        <a:rPr sz="1250" b="0" i="0">
                          <a:solidFill>
                            <a:srgbClr val="202226"/>
                          </a:solidFill>
                          <a:latin typeface="Calibri"/>
                        </a:rPr>
                        <a:t>Assumption: BCPL Sales Ops and Finance will nominate UAT testers and be available through August</a:t>
                      </a:r>
                    </a:p>
                  </a:txBody>
                  <a:tcPr anchor="ctr" marT="38100" marB="38100" marL="76200" marR="76200">
                    <a:solidFill>
                      <a:srgbClr val="ECEEF1"/>
                    </a:solidFill>
                  </a:tcPr>
                </a:tc>
                <a:tc>
                  <a:txBody>
                    <a:bodyPr wrap="square"/>
                    <a:lstStyle/>
                    <a:p>
                      <a:r>
                        <a:rPr sz="1250" b="0" i="0">
                          <a:solidFill>
                            <a:srgbClr val="202226"/>
                          </a:solidFill>
                          <a:latin typeface="Calibri"/>
                        </a:rPr>
                        <a:t>Confirm nominees by end of Discovery</a:t>
                      </a:r>
                    </a:p>
                  </a:txBody>
                  <a:tcPr anchor="ctr" marT="38100" marB="38100" marL="76200" marR="76200">
                    <a:solidFill>
                      <a:srgbClr val="ECEEF1"/>
                    </a:solidFill>
                  </a:tcPr>
                </a:tc>
                <a:tc>
                  <a:txBody>
                    <a:bodyPr wrap="square"/>
                    <a:lstStyle/>
                    <a:p>
                      <a:r>
                        <a:rPr sz="1250" b="0" i="0">
                          <a:solidFill>
                            <a:srgbClr val="202226"/>
                          </a:solidFill>
                          <a:latin typeface="Calibri"/>
                        </a:rPr>
                        <a:t>Shalini / Vikram</a:t>
                      </a:r>
                    </a:p>
                  </a:txBody>
                  <a:tcPr anchor="ctr" marT="38100" marB="38100" marL="76200" marR="76200">
                    <a:solidFill>
                      <a:srgbClr val="ECEEF1"/>
                    </a:solidFill>
                  </a:tcPr>
                </a:tc>
              </a:tr>
              <a:tr h="762000">
                <a:tc>
                  <a:txBody>
                    <a:bodyPr wrap="square"/>
                    <a:lstStyle/>
                    <a:p>
                      <a:r>
                        <a:rPr sz="1250" b="0" i="0">
                          <a:solidFill>
                            <a:srgbClr val="202226"/>
                          </a:solidFill>
                          <a:latin typeface="Calibri"/>
                        </a:rPr>
                        <a:t>Assumption: ORION remains stable and unchanged through the Remediation Build phase</a:t>
                      </a:r>
                    </a:p>
                  </a:txBody>
                  <a:tcPr anchor="ctr" marT="38100" marB="38100" marL="76200" marR="76200">
                    <a:solidFill>
                      <a:srgbClr val="FFFFFF"/>
                    </a:solidFill>
                  </a:tcPr>
                </a:tc>
                <a:tc>
                  <a:txBody>
                    <a:bodyPr wrap="square"/>
                    <a:lstStyle/>
                    <a:p>
                      <a:r>
                        <a:rPr sz="1250" b="0" i="0">
                          <a:solidFill>
                            <a:srgbClr val="202226"/>
                          </a:solidFill>
                          <a:latin typeface="Calibri"/>
                        </a:rPr>
                        <a:t>Track any planned ORION release as a programme risk</a:t>
                      </a:r>
                    </a:p>
                  </a:txBody>
                  <a:tcPr anchor="ctr" marT="38100" marB="38100" marL="76200" marR="76200">
                    <a:solidFill>
                      <a:srgbClr val="FFFFFF"/>
                    </a:solidFill>
                  </a:tcPr>
                </a:tc>
                <a:tc>
                  <a:txBody>
                    <a:bodyPr wrap="square"/>
                    <a:lstStyle/>
                    <a:p>
                      <a:r>
                        <a:rPr sz="1250" b="0" i="0">
                          <a:solidFill>
                            <a:srgbClr val="202226"/>
                          </a:solidFill>
                          <a:latin typeface="Calibri"/>
                        </a:rPr>
                        <a:t>Farida</a:t>
                      </a:r>
                    </a:p>
                  </a:txBody>
                  <a:tcPr anchor="ctr" marT="38100" marB="38100" marL="76200" marR="76200">
                    <a:solidFill>
                      <a:srgbClr val="FFFFFF"/>
                    </a:solidFill>
                  </a:tcPr>
                </a:tc>
              </a:tr>
            </a:tbl>
          </a:graphicData>
        </a:graphic>
      </p:graphicFrame>
      <p:sp>
        <p:nvSpPr>
          <p:cNvPr id="5" name="Rectangle 4"/>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7" name="TextBox 6"/>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515600" cy="457200"/>
          </a:xfrm>
          <a:prstGeom prst="rect">
            <a:avLst/>
          </a:prstGeom>
          <a:noFill/>
        </p:spPr>
        <p:txBody>
          <a:bodyPr wrap="square">
            <a:spAutoFit/>
          </a:bodyPr>
          <a:lstStyle/>
          <a:p>
            <a:pPr algn="l">
              <a:spcAft>
                <a:spcPts val="0"/>
              </a:spcAft>
              <a:buNone/>
            </a:pPr>
            <a:r>
              <a:rPr sz="2800" b="1" i="0">
                <a:solidFill>
                  <a:srgbClr val="FFFFFF"/>
                </a:solidFill>
                <a:latin typeface="Calibri"/>
              </a:rPr>
              <a:t>Next Steps</a:t>
            </a:r>
          </a:p>
        </p:txBody>
      </p:sp>
      <p:graphicFrame>
        <p:nvGraphicFramePr>
          <p:cNvPr id="4" name="Table 3"/>
          <p:cNvGraphicFramePr>
            <a:graphicFrameLocks noGrp="1"/>
          </p:cNvGraphicFramePr>
          <p:nvPr/>
        </p:nvGraphicFramePr>
        <p:xfrm>
          <a:off x="502920" y="1188720"/>
          <a:ext cx="11201398" cy="3383280"/>
        </p:xfrm>
        <a:graphic>
          <a:graphicData uri="http://schemas.openxmlformats.org/drawingml/2006/table">
            <a:tbl>
              <a:tblPr firstRow="1" bandRow="1">
                <a:tableStyleId>{5C22544A-7EE6-4342-B048-85BDC9FD1C3A}</a:tableStyleId>
              </a:tblPr>
              <a:tblGrid>
                <a:gridCol w="5895473"/>
                <a:gridCol w="3340768"/>
                <a:gridCol w="1965157"/>
              </a:tblGrid>
              <a:tr h="483325">
                <a:tc>
                  <a:txBody>
                    <a:bodyPr wrap="square"/>
                    <a:lstStyle/>
                    <a:p>
                      <a:r>
                        <a:rPr sz="1300" b="1" i="0">
                          <a:solidFill>
                            <a:srgbClr val="FFFFFF"/>
                          </a:solidFill>
                          <a:latin typeface="Calibri"/>
                        </a:rPr>
                        <a:t>Action</a:t>
                      </a:r>
                    </a:p>
                  </a:txBody>
                  <a:tcPr anchor="ctr" marT="38100" marB="38100" marL="76200" marR="76200">
                    <a:solidFill>
                      <a:srgbClr val="1F2A44"/>
                    </a:solidFill>
                  </a:tcPr>
                </a:tc>
                <a:tc>
                  <a:txBody>
                    <a:bodyPr wrap="square"/>
                    <a:lstStyle/>
                    <a:p>
                      <a:r>
                        <a:rPr sz="1300" b="1" i="0">
                          <a:solidFill>
                            <a:srgbClr val="FFFFFF"/>
                          </a:solidFill>
                          <a:latin typeface="Calibri"/>
                        </a:rPr>
                        <a:t>Owner</a:t>
                      </a:r>
                    </a:p>
                  </a:txBody>
                  <a:tcPr anchor="ctr" marT="38100" marB="38100" marL="76200" marR="76200">
                    <a:solidFill>
                      <a:srgbClr val="1F2A44"/>
                    </a:solidFill>
                  </a:tcPr>
                </a:tc>
                <a:tc>
                  <a:txBody>
                    <a:bodyPr wrap="square"/>
                    <a:lstStyle/>
                    <a:p>
                      <a:r>
                        <a:rPr sz="1300" b="1" i="0">
                          <a:solidFill>
                            <a:srgbClr val="FFFFFF"/>
                          </a:solidFill>
                          <a:latin typeface="Calibri"/>
                        </a:rPr>
                        <a:t>Due</a:t>
                      </a:r>
                    </a:p>
                  </a:txBody>
                  <a:tcPr anchor="ctr" marT="38100" marB="38100" marL="76200" marR="76200">
                    <a:solidFill>
                      <a:srgbClr val="1F2A44"/>
                    </a:solidFill>
                  </a:tcPr>
                </a:tc>
              </a:tr>
              <a:tr h="483325">
                <a:tc>
                  <a:txBody>
                    <a:bodyPr wrap="square"/>
                    <a:lstStyle/>
                    <a:p>
                      <a:r>
                        <a:rPr sz="1300" b="0" i="0">
                          <a:solidFill>
                            <a:srgbClr val="202226"/>
                          </a:solidFill>
                          <a:latin typeface="Calibri"/>
                        </a:rPr>
                        <a:t>Circulate final kickoff pack and minutes</a:t>
                      </a:r>
                    </a:p>
                  </a:txBody>
                  <a:tcPr anchor="ctr" marT="38100" marB="38100" marL="76200" marR="76200">
                    <a:solidFill>
                      <a:srgbClr val="FFFFFF"/>
                    </a:solidFill>
                  </a:tcPr>
                </a:tc>
                <a:tc>
                  <a:txBody>
                    <a:bodyPr wrap="square"/>
                    <a:lstStyle/>
                    <a:p>
                      <a:r>
                        <a:rPr sz="1300" b="0" i="0">
                          <a:solidFill>
                            <a:srgbClr val="202226"/>
                          </a:solidFill>
                          <a:latin typeface="Calibri"/>
                        </a:rPr>
                        <a:t>Sneha Pillai</a:t>
                      </a:r>
                    </a:p>
                  </a:txBody>
                  <a:tcPr anchor="ctr" marT="38100" marB="38100" marL="76200" marR="76200">
                    <a:solidFill>
                      <a:srgbClr val="FFFFFF"/>
                    </a:solidFill>
                  </a:tcPr>
                </a:tc>
                <a:tc>
                  <a:txBody>
                    <a:bodyPr wrap="square"/>
                    <a:lstStyle/>
                    <a:p>
                      <a:r>
                        <a:rPr sz="1300" b="0" i="0">
                          <a:solidFill>
                            <a:srgbClr val="202226"/>
                          </a:solidFill>
                          <a:latin typeface="Calibri"/>
                        </a:rPr>
                        <a:t>12-Feb-2026</a:t>
                      </a:r>
                    </a:p>
                  </a:txBody>
                  <a:tcPr anchor="ctr" marT="38100" marB="38100" marL="76200" marR="76200">
                    <a:solidFill>
                      <a:srgbClr val="FFFFFF"/>
                    </a:solidFill>
                  </a:tcPr>
                </a:tc>
              </a:tr>
              <a:tr h="483325">
                <a:tc>
                  <a:txBody>
                    <a:bodyPr wrap="square"/>
                    <a:lstStyle/>
                    <a:p>
                      <a:r>
                        <a:rPr sz="1300" b="0" i="0">
                          <a:solidFill>
                            <a:srgbClr val="202226"/>
                          </a:solidFill>
                          <a:latin typeface="Calibri"/>
                        </a:rPr>
                        <a:t>Confirm workstream leads and finalise team allocation</a:t>
                      </a:r>
                    </a:p>
                  </a:txBody>
                  <a:tcPr anchor="ctr" marT="38100" marB="38100" marL="76200" marR="76200">
                    <a:solidFill>
                      <a:srgbClr val="ECEEF1"/>
                    </a:solidFill>
                  </a:tcPr>
                </a:tc>
                <a:tc>
                  <a:txBody>
                    <a:bodyPr wrap="square"/>
                    <a:lstStyle/>
                    <a:p>
                      <a:r>
                        <a:rPr sz="1300" b="0" i="0">
                          <a:solidFill>
                            <a:srgbClr val="202226"/>
                          </a:solidFill>
                          <a:latin typeface="Calibri"/>
                        </a:rPr>
                        <a:t>Ananya Krishnan</a:t>
                      </a:r>
                    </a:p>
                  </a:txBody>
                  <a:tcPr anchor="ctr" marT="38100" marB="38100" marL="76200" marR="76200">
                    <a:solidFill>
                      <a:srgbClr val="ECEEF1"/>
                    </a:solidFill>
                  </a:tcPr>
                </a:tc>
                <a:tc>
                  <a:txBody>
                    <a:bodyPr wrap="square"/>
                    <a:lstStyle/>
                    <a:p>
                      <a:r>
                        <a:rPr sz="1300" b="0" i="0">
                          <a:solidFill>
                            <a:srgbClr val="202226"/>
                          </a:solidFill>
                          <a:latin typeface="Calibri"/>
                        </a:rPr>
                        <a:t>18-Feb-2026</a:t>
                      </a:r>
                    </a:p>
                  </a:txBody>
                  <a:tcPr anchor="ctr" marT="38100" marB="38100" marL="76200" marR="76200">
                    <a:solidFill>
                      <a:srgbClr val="ECEEF1"/>
                    </a:solidFill>
                  </a:tcPr>
                </a:tc>
              </a:tr>
              <a:tr h="483325">
                <a:tc>
                  <a:txBody>
                    <a:bodyPr wrap="square"/>
                    <a:lstStyle/>
                    <a:p>
                      <a:r>
                        <a:rPr sz="1300" b="0" i="0">
                          <a:solidFill>
                            <a:srgbClr val="202226"/>
                          </a:solidFill>
                          <a:latin typeface="Calibri"/>
                        </a:rPr>
                        <a:t>Begin OLTP discovery sessions with the ORION / DBA team</a:t>
                      </a:r>
                    </a:p>
                  </a:txBody>
                  <a:tcPr anchor="ctr" marT="38100" marB="38100" marL="76200" marR="76200">
                    <a:solidFill>
                      <a:srgbClr val="FFFFFF"/>
                    </a:solidFill>
                  </a:tcPr>
                </a:tc>
                <a:tc>
                  <a:txBody>
                    <a:bodyPr wrap="square"/>
                    <a:lstStyle/>
                    <a:p>
                      <a:r>
                        <a:rPr sz="1300" b="0" i="0">
                          <a:solidFill>
                            <a:srgbClr val="202226"/>
                          </a:solidFill>
                          <a:latin typeface="Calibri"/>
                        </a:rPr>
                        <a:t>Karthik Subramanian</a:t>
                      </a:r>
                    </a:p>
                  </a:txBody>
                  <a:tcPr anchor="ctr" marT="38100" marB="38100" marL="76200" marR="76200">
                    <a:solidFill>
                      <a:srgbClr val="FFFFFF"/>
                    </a:solidFill>
                  </a:tcPr>
                </a:tc>
                <a:tc>
                  <a:txBody>
                    <a:bodyPr wrap="square"/>
                    <a:lstStyle/>
                    <a:p>
                      <a:r>
                        <a:rPr sz="1300" b="0" i="0">
                          <a:solidFill>
                            <a:srgbClr val="202226"/>
                          </a:solidFill>
                          <a:latin typeface="Calibri"/>
                        </a:rPr>
                        <a:t>Week of 16-Feb-2026</a:t>
                      </a:r>
                    </a:p>
                  </a:txBody>
                  <a:tcPr anchor="ctr" marT="38100" marB="38100" marL="76200" marR="76200">
                    <a:solidFill>
                      <a:srgbClr val="FFFFFF"/>
                    </a:solidFill>
                  </a:tcPr>
                </a:tc>
              </a:tr>
              <a:tr h="483325">
                <a:tc>
                  <a:txBody>
                    <a:bodyPr wrap="square"/>
                    <a:lstStyle/>
                    <a:p>
                      <a:r>
                        <a:rPr sz="1300" b="0" i="0">
                          <a:solidFill>
                            <a:srgbClr val="202226"/>
                          </a:solidFill>
                          <a:latin typeface="Calibri"/>
                        </a:rPr>
                        <a:t>Raise access requests for ORION and BCPL_EDW read-only accounts</a:t>
                      </a:r>
                    </a:p>
                  </a:txBody>
                  <a:tcPr anchor="ctr" marT="38100" marB="38100" marL="76200" marR="76200">
                    <a:solidFill>
                      <a:srgbClr val="ECEEF1"/>
                    </a:solidFill>
                  </a:tcPr>
                </a:tc>
                <a:tc>
                  <a:txBody>
                    <a:bodyPr wrap="square"/>
                    <a:lstStyle/>
                    <a:p>
                      <a:r>
                        <a:rPr sz="1300" b="0" i="0">
                          <a:solidFill>
                            <a:srgbClr val="202226"/>
                          </a:solidFill>
                          <a:latin typeface="Calibri"/>
                        </a:rPr>
                        <a:t>Farida Contractor</a:t>
                      </a:r>
                    </a:p>
                  </a:txBody>
                  <a:tcPr anchor="ctr" marT="38100" marB="38100" marL="76200" marR="76200">
                    <a:solidFill>
                      <a:srgbClr val="ECEEF1"/>
                    </a:solidFill>
                  </a:tcPr>
                </a:tc>
                <a:tc>
                  <a:txBody>
                    <a:bodyPr wrap="square"/>
                    <a:lstStyle/>
                    <a:p>
                      <a:r>
                        <a:rPr sz="1300" b="0" i="0">
                          <a:solidFill>
                            <a:srgbClr val="202226"/>
                          </a:solidFill>
                          <a:latin typeface="Calibri"/>
                        </a:rPr>
                        <a:t>20-Feb-2026</a:t>
                      </a:r>
                    </a:p>
                  </a:txBody>
                  <a:tcPr anchor="ctr" marT="38100" marB="38100" marL="76200" marR="76200">
                    <a:solidFill>
                      <a:srgbClr val="ECEEF1"/>
                    </a:solidFill>
                  </a:tcPr>
                </a:tc>
              </a:tr>
              <a:tr h="483325">
                <a:tc>
                  <a:txBody>
                    <a:bodyPr wrap="square"/>
                    <a:lstStyle/>
                    <a:p>
                      <a:r>
                        <a:rPr sz="1300" b="0" i="0">
                          <a:solidFill>
                            <a:srgbClr val="202226"/>
                          </a:solidFill>
                          <a:latin typeface="Calibri"/>
                        </a:rPr>
                        <a:t>Set up the weekly working session and steering committee invites for the year</a:t>
                      </a:r>
                    </a:p>
                  </a:txBody>
                  <a:tcPr anchor="ctr" marT="38100" marB="38100" marL="76200" marR="76200">
                    <a:solidFill>
                      <a:srgbClr val="FFFFFF"/>
                    </a:solidFill>
                  </a:tcPr>
                </a:tc>
                <a:tc>
                  <a:txBody>
                    <a:bodyPr wrap="square"/>
                    <a:lstStyle/>
                    <a:p>
                      <a:r>
                        <a:rPr sz="1300" b="0" i="0">
                          <a:solidFill>
                            <a:srgbClr val="202226"/>
                          </a:solidFill>
                          <a:latin typeface="Calibri"/>
                        </a:rPr>
                        <a:t>Sneha Pillai</a:t>
                      </a:r>
                    </a:p>
                  </a:txBody>
                  <a:tcPr anchor="ctr" marT="38100" marB="38100" marL="76200" marR="76200">
                    <a:solidFill>
                      <a:srgbClr val="FFFFFF"/>
                    </a:solidFill>
                  </a:tcPr>
                </a:tc>
                <a:tc>
                  <a:txBody>
                    <a:bodyPr wrap="square"/>
                    <a:lstStyle/>
                    <a:p>
                      <a:r>
                        <a:rPr sz="1300" b="0" i="0">
                          <a:solidFill>
                            <a:srgbClr val="202226"/>
                          </a:solidFill>
                          <a:latin typeface="Calibri"/>
                        </a:rPr>
                        <a:t>13-Feb-2026</a:t>
                      </a:r>
                    </a:p>
                  </a:txBody>
                  <a:tcPr anchor="ctr" marT="38100" marB="38100" marL="76200" marR="76200">
                    <a:solidFill>
                      <a:srgbClr val="FFFFFF"/>
                    </a:solidFill>
                  </a:tcPr>
                </a:tc>
              </a:tr>
              <a:tr h="483330">
                <a:tc>
                  <a:txBody>
                    <a:bodyPr wrap="square"/>
                    <a:lstStyle/>
                    <a:p>
                      <a:r>
                        <a:rPr sz="1300" b="0" i="0">
                          <a:solidFill>
                            <a:srgbClr val="202226"/>
                          </a:solidFill>
                          <a:latin typeface="Calibri"/>
                        </a:rPr>
                        <a:t>Confirm UAT tester nominees for August</a:t>
                      </a:r>
                    </a:p>
                  </a:txBody>
                  <a:tcPr anchor="ctr" marT="38100" marB="38100" marL="76200" marR="76200">
                    <a:solidFill>
                      <a:srgbClr val="ECEEF1"/>
                    </a:solidFill>
                  </a:tcPr>
                </a:tc>
                <a:tc>
                  <a:txBody>
                    <a:bodyPr wrap="square"/>
                    <a:lstStyle/>
                    <a:p>
                      <a:r>
                        <a:rPr sz="1300" b="0" i="0">
                          <a:solidFill>
                            <a:srgbClr val="202226"/>
                          </a:solidFill>
                          <a:latin typeface="Calibri"/>
                        </a:rPr>
                        <a:t>Shalini Iyer / Vikram Sethi</a:t>
                      </a:r>
                    </a:p>
                  </a:txBody>
                  <a:tcPr anchor="ctr" marT="38100" marB="38100" marL="76200" marR="76200">
                    <a:solidFill>
                      <a:srgbClr val="ECEEF1"/>
                    </a:solidFill>
                  </a:tcPr>
                </a:tc>
                <a:tc>
                  <a:txBody>
                    <a:bodyPr wrap="square"/>
                    <a:lstStyle/>
                    <a:p>
                      <a:r>
                        <a:rPr sz="1300" b="0" i="0">
                          <a:solidFill>
                            <a:srgbClr val="202226"/>
                          </a:solidFill>
                          <a:latin typeface="Calibri"/>
                        </a:rPr>
                        <a:t>TBC</a:t>
                      </a:r>
                    </a:p>
                  </a:txBody>
                  <a:tcPr anchor="ctr" marT="38100" marB="38100" marL="76200" marR="76200">
                    <a:solidFill>
                      <a:srgbClr val="ECEEF1"/>
                    </a:solidFill>
                  </a:tcPr>
                </a:tc>
              </a:tr>
            </a:tbl>
          </a:graphicData>
        </a:graphic>
      </p:graphicFrame>
      <p:sp>
        <p:nvSpPr>
          <p:cNvPr id="5" name="TextBox 4"/>
          <p:cNvSpPr txBox="1"/>
          <p:nvPr/>
        </p:nvSpPr>
        <p:spPr>
          <a:xfrm>
            <a:off x="502920" y="4937760"/>
            <a:ext cx="11064240" cy="1097280"/>
          </a:xfrm>
          <a:prstGeom prst="rect">
            <a:avLst/>
          </a:prstGeom>
          <a:noFill/>
        </p:spPr>
        <p:txBody>
          <a:bodyPr wrap="square">
            <a:spAutoFit/>
          </a:bodyPr>
          <a:lstStyle/>
          <a:p>
            <a:pPr algn="l">
              <a:spcAft>
                <a:spcPts val="0"/>
              </a:spcAft>
              <a:buNone/>
            </a:pPr>
            <a:r>
              <a:rPr sz="1300" b="0" i="1">
                <a:solidFill>
                  <a:srgbClr val="5B6370"/>
                </a:solidFill>
                <a:latin typeface="Calibri"/>
              </a:rPr>
              <a:t>Kindly note: as such, this list will only grow once discovery starts properly. Treat it as the opening list, not the whole tracker.</a:t>
            </a:r>
          </a:p>
        </p:txBody>
      </p:sp>
      <p:sp>
        <p:nvSpPr>
          <p:cNvPr id="6" name="Rectangle 5"/>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8" name="TextBox 7"/>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822960" y="2103120"/>
            <a:ext cx="10515600" cy="1005840"/>
          </a:xfrm>
          <a:prstGeom prst="rect">
            <a:avLst/>
          </a:prstGeom>
          <a:noFill/>
        </p:spPr>
        <p:txBody>
          <a:bodyPr wrap="square">
            <a:spAutoFit/>
          </a:bodyPr>
          <a:lstStyle/>
          <a:p>
            <a:pPr algn="l">
              <a:spcAft>
                <a:spcPts val="0"/>
              </a:spcAft>
              <a:buNone/>
            </a:pPr>
            <a:r>
              <a:rPr sz="4000" b="1" i="0">
                <a:solidFill>
                  <a:srgbClr val="FFFFFF"/>
                </a:solidFill>
                <a:latin typeface="Calibri"/>
              </a:rPr>
              <a:t>Thank You</a:t>
            </a:r>
          </a:p>
        </p:txBody>
      </p:sp>
      <p:sp>
        <p:nvSpPr>
          <p:cNvPr id="3" name="TextBox 2"/>
          <p:cNvSpPr txBox="1"/>
          <p:nvPr/>
        </p:nvSpPr>
        <p:spPr>
          <a:xfrm>
            <a:off x="822960" y="3063240"/>
            <a:ext cx="9601200" cy="1463040"/>
          </a:xfrm>
          <a:prstGeom prst="rect">
            <a:avLst/>
          </a:prstGeom>
          <a:noFill/>
        </p:spPr>
        <p:txBody>
          <a:bodyPr wrap="square">
            <a:spAutoFit/>
          </a:bodyPr>
          <a:lstStyle/>
          <a:p>
            <a:pPr algn="l">
              <a:spcAft>
                <a:spcPts val="800"/>
              </a:spcAft>
              <a:buNone/>
            </a:pPr>
            <a:r>
              <a:rPr sz="1600" b="0" i="0">
                <a:solidFill>
                  <a:srgbClr val="E4E7EC"/>
                </a:solidFill>
                <a:latin typeface="Calibri"/>
              </a:rPr>
              <a:t>One number, one source of truth, by 15 September 2026.</a:t>
            </a:r>
          </a:p>
          <a:p>
            <a:pPr algn="l">
              <a:spcAft>
                <a:spcPts val="800"/>
              </a:spcAft>
              <a:buNone/>
            </a:pPr>
            <a:r>
              <a:rPr sz="1600" b="0" i="0">
                <a:solidFill>
                  <a:srgbClr val="E4E7EC"/>
                </a:solidFill>
                <a:latin typeface="Calibri"/>
              </a:rPr>
              <a:t>Questions and follow-ups: Ananya Krishnan, ananya.krishnan@northlaneanalytics.example</a:t>
            </a:r>
          </a:p>
        </p:txBody>
      </p:sp>
      <p:sp>
        <p:nvSpPr>
          <p:cNvPr id="4" name="Rectangle 3"/>
          <p:cNvSpPr/>
          <p:nvPr/>
        </p:nvSpPr>
        <p:spPr>
          <a:xfrm>
            <a:off x="0" y="6812280"/>
            <a:ext cx="12191695" cy="45720"/>
          </a:xfrm>
          <a:prstGeom prst="rect">
            <a:avLst/>
          </a:prstGeom>
          <a:solidFill>
            <a:srgbClr val="D3D7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8686800" cy="320040"/>
          </a:xfrm>
          <a:prstGeom prst="rect">
            <a:avLst/>
          </a:prstGeom>
          <a:noFill/>
        </p:spPr>
        <p:txBody>
          <a:bodyPr wrap="square">
            <a:spAutoFit/>
          </a:bodyPr>
          <a:lstStyle/>
          <a:p>
            <a:pPr algn="l">
              <a:spcAft>
                <a:spcPts val="0"/>
              </a:spcAft>
              <a:buNone/>
            </a:pPr>
            <a:r>
              <a:rPr sz="950" b="0" i="0">
                <a:solidFill>
                  <a:srgbClr val="5B6370"/>
                </a:solidFill>
                <a:latin typeface="Calibri"/>
              </a:rPr>
              <a:t>Bharadwaj Consumer Products Ltd  |  Confidential, Client Use Only  |  Project Drishti, Kickoff Deck v3</a:t>
            </a:r>
          </a:p>
        </p:txBody>
      </p:sp>
      <p:sp>
        <p:nvSpPr>
          <p:cNvPr id="6" name="TextBox 5"/>
          <p:cNvSpPr txBox="1"/>
          <p:nvPr/>
        </p:nvSpPr>
        <p:spPr>
          <a:xfrm>
            <a:off x="11002975" y="6473952"/>
            <a:ext cx="822960" cy="320040"/>
          </a:xfrm>
          <a:prstGeom prst="rect">
            <a:avLst/>
          </a:prstGeom>
          <a:noFill/>
        </p:spPr>
        <p:txBody>
          <a:bodyPr wrap="square">
            <a:spAutoFit/>
          </a:bodyPr>
          <a:lstStyle/>
          <a:p>
            <a:pPr algn="r">
              <a:spcAft>
                <a:spcPts val="0"/>
              </a:spcAft>
              <a:buNone/>
            </a:pPr>
            <a:r>
              <a:rPr sz="950" b="0" i="0">
                <a:solidFill>
                  <a:srgbClr val="5B637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3108960"/>
            <a:ext cx="10332720" cy="731520"/>
          </a:xfrm>
          <a:prstGeom prst="rect">
            <a:avLst/>
          </a:prstGeom>
          <a:noFill/>
        </p:spPr>
        <p:txBody>
          <a:bodyPr wrap="square">
            <a:spAutoFit/>
          </a:bodyPr>
          <a:lstStyle/>
          <a:p>
            <a:pPr algn="ctr">
              <a:spcAft>
                <a:spcPts val="0"/>
              </a:spcAft>
              <a:buNone/>
            </a:pPr>
            <a:r>
              <a:rPr sz="1600" b="0" i="0">
                <a:solidFill>
                  <a:srgbClr val="5B6370"/>
                </a:solidFill>
                <a:latin typeface="Calibri"/>
              </a:rPr>
              <a:t>SYNTHETIC — generated for internal demo. No real entity depicted.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Drishti: Kickoff</dc:title>
  <dc:subject>Kickoff deck for Project Drishti, Bharadwaj Consumer Products Ltd</dc:subject>
  <dc:creator>Ananya Krishnan</dc:creator>
  <cp:keywords/>
  <dc:description>SYNTHETIC — generated for internal demo. No real entity depicted.</dc:description>
  <cp:lastModifiedBy>Ananya Krishnan</cp:lastModifiedBy>
  <cp:revision>1</cp:revision>
  <dcterms:created xsi:type="dcterms:W3CDTF">2026-02-10T14:32:00Z</dcterms:created>
  <dcterms:modified xsi:type="dcterms:W3CDTF">2026-02-11T08:47:00Z</dcterms:modified>
  <cp:category>Client Deliverable</cp:category>
</cp:coreProperties>
</file>