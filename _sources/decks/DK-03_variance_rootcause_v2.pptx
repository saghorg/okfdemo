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House-keeping before we start: this is v2. v1 went out 30-Apr and had the wrong figure on the VAR-002 slide (typo, said 9 L instead of 90 L), Sneha caught it, this version is corrected there. Don't dwell on that. Ananya wants this kept to 30 min, leave 10 min for questions because Shalini will have questions on VAR-005 and Vikram will probably ask why his stockist numbers aren't in this pack at all - answer is they're not in scope, this is the warehouse revenue variance register, not the secondary sales reconciliation, park it if it comes 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to under a minute. If Rajeev is on the call he will only want the date and the total number - he said as much after the last steerco. Everything else is for Shalini and Farida.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Farida will push back if anyone implies the load itself is unreliable - be careful with language here, several of these are ETL logic bugs, not load stability issues, and she gets prickly about the distinction. If someone from Klarissen is on this call (unlikely for this one, this is a BCPL internal working session, not the steerco) do not use 'the walk' or 'the bridge', that is their phrasing, use variance.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VAR-003 owner says TBC on the slide - the DW team is doing the actual analysis but ownership on the register hasn't been formally assigned to a named individual yet, don't put a name on the slide, we don't want to commit that in writing before it's confirmed at design sign-off tomorrow (06-May). Same logic for VAR-004, someone is starting to poke at it but nobody owns it on paper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doing too much, I know. Ananya wanted everything on one page so the steerco extract could be lifted straight out of this deck without redoing the layout. If you are presenting this live, do not read every bullet, walk the big number and the first three lines, take questions on the rest only if asked. The 438.60 Cr line is the one Shalini will fixate on - she has said more than once she cannot sign the pack against that figure. Do not let this turn into a Finance sign-off discussion in this meeting, that is a separate thread with her team.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Shalini's exact numbers from her trial balance reconciliation are in her mail to Karthik, not reproduced here - if asked, the two-decimal figures are hers to quote, not ours. Keep this slide to the mechanism and the fix. Do not get pulled into a discussion of why the historic nulls exist in the first place, that's a longer story and it belongs in the technical annexure, not this readout.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v1 of this deck had a typo on this slide, said INR 9 L instead of 90 L, Sneha flagged it the same afternoon. Corrected here. If anyone still has v1 open, point them to this version.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keep this slide at the surface level: source-side, a finance procedure rewrites the scheme discount amount, that is all. Do not go further into mechanism on this slide, whatever the question. If Shalini or anyone else pushes for more, the line to use is 'that's in the stored procedure walkthrough, let's take it offline' and move to the next slide. The DW team has the full detail if this needs to go further, but that conversation does not happen in this room.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AWR window quoted here is 23-Mar-2026, 01:00 to 03:00 - two hours bracketing the load, not the load duration itself. If someone asks how long the load itself normally takes, that's a separate number and it is not this slide's job to give it - point them to Farida's load performance notes. Keep the evidence framed as 'examined and ruled out', nothing stronger - do not editorialise about how seriously anyone was taking the database link angle at the time, that's not for this deck.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commit to a mechanism on this slide, we genuinely do not have it nailed down for external discussion yet and Karthik wants that conversation to happen properly at design sign-off tomorrow, not get pre-empted here. If pushed for a number of affected distributors, say we do not have a validated count yet, expect it at the June data quality readout.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caveat the 2.40 Cr figure on the slide, Ananya was clear about that, but you should know going in: this is Shalini's own working number, built quickly to get something into this pack, and she has not reconciled it against the full FY26 trial balance yet. It will very likely move once she does. If she asks why it isn't fully validated, the honest answer is exactly that - it was a fast working estimate, not a checked figure. Do not get into why there's no credit note table in the warehouse on this slide either - that explanation belongs in the target state design document, not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one short, it's closed and nobody wants to relitigate it. If someone asks for the mechanism, tell them it's in the technical annexure with the ODI team and move on - we are not walking the load-plan mechanics in this readout.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total was carried over from the tracker export and has not been recomputed for this version of the pack - if someone adds up the column by hand in the room it will not match this row exactly, the tracker's rounding is not the same as this slide's. Do not draw attention to it, if it comes up say the master figure lives in the tracker and we will true it up there. Do not attempt to explain the gap live.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Sneha's action log has the continuous numbering for these, not reproduced on this slide - she will fold these into her own tracker with the right AI reference numbers after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bullet is a placeholder, ignore it, Sneha will tidy the deck before the master copy goes into the SharePoint library. Main point to land verbally: nothing in this pack is final except VAR-008. Also worth knowing even though it's not on this slide - VAR-005 at 2.40 Cr is Shalini's own quick working number too, same caveat as VAR-004, it just isn't printed anywhere as an estimate because Ananya did not want two different 'not final yet' flags cluttering the deck. Say it out loud if asked, don't put it in writing in this pack.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design sign-off pointer, that's the natural next checkpoint and it keeps the room from re-opening the credit note conversation right at the end. If there's time for one question, take it from Shalini first, she's been the most patient about not derailing this into a Finance-only discussion. On the VAR-005 bullet - expect that 2.40 Cr to move once Shalini finishes validating it, but that's for us to know, not to say from the podium unless directly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515600" cy="457200"/>
          </a:xfrm>
          <a:prstGeom prst="rect">
            <a:avLst/>
          </a:prstGeom>
          <a:noFill/>
        </p:spPr>
        <p:txBody>
          <a:bodyPr wrap="none">
            <a:spAutoFit/>
          </a:bodyPr>
          <a:lstStyle/>
          <a:p>
            <a:pPr>
              <a:defRPr sz="1800" b="1">
                <a:solidFill>
                  <a:srgbClr val="C9A08E"/>
                </a:solidFill>
              </a:defRPr>
            </a:pPr>
            <a:r>
              <a:t>PROJECT DRISHTI</a:t>
            </a:r>
          </a:p>
        </p:txBody>
      </p:sp>
      <p:sp>
        <p:nvSpPr>
          <p:cNvPr id="4" name="TextBox 3"/>
          <p:cNvSpPr txBox="1"/>
          <p:nvPr/>
        </p:nvSpPr>
        <p:spPr>
          <a:xfrm>
            <a:off x="777240" y="2331720"/>
            <a:ext cx="10607040" cy="1463040"/>
          </a:xfrm>
          <a:prstGeom prst="rect">
            <a:avLst/>
          </a:prstGeom>
          <a:noFill/>
        </p:spPr>
        <p:txBody>
          <a:bodyPr wrap="square">
            <a:spAutoFit/>
          </a:bodyPr>
          <a:lstStyle/>
          <a:p>
            <a:pPr>
              <a:defRPr sz="4000" b="1">
                <a:solidFill>
                  <a:srgbClr val="FFFFFF"/>
                </a:solidFill>
              </a:defRPr>
            </a:pPr>
            <a:r>
              <a:t>Variance Root Cause - Working Readout</a:t>
            </a:r>
          </a:p>
          <a:p>
            <a:pPr>
              <a:spcBef>
                <a:spcPts val="1000"/>
              </a:spcBef>
              <a:defRPr sz="1800">
                <a:solidFill>
                  <a:srgbClr val="CED6E3"/>
                </a:solidFill>
              </a:defRPr>
            </a:pPr>
            <a:r>
              <a:t>VAR-001 through VAR-005 and VAR-008 - status, root cause, impact</a:t>
            </a:r>
          </a:p>
        </p:txBody>
      </p:sp>
      <p:sp>
        <p:nvSpPr>
          <p:cNvPr id="5" name="TextBox 4"/>
          <p:cNvSpPr txBox="1"/>
          <p:nvPr/>
        </p:nvSpPr>
        <p:spPr>
          <a:xfrm>
            <a:off x="822960" y="4160520"/>
            <a:ext cx="8229600" cy="1280160"/>
          </a:xfrm>
          <a:prstGeom prst="rect">
            <a:avLst/>
          </a:prstGeom>
          <a:noFill/>
        </p:spPr>
        <p:txBody>
          <a:bodyPr wrap="none">
            <a:spAutoFit/>
          </a:bodyPr>
          <a:lstStyle/>
          <a:p>
            <a:pPr>
              <a:defRPr sz="1500" b="1">
                <a:solidFill>
                  <a:srgbClr val="FFFFFF"/>
                </a:solidFill>
              </a:defRPr>
            </a:pPr>
            <a:r>
              <a:t>05 May 2026</a:t>
            </a:r>
          </a:p>
          <a:p>
            <a:pPr>
              <a:defRPr sz="1300">
                <a:solidFill>
                  <a:srgbClr val="CED6E3"/>
                </a:solidFill>
              </a:defRPr>
            </a:pPr>
            <a:r>
              <a:t>Prepared for: Bharadwaj Consumer Products Ltd (Finance Systems, Sales Ops, IT)</a:t>
            </a:r>
          </a:p>
          <a:p>
            <a:pPr>
              <a:defRPr sz="1300">
                <a:solidFill>
                  <a:srgbClr val="CED6E3"/>
                </a:solidFill>
              </a:defRPr>
            </a:pPr>
            <a:r>
              <a:t>Prepared by: Karthik Subramanian, Northlane Analytics</a:t>
            </a:r>
          </a:p>
          <a:p>
            <a:pPr>
              <a:defRPr sz="1300">
                <a:solidFill>
                  <a:srgbClr val="CED6E3"/>
                </a:solidFill>
              </a:defRPr>
            </a:pPr>
            <a:r>
              <a:t>Reviewed by: Ananya Krishnan</a:t>
            </a:r>
          </a:p>
        </p:txBody>
      </p:sp>
      <p:sp>
        <p:nvSpPr>
          <p:cNvPr id="6" name="TextBox 5"/>
          <p:cNvSpPr txBox="1"/>
          <p:nvPr/>
        </p:nvSpPr>
        <p:spPr>
          <a:xfrm>
            <a:off x="9601200" y="320040"/>
            <a:ext cx="2194560" cy="640080"/>
          </a:xfrm>
          <a:prstGeom prst="rect">
            <a:avLst/>
          </a:prstGeom>
          <a:noFill/>
        </p:spPr>
        <p:txBody>
          <a:bodyPr wrap="none">
            <a:spAutoFit/>
          </a:bodyPr>
          <a:lstStyle/>
          <a:p>
            <a:pPr algn="r">
              <a:defRPr sz="2000" b="1">
                <a:solidFill>
                  <a:srgbClr val="D88A2E"/>
                </a:solidFill>
              </a:defRPr>
            </a:pPr>
            <a:r>
              <a:t>DRAFT v2</a:t>
            </a:r>
          </a:p>
          <a:p>
            <a:pPr algn="r">
              <a:defRPr sz="900">
                <a:solidFill>
                  <a:srgbClr val="CED6E3"/>
                </a:solidFill>
              </a:defRPr>
            </a:pPr>
            <a:r>
              <a:t>supersedes v1 circulated 30-Apr</a:t>
            </a:r>
          </a:p>
        </p:txBody>
      </p:sp>
      <p:sp>
        <p:nvSpPr>
          <p:cNvPr id="7" name="TextBox 6"/>
          <p:cNvSpPr txBox="1"/>
          <p:nvPr/>
        </p:nvSpPr>
        <p:spPr>
          <a:xfrm>
            <a:off x="822960" y="6355080"/>
            <a:ext cx="10058400" cy="365760"/>
          </a:xfrm>
          <a:prstGeom prst="rect">
            <a:avLst/>
          </a:prstGeom>
          <a:noFill/>
        </p:spPr>
        <p:txBody>
          <a:bodyPr wrap="none">
            <a:spAutoFit/>
          </a:bodyPr>
          <a:lstStyle/>
          <a:p>
            <a:pPr>
              <a:defRPr sz="800">
                <a:solidFill>
                  <a:srgbClr val="9AA6BC"/>
                </a:solidFill>
              </a:defRPr>
            </a:pPr>
            <a:r>
              <a:t>Bharadwaj Consumer Products Ltd  |  Project Drishti - Confidential, Internal Working Draft   |   Client Confidential - Not for external distribution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PROJECT DRISHTI - VARIANCE ROOT CAUSE READOUT</a:t>
            </a:r>
          </a:p>
        </p:txBody>
      </p:sp>
      <p:sp>
        <p:nvSpPr>
          <p:cNvPr id="3" name="TextBox 2"/>
          <p:cNvSpPr txBox="1"/>
          <p:nvPr/>
        </p:nvSpPr>
        <p:spPr>
          <a:xfrm>
            <a:off x="457200" y="320040"/>
            <a:ext cx="11247120" cy="822960"/>
          </a:xfrm>
          <a:prstGeom prst="rect">
            <a:avLst/>
          </a:prstGeom>
          <a:noFill/>
        </p:spPr>
        <p:txBody>
          <a:bodyPr wrap="square">
            <a:spAutoFit/>
          </a:bodyPr>
          <a:lstStyle/>
          <a:p>
            <a:pPr>
              <a:defRPr sz="2800" b="1">
                <a:solidFill>
                  <a:srgbClr val="1B2A4A"/>
                </a:solidFill>
              </a:defRPr>
            </a:pPr>
            <a:r>
              <a:t>Agenda</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234440"/>
            <a:ext cx="10972800" cy="4937760"/>
          </a:xfrm>
          <a:prstGeom prst="rect">
            <a:avLst/>
          </a:prstGeom>
          <a:noFill/>
        </p:spPr>
        <p:txBody>
          <a:bodyPr wrap="square">
            <a:spAutoFit/>
          </a:bodyPr>
          <a:lstStyle/>
          <a:p>
            <a:pPr>
              <a:spcAft>
                <a:spcPts val="1600"/>
              </a:spcAft>
              <a:defRPr sz="2000">
                <a:solidFill>
                  <a:srgbClr val="222222"/>
                </a:solidFill>
              </a:defRPr>
            </a:pPr>
            <a:r>
              <a:t>•  Recap - why we are here and what the sprint covered</a:t>
            </a:r>
          </a:p>
          <a:p>
            <a:pPr>
              <a:spcAft>
                <a:spcPts val="1600"/>
              </a:spcAft>
              <a:defRPr sz="2000">
                <a:solidFill>
                  <a:srgbClr val="222222"/>
                </a:solidFill>
              </a:defRPr>
            </a:pPr>
            <a:r>
              <a:t>•  Status snapshot - the variance register as it stands today</a:t>
            </a:r>
          </a:p>
          <a:p>
            <a:pPr>
              <a:spcAft>
                <a:spcPts val="1600"/>
              </a:spcAft>
              <a:defRPr sz="2000">
                <a:solidFill>
                  <a:srgbClr val="222222"/>
                </a:solidFill>
              </a:defRPr>
            </a:pPr>
            <a:r>
              <a:t>•  Deep dive - closed and confirmed items (VAR-001, VAR-002, VAR-003)</a:t>
            </a:r>
          </a:p>
          <a:p>
            <a:pPr>
              <a:spcAft>
                <a:spcPts val="1600"/>
              </a:spcAft>
              <a:defRPr sz="2000">
                <a:solidFill>
                  <a:srgbClr val="222222"/>
                </a:solidFill>
              </a:defRPr>
            </a:pPr>
            <a:r>
              <a:t>•  Deep dive - emerging items (VAR-004, VAR-005)</a:t>
            </a:r>
          </a:p>
          <a:p>
            <a:pPr>
              <a:spcAft>
                <a:spcPts val="1600"/>
              </a:spcAft>
              <a:defRPr sz="2000">
                <a:solidFill>
                  <a:srgbClr val="222222"/>
                </a:solidFill>
              </a:defRPr>
            </a:pPr>
            <a:r>
              <a:t>•  Close-out - VAR-008</a:t>
            </a:r>
          </a:p>
          <a:p>
            <a:pPr>
              <a:spcAft>
                <a:spcPts val="1600"/>
              </a:spcAft>
              <a:defRPr sz="2000">
                <a:solidFill>
                  <a:srgbClr val="222222"/>
                </a:solidFill>
              </a:defRPr>
            </a:pPr>
            <a:r>
              <a:t>•  Impact summary and next steps</a:t>
            </a:r>
          </a:p>
        </p:txBody>
      </p:sp>
      <p:sp>
        <p:nvSpPr>
          <p:cNvPr id="6" name="TextBox 5"/>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7" name="TextBox 6"/>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RECAP</a:t>
            </a:r>
          </a:p>
        </p:txBody>
      </p:sp>
      <p:sp>
        <p:nvSpPr>
          <p:cNvPr id="3" name="TextBox 2"/>
          <p:cNvSpPr txBox="1"/>
          <p:nvPr/>
        </p:nvSpPr>
        <p:spPr>
          <a:xfrm>
            <a:off x="457200" y="320040"/>
            <a:ext cx="11247120" cy="822960"/>
          </a:xfrm>
          <a:prstGeom prst="rect">
            <a:avLst/>
          </a:prstGeom>
          <a:noFill/>
        </p:spPr>
        <p:txBody>
          <a:bodyPr wrap="square">
            <a:spAutoFit/>
          </a:bodyPr>
          <a:lstStyle/>
          <a:p>
            <a:pPr>
              <a:defRPr sz="2800" b="1">
                <a:solidFill>
                  <a:srgbClr val="1B2A4A"/>
                </a:solidFill>
              </a:defRPr>
            </a:pPr>
            <a:r>
              <a:t>Why we are here</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234440"/>
            <a:ext cx="10972800" cy="4937760"/>
          </a:xfrm>
          <a:prstGeom prst="rect">
            <a:avLst/>
          </a:prstGeom>
          <a:noFill/>
        </p:spPr>
        <p:txBody>
          <a:bodyPr wrap="square">
            <a:spAutoFit/>
          </a:bodyPr>
          <a:lstStyle/>
          <a:p>
            <a:pPr>
              <a:spcAft>
                <a:spcPts val="1400"/>
              </a:spcAft>
              <a:defRPr sz="1700">
                <a:solidFill>
                  <a:srgbClr val="222222"/>
                </a:solidFill>
              </a:defRPr>
            </a:pPr>
            <a:r>
              <a:t>•  The variance root-cause sprint has been running since 09-Mar-2026 and is scheduled to close 08-May-2026.</a:t>
            </a:r>
          </a:p>
          <a:p>
            <a:pPr>
              <a:spcAft>
                <a:spcPts val="1400"/>
              </a:spcAft>
              <a:defRPr sz="1700">
                <a:solidFill>
                  <a:srgbClr val="222222"/>
                </a:solidFill>
              </a:defRPr>
            </a:pPr>
            <a:r>
              <a:t>•  Trigger: Shalini could not sign the FY26 board pack in March because the warehouse revenue number did not tie to the trial balance.</a:t>
            </a:r>
          </a:p>
          <a:p>
            <a:pPr>
              <a:spcAft>
                <a:spcPts val="1400"/>
              </a:spcAft>
              <a:defRPr sz="1700">
                <a:solidFill>
                  <a:srgbClr val="222222"/>
                </a:solidFill>
              </a:defRPr>
            </a:pPr>
            <a:r>
              <a:t>•  Since the first findings review (24-Mar-2026) the register has grown as the team has worked through the reconciliation - six items on it today.</a:t>
            </a:r>
          </a:p>
          <a:p>
            <a:pPr>
              <a:spcAft>
                <a:spcPts val="1400"/>
              </a:spcAft>
              <a:defRPr sz="1700">
                <a:solidFill>
                  <a:srgbClr val="222222"/>
                </a:solidFill>
              </a:defRPr>
            </a:pPr>
            <a:r>
              <a:t>•  This session confirms root cause and impact for each item and flags which are closed, which are fixed-but-not-yet-released, and which are still open.</a:t>
            </a:r>
          </a:p>
          <a:p>
            <a:pPr>
              <a:spcAft>
                <a:spcPts val="1400"/>
              </a:spcAft>
              <a:defRPr sz="1700">
                <a:solidFill>
                  <a:srgbClr val="222222"/>
                </a:solidFill>
              </a:defRPr>
            </a:pPr>
            <a:r>
              <a:t>•  Basically the goal today is a shared, signed-off version of the register - not a debate on methodology. That happens separately with Finance.</a:t>
            </a:r>
          </a:p>
        </p:txBody>
      </p:sp>
      <p:sp>
        <p:nvSpPr>
          <p:cNvPr id="6" name="TextBox 5"/>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7" name="TextBox 6"/>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2468880"/>
            <a:ext cx="10789920" cy="365760"/>
          </a:xfrm>
          <a:prstGeom prst="rect">
            <a:avLst/>
          </a:prstGeom>
          <a:noFill/>
        </p:spPr>
        <p:txBody>
          <a:bodyPr wrap="none">
            <a:spAutoFit/>
          </a:bodyPr>
          <a:lstStyle/>
          <a:p>
            <a:pPr>
              <a:defRPr sz="1400" b="1">
                <a:solidFill>
                  <a:srgbClr val="C9A08E"/>
                </a:solidFill>
              </a:defRPr>
            </a:pPr>
            <a:r>
              <a:t>PART ONE</a:t>
            </a:r>
          </a:p>
        </p:txBody>
      </p:sp>
      <p:sp>
        <p:nvSpPr>
          <p:cNvPr id="3" name="TextBox 2"/>
          <p:cNvSpPr txBox="1"/>
          <p:nvPr/>
        </p:nvSpPr>
        <p:spPr>
          <a:xfrm>
            <a:off x="594360" y="2788920"/>
            <a:ext cx="10881360" cy="1188720"/>
          </a:xfrm>
          <a:prstGeom prst="rect">
            <a:avLst/>
          </a:prstGeom>
          <a:noFill/>
        </p:spPr>
        <p:txBody>
          <a:bodyPr wrap="square">
            <a:spAutoFit/>
          </a:bodyPr>
          <a:lstStyle/>
          <a:p>
            <a:pPr>
              <a:defRPr sz="3800" b="1">
                <a:solidFill>
                  <a:srgbClr val="FFFFFF"/>
                </a:solidFill>
              </a:defRPr>
            </a:pPr>
            <a:r>
              <a:t>Status Snapshot</a:t>
            </a:r>
          </a:p>
        </p:txBody>
      </p:sp>
      <p:sp>
        <p:nvSpPr>
          <p:cNvPr id="4" name="TextBox 3"/>
          <p:cNvSpPr txBox="1"/>
          <p:nvPr/>
        </p:nvSpPr>
        <p:spPr>
          <a:xfrm>
            <a:off x="640080" y="3794760"/>
            <a:ext cx="10515600" cy="548640"/>
          </a:xfrm>
          <a:prstGeom prst="rect">
            <a:avLst/>
          </a:prstGeom>
          <a:noFill/>
        </p:spPr>
        <p:txBody>
          <a:bodyPr wrap="none">
            <a:spAutoFit/>
          </a:bodyPr>
          <a:lstStyle/>
          <a:p>
            <a:pPr>
              <a:defRPr sz="1500">
                <a:solidFill>
                  <a:srgbClr val="CED6E3"/>
                </a:solidFill>
              </a:defRPr>
            </a:pPr>
            <a:r>
              <a:t>The variance register as of 05-May-2026</a:t>
            </a:r>
          </a:p>
        </p:txBody>
      </p:sp>
      <p:sp>
        <p:nvSpPr>
          <p:cNvPr id="5" name="TextBox 4"/>
          <p:cNvSpPr txBox="1"/>
          <p:nvPr/>
        </p:nvSpPr>
        <p:spPr>
          <a:xfrm>
            <a:off x="457200" y="6510528"/>
            <a:ext cx="8229600" cy="274320"/>
          </a:xfrm>
          <a:prstGeom prst="rect">
            <a:avLst/>
          </a:prstGeom>
          <a:noFill/>
        </p:spPr>
        <p:txBody>
          <a:bodyPr wrap="none">
            <a:spAutoFit/>
          </a:bodyPr>
          <a:lstStyle/>
          <a:p>
            <a:pPr>
              <a:defRPr sz="800">
                <a:solidFill>
                  <a:srgbClr val="9AA6BC"/>
                </a:solidFill>
              </a:defRPr>
            </a:pPr>
            <a:r>
              <a:t>Bharadwaj Consumer Products Ltd  |  Project Drishti - Confidential, Internal Working Draft</a:t>
            </a:r>
          </a:p>
        </p:txBody>
      </p:sp>
      <p:sp>
        <p:nvSpPr>
          <p:cNvPr id="6" name="TextBox 5"/>
          <p:cNvSpPr txBox="1"/>
          <p:nvPr/>
        </p:nvSpPr>
        <p:spPr>
          <a:xfrm>
            <a:off x="9235440" y="6510528"/>
            <a:ext cx="2286000" cy="274320"/>
          </a:xfrm>
          <a:prstGeom prst="rect">
            <a:avLst/>
          </a:prstGeom>
          <a:noFill/>
        </p:spPr>
        <p:txBody>
          <a:bodyPr wrap="none">
            <a:spAutoFit/>
          </a:bodyPr>
          <a:lstStyle/>
          <a:p>
            <a:pPr algn="r">
              <a:defRPr sz="800">
                <a:solidFill>
                  <a:srgbClr val="9AA6BC"/>
                </a:solidFill>
              </a:defRPr>
            </a:pPr>
            <a:r>
              <a:t>Client Confidential - Not for external distribution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STATUS SNAPSHOT</a:t>
            </a:r>
          </a:p>
        </p:txBody>
      </p:sp>
      <p:sp>
        <p:nvSpPr>
          <p:cNvPr id="3" name="TextBox 2"/>
          <p:cNvSpPr txBox="1"/>
          <p:nvPr/>
        </p:nvSpPr>
        <p:spPr>
          <a:xfrm>
            <a:off x="457200" y="320040"/>
            <a:ext cx="11247120" cy="822960"/>
          </a:xfrm>
          <a:prstGeom prst="rect">
            <a:avLst/>
          </a:prstGeom>
          <a:noFill/>
        </p:spPr>
        <p:txBody>
          <a:bodyPr wrap="square">
            <a:spAutoFit/>
          </a:bodyPr>
          <a:lstStyle/>
          <a:p>
            <a:pPr>
              <a:defRPr sz="2400" b="1">
                <a:solidFill>
                  <a:srgbClr val="1B2A4A"/>
                </a:solidFill>
              </a:defRPr>
            </a:pPr>
            <a:r>
              <a:t>Variance register - status as of 05-May-2026</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57200" y="1371600"/>
          <a:ext cx="11247119" cy="4480560"/>
        </p:xfrm>
        <a:graphic>
          <a:graphicData uri="http://schemas.openxmlformats.org/drawingml/2006/table">
            <a:tbl>
              <a:tblPr firstRow="1" bandRow="1">
                <a:tableStyleId>{5C22544A-7EE6-4342-B048-85BDC9FD1C3A}</a:tableStyleId>
              </a:tblPr>
              <a:tblGrid>
                <a:gridCol w="1097280"/>
                <a:gridCol w="3749039"/>
                <a:gridCol w="2103120"/>
                <a:gridCol w="1828800"/>
                <a:gridCol w="2468880"/>
              </a:tblGrid>
              <a:tr h="640080">
                <a:tc>
                  <a:txBody>
                    <a:bodyPr/>
                    <a:lstStyle/>
                    <a:p>
                      <a:pPr>
                        <a:defRPr b="1" sz="1300">
                          <a:solidFill>
                            <a:srgbClr val="FFFFFF"/>
                          </a:solidFill>
                        </a:defRPr>
                      </a:pPr>
                      <a:r>
                        <a:t>ID</a:t>
                      </a:r>
                    </a:p>
                  </a:txBody>
                  <a:tcPr anchor="ctr" marL="54864" marR="54864">
                    <a:solidFill>
                      <a:srgbClr val="1B2A4A"/>
                    </a:solidFill>
                  </a:tcPr>
                </a:tc>
                <a:tc>
                  <a:txBody>
                    <a:bodyPr/>
                    <a:lstStyle/>
                    <a:p>
                      <a:pPr>
                        <a:defRPr b="1" sz="1300">
                          <a:solidFill>
                            <a:srgbClr val="FFFFFF"/>
                          </a:solidFill>
                        </a:defRPr>
                      </a:pPr>
                      <a:r>
                        <a:t>Item</a:t>
                      </a:r>
                    </a:p>
                  </a:txBody>
                  <a:tcPr anchor="ctr" marL="54864" marR="54864">
                    <a:solidFill>
                      <a:srgbClr val="1B2A4A"/>
                    </a:solidFill>
                  </a:tcPr>
                </a:tc>
                <a:tc>
                  <a:txBody>
                    <a:bodyPr/>
                    <a:lstStyle/>
                    <a:p>
                      <a:pPr>
                        <a:defRPr b="1" sz="1300">
                          <a:solidFill>
                            <a:srgbClr val="FFFFFF"/>
                          </a:solidFill>
                        </a:defRPr>
                      </a:pPr>
                      <a:r>
                        <a:t>Status</a:t>
                      </a:r>
                    </a:p>
                  </a:txBody>
                  <a:tcPr anchor="ctr" marL="54864" marR="54864">
                    <a:solidFill>
                      <a:srgbClr val="1B2A4A"/>
                    </a:solidFill>
                  </a:tcPr>
                </a:tc>
                <a:tc>
                  <a:txBody>
                    <a:bodyPr/>
                    <a:lstStyle/>
                    <a:p>
                      <a:pPr>
                        <a:defRPr b="1" sz="1300">
                          <a:solidFill>
                            <a:srgbClr val="FFFFFF"/>
                          </a:solidFill>
                        </a:defRPr>
                      </a:pPr>
                      <a:r>
                        <a:t>FY26 Impact</a:t>
                      </a:r>
                    </a:p>
                  </a:txBody>
                  <a:tcPr anchor="ctr" marL="54864" marR="54864">
                    <a:solidFill>
                      <a:srgbClr val="1B2A4A"/>
                    </a:solidFill>
                  </a:tcPr>
                </a:tc>
                <a:tc>
                  <a:txBody>
                    <a:bodyPr/>
                    <a:lstStyle/>
                    <a:p>
                      <a:pPr>
                        <a:defRPr b="1" sz="1300">
                          <a:solidFill>
                            <a:srgbClr val="FFFFFF"/>
                          </a:solidFill>
                        </a:defRPr>
                      </a:pPr>
                      <a:r>
                        <a:t>Owner</a:t>
                      </a:r>
                    </a:p>
                  </a:txBody>
                  <a:tcPr anchor="ctr" marL="54864" marR="54864">
                    <a:solidFill>
                      <a:srgbClr val="1B2A4A"/>
                    </a:solidFill>
                  </a:tcPr>
                </a:tc>
              </a:tr>
              <a:tr h="640080">
                <a:tc>
                  <a:txBody>
                    <a:bodyPr/>
                    <a:lstStyle/>
                    <a:p>
                      <a:pPr>
                        <a:defRPr b="0" sz="1250">
                          <a:solidFill>
                            <a:srgbClr val="222222"/>
                          </a:solidFill>
                        </a:defRPr>
                      </a:pPr>
                      <a:r>
                        <a:t>VAR-001</a:t>
                      </a:r>
                    </a:p>
                  </a:txBody>
                  <a:tcPr anchor="ctr" marL="54864" marR="54864">
                    <a:solidFill>
                      <a:srgbClr val="FFFFFF"/>
                    </a:solidFill>
                  </a:tcPr>
                </a:tc>
                <a:tc>
                  <a:txBody>
                    <a:bodyPr/>
                    <a:lstStyle/>
                    <a:p>
                      <a:pPr>
                        <a:defRPr b="0" sz="1250">
                          <a:solidFill>
                            <a:srgbClr val="222222"/>
                          </a:solidFill>
                        </a:defRPr>
                      </a:pPr>
                      <a:r>
                        <a:t>FY26 Q1 revenue overstated</a:t>
                      </a:r>
                    </a:p>
                  </a:txBody>
                  <a:tcPr anchor="ctr" marL="54864" marR="54864">
                    <a:solidFill>
                      <a:srgbClr val="FFFFFF"/>
                    </a:solidFill>
                  </a:tcPr>
                </a:tc>
                <a:tc>
                  <a:txBody>
                    <a:bodyPr/>
                    <a:lstStyle/>
                    <a:p>
                      <a:pPr>
                        <a:defRPr b="0" sz="1250">
                          <a:solidFill>
                            <a:srgbClr val="222222"/>
                          </a:solidFill>
                        </a:defRPr>
                      </a:pPr>
                      <a:r>
                        <a:t>Open - fix built,</a:t>
                      </a:r>
                    </a:p>
                    <a:p>
                      <a:pPr>
                        <a:defRPr b="0" sz="1250">
                          <a:solidFill>
                            <a:srgbClr val="222222"/>
                          </a:solidFill>
                        </a:defRPr>
                      </a:pPr>
                      <a:r>
                        <a:t>awaiting release</a:t>
                      </a:r>
                    </a:p>
                  </a:txBody>
                  <a:tcPr anchor="ctr" marL="54864" marR="54864">
                    <a:solidFill>
                      <a:srgbClr val="FFFFFF"/>
                    </a:solidFill>
                  </a:tcPr>
                </a:tc>
                <a:tc>
                  <a:txBody>
                    <a:bodyPr/>
                    <a:lstStyle/>
                    <a:p>
                      <a:pPr>
                        <a:defRPr b="0" sz="1250">
                          <a:solidFill>
                            <a:srgbClr val="222222"/>
                          </a:solidFill>
                        </a:defRPr>
                      </a:pPr>
                      <a:r>
                        <a:t>INR 4.20 Cr</a:t>
                      </a:r>
                    </a:p>
                  </a:txBody>
                  <a:tcPr anchor="ctr" marL="54864" marR="54864">
                    <a:solidFill>
                      <a:srgbClr val="FFFFFF"/>
                    </a:solidFill>
                  </a:tcPr>
                </a:tc>
                <a:tc>
                  <a:txBody>
                    <a:bodyPr/>
                    <a:lstStyle/>
                    <a:p>
                      <a:pPr>
                        <a:defRPr b="0" sz="1250">
                          <a:solidFill>
                            <a:srgbClr val="222222"/>
                          </a:solidFill>
                        </a:defRPr>
                      </a:pPr>
                      <a:r>
                        <a:t>Farida Contractor</a:t>
                      </a:r>
                    </a:p>
                  </a:txBody>
                  <a:tcPr anchor="ctr" marL="54864" marR="54864">
                    <a:solidFill>
                      <a:srgbClr val="FFFFFF"/>
                    </a:solidFill>
                  </a:tcPr>
                </a:tc>
              </a:tr>
              <a:tr h="640080">
                <a:tc>
                  <a:txBody>
                    <a:bodyPr/>
                    <a:lstStyle/>
                    <a:p>
                      <a:pPr>
                        <a:defRPr b="0" sz="1250">
                          <a:solidFill>
                            <a:srgbClr val="222222"/>
                          </a:solidFill>
                        </a:defRPr>
                      </a:pPr>
                      <a:r>
                        <a:t>VAR-002</a:t>
                      </a:r>
                    </a:p>
                  </a:txBody>
                  <a:tcPr anchor="ctr" marL="54864" marR="54864">
                    <a:solidFill>
                      <a:srgbClr val="EEEEEC"/>
                    </a:solidFill>
                  </a:tcPr>
                </a:tc>
                <a:tc>
                  <a:txBody>
                    <a:bodyPr/>
                    <a:lstStyle/>
                    <a:p>
                      <a:pPr>
                        <a:defRPr b="0" sz="1250">
                          <a:solidFill>
                            <a:srgbClr val="222222"/>
                          </a:solidFill>
                        </a:defRPr>
                      </a:pPr>
                      <a:r>
                        <a:t>Month-end boundary drift</a:t>
                      </a:r>
                    </a:p>
                  </a:txBody>
                  <a:tcPr anchor="ctr" marL="54864" marR="54864">
                    <a:solidFill>
                      <a:srgbClr val="EEEEEC"/>
                    </a:solidFill>
                  </a:tcPr>
                </a:tc>
                <a:tc>
                  <a:txBody>
                    <a:bodyPr/>
                    <a:lstStyle/>
                    <a:p>
                      <a:pPr>
                        <a:defRPr b="0" sz="1250">
                          <a:solidFill>
                            <a:srgbClr val="222222"/>
                          </a:solidFill>
                        </a:defRPr>
                      </a:pPr>
                      <a:r>
                        <a:t>Open - fix built,</a:t>
                      </a:r>
                    </a:p>
                    <a:p>
                      <a:pPr>
                        <a:defRPr b="0" sz="1250">
                          <a:solidFill>
                            <a:srgbClr val="222222"/>
                          </a:solidFill>
                        </a:defRPr>
                      </a:pPr>
                      <a:r>
                        <a:t>awaiting release</a:t>
                      </a:r>
                    </a:p>
                  </a:txBody>
                  <a:tcPr anchor="ctr" marL="54864" marR="54864">
                    <a:solidFill>
                      <a:srgbClr val="EEEEEC"/>
                    </a:solidFill>
                  </a:tcPr>
                </a:tc>
                <a:tc>
                  <a:txBody>
                    <a:bodyPr/>
                    <a:lstStyle/>
                    <a:p>
                      <a:pPr>
                        <a:defRPr b="0" sz="1250">
                          <a:solidFill>
                            <a:srgbClr val="222222"/>
                          </a:solidFill>
                        </a:defRPr>
                      </a:pPr>
                      <a:r>
                        <a:t>INR 90 L</a:t>
                      </a:r>
                    </a:p>
                  </a:txBody>
                  <a:tcPr anchor="ctr" marL="54864" marR="54864">
                    <a:solidFill>
                      <a:srgbClr val="EEEEEC"/>
                    </a:solidFill>
                  </a:tcPr>
                </a:tc>
                <a:tc>
                  <a:txBody>
                    <a:bodyPr/>
                    <a:lstStyle/>
                    <a:p>
                      <a:pPr>
                        <a:defRPr b="0" sz="1250">
                          <a:solidFill>
                            <a:srgbClr val="222222"/>
                          </a:solidFill>
                        </a:defRPr>
                      </a:pPr>
                      <a:r>
                        <a:t>Karthik Subramanian</a:t>
                      </a:r>
                    </a:p>
                  </a:txBody>
                  <a:tcPr anchor="ctr" marL="54864" marR="54864">
                    <a:solidFill>
                      <a:srgbClr val="EEEEEC"/>
                    </a:solidFill>
                  </a:tcPr>
                </a:tc>
              </a:tr>
              <a:tr h="640080">
                <a:tc>
                  <a:txBody>
                    <a:bodyPr/>
                    <a:lstStyle/>
                    <a:p>
                      <a:pPr>
                        <a:defRPr b="0" sz="1250">
                          <a:solidFill>
                            <a:srgbClr val="222222"/>
                          </a:solidFill>
                        </a:defRPr>
                      </a:pPr>
                      <a:r>
                        <a:t>VAR-003</a:t>
                      </a:r>
                    </a:p>
                  </a:txBody>
                  <a:tcPr anchor="ctr" marL="54864" marR="54864">
                    <a:solidFill>
                      <a:srgbClr val="FFFFFF"/>
                    </a:solidFill>
                  </a:tcPr>
                </a:tc>
                <a:tc>
                  <a:txBody>
                    <a:bodyPr/>
                    <a:lstStyle/>
                    <a:p>
                      <a:pPr>
                        <a:defRPr b="0" sz="1250">
                          <a:solidFill>
                            <a:srgbClr val="222222"/>
                          </a:solidFill>
                        </a:defRPr>
                      </a:pPr>
                      <a:r>
                        <a:t>Scheme discount double-count</a:t>
                      </a:r>
                    </a:p>
                  </a:txBody>
                  <a:tcPr anchor="ctr" marL="54864" marR="54864">
                    <a:solidFill>
                      <a:srgbClr val="FFFFFF"/>
                    </a:solidFill>
                  </a:tcPr>
                </a:tc>
                <a:tc>
                  <a:txBody>
                    <a:bodyPr/>
                    <a:lstStyle/>
                    <a:p>
                      <a:pPr>
                        <a:defRPr b="0" sz="1250">
                          <a:solidFill>
                            <a:srgbClr val="222222"/>
                          </a:solidFill>
                        </a:defRPr>
                      </a:pPr>
                      <a:r>
                        <a:t>Open - root cause</a:t>
                      </a:r>
                    </a:p>
                    <a:p>
                      <a:pPr>
                        <a:defRPr b="0" sz="1250">
                          <a:solidFill>
                            <a:srgbClr val="222222"/>
                          </a:solidFill>
                        </a:defRPr>
                      </a:pPr>
                      <a:r>
                        <a:t>confirmed</a:t>
                      </a:r>
                    </a:p>
                  </a:txBody>
                  <a:tcPr anchor="ctr" marL="54864" marR="54864">
                    <a:solidFill>
                      <a:srgbClr val="FFFFFF"/>
                    </a:solidFill>
                  </a:tcPr>
                </a:tc>
                <a:tc>
                  <a:txBody>
                    <a:bodyPr/>
                    <a:lstStyle/>
                    <a:p>
                      <a:pPr>
                        <a:defRPr b="0" sz="1250">
                          <a:solidFill>
                            <a:srgbClr val="222222"/>
                          </a:solidFill>
                        </a:defRPr>
                      </a:pPr>
                      <a:r>
                        <a:t>INR 1.70 Cr</a:t>
                      </a:r>
                    </a:p>
                  </a:txBody>
                  <a:tcPr anchor="ctr" marL="54864" marR="54864">
                    <a:solidFill>
                      <a:srgbClr val="FFFFFF"/>
                    </a:solidFill>
                  </a:tcPr>
                </a:tc>
                <a:tc>
                  <a:txBody>
                    <a:bodyPr/>
                    <a:lstStyle/>
                    <a:p>
                      <a:pPr>
                        <a:defRPr b="0" sz="1250">
                          <a:solidFill>
                            <a:srgbClr val="222222"/>
                          </a:solidFill>
                        </a:defRPr>
                      </a:pPr>
                      <a:r>
                        <a:t>DW team (TBC)</a:t>
                      </a:r>
                    </a:p>
                  </a:txBody>
                  <a:tcPr anchor="ctr" marL="54864" marR="54864">
                    <a:solidFill>
                      <a:srgbClr val="FFFFFF"/>
                    </a:solidFill>
                  </a:tcPr>
                </a:tc>
              </a:tr>
              <a:tr h="640080">
                <a:tc>
                  <a:txBody>
                    <a:bodyPr/>
                    <a:lstStyle/>
                    <a:p>
                      <a:pPr>
                        <a:defRPr b="0" sz="1250">
                          <a:solidFill>
                            <a:srgbClr val="222222"/>
                          </a:solidFill>
                        </a:defRPr>
                      </a:pPr>
                      <a:r>
                        <a:t>VAR-004</a:t>
                      </a:r>
                    </a:p>
                  </a:txBody>
                  <a:tcPr anchor="ctr" marL="54864" marR="54864">
                    <a:solidFill>
                      <a:srgbClr val="EEEEEC"/>
                    </a:solidFill>
                  </a:tcPr>
                </a:tc>
                <a:tc>
                  <a:txBody>
                    <a:bodyPr/>
                    <a:lstStyle/>
                    <a:p>
                      <a:pPr>
                        <a:defRPr b="0" sz="1250">
                          <a:solidFill>
                            <a:srgbClr val="222222"/>
                          </a:solidFill>
                        </a:defRPr>
                      </a:pPr>
                      <a:r>
                        <a:t>Duplicate facts on distributor</a:t>
                      </a:r>
                    </a:p>
                    <a:p>
                      <a:pPr>
                        <a:defRPr b="0" sz="1250">
                          <a:solidFill>
                            <a:srgbClr val="222222"/>
                          </a:solidFill>
                        </a:defRPr>
                      </a:pPr>
                      <a:r>
                        <a:t>reassignment</a:t>
                      </a:r>
                    </a:p>
                  </a:txBody>
                  <a:tcPr anchor="ctr" marL="54864" marR="54864">
                    <a:solidFill>
                      <a:srgbClr val="EEEEEC"/>
                    </a:solidFill>
                  </a:tcPr>
                </a:tc>
                <a:tc>
                  <a:txBody>
                    <a:bodyPr/>
                    <a:lstStyle/>
                    <a:p>
                      <a:pPr>
                        <a:defRPr b="0" sz="1250">
                          <a:solidFill>
                            <a:srgbClr val="222222"/>
                          </a:solidFill>
                        </a:defRPr>
                      </a:pPr>
                      <a:r>
                        <a:t>Open - newly</a:t>
                      </a:r>
                    </a:p>
                    <a:p>
                      <a:pPr>
                        <a:defRPr b="0" sz="1250">
                          <a:solidFill>
                            <a:srgbClr val="222222"/>
                          </a:solidFill>
                        </a:defRPr>
                      </a:pPr>
                      <a:r>
                        <a:t>flagged</a:t>
                      </a:r>
                    </a:p>
                  </a:txBody>
                  <a:tcPr anchor="ctr" marL="54864" marR="54864">
                    <a:solidFill>
                      <a:srgbClr val="EEEEEC"/>
                    </a:solidFill>
                  </a:tcPr>
                </a:tc>
                <a:tc>
                  <a:txBody>
                    <a:bodyPr/>
                    <a:lstStyle/>
                    <a:p>
                      <a:pPr>
                        <a:defRPr b="0" sz="1250">
                          <a:solidFill>
                            <a:srgbClr val="222222"/>
                          </a:solidFill>
                        </a:defRPr>
                      </a:pPr>
                      <a:r>
                        <a:t>INR 65 L (est.)</a:t>
                      </a:r>
                    </a:p>
                  </a:txBody>
                  <a:tcPr anchor="ctr" marL="54864" marR="54864">
                    <a:solidFill>
                      <a:srgbClr val="EEEEEC"/>
                    </a:solidFill>
                  </a:tcPr>
                </a:tc>
                <a:tc>
                  <a:txBody>
                    <a:bodyPr/>
                    <a:lstStyle/>
                    <a:p>
                      <a:pPr>
                        <a:defRPr b="0" sz="1250">
                          <a:solidFill>
                            <a:srgbClr val="222222"/>
                          </a:solidFill>
                        </a:defRPr>
                      </a:pPr>
                      <a:r>
                        <a:t>TBC</a:t>
                      </a:r>
                    </a:p>
                  </a:txBody>
                  <a:tcPr anchor="ctr" marL="54864" marR="54864">
                    <a:solidFill>
                      <a:srgbClr val="EEEEEC"/>
                    </a:solidFill>
                  </a:tcPr>
                </a:tc>
              </a:tr>
              <a:tr h="640080">
                <a:tc>
                  <a:txBody>
                    <a:bodyPr/>
                    <a:lstStyle/>
                    <a:p>
                      <a:pPr>
                        <a:defRPr b="0" sz="1250">
                          <a:solidFill>
                            <a:srgbClr val="222222"/>
                          </a:solidFill>
                        </a:defRPr>
                      </a:pPr>
                      <a:r>
                        <a:t>VAR-005</a:t>
                      </a:r>
                    </a:p>
                  </a:txBody>
                  <a:tcPr anchor="ctr" marL="54864" marR="54864">
                    <a:solidFill>
                      <a:srgbClr val="FFFFFF"/>
                    </a:solidFill>
                  </a:tcPr>
                </a:tc>
                <a:tc>
                  <a:txBody>
                    <a:bodyPr/>
                    <a:lstStyle/>
                    <a:p>
                      <a:pPr>
                        <a:defRPr b="0" sz="1250">
                          <a:solidFill>
                            <a:srgbClr val="222222"/>
                          </a:solidFill>
                        </a:defRPr>
                      </a:pPr>
                      <a:r>
                        <a:t>Credit notes absent from</a:t>
                      </a:r>
                    </a:p>
                    <a:p>
                      <a:pPr>
                        <a:defRPr b="0" sz="1250">
                          <a:solidFill>
                            <a:srgbClr val="222222"/>
                          </a:solidFill>
                        </a:defRPr>
                      </a:pPr>
                      <a:r>
                        <a:t>warehouse</a:t>
                      </a:r>
                    </a:p>
                  </a:txBody>
                  <a:tcPr anchor="ctr" marL="54864" marR="54864">
                    <a:solidFill>
                      <a:srgbClr val="FFFFFF"/>
                    </a:solidFill>
                  </a:tcPr>
                </a:tc>
                <a:tc>
                  <a:txBody>
                    <a:bodyPr/>
                    <a:lstStyle/>
                    <a:p>
                      <a:pPr>
                        <a:defRPr b="0" sz="1250">
                          <a:solidFill>
                            <a:srgbClr val="222222"/>
                          </a:solidFill>
                        </a:defRPr>
                      </a:pPr>
                      <a:r>
                        <a:t>Open - Finance</a:t>
                      </a:r>
                    </a:p>
                    <a:p>
                      <a:pPr>
                        <a:defRPr b="0" sz="1250">
                          <a:solidFill>
                            <a:srgbClr val="222222"/>
                          </a:solidFill>
                        </a:defRPr>
                      </a:pPr>
                      <a:r>
                        <a:t>validating</a:t>
                      </a:r>
                    </a:p>
                  </a:txBody>
                  <a:tcPr anchor="ctr" marL="54864" marR="54864">
                    <a:solidFill>
                      <a:srgbClr val="FFFFFF"/>
                    </a:solidFill>
                  </a:tcPr>
                </a:tc>
                <a:tc>
                  <a:txBody>
                    <a:bodyPr/>
                    <a:lstStyle/>
                    <a:p>
                      <a:pPr>
                        <a:defRPr b="0" sz="1250">
                          <a:solidFill>
                            <a:srgbClr val="222222"/>
                          </a:solidFill>
                        </a:defRPr>
                      </a:pPr>
                      <a:r>
                        <a:t>INR 2.40 Cr</a:t>
                      </a:r>
                    </a:p>
                  </a:txBody>
                  <a:tcPr anchor="ctr" marL="54864" marR="54864">
                    <a:solidFill>
                      <a:srgbClr val="FFFFFF"/>
                    </a:solidFill>
                  </a:tcPr>
                </a:tc>
                <a:tc>
                  <a:txBody>
                    <a:bodyPr/>
                    <a:lstStyle/>
                    <a:p>
                      <a:pPr>
                        <a:defRPr b="0" sz="1250">
                          <a:solidFill>
                            <a:srgbClr val="222222"/>
                          </a:solidFill>
                        </a:defRPr>
                      </a:pPr>
                      <a:r>
                        <a:t>Shalini Iyer</a:t>
                      </a:r>
                    </a:p>
                  </a:txBody>
                  <a:tcPr anchor="ctr" marL="54864" marR="54864">
                    <a:solidFill>
                      <a:srgbClr val="FFFFFF"/>
                    </a:solidFill>
                  </a:tcPr>
                </a:tc>
              </a:tr>
              <a:tr h="640080">
                <a:tc>
                  <a:txBody>
                    <a:bodyPr/>
                    <a:lstStyle/>
                    <a:p>
                      <a:pPr>
                        <a:defRPr b="0" sz="1250">
                          <a:solidFill>
                            <a:srgbClr val="222222"/>
                          </a:solidFill>
                        </a:defRPr>
                      </a:pPr>
                      <a:r>
                        <a:t>VAR-008</a:t>
                      </a:r>
                    </a:p>
                  </a:txBody>
                  <a:tcPr anchor="ctr" marL="54864" marR="54864">
                    <a:solidFill>
                      <a:srgbClr val="EEEEEC"/>
                    </a:solidFill>
                  </a:tcPr>
                </a:tc>
                <a:tc>
                  <a:txBody>
                    <a:bodyPr/>
                    <a:lstStyle/>
                    <a:p>
                      <a:pPr>
                        <a:defRPr b="0" sz="1250">
                          <a:solidFill>
                            <a:srgbClr val="222222"/>
                          </a:solidFill>
                        </a:defRPr>
                      </a:pPr>
                      <a:r>
                        <a:t>Feb duplicate load</a:t>
                      </a:r>
                    </a:p>
                  </a:txBody>
                  <a:tcPr anchor="ctr" marL="54864" marR="54864">
                    <a:solidFill>
                      <a:srgbClr val="EEEEEC"/>
                    </a:solidFill>
                  </a:tcPr>
                </a:tc>
                <a:tc>
                  <a:txBody>
                    <a:bodyPr/>
                    <a:lstStyle/>
                    <a:p>
                      <a:pPr>
                        <a:defRPr b="0" sz="1250">
                          <a:solidFill>
                            <a:srgbClr val="222222"/>
                          </a:solidFill>
                        </a:defRPr>
                      </a:pPr>
                      <a:r>
                        <a:t>Closed</a:t>
                      </a:r>
                    </a:p>
                    <a:p>
                      <a:pPr>
                        <a:defRPr b="0" sz="1250">
                          <a:solidFill>
                            <a:srgbClr val="222222"/>
                          </a:solidFill>
                        </a:defRPr>
                      </a:pPr>
                      <a:r>
                        <a:t>(02-Apr-2026)</a:t>
                      </a:r>
                    </a:p>
                  </a:txBody>
                  <a:tcPr anchor="ctr" marL="54864" marR="54864">
                    <a:solidFill>
                      <a:srgbClr val="EEEEEC"/>
                    </a:solidFill>
                  </a:tcPr>
                </a:tc>
                <a:tc>
                  <a:txBody>
                    <a:bodyPr/>
                    <a:lstStyle/>
                    <a:p>
                      <a:pPr>
                        <a:defRPr b="0" sz="1250">
                          <a:solidFill>
                            <a:srgbClr val="222222"/>
                          </a:solidFill>
                        </a:defRPr>
                      </a:pPr>
                      <a:r>
                        <a:t>INR 2.90 Cr</a:t>
                      </a:r>
                    </a:p>
                  </a:txBody>
                  <a:tcPr anchor="ctr" marL="54864" marR="54864">
                    <a:solidFill>
                      <a:srgbClr val="EEEEEC"/>
                    </a:solidFill>
                  </a:tcPr>
                </a:tc>
                <a:tc>
                  <a:txBody>
                    <a:bodyPr/>
                    <a:lstStyle/>
                    <a:p>
                      <a:pPr>
                        <a:defRPr b="0" sz="1250">
                          <a:solidFill>
                            <a:srgbClr val="222222"/>
                          </a:solidFill>
                        </a:defRPr>
                      </a:pPr>
                      <a:r>
                        <a:t>Farida Contractor</a:t>
                      </a:r>
                    </a:p>
                  </a:txBody>
                  <a:tcPr anchor="ctr" marL="54864" marR="54864">
                    <a:solidFill>
                      <a:srgbClr val="EEEEEC"/>
                    </a:solidFill>
                  </a:tcPr>
                </a:tc>
              </a:tr>
            </a:tbl>
          </a:graphicData>
        </a:graphic>
      </p:graphicFrame>
      <p:sp>
        <p:nvSpPr>
          <p:cNvPr id="6" name="TextBox 5"/>
          <p:cNvSpPr txBox="1"/>
          <p:nvPr/>
        </p:nvSpPr>
        <p:spPr>
          <a:xfrm>
            <a:off x="457200" y="5989320"/>
            <a:ext cx="11247120" cy="457200"/>
          </a:xfrm>
          <a:prstGeom prst="rect">
            <a:avLst/>
          </a:prstGeom>
          <a:noFill/>
        </p:spPr>
        <p:txBody>
          <a:bodyPr wrap="none">
            <a:spAutoFit/>
          </a:bodyPr>
          <a:lstStyle/>
          <a:p>
            <a:pPr>
              <a:defRPr sz="1050" i="1">
                <a:solidFill>
                  <a:srgbClr val="8A8F98"/>
                </a:solidFill>
              </a:defRPr>
            </a:pPr>
            <a:r>
              <a:t>Note: VAR-006 and VAR-007 are not shown here - they fall out of the data quality assessment starting later this month, not this sprint.</a:t>
            </a:r>
          </a:p>
        </p:txBody>
      </p:sp>
      <p:sp>
        <p:nvSpPr>
          <p:cNvPr id="7" name="TextBox 6"/>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8" name="TextBox 7"/>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STATUS SNAPSHOT</a:t>
            </a:r>
          </a:p>
        </p:txBody>
      </p:sp>
      <p:sp>
        <p:nvSpPr>
          <p:cNvPr id="3" name="TextBox 2"/>
          <p:cNvSpPr txBox="1"/>
          <p:nvPr/>
        </p:nvSpPr>
        <p:spPr>
          <a:xfrm>
            <a:off x="457200" y="320040"/>
            <a:ext cx="11247120" cy="822960"/>
          </a:xfrm>
          <a:prstGeom prst="rect">
            <a:avLst/>
          </a:prstGeom>
          <a:noFill/>
        </p:spPr>
        <p:txBody>
          <a:bodyPr wrap="square">
            <a:spAutoFit/>
          </a:bodyPr>
          <a:lstStyle/>
          <a:p>
            <a:pPr>
              <a:defRPr sz="2400" b="1">
                <a:solidFill>
                  <a:srgbClr val="1B2A4A"/>
                </a:solidFill>
              </a:defRPr>
            </a:pPr>
            <a:r>
              <a:t>Summary metrics</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188720"/>
            <a:ext cx="3657600" cy="1188720"/>
          </a:xfrm>
          <a:prstGeom prst="rect">
            <a:avLst/>
          </a:prstGeom>
          <a:noFill/>
        </p:spPr>
        <p:txBody>
          <a:bodyPr wrap="none">
            <a:spAutoFit/>
          </a:bodyPr>
          <a:lstStyle/>
          <a:p>
            <a:pPr>
              <a:defRPr sz="3400" b="1">
                <a:solidFill>
                  <a:srgbClr val="B03A2E"/>
                </a:solidFill>
              </a:defRPr>
            </a:pPr>
            <a:r>
              <a:t>INR 12.75 Cr</a:t>
            </a:r>
          </a:p>
          <a:p>
            <a:pPr>
              <a:defRPr sz="1100">
                <a:solidFill>
                  <a:srgbClr val="8A8F98"/>
                </a:solidFill>
              </a:defRPr>
            </a:pPr>
            <a:r>
              <a:t>Total quantified variance to date, all items in the register</a:t>
            </a:r>
          </a:p>
        </p:txBody>
      </p:sp>
      <p:sp>
        <p:nvSpPr>
          <p:cNvPr id="6" name="TextBox 5"/>
          <p:cNvSpPr txBox="1"/>
          <p:nvPr/>
        </p:nvSpPr>
        <p:spPr>
          <a:xfrm>
            <a:off x="548640" y="2514600"/>
            <a:ext cx="11247120" cy="4937760"/>
          </a:xfrm>
          <a:prstGeom prst="rect">
            <a:avLst/>
          </a:prstGeom>
          <a:noFill/>
        </p:spPr>
        <p:txBody>
          <a:bodyPr wrap="square">
            <a:spAutoFit/>
          </a:bodyPr>
          <a:lstStyle/>
          <a:p>
            <a:pPr>
              <a:spcAft>
                <a:spcPts val="600"/>
              </a:spcAft>
              <a:defRPr sz="1250">
                <a:solidFill>
                  <a:srgbClr val="222222"/>
                </a:solidFill>
              </a:defRPr>
            </a:pPr>
            <a:r>
              <a:t>•  VAR-001 FY26 Q1 revenue overstated - INR 4.20 Cr - Open, fix built</a:t>
            </a:r>
          </a:p>
          <a:p>
            <a:pPr>
              <a:spcAft>
                <a:spcPts val="600"/>
              </a:spcAft>
              <a:defRPr sz="1250">
                <a:solidFill>
                  <a:srgbClr val="222222"/>
                </a:solidFill>
              </a:defRPr>
            </a:pPr>
            <a:r>
              <a:t>•  VAR-002 Month-end boundary drift - INR 90 L - Open, fix built</a:t>
            </a:r>
          </a:p>
          <a:p>
            <a:pPr>
              <a:spcAft>
                <a:spcPts val="600"/>
              </a:spcAft>
              <a:defRPr sz="1250">
                <a:solidFill>
                  <a:srgbClr val="222222"/>
                </a:solidFill>
              </a:defRPr>
            </a:pPr>
            <a:r>
              <a:t>•  VAR-003 Scheme discount double-count - INR 1.70 Cr - Open, root cause confirmed</a:t>
            </a:r>
          </a:p>
          <a:p>
            <a:pPr>
              <a:spcAft>
                <a:spcPts val="600"/>
              </a:spcAft>
              <a:defRPr sz="1250">
                <a:solidFill>
                  <a:srgbClr val="222222"/>
                </a:solidFill>
              </a:defRPr>
            </a:pPr>
            <a:r>
              <a:t>•  VAR-004 Duplicate facts on distributor reassignment - INR 65 L (est.) - Open, newly flagged</a:t>
            </a:r>
          </a:p>
          <a:p>
            <a:pPr>
              <a:spcAft>
                <a:spcPts val="600"/>
              </a:spcAft>
              <a:defRPr sz="1250">
                <a:solidFill>
                  <a:srgbClr val="222222"/>
                </a:solidFill>
              </a:defRPr>
            </a:pPr>
            <a:r>
              <a:t>•  VAR-005 Credit notes absent from warehouse - INR 2.40 Cr - Open, Finance validating</a:t>
            </a:r>
          </a:p>
          <a:p>
            <a:pPr>
              <a:spcAft>
                <a:spcPts val="600"/>
              </a:spcAft>
              <a:defRPr sz="1250">
                <a:solidFill>
                  <a:srgbClr val="222222"/>
                </a:solidFill>
              </a:defRPr>
            </a:pPr>
            <a:r>
              <a:t>•  VAR-008 Feb duplicate load - INR 2.90 Cr - Closed</a:t>
            </a:r>
          </a:p>
          <a:p>
            <a:pPr>
              <a:spcAft>
                <a:spcPts val="600"/>
              </a:spcAft>
              <a:defRPr sz="1250">
                <a:solidFill>
                  <a:srgbClr val="222222"/>
                </a:solidFill>
              </a:defRPr>
            </a:pPr>
            <a:r>
              <a:t>•  Closed items so far: 1 of 6 (VAR-008 only). VAR-001 and VAR-002 are fixed in build but the release has not gone yet, so they still count as open for this readout.</a:t>
            </a:r>
          </a:p>
          <a:p>
            <a:pPr>
              <a:spcAft>
                <a:spcPts val="600"/>
              </a:spcAft>
              <a:defRPr sz="1250">
                <a:solidFill>
                  <a:srgbClr val="222222"/>
                </a:solidFill>
              </a:defRPr>
            </a:pPr>
            <a:r>
              <a:t>•  VAR-004 is the one item on this register still being sized - the 65 L is directional, not final.</a:t>
            </a:r>
          </a:p>
          <a:p>
            <a:pPr>
              <a:spcAft>
                <a:spcPts val="600"/>
              </a:spcAft>
              <a:defRPr sz="1250">
                <a:solidFill>
                  <a:srgbClr val="222222"/>
                </a:solidFill>
              </a:defRPr>
            </a:pPr>
            <a:r>
              <a:t>•  FY26 Q1 net revenue as currently reported in the warehouse: INR 438.60 Cr. This is the pre-fix figure, Shalini has not signed off the board pack against it.</a:t>
            </a:r>
          </a:p>
          <a:p>
            <a:pPr>
              <a:spcAft>
                <a:spcPts val="600"/>
              </a:spcAft>
              <a:defRPr sz="1250">
                <a:solidFill>
                  <a:srgbClr val="222222"/>
                </a:solidFill>
              </a:defRPr>
            </a:pPr>
            <a:r>
              <a:t>•  For reference, the sprint started against three items known at the first findings review on 24-Mar (VAR-001, VAR-002, VAR-003) plus VAR-008 which was already on the register from a separate thread and has since closed.</a:t>
            </a:r>
          </a:p>
          <a:p>
            <a:pPr>
              <a:spcAft>
                <a:spcPts val="600"/>
              </a:spcAft>
              <a:defRPr sz="1250">
                <a:solidFill>
                  <a:srgbClr val="222222"/>
                </a:solidFill>
              </a:defRPr>
            </a:pPr>
            <a:r>
              <a:t>•  As such the net movement since 24-Mar is +2 items (VAR-004, VAR-005) and no change in closed count beyond VAR-008.</a:t>
            </a:r>
          </a:p>
          <a:p>
            <a:pPr>
              <a:spcAft>
                <a:spcPts val="600"/>
              </a:spcAft>
              <a:defRPr sz="1250">
                <a:solidFill>
                  <a:srgbClr val="222222"/>
                </a:solidFill>
              </a:defRPr>
            </a:pPr>
            <a:r>
              <a:t>•  Data quality assessment starts this week and runs to 19-Jun-2026 - expect the register to grow again before it shrinks.</a:t>
            </a:r>
          </a:p>
          <a:p>
            <a:pPr>
              <a:spcAft>
                <a:spcPts val="600"/>
              </a:spcAft>
              <a:defRPr sz="1250">
                <a:solidFill>
                  <a:srgbClr val="222222"/>
                </a:solidFill>
              </a:defRPr>
            </a:pPr>
            <a:r>
              <a:t>•  Action for this week: Shalini to validate VAR-005 against the trial balance, Ishaan to isolate the VAR-004 mechanism, design sign-off tomorrow to lock the VAR-003 remediation approach.</a:t>
            </a:r>
          </a:p>
          <a:p>
            <a:pPr>
              <a:spcAft>
                <a:spcPts val="600"/>
              </a:spcAft>
              <a:defRPr sz="1250">
                <a:solidFill>
                  <a:srgbClr val="222222"/>
                </a:solidFill>
              </a:defRPr>
            </a:pPr>
            <a:r>
              <a:t>•  TBC.</a:t>
            </a:r>
          </a:p>
        </p:txBody>
      </p:sp>
      <p:sp>
        <p:nvSpPr>
          <p:cNvPr id="7" name="TextBox 6"/>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8" name="TextBox 7"/>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2468880"/>
            <a:ext cx="10789920" cy="365760"/>
          </a:xfrm>
          <a:prstGeom prst="rect">
            <a:avLst/>
          </a:prstGeom>
          <a:noFill/>
        </p:spPr>
        <p:txBody>
          <a:bodyPr wrap="none">
            <a:spAutoFit/>
          </a:bodyPr>
          <a:lstStyle/>
          <a:p>
            <a:pPr>
              <a:defRPr sz="1400" b="1">
                <a:solidFill>
                  <a:srgbClr val="C9A08E"/>
                </a:solidFill>
              </a:defRPr>
            </a:pPr>
            <a:r>
              <a:t>PART TWO</a:t>
            </a:r>
          </a:p>
        </p:txBody>
      </p:sp>
      <p:sp>
        <p:nvSpPr>
          <p:cNvPr id="3" name="TextBox 2"/>
          <p:cNvSpPr txBox="1"/>
          <p:nvPr/>
        </p:nvSpPr>
        <p:spPr>
          <a:xfrm>
            <a:off x="594360" y="2788920"/>
            <a:ext cx="10881360" cy="1188720"/>
          </a:xfrm>
          <a:prstGeom prst="rect">
            <a:avLst/>
          </a:prstGeom>
          <a:noFill/>
        </p:spPr>
        <p:txBody>
          <a:bodyPr wrap="square">
            <a:spAutoFit/>
          </a:bodyPr>
          <a:lstStyle/>
          <a:p>
            <a:pPr>
              <a:defRPr sz="3800" b="1">
                <a:solidFill>
                  <a:srgbClr val="FFFFFF"/>
                </a:solidFill>
              </a:defRPr>
            </a:pPr>
            <a:r>
              <a:t>Deep Dive - Closed &amp; Confirmed</a:t>
            </a:r>
          </a:p>
        </p:txBody>
      </p:sp>
      <p:sp>
        <p:nvSpPr>
          <p:cNvPr id="4" name="TextBox 3"/>
          <p:cNvSpPr txBox="1"/>
          <p:nvPr/>
        </p:nvSpPr>
        <p:spPr>
          <a:xfrm>
            <a:off x="640080" y="3794760"/>
            <a:ext cx="10515600" cy="548640"/>
          </a:xfrm>
          <a:prstGeom prst="rect">
            <a:avLst/>
          </a:prstGeom>
          <a:noFill/>
        </p:spPr>
        <p:txBody>
          <a:bodyPr wrap="none">
            <a:spAutoFit/>
          </a:bodyPr>
          <a:lstStyle/>
          <a:p>
            <a:pPr>
              <a:defRPr sz="1500">
                <a:solidFill>
                  <a:srgbClr val="CED6E3"/>
                </a:solidFill>
              </a:defRPr>
            </a:pPr>
            <a:r>
              <a:t>VAR-001, VAR-002, VAR-003</a:t>
            </a:r>
          </a:p>
        </p:txBody>
      </p:sp>
      <p:sp>
        <p:nvSpPr>
          <p:cNvPr id="5" name="TextBox 4"/>
          <p:cNvSpPr txBox="1"/>
          <p:nvPr/>
        </p:nvSpPr>
        <p:spPr>
          <a:xfrm>
            <a:off x="457200" y="6510528"/>
            <a:ext cx="8229600" cy="274320"/>
          </a:xfrm>
          <a:prstGeom prst="rect">
            <a:avLst/>
          </a:prstGeom>
          <a:noFill/>
        </p:spPr>
        <p:txBody>
          <a:bodyPr wrap="none">
            <a:spAutoFit/>
          </a:bodyPr>
          <a:lstStyle/>
          <a:p>
            <a:pPr>
              <a:defRPr sz="800">
                <a:solidFill>
                  <a:srgbClr val="9AA6BC"/>
                </a:solidFill>
              </a:defRPr>
            </a:pPr>
            <a:r>
              <a:t>Bharadwaj Consumer Products Ltd  |  Project Drishti - Confidential, Internal Working Draft</a:t>
            </a:r>
          </a:p>
        </p:txBody>
      </p:sp>
      <p:sp>
        <p:nvSpPr>
          <p:cNvPr id="6" name="TextBox 5"/>
          <p:cNvSpPr txBox="1"/>
          <p:nvPr/>
        </p:nvSpPr>
        <p:spPr>
          <a:xfrm>
            <a:off x="9235440" y="6510528"/>
            <a:ext cx="2286000" cy="274320"/>
          </a:xfrm>
          <a:prstGeom prst="rect">
            <a:avLst/>
          </a:prstGeom>
          <a:noFill/>
        </p:spPr>
        <p:txBody>
          <a:bodyPr wrap="none">
            <a:spAutoFit/>
          </a:bodyPr>
          <a:lstStyle/>
          <a:p>
            <a:pPr algn="r">
              <a:defRPr sz="800">
                <a:solidFill>
                  <a:srgbClr val="9AA6BC"/>
                </a:solidFill>
              </a:defRPr>
            </a:pPr>
            <a:r>
              <a:t>Client Confidential - Not for external distribution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DEEP DIVE</a:t>
            </a:r>
          </a:p>
        </p:txBody>
      </p:sp>
      <p:sp>
        <p:nvSpPr>
          <p:cNvPr id="3" name="TextBox 2"/>
          <p:cNvSpPr txBox="1"/>
          <p:nvPr/>
        </p:nvSpPr>
        <p:spPr>
          <a:xfrm>
            <a:off x="457200" y="320040"/>
            <a:ext cx="11247120" cy="822960"/>
          </a:xfrm>
          <a:prstGeom prst="rect">
            <a:avLst/>
          </a:prstGeom>
          <a:noFill/>
        </p:spPr>
        <p:txBody>
          <a:bodyPr wrap="square">
            <a:spAutoFit/>
          </a:bodyPr>
          <a:lstStyle/>
          <a:p>
            <a:pPr>
              <a:defRPr sz="2400" b="1">
                <a:solidFill>
                  <a:srgbClr val="1B2A4A"/>
                </a:solidFill>
              </a:defRPr>
            </a:pPr>
            <a:r>
              <a:t>VAR-001 - FY26 Q1 revenue overstated</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234440"/>
            <a:ext cx="10972800" cy="4937760"/>
          </a:xfrm>
          <a:prstGeom prst="rect">
            <a:avLst/>
          </a:prstGeom>
          <a:noFill/>
        </p:spPr>
        <p:txBody>
          <a:bodyPr wrap="square">
            <a:spAutoFit/>
          </a:bodyPr>
          <a:lstStyle/>
          <a:p>
            <a:pPr>
              <a:spcAft>
                <a:spcPts val="1200"/>
              </a:spcAft>
              <a:defRPr sz="1650">
                <a:solidFill>
                  <a:srgbClr val="222222"/>
                </a:solidFill>
              </a:defRPr>
            </a:pPr>
            <a:r>
              <a:t>•  Impact: INR 4.20 Cr, FY26 Q1 (historic, already closed at the time of this readout).</a:t>
            </a:r>
          </a:p>
          <a:p>
            <a:pPr>
              <a:spcAft>
                <a:spcPts val="1200"/>
              </a:spcAft>
              <a:defRPr sz="1650">
                <a:solidFill>
                  <a:srgbClr val="222222"/>
                </a:solidFill>
              </a:defRPr>
            </a:pPr>
            <a:r>
              <a:t>•  Root cause: the load mapping into FACT_INVOICE_LINE applied no DELETE_FLAG filter at all. Cancelled and logically deleted invoice lines were loaded as if they were live revenue.</a:t>
            </a:r>
          </a:p>
          <a:p>
            <a:pPr>
              <a:spcAft>
                <a:spcPts val="1200"/>
              </a:spcAft>
              <a:defRPr sz="1650">
                <a:solidFill>
                  <a:srgbClr val="222222"/>
                </a:solidFill>
              </a:defRPr>
            </a:pPr>
            <a:r>
              <a:t>•  Effect on the reported number: FY26 Q1 net revenue is currently showing as INR 438.60 Cr in the warehouse. Shalini's trial balance does not agree with this and she has not signed the pack against it.</a:t>
            </a:r>
          </a:p>
          <a:p>
            <a:pPr>
              <a:spcAft>
                <a:spcPts val="1200"/>
              </a:spcAft>
              <a:defRPr sz="1650">
                <a:solidFill>
                  <a:srgbClr val="222222"/>
                </a:solidFill>
              </a:defRPr>
            </a:pPr>
            <a:r>
              <a:t>•  Fix: change the predicate to NVL(DELETE_FLAG,'N')='N' so a null flag is treated as not-deleted. A plain DELETE_FLAG='N' would have been the wrong fix - it would have silently dropped a large volume of legitimate historic rows that carry a null flag rather than a 'N'.</a:t>
            </a:r>
          </a:p>
          <a:p>
            <a:pPr>
              <a:spcAft>
                <a:spcPts val="1200"/>
              </a:spcAft>
              <a:defRPr sz="1650">
                <a:solidFill>
                  <a:srgbClr val="222222"/>
                </a:solidFill>
              </a:defRPr>
            </a:pPr>
            <a:r>
              <a:t>•  Status: fix designed and built, change reference CHG0021184, targeted for the June release window. Still open for this readout because it has not gone live.</a:t>
            </a:r>
          </a:p>
        </p:txBody>
      </p:sp>
      <p:sp>
        <p:nvSpPr>
          <p:cNvPr id="6" name="TextBox 5"/>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7" name="TextBox 6"/>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DEEP DIVE</a:t>
            </a:r>
          </a:p>
        </p:txBody>
      </p:sp>
      <p:sp>
        <p:nvSpPr>
          <p:cNvPr id="3" name="TextBox 2"/>
          <p:cNvSpPr txBox="1"/>
          <p:nvPr/>
        </p:nvSpPr>
        <p:spPr>
          <a:xfrm>
            <a:off x="457200" y="320040"/>
            <a:ext cx="11247120" cy="822960"/>
          </a:xfrm>
          <a:prstGeom prst="rect">
            <a:avLst/>
          </a:prstGeom>
          <a:noFill/>
        </p:spPr>
        <p:txBody>
          <a:bodyPr wrap="square">
            <a:spAutoFit/>
          </a:bodyPr>
          <a:lstStyle/>
          <a:p>
            <a:pPr>
              <a:defRPr sz="2400" b="1">
                <a:solidFill>
                  <a:srgbClr val="1B2A4A"/>
                </a:solidFill>
              </a:defRPr>
            </a:pPr>
            <a:r>
              <a:t>VAR-002 - Month-end boundary drift</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234440"/>
            <a:ext cx="10972800" cy="4937760"/>
          </a:xfrm>
          <a:prstGeom prst="rect">
            <a:avLst/>
          </a:prstGeom>
          <a:noFill/>
        </p:spPr>
        <p:txBody>
          <a:bodyPr wrap="square">
            <a:spAutoFit/>
          </a:bodyPr>
          <a:lstStyle/>
          <a:p>
            <a:pPr>
              <a:spcAft>
                <a:spcPts val="1300"/>
              </a:spcAft>
              <a:defRPr sz="1700">
                <a:solidFill>
                  <a:srgbClr val="222222"/>
                </a:solidFill>
              </a:defRPr>
            </a:pPr>
            <a:r>
              <a:t>•  Impact: INR 90 L, FY26.</a:t>
            </a:r>
          </a:p>
          <a:p>
            <a:pPr>
              <a:spcAft>
                <a:spcPts val="1300"/>
              </a:spcAft>
              <a:defRPr sz="1700">
                <a:solidFill>
                  <a:srgbClr val="222222"/>
                </a:solidFill>
              </a:defRPr>
            </a:pPr>
            <a:r>
              <a:t>•  Root cause: the date key used to place an invoice into a period was derived from the application's created-timestamp, which the app server writes in UTC. The actual invoice date is a separate, correct, IST field.</a:t>
            </a:r>
          </a:p>
          <a:p>
            <a:pPr>
              <a:spcAft>
                <a:spcPts val="1300"/>
              </a:spcAft>
              <a:defRPr sz="1700">
                <a:solidFill>
                  <a:srgbClr val="222222"/>
                </a:solidFill>
              </a:defRPr>
            </a:pPr>
            <a:r>
              <a:t>•  Effect: invoices raised late in the evening on the last day of a month, after roughly 18:30 IST, were keyed into the following month instead of the month they were actually billed in.</a:t>
            </a:r>
          </a:p>
          <a:p>
            <a:pPr>
              <a:spcAft>
                <a:spcPts val="1300"/>
              </a:spcAft>
              <a:defRPr sz="1700">
                <a:solidFill>
                  <a:srgbClr val="222222"/>
                </a:solidFill>
              </a:defRPr>
            </a:pPr>
            <a:r>
              <a:t>•  Fix: derive the date key from the invoice date field instead of the UTC timestamp. Recorded as ADR-005 in the design documentation.</a:t>
            </a:r>
          </a:p>
          <a:p>
            <a:pPr>
              <a:spcAft>
                <a:spcPts val="1300"/>
              </a:spcAft>
              <a:defRPr sz="1700">
                <a:solidFill>
                  <a:srgbClr val="222222"/>
                </a:solidFill>
              </a:defRPr>
            </a:pPr>
            <a:r>
              <a:t>•  Status: fix built, change reference CHG0021207, same June release window as VAR-001.</a:t>
            </a:r>
          </a:p>
        </p:txBody>
      </p:sp>
      <p:sp>
        <p:nvSpPr>
          <p:cNvPr id="6" name="TextBox 5"/>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7" name="TextBox 6"/>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DEEP DIVE</a:t>
            </a:r>
          </a:p>
        </p:txBody>
      </p:sp>
      <p:sp>
        <p:nvSpPr>
          <p:cNvPr id="3" name="TextBox 2"/>
          <p:cNvSpPr txBox="1"/>
          <p:nvPr/>
        </p:nvSpPr>
        <p:spPr>
          <a:xfrm>
            <a:off x="457200" y="320040"/>
            <a:ext cx="11247120" cy="822960"/>
          </a:xfrm>
          <a:prstGeom prst="rect">
            <a:avLst/>
          </a:prstGeom>
          <a:noFill/>
        </p:spPr>
        <p:txBody>
          <a:bodyPr wrap="square">
            <a:spAutoFit/>
          </a:bodyPr>
          <a:lstStyle/>
          <a:p>
            <a:pPr>
              <a:defRPr sz="2400" b="1">
                <a:solidFill>
                  <a:srgbClr val="1B2A4A"/>
                </a:solidFill>
              </a:defRPr>
            </a:pPr>
            <a:r>
              <a:t>VAR-003 - Scheme discount double-count</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234440"/>
            <a:ext cx="10972800" cy="4937760"/>
          </a:xfrm>
          <a:prstGeom prst="rect">
            <a:avLst/>
          </a:prstGeom>
          <a:noFill/>
        </p:spPr>
        <p:txBody>
          <a:bodyPr wrap="square">
            <a:spAutoFit/>
          </a:bodyPr>
          <a:lstStyle/>
          <a:p>
            <a:pPr>
              <a:spcAft>
                <a:spcPts val="1100"/>
              </a:spcAft>
              <a:defRPr sz="1550">
                <a:solidFill>
                  <a:srgbClr val="222222"/>
                </a:solidFill>
              </a:defRPr>
            </a:pPr>
            <a:r>
              <a:t>•  Impact: INR 1.70 Cr, FY26.</a:t>
            </a:r>
          </a:p>
          <a:p>
            <a:pPr>
              <a:spcAft>
                <a:spcPts val="1100"/>
              </a:spcAft>
              <a:defRPr sz="1550">
                <a:solidFill>
                  <a:srgbClr val="222222"/>
                </a:solidFill>
              </a:defRPr>
            </a:pPr>
            <a:r>
              <a:t>•  Root cause is source-side, not in the ETL. A finance procedure inside ORION rewrites the scheme discount amount on invoice lines.</a:t>
            </a:r>
          </a:p>
          <a:p>
            <a:pPr>
              <a:spcAft>
                <a:spcPts val="1100"/>
              </a:spcAft>
              <a:defRPr sz="1550">
                <a:solidFill>
                  <a:srgbClr val="222222"/>
                </a:solidFill>
              </a:defRPr>
            </a:pPr>
            <a:r>
              <a:t>•  Net effect: the same scheme discount value ends up counted more than once against the same invoice lines, inflating the discount side of the ledger for the affected period.</a:t>
            </a:r>
          </a:p>
          <a:p>
            <a:pPr>
              <a:spcAft>
                <a:spcPts val="1100"/>
              </a:spcAft>
              <a:defRPr sz="1550">
                <a:solidFill>
                  <a:srgbClr val="222222"/>
                </a:solidFill>
              </a:defRPr>
            </a:pPr>
            <a:r>
              <a:t>•  This was not a database link or network latency problem. That angle was examined and ruled out at the architecture review (see evidence, next slide).</a:t>
            </a:r>
          </a:p>
          <a:p>
            <a:pPr>
              <a:spcAft>
                <a:spcPts val="1100"/>
              </a:spcAft>
              <a:defRPr sz="1550">
                <a:solidFill>
                  <a:srgbClr val="222222"/>
                </a:solidFill>
              </a:defRPr>
            </a:pPr>
            <a:r>
              <a:t>•  Mechanism detail sits with the stored procedure walkthrough, not this deck.</a:t>
            </a:r>
          </a:p>
          <a:p>
            <a:pPr>
              <a:spcAft>
                <a:spcPts val="1100"/>
              </a:spcAft>
              <a:defRPr sz="1550">
                <a:solidFill>
                  <a:srgbClr val="222222"/>
                </a:solidFill>
              </a:defRPr>
            </a:pPr>
            <a:r>
              <a:t>•  Status: root cause confirmed. Remediation approach to be confirmed at design sign-off, 06-May-2026 - one day after this readout.</a:t>
            </a:r>
          </a:p>
        </p:txBody>
      </p:sp>
      <p:sp>
        <p:nvSpPr>
          <p:cNvPr id="6" name="TextBox 5"/>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7" name="TextBox 6"/>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DEEP DIVE - VAR-003 EVIDENCE</a:t>
            </a:r>
          </a:p>
        </p:txBody>
      </p:sp>
      <p:sp>
        <p:nvSpPr>
          <p:cNvPr id="3" name="TextBox 2"/>
          <p:cNvSpPr txBox="1"/>
          <p:nvPr/>
        </p:nvSpPr>
        <p:spPr>
          <a:xfrm>
            <a:off x="457200" y="320040"/>
            <a:ext cx="11247120" cy="822960"/>
          </a:xfrm>
          <a:prstGeom prst="rect">
            <a:avLst/>
          </a:prstGeom>
          <a:noFill/>
        </p:spPr>
        <p:txBody>
          <a:bodyPr wrap="square">
            <a:spAutoFit/>
          </a:bodyPr>
          <a:lstStyle/>
          <a:p>
            <a:pPr>
              <a:defRPr sz="2300" b="1">
                <a:solidFill>
                  <a:srgbClr val="1B2A4A"/>
                </a:solidFill>
              </a:defRPr>
            </a:pPr>
            <a:r>
              <a:t>VAR-003 - how we got to root cause</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57200" y="1325880"/>
          <a:ext cx="11247120" cy="4480560"/>
        </p:xfrm>
        <a:graphic>
          <a:graphicData uri="http://schemas.openxmlformats.org/drawingml/2006/table">
            <a:tbl>
              <a:tblPr firstRow="1" bandRow="1">
                <a:tableStyleId>{5C22544A-7EE6-4342-B048-85BDC9FD1C3A}</a:tableStyleId>
              </a:tblPr>
              <a:tblGrid>
                <a:gridCol w="1554480"/>
                <a:gridCol w="3291840"/>
                <a:gridCol w="6400800"/>
              </a:tblGrid>
              <a:tr h="1120140">
                <a:tc>
                  <a:txBody>
                    <a:bodyPr/>
                    <a:lstStyle/>
                    <a:p>
                      <a:pPr>
                        <a:defRPr b="1" sz="1300">
                          <a:solidFill>
                            <a:srgbClr val="FFFFFF"/>
                          </a:solidFill>
                        </a:defRPr>
                      </a:pPr>
                      <a:r>
                        <a:t>Date</a:t>
                      </a:r>
                    </a:p>
                  </a:txBody>
                  <a:tcPr anchor="ctr" marL="54864" marR="54864">
                    <a:solidFill>
                      <a:srgbClr val="1B2A4A"/>
                    </a:solidFill>
                  </a:tcPr>
                </a:tc>
                <a:tc>
                  <a:txBody>
                    <a:bodyPr/>
                    <a:lstStyle/>
                    <a:p>
                      <a:pPr>
                        <a:defRPr b="1" sz="1300">
                          <a:solidFill>
                            <a:srgbClr val="FFFFFF"/>
                          </a:solidFill>
                        </a:defRPr>
                      </a:pPr>
                      <a:r>
                        <a:t>Activity</a:t>
                      </a:r>
                    </a:p>
                  </a:txBody>
                  <a:tcPr anchor="ctr" marL="54864" marR="54864">
                    <a:solidFill>
                      <a:srgbClr val="1B2A4A"/>
                    </a:solidFill>
                  </a:tcPr>
                </a:tc>
                <a:tc>
                  <a:txBody>
                    <a:bodyPr/>
                    <a:lstStyle/>
                    <a:p>
                      <a:pPr>
                        <a:defRPr b="1" sz="1300">
                          <a:solidFill>
                            <a:srgbClr val="FFFFFF"/>
                          </a:solidFill>
                        </a:defRPr>
                      </a:pPr>
                      <a:r>
                        <a:t>Finding</a:t>
                      </a:r>
                    </a:p>
                  </a:txBody>
                  <a:tcPr anchor="ctr" marL="54864" marR="54864">
                    <a:solidFill>
                      <a:srgbClr val="1B2A4A"/>
                    </a:solidFill>
                  </a:tcPr>
                </a:tc>
              </a:tr>
              <a:tr h="1120140">
                <a:tc>
                  <a:txBody>
                    <a:bodyPr/>
                    <a:lstStyle/>
                    <a:p>
                      <a:pPr>
                        <a:defRPr b="0" sz="1200">
                          <a:solidFill>
                            <a:srgbClr val="222222"/>
                          </a:solidFill>
                        </a:defRPr>
                      </a:pPr>
                      <a:r>
                        <a:t>24-Mar-2026</a:t>
                      </a:r>
                    </a:p>
                  </a:txBody>
                  <a:tcPr anchor="ctr" marL="54864" marR="54864">
                    <a:solidFill>
                      <a:srgbClr val="FFFFFF"/>
                    </a:solidFill>
                  </a:tcPr>
                </a:tc>
                <a:tc>
                  <a:txBody>
                    <a:bodyPr/>
                    <a:lstStyle/>
                    <a:p>
                      <a:pPr>
                        <a:defRPr b="0" sz="1200">
                          <a:solidFill>
                            <a:srgbClr val="222222"/>
                          </a:solidFill>
                        </a:defRPr>
                      </a:pPr>
                      <a:r>
                        <a:t>First variance findings review (T-03)</a:t>
                      </a:r>
                    </a:p>
                  </a:txBody>
                  <a:tcPr anchor="ctr" marL="54864" marR="54864">
                    <a:solidFill>
                      <a:srgbClr val="FFFFFF"/>
                    </a:solidFill>
                  </a:tcPr>
                </a:tc>
                <a:tc>
                  <a:txBody>
                    <a:bodyPr/>
                    <a:lstStyle/>
                    <a:p>
                      <a:pPr>
                        <a:defRPr b="0" sz="1200">
                          <a:solidFill>
                            <a:srgbClr val="222222"/>
                          </a:solidFill>
                        </a:defRPr>
                      </a:pPr>
                      <a:r>
                        <a:t>VAR-003 identified and sized at INR 1.70 Cr. Root cause investigation opened.</a:t>
                      </a:r>
                    </a:p>
                  </a:txBody>
                  <a:tcPr anchor="ctr" marL="54864" marR="54864">
                    <a:solidFill>
                      <a:srgbClr val="FFFFFF"/>
                    </a:solidFill>
                  </a:tcPr>
                </a:tc>
              </a:tr>
              <a:tr h="1120140">
                <a:tc>
                  <a:txBody>
                    <a:bodyPr/>
                    <a:lstStyle/>
                    <a:p>
                      <a:pPr>
                        <a:defRPr b="0" sz="1200">
                          <a:solidFill>
                            <a:srgbClr val="222222"/>
                          </a:solidFill>
                        </a:defRPr>
                      </a:pPr>
                      <a:r>
                        <a:t>14-Apr-2026</a:t>
                      </a:r>
                    </a:p>
                  </a:txBody>
                  <a:tcPr anchor="ctr" marL="54864" marR="54864">
                    <a:solidFill>
                      <a:srgbClr val="EEEEEC"/>
                    </a:solidFill>
                  </a:tcPr>
                </a:tc>
                <a:tc>
                  <a:txBody>
                    <a:bodyPr/>
                    <a:lstStyle/>
                    <a:p>
                      <a:pPr>
                        <a:defRPr b="0" sz="1200">
                          <a:solidFill>
                            <a:srgbClr val="222222"/>
                          </a:solidFill>
                        </a:defRPr>
                      </a:pPr>
                      <a:r>
                        <a:t>Architecture review (T-04) - AWR analysis of ORION_PRD link</a:t>
                      </a:r>
                    </a:p>
                  </a:txBody>
                  <a:tcPr anchor="ctr" marL="54864" marR="54864">
                    <a:solidFill>
                      <a:srgbClr val="EEEEEC"/>
                    </a:solidFill>
                  </a:tcPr>
                </a:tc>
                <a:tc>
                  <a:txBody>
                    <a:bodyPr/>
                    <a:lstStyle/>
                    <a:p>
                      <a:pPr>
                        <a:defRPr b="0" sz="1200">
                          <a:solidFill>
                            <a:srgbClr val="222222"/>
                          </a:solidFill>
                        </a:defRPr>
                      </a:pPr>
                      <a:r>
                        <a:t>Database link examined and ruled out. Across the full load window the link accounted for only 4.1 minutes of wait time and 38 ms average round trip over 6,412 round trips - about 1.2% of total elapsed. Latency explains slowness, not a value error.</a:t>
                      </a:r>
                    </a:p>
                  </a:txBody>
                  <a:tcPr anchor="ctr" marL="54864" marR="54864">
                    <a:solidFill>
                      <a:srgbClr val="EEEEEC"/>
                    </a:solidFill>
                  </a:tcPr>
                </a:tc>
              </a:tr>
              <a:tr h="1120140">
                <a:tc>
                  <a:txBody>
                    <a:bodyPr/>
                    <a:lstStyle/>
                    <a:p>
                      <a:pPr>
                        <a:defRPr b="0" sz="1200">
                          <a:solidFill>
                            <a:srgbClr val="222222"/>
                          </a:solidFill>
                        </a:defRPr>
                      </a:pPr>
                      <a:r>
                        <a:t>Ongoing</a:t>
                      </a:r>
                    </a:p>
                  </a:txBody>
                  <a:tcPr anchor="ctr" marL="54864" marR="54864">
                    <a:solidFill>
                      <a:srgbClr val="FFFFFF"/>
                    </a:solidFill>
                  </a:tcPr>
                </a:tc>
                <a:tc>
                  <a:txBody>
                    <a:bodyPr/>
                    <a:lstStyle/>
                    <a:p>
                      <a:pPr>
                        <a:defRPr b="0" sz="1200">
                          <a:solidFill>
                            <a:srgbClr val="222222"/>
                          </a:solidFill>
                        </a:defRPr>
                      </a:pPr>
                      <a:r>
                        <a:t>Root cause confirmed as source-side</a:t>
                      </a:r>
                    </a:p>
                  </a:txBody>
                  <a:tcPr anchor="ctr" marL="54864" marR="54864">
                    <a:solidFill>
                      <a:srgbClr val="FFFFFF"/>
                    </a:solidFill>
                  </a:tcPr>
                </a:tc>
                <a:tc>
                  <a:txBody>
                    <a:bodyPr/>
                    <a:lstStyle/>
                    <a:p>
                      <a:pPr>
                        <a:defRPr b="0" sz="1200">
                          <a:solidFill>
                            <a:srgbClr val="222222"/>
                          </a:solidFill>
                        </a:defRPr>
                      </a:pPr>
                      <a:r>
                        <a:t>A finance procedure inside ORION rewrites the scheme discount amount on invoice lines. Full mechanism detail sits with the stored procedure walkthrough. Remediation approach to design sign-off, 06-May-2026.</a:t>
                      </a:r>
                    </a:p>
                  </a:txBody>
                  <a:tcPr anchor="ctr" marL="54864" marR="54864">
                    <a:solidFill>
                      <a:srgbClr val="FFFFFF"/>
                    </a:solidFill>
                  </a:tcPr>
                </a:tc>
              </a:tr>
            </a:tbl>
          </a:graphicData>
        </a:graphic>
      </p:graphicFrame>
      <p:sp>
        <p:nvSpPr>
          <p:cNvPr id="6" name="TextBox 5"/>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7" name="TextBox 6"/>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2468880"/>
            <a:ext cx="10789920" cy="365760"/>
          </a:xfrm>
          <a:prstGeom prst="rect">
            <a:avLst/>
          </a:prstGeom>
          <a:noFill/>
        </p:spPr>
        <p:txBody>
          <a:bodyPr wrap="none">
            <a:spAutoFit/>
          </a:bodyPr>
          <a:lstStyle/>
          <a:p>
            <a:pPr>
              <a:defRPr sz="1400" b="1">
                <a:solidFill>
                  <a:srgbClr val="C9A08E"/>
                </a:solidFill>
              </a:defRPr>
            </a:pPr>
            <a:r>
              <a:t>PART THREE</a:t>
            </a:r>
          </a:p>
        </p:txBody>
      </p:sp>
      <p:sp>
        <p:nvSpPr>
          <p:cNvPr id="3" name="TextBox 2"/>
          <p:cNvSpPr txBox="1"/>
          <p:nvPr/>
        </p:nvSpPr>
        <p:spPr>
          <a:xfrm>
            <a:off x="594360" y="2788920"/>
            <a:ext cx="10881360" cy="1188720"/>
          </a:xfrm>
          <a:prstGeom prst="rect">
            <a:avLst/>
          </a:prstGeom>
          <a:noFill/>
        </p:spPr>
        <p:txBody>
          <a:bodyPr wrap="square">
            <a:spAutoFit/>
          </a:bodyPr>
          <a:lstStyle/>
          <a:p>
            <a:pPr>
              <a:defRPr sz="3800" b="1">
                <a:solidFill>
                  <a:srgbClr val="FFFFFF"/>
                </a:solidFill>
              </a:defRPr>
            </a:pPr>
            <a:r>
              <a:t>Deep Dive - Emerging Items</a:t>
            </a:r>
          </a:p>
        </p:txBody>
      </p:sp>
      <p:sp>
        <p:nvSpPr>
          <p:cNvPr id="4" name="TextBox 3"/>
          <p:cNvSpPr txBox="1"/>
          <p:nvPr/>
        </p:nvSpPr>
        <p:spPr>
          <a:xfrm>
            <a:off x="640080" y="3794760"/>
            <a:ext cx="10515600" cy="548640"/>
          </a:xfrm>
          <a:prstGeom prst="rect">
            <a:avLst/>
          </a:prstGeom>
          <a:noFill/>
        </p:spPr>
        <p:txBody>
          <a:bodyPr wrap="none">
            <a:spAutoFit/>
          </a:bodyPr>
          <a:lstStyle/>
          <a:p>
            <a:pPr>
              <a:defRPr sz="1500">
                <a:solidFill>
                  <a:srgbClr val="CED6E3"/>
                </a:solidFill>
              </a:defRPr>
            </a:pPr>
            <a:r>
              <a:t>VAR-004, VAR-005</a:t>
            </a:r>
          </a:p>
        </p:txBody>
      </p:sp>
      <p:sp>
        <p:nvSpPr>
          <p:cNvPr id="5" name="TextBox 4"/>
          <p:cNvSpPr txBox="1"/>
          <p:nvPr/>
        </p:nvSpPr>
        <p:spPr>
          <a:xfrm>
            <a:off x="457200" y="6510528"/>
            <a:ext cx="8229600" cy="274320"/>
          </a:xfrm>
          <a:prstGeom prst="rect">
            <a:avLst/>
          </a:prstGeom>
          <a:noFill/>
        </p:spPr>
        <p:txBody>
          <a:bodyPr wrap="none">
            <a:spAutoFit/>
          </a:bodyPr>
          <a:lstStyle/>
          <a:p>
            <a:pPr>
              <a:defRPr sz="800">
                <a:solidFill>
                  <a:srgbClr val="9AA6BC"/>
                </a:solidFill>
              </a:defRPr>
            </a:pPr>
            <a:r>
              <a:t>Bharadwaj Consumer Products Ltd  |  Project Drishti - Confidential, Internal Working Draft</a:t>
            </a:r>
          </a:p>
        </p:txBody>
      </p:sp>
      <p:sp>
        <p:nvSpPr>
          <p:cNvPr id="6" name="TextBox 5"/>
          <p:cNvSpPr txBox="1"/>
          <p:nvPr/>
        </p:nvSpPr>
        <p:spPr>
          <a:xfrm>
            <a:off x="9235440" y="6510528"/>
            <a:ext cx="2286000" cy="274320"/>
          </a:xfrm>
          <a:prstGeom prst="rect">
            <a:avLst/>
          </a:prstGeom>
          <a:noFill/>
        </p:spPr>
        <p:txBody>
          <a:bodyPr wrap="none">
            <a:spAutoFit/>
          </a:bodyPr>
          <a:lstStyle/>
          <a:p>
            <a:pPr algn="r">
              <a:defRPr sz="800">
                <a:solidFill>
                  <a:srgbClr val="9AA6BC"/>
                </a:solidFill>
              </a:defRPr>
            </a:pPr>
            <a:r>
              <a:t>Client Confidential - Not for external distribution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DEEP DIVE</a:t>
            </a:r>
          </a:p>
        </p:txBody>
      </p:sp>
      <p:sp>
        <p:nvSpPr>
          <p:cNvPr id="3" name="TextBox 2"/>
          <p:cNvSpPr txBox="1"/>
          <p:nvPr/>
        </p:nvSpPr>
        <p:spPr>
          <a:xfrm>
            <a:off x="457200" y="320040"/>
            <a:ext cx="11247120" cy="822960"/>
          </a:xfrm>
          <a:prstGeom prst="rect">
            <a:avLst/>
          </a:prstGeom>
          <a:noFill/>
        </p:spPr>
        <p:txBody>
          <a:bodyPr wrap="square">
            <a:spAutoFit/>
          </a:bodyPr>
          <a:lstStyle/>
          <a:p>
            <a:pPr>
              <a:defRPr sz="2300" b="1">
                <a:solidFill>
                  <a:srgbClr val="1B2A4A"/>
                </a:solidFill>
              </a:defRPr>
            </a:pPr>
            <a:r>
              <a:t>VAR-004 - Duplicate facts on distributor reassignment</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503920" y="1143000"/>
            <a:ext cx="3017520" cy="365760"/>
          </a:xfrm>
          <a:prstGeom prst="rect">
            <a:avLst/>
          </a:prstGeom>
          <a:noFill/>
        </p:spPr>
        <p:txBody>
          <a:bodyPr wrap="none">
            <a:spAutoFit/>
          </a:bodyPr>
          <a:lstStyle/>
          <a:p>
            <a:pPr algn="r">
              <a:defRPr sz="1100" b="1">
                <a:solidFill>
                  <a:srgbClr val="B03A2E"/>
                </a:solidFill>
              </a:defRPr>
            </a:pPr>
            <a:r>
              <a:t>DRAFT - Ishaan to confirm before Fri</a:t>
            </a:r>
          </a:p>
        </p:txBody>
      </p:sp>
      <p:sp>
        <p:nvSpPr>
          <p:cNvPr id="6" name="TextBox 5"/>
          <p:cNvSpPr txBox="1"/>
          <p:nvPr/>
        </p:nvSpPr>
        <p:spPr>
          <a:xfrm>
            <a:off x="548640" y="1234440"/>
            <a:ext cx="10972800" cy="4937760"/>
          </a:xfrm>
          <a:prstGeom prst="rect">
            <a:avLst/>
          </a:prstGeom>
          <a:noFill/>
        </p:spPr>
        <p:txBody>
          <a:bodyPr wrap="square">
            <a:spAutoFit/>
          </a:bodyPr>
          <a:lstStyle/>
          <a:p>
            <a:pPr>
              <a:spcAft>
                <a:spcPts val="1300"/>
              </a:spcAft>
              <a:defRPr sz="1650">
                <a:solidFill>
                  <a:srgbClr val="222222"/>
                </a:solidFill>
              </a:defRPr>
            </a:pPr>
            <a:r>
              <a:t>•  Flagged this sprint as part of the broader distributor reconciliation work, separate from the original three items.</a:t>
            </a:r>
          </a:p>
          <a:p>
            <a:pPr>
              <a:spcAft>
                <a:spcPts val="1300"/>
              </a:spcAft>
              <a:defRPr sz="1650">
                <a:solidFill>
                  <a:srgbClr val="222222"/>
                </a:solidFill>
              </a:defRPr>
            </a:pPr>
            <a:r>
              <a:t>•  Early estimate: INR 65 L. This is an estimate, not yet a validated figure - treat it as directional.</a:t>
            </a:r>
          </a:p>
          <a:p>
            <a:pPr>
              <a:spcAft>
                <a:spcPts val="1300"/>
              </a:spcAft>
              <a:defRPr sz="1650">
                <a:solidFill>
                  <a:srgbClr val="222222"/>
                </a:solidFill>
              </a:defRPr>
            </a:pPr>
            <a:r>
              <a:t>•  Duplicate fact rows have been observed against a small number of distributor records. The underlying trigger is still being isolated.</a:t>
            </a:r>
          </a:p>
          <a:p>
            <a:pPr>
              <a:spcAft>
                <a:spcPts val="1300"/>
              </a:spcAft>
              <a:defRPr sz="1650">
                <a:solidFill>
                  <a:srgbClr val="222222"/>
                </a:solidFill>
              </a:defRPr>
            </a:pPr>
            <a:r>
              <a:t>•  Root cause mechanism is still being confirmed. Full write-up expected at the data quality readout next month, not before.</a:t>
            </a:r>
          </a:p>
          <a:p>
            <a:pPr>
              <a:spcAft>
                <a:spcPts val="1300"/>
              </a:spcAft>
              <a:defRPr sz="1650">
                <a:solidFill>
                  <a:srgbClr val="222222"/>
                </a:solidFill>
              </a:defRPr>
            </a:pPr>
            <a:r>
              <a:t>•  Status: open, newly flagged, not yet formally owned on the register.</a:t>
            </a:r>
          </a:p>
        </p:txBody>
      </p:sp>
      <p:sp>
        <p:nvSpPr>
          <p:cNvPr id="7" name="TextBox 6"/>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8" name="TextBox 7"/>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DEEP DIVE</a:t>
            </a:r>
          </a:p>
        </p:txBody>
      </p:sp>
      <p:sp>
        <p:nvSpPr>
          <p:cNvPr id="3" name="TextBox 2"/>
          <p:cNvSpPr txBox="1"/>
          <p:nvPr/>
        </p:nvSpPr>
        <p:spPr>
          <a:xfrm>
            <a:off x="457200" y="320040"/>
            <a:ext cx="11247120" cy="822960"/>
          </a:xfrm>
          <a:prstGeom prst="rect">
            <a:avLst/>
          </a:prstGeom>
          <a:noFill/>
        </p:spPr>
        <p:txBody>
          <a:bodyPr wrap="square">
            <a:spAutoFit/>
          </a:bodyPr>
          <a:lstStyle/>
          <a:p>
            <a:pPr>
              <a:defRPr sz="2300" b="1">
                <a:solidFill>
                  <a:srgbClr val="1B2A4A"/>
                </a:solidFill>
              </a:defRPr>
            </a:pPr>
            <a:r>
              <a:t>VAR-005 - Credit notes absent from warehouse</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280160"/>
            <a:ext cx="4114800" cy="1005840"/>
          </a:xfrm>
          <a:prstGeom prst="rect">
            <a:avLst/>
          </a:prstGeom>
          <a:noFill/>
        </p:spPr>
        <p:txBody>
          <a:bodyPr wrap="none">
            <a:spAutoFit/>
          </a:bodyPr>
          <a:lstStyle/>
          <a:p>
            <a:pPr>
              <a:defRPr sz="3000" b="1">
                <a:solidFill>
                  <a:srgbClr val="B03A2E"/>
                </a:solidFill>
              </a:defRPr>
            </a:pPr>
            <a:r>
              <a:t>INR 2.40 Cr</a:t>
            </a:r>
          </a:p>
          <a:p>
            <a:pPr>
              <a:defRPr sz="1200">
                <a:solidFill>
                  <a:srgbClr val="8A8F98"/>
                </a:solidFill>
              </a:defRPr>
            </a:pPr>
            <a:r>
              <a:t>FY26 impact</a:t>
            </a:r>
          </a:p>
        </p:txBody>
      </p:sp>
      <p:sp>
        <p:nvSpPr>
          <p:cNvPr id="6" name="TextBox 5"/>
          <p:cNvSpPr txBox="1"/>
          <p:nvPr/>
        </p:nvSpPr>
        <p:spPr>
          <a:xfrm>
            <a:off x="548640" y="2468880"/>
            <a:ext cx="10972800" cy="4937760"/>
          </a:xfrm>
          <a:prstGeom prst="rect">
            <a:avLst/>
          </a:prstGeom>
          <a:noFill/>
        </p:spPr>
        <p:txBody>
          <a:bodyPr wrap="square">
            <a:spAutoFit/>
          </a:bodyPr>
          <a:lstStyle/>
          <a:p>
            <a:pPr>
              <a:spcAft>
                <a:spcPts val="1300"/>
              </a:spcAft>
              <a:defRPr sz="1600">
                <a:solidFill>
                  <a:srgbClr val="222222"/>
                </a:solidFill>
              </a:defRPr>
            </a:pPr>
            <a:r>
              <a:t>•  Owner: Shalini Iyer. Status: Open, raised 24-Apr-2026.</a:t>
            </a:r>
          </a:p>
          <a:p>
            <a:pPr>
              <a:spcAft>
                <a:spcPts val="1300"/>
              </a:spcAft>
              <a:defRPr sz="1600">
                <a:solidFill>
                  <a:srgbClr val="222222"/>
                </a:solidFill>
              </a:defRPr>
            </a:pPr>
            <a:r>
              <a:t>•  The gap surfaced during the target model review for the warehouse: the revenue line as reported does not reflect credit notes at all.</a:t>
            </a:r>
          </a:p>
          <a:p>
            <a:pPr>
              <a:spcAft>
                <a:spcPts val="1300"/>
              </a:spcAft>
              <a:defRPr sz="1600">
                <a:solidFill>
                  <a:srgbClr val="222222"/>
                </a:solidFill>
              </a:defRPr>
            </a:pPr>
            <a:r>
              <a:t>•  As such the reported revenue figure runs gross of credit notes rather than net - this is the item Shalini is most focused on given the board pack timing.</a:t>
            </a:r>
          </a:p>
          <a:p>
            <a:pPr>
              <a:spcAft>
                <a:spcPts val="1300"/>
              </a:spcAft>
              <a:defRPr sz="1600">
                <a:solidFill>
                  <a:srgbClr val="222222"/>
                </a:solidFill>
              </a:defRPr>
            </a:pPr>
            <a:r>
              <a:t>•  Karthik to continue working this with Shalini's team ahead of the next checkpoint.</a:t>
            </a:r>
          </a:p>
        </p:txBody>
      </p:sp>
      <p:sp>
        <p:nvSpPr>
          <p:cNvPr id="7" name="TextBox 6"/>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8" name="TextBox 7"/>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CLOSE-OUT</a:t>
            </a:r>
          </a:p>
        </p:txBody>
      </p:sp>
      <p:sp>
        <p:nvSpPr>
          <p:cNvPr id="3" name="TextBox 2"/>
          <p:cNvSpPr txBox="1"/>
          <p:nvPr/>
        </p:nvSpPr>
        <p:spPr>
          <a:xfrm>
            <a:off x="457200" y="320040"/>
            <a:ext cx="11247120" cy="822960"/>
          </a:xfrm>
          <a:prstGeom prst="rect">
            <a:avLst/>
          </a:prstGeom>
          <a:noFill/>
        </p:spPr>
        <p:txBody>
          <a:bodyPr wrap="square">
            <a:spAutoFit/>
          </a:bodyPr>
          <a:lstStyle/>
          <a:p>
            <a:pPr>
              <a:defRPr sz="2400" b="1">
                <a:solidFill>
                  <a:srgbClr val="1B2A4A"/>
                </a:solidFill>
              </a:defRPr>
            </a:pPr>
            <a:r>
              <a:t>VAR-008 - Feb duplicate load</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234440"/>
            <a:ext cx="10972800" cy="4937760"/>
          </a:xfrm>
          <a:prstGeom prst="rect">
            <a:avLst/>
          </a:prstGeom>
          <a:noFill/>
        </p:spPr>
        <p:txBody>
          <a:bodyPr wrap="square">
            <a:spAutoFit/>
          </a:bodyPr>
          <a:lstStyle/>
          <a:p>
            <a:pPr>
              <a:spcAft>
                <a:spcPts val="1600"/>
              </a:spcAft>
              <a:defRPr sz="1800">
                <a:solidFill>
                  <a:srgbClr val="222222"/>
                </a:solidFill>
              </a:defRPr>
            </a:pPr>
            <a:r>
              <a:t>•  Impact: INR 2.90 Cr, sat in the February figures for roughly three weeks before it was caught.</a:t>
            </a:r>
          </a:p>
          <a:p>
            <a:pPr>
              <a:spcAft>
                <a:spcPts val="1600"/>
              </a:spcAft>
              <a:defRPr sz="1800">
                <a:solidFill>
                  <a:srgbClr val="222222"/>
                </a:solidFill>
              </a:defRPr>
            </a:pPr>
            <a:r>
              <a:t>•  Status: CLOSED, 02-Apr-2026.</a:t>
            </a:r>
          </a:p>
          <a:p>
            <a:pPr>
              <a:spcAft>
                <a:spcPts val="1600"/>
              </a:spcAft>
              <a:defRPr sz="1800">
                <a:solidFill>
                  <a:srgbClr val="222222"/>
                </a:solidFill>
              </a:defRPr>
            </a:pPr>
            <a:r>
              <a:t>•  Root cause and remediation detail are covered in the ODI technical annexure, not repeated here as this item is fully resolved.</a:t>
            </a:r>
          </a:p>
          <a:p>
            <a:pPr>
              <a:spcAft>
                <a:spcPts val="1600"/>
              </a:spcAft>
              <a:defRPr sz="1800">
                <a:solidFill>
                  <a:srgbClr val="222222"/>
                </a:solidFill>
              </a:defRPr>
            </a:pPr>
            <a:r>
              <a:t>•  Owner: Farida Contractor.</a:t>
            </a:r>
          </a:p>
          <a:p>
            <a:pPr>
              <a:spcAft>
                <a:spcPts val="1600"/>
              </a:spcAft>
              <a:defRPr sz="1800">
                <a:solidFill>
                  <a:srgbClr val="222222"/>
                </a:solidFill>
              </a:defRPr>
            </a:pPr>
            <a:r>
              <a:t>•  No further action.</a:t>
            </a:r>
          </a:p>
        </p:txBody>
      </p:sp>
      <p:sp>
        <p:nvSpPr>
          <p:cNvPr id="6" name="TextBox 5"/>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7" name="TextBox 6"/>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2468880"/>
            <a:ext cx="10789920" cy="365760"/>
          </a:xfrm>
          <a:prstGeom prst="rect">
            <a:avLst/>
          </a:prstGeom>
          <a:noFill/>
        </p:spPr>
        <p:txBody>
          <a:bodyPr wrap="none">
            <a:spAutoFit/>
          </a:bodyPr>
          <a:lstStyle/>
          <a:p>
            <a:pPr>
              <a:defRPr sz="1400" b="1">
                <a:solidFill>
                  <a:srgbClr val="C9A08E"/>
                </a:solidFill>
              </a:defRPr>
            </a:pPr>
            <a:r>
              <a:t>PART FOUR</a:t>
            </a:r>
          </a:p>
        </p:txBody>
      </p:sp>
      <p:sp>
        <p:nvSpPr>
          <p:cNvPr id="3" name="TextBox 2"/>
          <p:cNvSpPr txBox="1"/>
          <p:nvPr/>
        </p:nvSpPr>
        <p:spPr>
          <a:xfrm>
            <a:off x="594360" y="2788920"/>
            <a:ext cx="10881360" cy="1188720"/>
          </a:xfrm>
          <a:prstGeom prst="rect">
            <a:avLst/>
          </a:prstGeom>
          <a:noFill/>
        </p:spPr>
        <p:txBody>
          <a:bodyPr wrap="square">
            <a:spAutoFit/>
          </a:bodyPr>
          <a:lstStyle/>
          <a:p>
            <a:pPr>
              <a:defRPr sz="3800" b="1">
                <a:solidFill>
                  <a:srgbClr val="FFFFFF"/>
                </a:solidFill>
              </a:defRPr>
            </a:pPr>
            <a:r>
              <a:t>Impact &amp; Next Steps</a:t>
            </a:r>
          </a:p>
        </p:txBody>
      </p:sp>
      <p:sp>
        <p:nvSpPr>
          <p:cNvPr id="4" name="TextBox 3"/>
          <p:cNvSpPr txBox="1"/>
          <p:nvPr/>
        </p:nvSpPr>
        <p:spPr>
          <a:xfrm>
            <a:off x="457200" y="6510528"/>
            <a:ext cx="8229600" cy="274320"/>
          </a:xfrm>
          <a:prstGeom prst="rect">
            <a:avLst/>
          </a:prstGeom>
          <a:noFill/>
        </p:spPr>
        <p:txBody>
          <a:bodyPr wrap="none">
            <a:spAutoFit/>
          </a:bodyPr>
          <a:lstStyle/>
          <a:p>
            <a:pPr>
              <a:defRPr sz="800">
                <a:solidFill>
                  <a:srgbClr val="9AA6BC"/>
                </a:solidFill>
              </a:defRPr>
            </a:pPr>
            <a:r>
              <a:t>Bharadwaj Consumer Products Ltd  |  Project Drishti - Confidential, Internal Working Draft</a:t>
            </a:r>
          </a:p>
        </p:txBody>
      </p:sp>
      <p:sp>
        <p:nvSpPr>
          <p:cNvPr id="5" name="TextBox 4"/>
          <p:cNvSpPr txBox="1"/>
          <p:nvPr/>
        </p:nvSpPr>
        <p:spPr>
          <a:xfrm>
            <a:off x="9235440" y="6510528"/>
            <a:ext cx="2286000" cy="274320"/>
          </a:xfrm>
          <a:prstGeom prst="rect">
            <a:avLst/>
          </a:prstGeom>
          <a:noFill/>
        </p:spPr>
        <p:txBody>
          <a:bodyPr wrap="none">
            <a:spAutoFit/>
          </a:bodyPr>
          <a:lstStyle/>
          <a:p>
            <a:pPr algn="r">
              <a:defRPr sz="800">
                <a:solidFill>
                  <a:srgbClr val="9AA6BC"/>
                </a:solidFill>
              </a:defRPr>
            </a:pPr>
            <a:r>
              <a:t>Client Confidential - Not for external distribution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APPENDIX</a:t>
            </a:r>
          </a:p>
        </p:txBody>
      </p:sp>
      <p:sp>
        <p:nvSpPr>
          <p:cNvPr id="3" name="TextBox 2"/>
          <p:cNvSpPr txBox="1"/>
          <p:nvPr/>
        </p:nvSpPr>
        <p:spPr>
          <a:xfrm>
            <a:off x="457200" y="320040"/>
            <a:ext cx="11247120" cy="822960"/>
          </a:xfrm>
          <a:prstGeom prst="rect">
            <a:avLst/>
          </a:prstGeom>
          <a:noFill/>
        </p:spPr>
        <p:txBody>
          <a:bodyPr wrap="square">
            <a:spAutoFit/>
          </a:bodyPr>
          <a:lstStyle/>
          <a:p>
            <a:pPr>
              <a:defRPr sz="2400" b="1">
                <a:solidFill>
                  <a:srgbClr val="1B2A4A"/>
                </a:solidFill>
              </a:defRPr>
            </a:pPr>
            <a:r>
              <a:t>Impact summary - all items</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97280" y="1371600"/>
          <a:ext cx="9966960" cy="4206240"/>
        </p:xfrm>
        <a:graphic>
          <a:graphicData uri="http://schemas.openxmlformats.org/drawingml/2006/table">
            <a:tbl>
              <a:tblPr firstRow="1" bandRow="1">
                <a:tableStyleId>{5C22544A-7EE6-4342-B048-85BDC9FD1C3A}</a:tableStyleId>
              </a:tblPr>
              <a:tblGrid>
                <a:gridCol w="1463040"/>
                <a:gridCol w="6309360"/>
                <a:gridCol w="2194560"/>
              </a:tblGrid>
              <a:tr h="525780">
                <a:tc>
                  <a:txBody>
                    <a:bodyPr/>
                    <a:lstStyle/>
                    <a:p>
                      <a:pPr>
                        <a:defRPr b="1" sz="1350">
                          <a:solidFill>
                            <a:srgbClr val="FFFFFF"/>
                          </a:solidFill>
                        </a:defRPr>
                      </a:pPr>
                      <a:r>
                        <a:t>ID</a:t>
                      </a:r>
                    </a:p>
                  </a:txBody>
                  <a:tcPr anchor="ctr" marL="54864" marR="54864">
                    <a:solidFill>
                      <a:srgbClr val="1B2A4A"/>
                    </a:solidFill>
                  </a:tcPr>
                </a:tc>
                <a:tc>
                  <a:txBody>
                    <a:bodyPr/>
                    <a:lstStyle/>
                    <a:p>
                      <a:pPr>
                        <a:defRPr b="1" sz="1350">
                          <a:solidFill>
                            <a:srgbClr val="FFFFFF"/>
                          </a:solidFill>
                        </a:defRPr>
                      </a:pPr>
                      <a:r>
                        <a:t>Item</a:t>
                      </a:r>
                    </a:p>
                  </a:txBody>
                  <a:tcPr anchor="ctr" marL="54864" marR="54864">
                    <a:solidFill>
                      <a:srgbClr val="1B2A4A"/>
                    </a:solidFill>
                  </a:tcPr>
                </a:tc>
                <a:tc>
                  <a:txBody>
                    <a:bodyPr/>
                    <a:lstStyle/>
                    <a:p>
                      <a:pPr>
                        <a:defRPr b="1" sz="1350">
                          <a:solidFill>
                            <a:srgbClr val="FFFFFF"/>
                          </a:solidFill>
                        </a:defRPr>
                      </a:pPr>
                      <a:r>
                        <a:t>Impact (INR Cr)</a:t>
                      </a:r>
                    </a:p>
                  </a:txBody>
                  <a:tcPr anchor="ctr" marL="54864" marR="54864">
                    <a:solidFill>
                      <a:srgbClr val="1B2A4A"/>
                    </a:solidFill>
                  </a:tcPr>
                </a:tc>
              </a:tr>
              <a:tr h="525780">
                <a:tc>
                  <a:txBody>
                    <a:bodyPr/>
                    <a:lstStyle/>
                    <a:p>
                      <a:pPr>
                        <a:defRPr b="0" sz="1300">
                          <a:solidFill>
                            <a:srgbClr val="222222"/>
                          </a:solidFill>
                        </a:defRPr>
                      </a:pPr>
                      <a:r>
                        <a:t>VAR-001</a:t>
                      </a:r>
                    </a:p>
                  </a:txBody>
                  <a:tcPr anchor="ctr" marL="54864" marR="54864">
                    <a:solidFill>
                      <a:srgbClr val="FFFFFF"/>
                    </a:solidFill>
                  </a:tcPr>
                </a:tc>
                <a:tc>
                  <a:txBody>
                    <a:bodyPr/>
                    <a:lstStyle/>
                    <a:p>
                      <a:pPr>
                        <a:defRPr b="0" sz="1300">
                          <a:solidFill>
                            <a:srgbClr val="222222"/>
                          </a:solidFill>
                        </a:defRPr>
                      </a:pPr>
                      <a:r>
                        <a:t>FY26 Q1 revenue overstated</a:t>
                      </a:r>
                    </a:p>
                  </a:txBody>
                  <a:tcPr anchor="ctr" marL="54864" marR="54864">
                    <a:solidFill>
                      <a:srgbClr val="FFFFFF"/>
                    </a:solidFill>
                  </a:tcPr>
                </a:tc>
                <a:tc>
                  <a:txBody>
                    <a:bodyPr/>
                    <a:lstStyle/>
                    <a:p>
                      <a:pPr algn="r">
                        <a:defRPr b="0" sz="1300">
                          <a:solidFill>
                            <a:srgbClr val="222222"/>
                          </a:solidFill>
                        </a:defRPr>
                      </a:pPr>
                      <a:r>
                        <a:t>4.20</a:t>
                      </a:r>
                    </a:p>
                  </a:txBody>
                  <a:tcPr anchor="ctr" marL="54864" marR="54864">
                    <a:solidFill>
                      <a:srgbClr val="FFFFFF"/>
                    </a:solidFill>
                  </a:tcPr>
                </a:tc>
              </a:tr>
              <a:tr h="525780">
                <a:tc>
                  <a:txBody>
                    <a:bodyPr/>
                    <a:lstStyle/>
                    <a:p>
                      <a:pPr>
                        <a:defRPr b="0" sz="1300">
                          <a:solidFill>
                            <a:srgbClr val="222222"/>
                          </a:solidFill>
                        </a:defRPr>
                      </a:pPr>
                      <a:r>
                        <a:t>VAR-002</a:t>
                      </a:r>
                    </a:p>
                  </a:txBody>
                  <a:tcPr anchor="ctr" marL="54864" marR="54864">
                    <a:solidFill>
                      <a:srgbClr val="EEEEEC"/>
                    </a:solidFill>
                  </a:tcPr>
                </a:tc>
                <a:tc>
                  <a:txBody>
                    <a:bodyPr/>
                    <a:lstStyle/>
                    <a:p>
                      <a:pPr>
                        <a:defRPr b="0" sz="1300">
                          <a:solidFill>
                            <a:srgbClr val="222222"/>
                          </a:solidFill>
                        </a:defRPr>
                      </a:pPr>
                      <a:r>
                        <a:t>Month-end boundary drift</a:t>
                      </a:r>
                    </a:p>
                  </a:txBody>
                  <a:tcPr anchor="ctr" marL="54864" marR="54864">
                    <a:solidFill>
                      <a:srgbClr val="EEEEEC"/>
                    </a:solidFill>
                  </a:tcPr>
                </a:tc>
                <a:tc>
                  <a:txBody>
                    <a:bodyPr/>
                    <a:lstStyle/>
                    <a:p>
                      <a:pPr algn="r">
                        <a:defRPr b="0" sz="1300">
                          <a:solidFill>
                            <a:srgbClr val="222222"/>
                          </a:solidFill>
                        </a:defRPr>
                      </a:pPr>
                      <a:r>
                        <a:t>0.90</a:t>
                      </a:r>
                    </a:p>
                  </a:txBody>
                  <a:tcPr anchor="ctr" marL="54864" marR="54864">
                    <a:solidFill>
                      <a:srgbClr val="EEEEEC"/>
                    </a:solidFill>
                  </a:tcPr>
                </a:tc>
              </a:tr>
              <a:tr h="525780">
                <a:tc>
                  <a:txBody>
                    <a:bodyPr/>
                    <a:lstStyle/>
                    <a:p>
                      <a:pPr>
                        <a:defRPr b="0" sz="1300">
                          <a:solidFill>
                            <a:srgbClr val="222222"/>
                          </a:solidFill>
                        </a:defRPr>
                      </a:pPr>
                      <a:r>
                        <a:t>VAR-003</a:t>
                      </a:r>
                    </a:p>
                  </a:txBody>
                  <a:tcPr anchor="ctr" marL="54864" marR="54864">
                    <a:solidFill>
                      <a:srgbClr val="FFFFFF"/>
                    </a:solidFill>
                  </a:tcPr>
                </a:tc>
                <a:tc>
                  <a:txBody>
                    <a:bodyPr/>
                    <a:lstStyle/>
                    <a:p>
                      <a:pPr>
                        <a:defRPr b="0" sz="1300">
                          <a:solidFill>
                            <a:srgbClr val="222222"/>
                          </a:solidFill>
                        </a:defRPr>
                      </a:pPr>
                      <a:r>
                        <a:t>Scheme discount double-count</a:t>
                      </a:r>
                    </a:p>
                  </a:txBody>
                  <a:tcPr anchor="ctr" marL="54864" marR="54864">
                    <a:solidFill>
                      <a:srgbClr val="FFFFFF"/>
                    </a:solidFill>
                  </a:tcPr>
                </a:tc>
                <a:tc>
                  <a:txBody>
                    <a:bodyPr/>
                    <a:lstStyle/>
                    <a:p>
                      <a:pPr algn="r">
                        <a:defRPr b="0" sz="1300">
                          <a:solidFill>
                            <a:srgbClr val="222222"/>
                          </a:solidFill>
                        </a:defRPr>
                      </a:pPr>
                      <a:r>
                        <a:t>1.70</a:t>
                      </a:r>
                    </a:p>
                  </a:txBody>
                  <a:tcPr anchor="ctr" marL="54864" marR="54864">
                    <a:solidFill>
                      <a:srgbClr val="FFFFFF"/>
                    </a:solidFill>
                  </a:tcPr>
                </a:tc>
              </a:tr>
              <a:tr h="525780">
                <a:tc>
                  <a:txBody>
                    <a:bodyPr/>
                    <a:lstStyle/>
                    <a:p>
                      <a:pPr>
                        <a:defRPr b="0" sz="1300">
                          <a:solidFill>
                            <a:srgbClr val="222222"/>
                          </a:solidFill>
                        </a:defRPr>
                      </a:pPr>
                      <a:r>
                        <a:t>VAR-004</a:t>
                      </a:r>
                    </a:p>
                  </a:txBody>
                  <a:tcPr anchor="ctr" marL="54864" marR="54864">
                    <a:solidFill>
                      <a:srgbClr val="EEEEEC"/>
                    </a:solidFill>
                  </a:tcPr>
                </a:tc>
                <a:tc>
                  <a:txBody>
                    <a:bodyPr/>
                    <a:lstStyle/>
                    <a:p>
                      <a:pPr>
                        <a:defRPr b="0" sz="1300">
                          <a:solidFill>
                            <a:srgbClr val="222222"/>
                          </a:solidFill>
                        </a:defRPr>
                      </a:pPr>
                      <a:r>
                        <a:t>Duplicate facts on distributor reassignment</a:t>
                      </a:r>
                    </a:p>
                  </a:txBody>
                  <a:tcPr anchor="ctr" marL="54864" marR="54864">
                    <a:solidFill>
                      <a:srgbClr val="EEEEEC"/>
                    </a:solidFill>
                  </a:tcPr>
                </a:tc>
                <a:tc>
                  <a:txBody>
                    <a:bodyPr/>
                    <a:lstStyle/>
                    <a:p>
                      <a:pPr algn="r">
                        <a:defRPr b="0" sz="1300">
                          <a:solidFill>
                            <a:srgbClr val="222222"/>
                          </a:solidFill>
                        </a:defRPr>
                      </a:pPr>
                      <a:r>
                        <a:t>0.65</a:t>
                      </a:r>
                    </a:p>
                  </a:txBody>
                  <a:tcPr anchor="ctr" marL="54864" marR="54864">
                    <a:solidFill>
                      <a:srgbClr val="EEEEEC"/>
                    </a:solidFill>
                  </a:tcPr>
                </a:tc>
              </a:tr>
              <a:tr h="525780">
                <a:tc>
                  <a:txBody>
                    <a:bodyPr/>
                    <a:lstStyle/>
                    <a:p>
                      <a:pPr>
                        <a:defRPr b="0" sz="1300">
                          <a:solidFill>
                            <a:srgbClr val="222222"/>
                          </a:solidFill>
                        </a:defRPr>
                      </a:pPr>
                      <a:r>
                        <a:t>VAR-005</a:t>
                      </a:r>
                    </a:p>
                  </a:txBody>
                  <a:tcPr anchor="ctr" marL="54864" marR="54864">
                    <a:solidFill>
                      <a:srgbClr val="FFFFFF"/>
                    </a:solidFill>
                  </a:tcPr>
                </a:tc>
                <a:tc>
                  <a:txBody>
                    <a:bodyPr/>
                    <a:lstStyle/>
                    <a:p>
                      <a:pPr>
                        <a:defRPr b="0" sz="1300">
                          <a:solidFill>
                            <a:srgbClr val="222222"/>
                          </a:solidFill>
                        </a:defRPr>
                      </a:pPr>
                      <a:r>
                        <a:t>Credit notes absent from warehouse</a:t>
                      </a:r>
                    </a:p>
                  </a:txBody>
                  <a:tcPr anchor="ctr" marL="54864" marR="54864">
                    <a:solidFill>
                      <a:srgbClr val="FFFFFF"/>
                    </a:solidFill>
                  </a:tcPr>
                </a:tc>
                <a:tc>
                  <a:txBody>
                    <a:bodyPr/>
                    <a:lstStyle/>
                    <a:p>
                      <a:pPr algn="r">
                        <a:defRPr b="0" sz="1300">
                          <a:solidFill>
                            <a:srgbClr val="222222"/>
                          </a:solidFill>
                        </a:defRPr>
                      </a:pPr>
                      <a:r>
                        <a:t>2.40</a:t>
                      </a:r>
                    </a:p>
                  </a:txBody>
                  <a:tcPr anchor="ctr" marL="54864" marR="54864">
                    <a:solidFill>
                      <a:srgbClr val="FFFFFF"/>
                    </a:solidFill>
                  </a:tcPr>
                </a:tc>
              </a:tr>
              <a:tr h="525780">
                <a:tc>
                  <a:txBody>
                    <a:bodyPr/>
                    <a:lstStyle/>
                    <a:p>
                      <a:pPr>
                        <a:defRPr b="0" sz="1300">
                          <a:solidFill>
                            <a:srgbClr val="222222"/>
                          </a:solidFill>
                        </a:defRPr>
                      </a:pPr>
                      <a:r>
                        <a:t>VAR-008</a:t>
                      </a:r>
                    </a:p>
                  </a:txBody>
                  <a:tcPr anchor="ctr" marL="54864" marR="54864">
                    <a:solidFill>
                      <a:srgbClr val="EEEEEC"/>
                    </a:solidFill>
                  </a:tcPr>
                </a:tc>
                <a:tc>
                  <a:txBody>
                    <a:bodyPr/>
                    <a:lstStyle/>
                    <a:p>
                      <a:pPr>
                        <a:defRPr b="0" sz="1300">
                          <a:solidFill>
                            <a:srgbClr val="222222"/>
                          </a:solidFill>
                        </a:defRPr>
                      </a:pPr>
                      <a:r>
                        <a:t>Feb duplicate load</a:t>
                      </a:r>
                    </a:p>
                  </a:txBody>
                  <a:tcPr anchor="ctr" marL="54864" marR="54864">
                    <a:solidFill>
                      <a:srgbClr val="EEEEEC"/>
                    </a:solidFill>
                  </a:tcPr>
                </a:tc>
                <a:tc>
                  <a:txBody>
                    <a:bodyPr/>
                    <a:lstStyle/>
                    <a:p>
                      <a:pPr algn="r">
                        <a:defRPr b="0" sz="1300">
                          <a:solidFill>
                            <a:srgbClr val="222222"/>
                          </a:solidFill>
                        </a:defRPr>
                      </a:pPr>
                      <a:r>
                        <a:t>2.90</a:t>
                      </a:r>
                    </a:p>
                  </a:txBody>
                  <a:tcPr anchor="ctr" marL="54864" marR="54864">
                    <a:solidFill>
                      <a:srgbClr val="EEEEEC"/>
                    </a:solidFill>
                  </a:tcPr>
                </a:tc>
              </a:tr>
              <a:tr h="525780">
                <a:tc>
                  <a:txBody>
                    <a:bodyPr/>
                    <a:lstStyle/>
                    <a:p>
                      <a:pPr>
                        <a:defRPr b="1" sz="1300">
                          <a:solidFill>
                            <a:srgbClr val="222222"/>
                          </a:solidFill>
                        </a:defRPr>
                      </a:pPr>
                    </a:p>
                  </a:txBody>
                  <a:tcPr anchor="ctr" marL="54864" marR="54864">
                    <a:solidFill>
                      <a:srgbClr val="DDDDD8"/>
                    </a:solidFill>
                  </a:tcPr>
                </a:tc>
                <a:tc>
                  <a:txBody>
                    <a:bodyPr/>
                    <a:lstStyle/>
                    <a:p>
                      <a:pPr>
                        <a:defRPr b="1" sz="1300">
                          <a:solidFill>
                            <a:srgbClr val="222222"/>
                          </a:solidFill>
                        </a:defRPr>
                      </a:pPr>
                      <a:r>
                        <a:t>Total quantified variance</a:t>
                      </a:r>
                    </a:p>
                  </a:txBody>
                  <a:tcPr anchor="ctr" marL="54864" marR="54864">
                    <a:solidFill>
                      <a:srgbClr val="DDDDD8"/>
                    </a:solidFill>
                  </a:tcPr>
                </a:tc>
                <a:tc>
                  <a:txBody>
                    <a:bodyPr/>
                    <a:lstStyle/>
                    <a:p>
                      <a:pPr algn="r">
                        <a:defRPr b="1" sz="1300">
                          <a:solidFill>
                            <a:srgbClr val="222222"/>
                          </a:solidFill>
                        </a:defRPr>
                      </a:pPr>
                      <a:r>
                        <a:t>13.10</a:t>
                      </a:r>
                    </a:p>
                  </a:txBody>
                  <a:tcPr anchor="ctr" marL="54864" marR="54864">
                    <a:solidFill>
                      <a:srgbClr val="DDDDD8"/>
                    </a:solidFill>
                  </a:tcPr>
                </a:tc>
              </a:tr>
            </a:tbl>
          </a:graphicData>
        </a:graphic>
      </p:graphicFrame>
      <p:sp>
        <p:nvSpPr>
          <p:cNvPr id="6" name="TextBox 5"/>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7" name="TextBox 6"/>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NEXT STEPS</a:t>
            </a:r>
          </a:p>
        </p:txBody>
      </p:sp>
      <p:sp>
        <p:nvSpPr>
          <p:cNvPr id="3" name="TextBox 2"/>
          <p:cNvSpPr txBox="1"/>
          <p:nvPr/>
        </p:nvSpPr>
        <p:spPr>
          <a:xfrm>
            <a:off x="457200" y="320040"/>
            <a:ext cx="11247120" cy="822960"/>
          </a:xfrm>
          <a:prstGeom prst="rect">
            <a:avLst/>
          </a:prstGeom>
          <a:noFill/>
        </p:spPr>
        <p:txBody>
          <a:bodyPr wrap="square">
            <a:spAutoFit/>
          </a:bodyPr>
          <a:lstStyle/>
          <a:p>
            <a:pPr>
              <a:defRPr sz="2400" b="1">
                <a:solidFill>
                  <a:srgbClr val="1B2A4A"/>
                </a:solidFill>
              </a:defRPr>
            </a:pPr>
            <a:r>
              <a:t>Actions before the next checkpoint</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57200" y="1371600"/>
          <a:ext cx="11247120" cy="3291840"/>
        </p:xfrm>
        <a:graphic>
          <a:graphicData uri="http://schemas.openxmlformats.org/drawingml/2006/table">
            <a:tbl>
              <a:tblPr firstRow="1" bandRow="1">
                <a:tableStyleId>{5C22544A-7EE6-4342-B048-85BDC9FD1C3A}</a:tableStyleId>
              </a:tblPr>
              <a:tblGrid>
                <a:gridCol w="5943600"/>
                <a:gridCol w="2743200"/>
                <a:gridCol w="2560320"/>
              </a:tblGrid>
              <a:tr h="548640">
                <a:tc>
                  <a:txBody>
                    <a:bodyPr/>
                    <a:lstStyle/>
                    <a:p>
                      <a:pPr>
                        <a:defRPr b="1" sz="1350">
                          <a:solidFill>
                            <a:srgbClr val="FFFFFF"/>
                          </a:solidFill>
                        </a:defRPr>
                      </a:pPr>
                      <a:r>
                        <a:t>Action</a:t>
                      </a:r>
                    </a:p>
                  </a:txBody>
                  <a:tcPr anchor="ctr" marL="54864" marR="54864">
                    <a:solidFill>
                      <a:srgbClr val="1B2A4A"/>
                    </a:solidFill>
                  </a:tcPr>
                </a:tc>
                <a:tc>
                  <a:txBody>
                    <a:bodyPr/>
                    <a:lstStyle/>
                    <a:p>
                      <a:pPr>
                        <a:defRPr b="1" sz="1350">
                          <a:solidFill>
                            <a:srgbClr val="FFFFFF"/>
                          </a:solidFill>
                        </a:defRPr>
                      </a:pPr>
                      <a:r>
                        <a:t>Owner</a:t>
                      </a:r>
                    </a:p>
                  </a:txBody>
                  <a:tcPr anchor="ctr" marL="54864" marR="54864">
                    <a:solidFill>
                      <a:srgbClr val="1B2A4A"/>
                    </a:solidFill>
                  </a:tcPr>
                </a:tc>
                <a:tc>
                  <a:txBody>
                    <a:bodyPr/>
                    <a:lstStyle/>
                    <a:p>
                      <a:pPr>
                        <a:defRPr b="1" sz="1350">
                          <a:solidFill>
                            <a:srgbClr val="FFFFFF"/>
                          </a:solidFill>
                        </a:defRPr>
                      </a:pPr>
                      <a:r>
                        <a:t>Target</a:t>
                      </a:r>
                    </a:p>
                  </a:txBody>
                  <a:tcPr anchor="ctr" marL="54864" marR="54864">
                    <a:solidFill>
                      <a:srgbClr val="1B2A4A"/>
                    </a:solidFill>
                  </a:tcPr>
                </a:tc>
              </a:tr>
              <a:tr h="548640">
                <a:tc>
                  <a:txBody>
                    <a:bodyPr/>
                    <a:lstStyle/>
                    <a:p>
                      <a:pPr>
                        <a:defRPr b="0" sz="1300">
                          <a:solidFill>
                            <a:srgbClr val="222222"/>
                          </a:solidFill>
                        </a:defRPr>
                      </a:pPr>
                      <a:r>
                        <a:t>Confirm VAR-003 remediation approach</a:t>
                      </a:r>
                    </a:p>
                  </a:txBody>
                  <a:tcPr anchor="ctr" marL="54864" marR="54864">
                    <a:solidFill>
                      <a:srgbClr val="FFFFFF"/>
                    </a:solidFill>
                  </a:tcPr>
                </a:tc>
                <a:tc>
                  <a:txBody>
                    <a:bodyPr/>
                    <a:lstStyle/>
                    <a:p>
                      <a:pPr>
                        <a:defRPr b="0" sz="1300">
                          <a:solidFill>
                            <a:srgbClr val="222222"/>
                          </a:solidFill>
                        </a:defRPr>
                      </a:pPr>
                      <a:r>
                        <a:t>Karthik Subramanian</a:t>
                      </a:r>
                    </a:p>
                  </a:txBody>
                  <a:tcPr anchor="ctr" marL="54864" marR="54864">
                    <a:solidFill>
                      <a:srgbClr val="FFFFFF"/>
                    </a:solidFill>
                  </a:tcPr>
                </a:tc>
                <a:tc>
                  <a:txBody>
                    <a:bodyPr/>
                    <a:lstStyle/>
                    <a:p>
                      <a:pPr>
                        <a:defRPr b="0" sz="1300">
                          <a:solidFill>
                            <a:srgbClr val="222222"/>
                          </a:solidFill>
                        </a:defRPr>
                      </a:pPr>
                      <a:r>
                        <a:t>06-May-2026</a:t>
                      </a:r>
                    </a:p>
                  </a:txBody>
                  <a:tcPr anchor="ctr" marL="54864" marR="54864">
                    <a:solidFill>
                      <a:srgbClr val="FFFFFF"/>
                    </a:solidFill>
                  </a:tcPr>
                </a:tc>
              </a:tr>
              <a:tr h="548640">
                <a:tc>
                  <a:txBody>
                    <a:bodyPr/>
                    <a:lstStyle/>
                    <a:p>
                      <a:pPr>
                        <a:defRPr b="0" sz="1300">
                          <a:solidFill>
                            <a:srgbClr val="222222"/>
                          </a:solidFill>
                        </a:defRPr>
                      </a:pPr>
                      <a:r>
                        <a:t>Isolate VAR-004 mechanism, size distributor impact</a:t>
                      </a:r>
                    </a:p>
                  </a:txBody>
                  <a:tcPr anchor="ctr" marL="54864" marR="54864">
                    <a:solidFill>
                      <a:srgbClr val="EEEEEC"/>
                    </a:solidFill>
                  </a:tcPr>
                </a:tc>
                <a:tc>
                  <a:txBody>
                    <a:bodyPr/>
                    <a:lstStyle/>
                    <a:p>
                      <a:pPr>
                        <a:defRPr b="0" sz="1300">
                          <a:solidFill>
                            <a:srgbClr val="222222"/>
                          </a:solidFill>
                        </a:defRPr>
                      </a:pPr>
                      <a:r>
                        <a:t>Ishaan Bhatt</a:t>
                      </a:r>
                    </a:p>
                  </a:txBody>
                  <a:tcPr anchor="ctr" marL="54864" marR="54864">
                    <a:solidFill>
                      <a:srgbClr val="EEEEEC"/>
                    </a:solidFill>
                  </a:tcPr>
                </a:tc>
                <a:tc>
                  <a:txBody>
                    <a:bodyPr/>
                    <a:lstStyle/>
                    <a:p>
                      <a:pPr>
                        <a:defRPr b="0" sz="1300">
                          <a:solidFill>
                            <a:srgbClr val="222222"/>
                          </a:solidFill>
                        </a:defRPr>
                      </a:pPr>
                      <a:r>
                        <a:t>TBC - before June DQ readout</a:t>
                      </a:r>
                    </a:p>
                  </a:txBody>
                  <a:tcPr anchor="ctr" marL="54864" marR="54864">
                    <a:solidFill>
                      <a:srgbClr val="EEEEEC"/>
                    </a:solidFill>
                  </a:tcPr>
                </a:tc>
              </a:tr>
              <a:tr h="548640">
                <a:tc>
                  <a:txBody>
                    <a:bodyPr/>
                    <a:lstStyle/>
                    <a:p>
                      <a:pPr>
                        <a:defRPr b="0" sz="1300">
                          <a:solidFill>
                            <a:srgbClr val="222222"/>
                          </a:solidFill>
                        </a:defRPr>
                      </a:pPr>
                      <a:r>
                        <a:t>Validate VAR-005 estimate against FY26 trial balance</a:t>
                      </a:r>
                    </a:p>
                  </a:txBody>
                  <a:tcPr anchor="ctr" marL="54864" marR="54864">
                    <a:solidFill>
                      <a:srgbClr val="FFFFFF"/>
                    </a:solidFill>
                  </a:tcPr>
                </a:tc>
                <a:tc>
                  <a:txBody>
                    <a:bodyPr/>
                    <a:lstStyle/>
                    <a:p>
                      <a:pPr>
                        <a:defRPr b="0" sz="1300">
                          <a:solidFill>
                            <a:srgbClr val="222222"/>
                          </a:solidFill>
                        </a:defRPr>
                      </a:pPr>
                      <a:r>
                        <a:t>Shalini Iyer</a:t>
                      </a:r>
                    </a:p>
                  </a:txBody>
                  <a:tcPr anchor="ctr" marL="54864" marR="54864">
                    <a:solidFill>
                      <a:srgbClr val="FFFFFF"/>
                    </a:solidFill>
                  </a:tcPr>
                </a:tc>
                <a:tc>
                  <a:txBody>
                    <a:bodyPr/>
                    <a:lstStyle/>
                    <a:p>
                      <a:pPr>
                        <a:defRPr b="0" sz="1300">
                          <a:solidFill>
                            <a:srgbClr val="222222"/>
                          </a:solidFill>
                        </a:defRPr>
                      </a:pPr>
                      <a:r>
                        <a:t>TBC</a:t>
                      </a:r>
                    </a:p>
                  </a:txBody>
                  <a:tcPr anchor="ctr" marL="54864" marR="54864">
                    <a:solidFill>
                      <a:srgbClr val="FFFFFF"/>
                    </a:solidFill>
                  </a:tcPr>
                </a:tc>
              </a:tr>
              <a:tr h="548640">
                <a:tc>
                  <a:txBody>
                    <a:bodyPr/>
                    <a:lstStyle/>
                    <a:p>
                      <a:pPr>
                        <a:defRPr b="0" sz="1300">
                          <a:solidFill>
                            <a:srgbClr val="222222"/>
                          </a:solidFill>
                        </a:defRPr>
                      </a:pPr>
                      <a:r>
                        <a:t>Confirm CHG0021184 / CHG0021207 release window</a:t>
                      </a:r>
                    </a:p>
                  </a:txBody>
                  <a:tcPr anchor="ctr" marL="54864" marR="54864">
                    <a:solidFill>
                      <a:srgbClr val="EEEEEC"/>
                    </a:solidFill>
                  </a:tcPr>
                </a:tc>
                <a:tc>
                  <a:txBody>
                    <a:bodyPr/>
                    <a:lstStyle/>
                    <a:p>
                      <a:pPr>
                        <a:defRPr b="0" sz="1300">
                          <a:solidFill>
                            <a:srgbClr val="222222"/>
                          </a:solidFill>
                        </a:defRPr>
                      </a:pPr>
                      <a:r>
                        <a:t>Farida Contractor</a:t>
                      </a:r>
                    </a:p>
                  </a:txBody>
                  <a:tcPr anchor="ctr" marL="54864" marR="54864">
                    <a:solidFill>
                      <a:srgbClr val="EEEEEC"/>
                    </a:solidFill>
                  </a:tcPr>
                </a:tc>
                <a:tc>
                  <a:txBody>
                    <a:bodyPr/>
                    <a:lstStyle/>
                    <a:p>
                      <a:pPr>
                        <a:defRPr b="0" sz="1300">
                          <a:solidFill>
                            <a:srgbClr val="222222"/>
                          </a:solidFill>
                        </a:defRPr>
                      </a:pPr>
                      <a:r>
                        <a:t>June release</a:t>
                      </a:r>
                    </a:p>
                  </a:txBody>
                  <a:tcPr anchor="ctr" marL="54864" marR="54864">
                    <a:solidFill>
                      <a:srgbClr val="EEEEEC"/>
                    </a:solidFill>
                  </a:tcPr>
                </a:tc>
              </a:tr>
              <a:tr h="548640">
                <a:tc>
                  <a:txBody>
                    <a:bodyPr/>
                    <a:lstStyle/>
                    <a:p>
                      <a:pPr>
                        <a:defRPr b="0" sz="1300">
                          <a:solidFill>
                            <a:srgbClr val="222222"/>
                          </a:solidFill>
                        </a:defRPr>
                      </a:pPr>
                      <a:r>
                        <a:t>Recirculate this register with any corrections</a:t>
                      </a:r>
                    </a:p>
                  </a:txBody>
                  <a:tcPr anchor="ctr" marL="54864" marR="54864">
                    <a:solidFill>
                      <a:srgbClr val="FFFFFF"/>
                    </a:solidFill>
                  </a:tcPr>
                </a:tc>
                <a:tc>
                  <a:txBody>
                    <a:bodyPr/>
                    <a:lstStyle/>
                    <a:p>
                      <a:pPr>
                        <a:defRPr b="0" sz="1300">
                          <a:solidFill>
                            <a:srgbClr val="222222"/>
                          </a:solidFill>
                        </a:defRPr>
                      </a:pPr>
                      <a:r>
                        <a:t>Sneha Pillai</a:t>
                      </a:r>
                    </a:p>
                  </a:txBody>
                  <a:tcPr anchor="ctr" marL="54864" marR="54864">
                    <a:solidFill>
                      <a:srgbClr val="FFFFFF"/>
                    </a:solidFill>
                  </a:tcPr>
                </a:tc>
                <a:tc>
                  <a:txBody>
                    <a:bodyPr/>
                    <a:lstStyle/>
                    <a:p>
                      <a:pPr>
                        <a:defRPr b="0" sz="1300">
                          <a:solidFill>
                            <a:srgbClr val="222222"/>
                          </a:solidFill>
                        </a:defRPr>
                      </a:pPr>
                      <a:r>
                        <a:t>within the week</a:t>
                      </a:r>
                    </a:p>
                  </a:txBody>
                  <a:tcPr anchor="ctr" marL="54864" marR="54864">
                    <a:solidFill>
                      <a:srgbClr val="FFFFFF"/>
                    </a:solidFill>
                  </a:tcPr>
                </a:tc>
              </a:tr>
            </a:tbl>
          </a:graphicData>
        </a:graphic>
      </p:graphicFrame>
      <p:sp>
        <p:nvSpPr>
          <p:cNvPr id="6" name="TextBox 5"/>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7" name="TextBox 6"/>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NEXT STEPS</a:t>
            </a:r>
          </a:p>
        </p:txBody>
      </p:sp>
      <p:sp>
        <p:nvSpPr>
          <p:cNvPr id="3" name="TextBox 2"/>
          <p:cNvSpPr txBox="1"/>
          <p:nvPr/>
        </p:nvSpPr>
        <p:spPr>
          <a:xfrm>
            <a:off x="457200" y="320040"/>
            <a:ext cx="11247120" cy="822960"/>
          </a:xfrm>
          <a:prstGeom prst="rect">
            <a:avLst/>
          </a:prstGeom>
          <a:noFill/>
        </p:spPr>
        <p:txBody>
          <a:bodyPr wrap="square">
            <a:spAutoFit/>
          </a:bodyPr>
          <a:lstStyle/>
          <a:p>
            <a:pPr>
              <a:defRPr sz="2400" b="1">
                <a:solidFill>
                  <a:srgbClr val="1B2A4A"/>
                </a:solidFill>
              </a:defRPr>
            </a:pPr>
            <a:r>
              <a:t>Risks and watch items</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234440"/>
            <a:ext cx="10972800" cy="4937760"/>
          </a:xfrm>
          <a:prstGeom prst="rect">
            <a:avLst/>
          </a:prstGeom>
          <a:noFill/>
        </p:spPr>
        <p:txBody>
          <a:bodyPr wrap="square">
            <a:spAutoFit/>
          </a:bodyPr>
          <a:lstStyle/>
          <a:p>
            <a:pPr>
              <a:spcAft>
                <a:spcPts val="1400"/>
              </a:spcAft>
              <a:defRPr sz="1600">
                <a:solidFill>
                  <a:srgbClr val="222222"/>
                </a:solidFill>
              </a:defRPr>
            </a:pPr>
            <a:r>
              <a:t>•  The register has grown at every checkpoint so far (three items at kickoff review, six today). The data quality assessment starting this month is likely to add more, not fewer.</a:t>
            </a:r>
          </a:p>
          <a:p>
            <a:pPr>
              <a:spcAft>
                <a:spcPts val="1400"/>
              </a:spcAft>
              <a:defRPr sz="1600">
                <a:solidFill>
                  <a:srgbClr val="222222"/>
                </a:solidFill>
              </a:defRPr>
            </a:pPr>
            <a:r>
              <a:t>•  VAR-001 and VAR-002 are fixed in build but not yet released - until CHG0021184 and CHG0021207 go live, the reported Q1 number stays at the overstated figure and Finance cannot sign against it.</a:t>
            </a:r>
          </a:p>
          <a:p>
            <a:pPr>
              <a:spcAft>
                <a:spcPts val="1400"/>
              </a:spcAft>
              <a:defRPr sz="1600">
                <a:solidFill>
                  <a:srgbClr val="222222"/>
                </a:solidFill>
              </a:defRPr>
            </a:pPr>
            <a:r>
              <a:t>•  VAR-004 is an early estimate and is still being sized. Do not quote it as final in front of Klarissen.</a:t>
            </a:r>
          </a:p>
          <a:p>
            <a:pPr>
              <a:spcAft>
                <a:spcPts val="1400"/>
              </a:spcAft>
              <a:defRPr sz="1600">
                <a:solidFill>
                  <a:srgbClr val="222222"/>
                </a:solidFill>
              </a:defRPr>
            </a:pPr>
            <a:r>
              <a:t>•  Secondary sales reconciliation (Vikram's numbers) is a separate, ongoing thread and is out of scope for this register - it should not get folded in here even though people keep asking.</a:t>
            </a:r>
          </a:p>
          <a:p>
            <a:pPr>
              <a:spcAft>
                <a:spcPts val="1400"/>
              </a:spcAft>
              <a:defRPr sz="1600">
                <a:solidFill>
                  <a:srgbClr val="222222"/>
                </a:solidFill>
              </a:defRPr>
            </a:pPr>
            <a:r>
              <a:t>•  Onward.</a:t>
            </a:r>
          </a:p>
        </p:txBody>
      </p:sp>
      <p:sp>
        <p:nvSpPr>
          <p:cNvPr id="6" name="TextBox 5"/>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7" name="TextBox 6"/>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09728"/>
            <a:ext cx="7315200" cy="274320"/>
          </a:xfrm>
          <a:prstGeom prst="rect">
            <a:avLst/>
          </a:prstGeom>
          <a:noFill/>
        </p:spPr>
        <p:txBody>
          <a:bodyPr wrap="none">
            <a:spAutoFit/>
          </a:bodyPr>
          <a:lstStyle/>
          <a:p>
            <a:pPr>
              <a:defRPr sz="1100" b="1">
                <a:solidFill>
                  <a:srgbClr val="B03A2E"/>
                </a:solidFill>
              </a:defRPr>
            </a:pPr>
            <a:r>
              <a:t>SUMMARY</a:t>
            </a:r>
          </a:p>
        </p:txBody>
      </p:sp>
      <p:sp>
        <p:nvSpPr>
          <p:cNvPr id="3" name="TextBox 2"/>
          <p:cNvSpPr txBox="1"/>
          <p:nvPr/>
        </p:nvSpPr>
        <p:spPr>
          <a:xfrm>
            <a:off x="457200" y="320040"/>
            <a:ext cx="11247120" cy="822960"/>
          </a:xfrm>
          <a:prstGeom prst="rect">
            <a:avLst/>
          </a:prstGeom>
          <a:noFill/>
        </p:spPr>
        <p:txBody>
          <a:bodyPr wrap="square">
            <a:spAutoFit/>
          </a:bodyPr>
          <a:lstStyle/>
          <a:p>
            <a:pPr>
              <a:defRPr sz="2600" b="1">
                <a:solidFill>
                  <a:srgbClr val="1B2A4A"/>
                </a:solidFill>
              </a:defRPr>
            </a:pPr>
            <a:r>
              <a:t>Key messages</a:t>
            </a:r>
          </a:p>
        </p:txBody>
      </p:sp>
      <p:cxnSp>
        <p:nvCxnSpPr>
          <p:cNvPr id="4" name="Connector 3"/>
          <p:cNvCxnSpPr/>
          <p:nvPr/>
        </p:nvCxnSpPr>
        <p:spPr>
          <a:xfrm>
            <a:off x="457200" y="1051560"/>
            <a:ext cx="11247120" cy="0"/>
          </a:xfrm>
          <a:prstGeom prst="line">
            <a:avLst/>
          </a:prstGeom>
          <a:ln w="15875">
            <a:solidFill>
              <a:srgbClr val="EEEEE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234440"/>
            <a:ext cx="10972800" cy="4937760"/>
          </a:xfrm>
          <a:prstGeom prst="rect">
            <a:avLst/>
          </a:prstGeom>
          <a:noFill/>
        </p:spPr>
        <p:txBody>
          <a:bodyPr wrap="square">
            <a:spAutoFit/>
          </a:bodyPr>
          <a:lstStyle/>
          <a:p>
            <a:pPr>
              <a:spcAft>
                <a:spcPts val="1400"/>
              </a:spcAft>
              <a:defRPr sz="1650">
                <a:solidFill>
                  <a:srgbClr val="222222"/>
                </a:solidFill>
              </a:defRPr>
            </a:pPr>
            <a:r>
              <a:t>•  Six items on the register today, one closed (VAR-008), two fixed but awaiting release (VAR-001, VAR-002), one root-caused and awaiting remediation design (VAR-003), two newly flagged and still being sized (VAR-004, VAR-005).</a:t>
            </a:r>
          </a:p>
          <a:p>
            <a:pPr>
              <a:spcAft>
                <a:spcPts val="1400"/>
              </a:spcAft>
              <a:defRPr sz="1650">
                <a:solidFill>
                  <a:srgbClr val="222222"/>
                </a:solidFill>
              </a:defRPr>
            </a:pPr>
            <a:r>
              <a:t>•  Total quantified variance to date: INR 12.75 Cr.</a:t>
            </a:r>
          </a:p>
          <a:p>
            <a:pPr>
              <a:spcAft>
                <a:spcPts val="1400"/>
              </a:spcAft>
              <a:defRPr sz="1650">
                <a:solidFill>
                  <a:srgbClr val="222222"/>
                </a:solidFill>
              </a:defRPr>
            </a:pPr>
            <a:r>
              <a:t>•  Scheme discount double-count (VAR-003) is confirmed as a source-side issue inside ORION's own finance processing, not an ETL defect and not a database link problem.</a:t>
            </a:r>
          </a:p>
          <a:p>
            <a:pPr>
              <a:spcAft>
                <a:spcPts val="1400"/>
              </a:spcAft>
              <a:defRPr sz="1650">
                <a:solidFill>
                  <a:srgbClr val="222222"/>
                </a:solidFill>
              </a:defRPr>
            </a:pPr>
            <a:r>
              <a:t>•  The credit note gap (VAR-005) is the one Finance is watching most closely given the board pack timeline.</a:t>
            </a:r>
          </a:p>
          <a:p>
            <a:pPr>
              <a:spcAft>
                <a:spcPts val="1400"/>
              </a:spcAft>
              <a:defRPr sz="1650">
                <a:solidFill>
                  <a:srgbClr val="222222"/>
                </a:solidFill>
              </a:defRPr>
            </a:pPr>
            <a:r>
              <a:t>•  Design sign-off tomorrow (06-May-2026) will lock the remediation approach for VAR-003.</a:t>
            </a:r>
          </a:p>
        </p:txBody>
      </p:sp>
      <p:sp>
        <p:nvSpPr>
          <p:cNvPr id="6" name="TextBox 5"/>
          <p:cNvSpPr txBox="1"/>
          <p:nvPr/>
        </p:nvSpPr>
        <p:spPr>
          <a:xfrm>
            <a:off x="365760" y="6510528"/>
            <a:ext cx="8778240" cy="292608"/>
          </a:xfrm>
          <a:prstGeom prst="rect">
            <a:avLst/>
          </a:prstGeom>
          <a:noFill/>
        </p:spPr>
        <p:txBody>
          <a:bodyPr wrap="none" tIns="0" bIns="0">
            <a:spAutoFit/>
          </a:bodyPr>
          <a:lstStyle/>
          <a:p>
            <a:pPr>
              <a:defRPr sz="800" i="0">
                <a:solidFill>
                  <a:srgbClr val="8A8F98"/>
                </a:solidFill>
              </a:defRPr>
            </a:pPr>
            <a:r>
              <a:t>Bharadwaj Consumer Products Ltd  |  Project Drishti - Confidential, Internal Working Draft</a:t>
            </a:r>
          </a:p>
        </p:txBody>
      </p:sp>
      <p:sp>
        <p:nvSpPr>
          <p:cNvPr id="7" name="TextBox 6"/>
          <p:cNvSpPr txBox="1"/>
          <p:nvPr/>
        </p:nvSpPr>
        <p:spPr>
          <a:xfrm>
            <a:off x="9235440" y="6510528"/>
            <a:ext cx="2286000" cy="292608"/>
          </a:xfrm>
          <a:prstGeom prst="rect">
            <a:avLst/>
          </a:prstGeom>
          <a:noFill/>
        </p:spPr>
        <p:txBody>
          <a:bodyPr wrap="none" tIns="0">
            <a:spAutoFit/>
          </a:bodyPr>
          <a:lstStyle/>
          <a:p>
            <a:pPr algn="r">
              <a:defRPr sz="800">
                <a:solidFill>
                  <a:srgbClr val="8A8F98"/>
                </a:solidFill>
              </a:defRPr>
            </a:pPr>
            <a:r>
              <a:t>Client Confidential - Not for external distribution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3017520"/>
            <a:ext cx="10332720" cy="914400"/>
          </a:xfrm>
          <a:prstGeom prst="rect">
            <a:avLst/>
          </a:prstGeom>
          <a:noFill/>
        </p:spPr>
        <p:txBody>
          <a:bodyPr wrap="square">
            <a:spAutoFit/>
          </a:bodyPr>
          <a:lstStyle/>
          <a:p>
            <a:pPr algn="ctr">
              <a:defRPr sz="1800">
                <a:solidFill>
                  <a:srgbClr val="FFFFFF"/>
                </a:solidFill>
              </a:defRPr>
            </a:pPr>
            <a:r>
              <a:t>SYNTHETIC — generated for internal demo. No real entity depicted.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Variance Root Cause - Readout - May 2026</dc:title>
  <dc:subject>Project Drishti - Variance root cause readout</dc:subject>
  <dc:creator>Karthik Subramanian</dc:creator>
  <cp:keywords/>
  <dc:description>SYNTHETIC — generated for internal demo. No real entity depicted.</dc:description>
  <cp:lastModifiedBy>Karthik Subramanian</cp:lastModifiedBy>
  <cp:revision>2</cp:revision>
  <dcterms:created xsi:type="dcterms:W3CDTF">2026-05-05T09:40:00Z</dcterms:created>
  <dcterms:modified xsi:type="dcterms:W3CDTF">2026-05-05T18:05:00Z</dcterms:modified>
  <cp:category>Working draft</cp:category>
</cp:coreProperties>
</file>