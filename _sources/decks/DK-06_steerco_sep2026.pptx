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Chair: Rajeev Menon. This is the 22-Sep pack, prepared off the 18-Sep tracker save (there were two versions floating around last week, Shalini flagged this on the call - confirm we are all on v7 before item 2).</a:t>
            </a:r>
          </a:p>
          <a:p>
            <a:r>
              <a:t>Marijke is on for the full 45 minutes (11:30-12:15 CEST). Wei Lin is not on this call, she is cc'd on the pack only, so do not address her directly or wait on her for anything.</a:t>
            </a:r>
          </a:p>
          <a:p>
            <a:r>
              <a:t>Do not open with the date. Ananya's line is to say up front this is NOT a build problem, it is the Klarissen group close blackout - say that before anyone asks, it lands better.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items only, keep to time, Rajeev has a hard stop at quarter to (another call). If we run over, drop the AOB detail and just read the actions.</a:t>
            </a:r>
          </a:p>
          <a:p>
            <a:r>
              <a:t>Reminder for whoever is sharing screen: the pack is also on the invite, some of them will be following on their own laptop rather than the shared screen, do not assume everyone is looking at the same slide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this is not a build problem. Say that sentence before Rajeev or Shalini can ask what has gone wrong again - it changes the tone of the next six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Dashboard Build row out as a flat green if Karthik or Shalini pushes on it. Ritwik's team is basically two reports behind where the plan said they would be this week; it is being smoothed over for this slide because the two dashboards that came back in (D04, D11) sit on the existing model, so it does not move the date, only the workload. If asked directly, say amber verbally and move on.</a:t>
            </a:r>
          </a:p>
          <a:p>
            <a:r>
              <a:t>Separately, and this is important: Shalini has NOT agreed the November resourcing for UAT. She asked, in the last steerco, for this to be minuted seperately rather than folded into a green row. If she raises it, do not argue, just confirm it will be tracked as an open item, not as agreed capacity. This is basically the same three people every cycle and she knows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Rajeev asks 'since when do we know this' - the blackout is a standing Group calendar item, not new information, it is the UAT timeline catching up with a constraint that was always there.</a:t>
            </a:r>
          </a:p>
          <a:p>
            <a:r>
              <a:t>Master data freeze for distributor/territory records begins the Friday evening before the cutover weekend (6-Nov). This is an operational detail, not yet in a formal freeze note - Vikram will ask about it, tell him a freeze note is coming separately, do not get into territory-mapping specifics on this call.</a:t>
            </a:r>
          </a:p>
          <a:p>
            <a:r>
              <a:t>If Shalini raises the October close overlapping the reload week: the reload does not restate any values, it is the same source rows going back in. Do not let that turn into a wider reconciliation debate on this call, park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closed items first, then open. Do not let the credit note conversation start before the closed items are done, Marijke will try to jump straight to it, hold her off politely.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as they stand in the tracker, version 7, saved 18-Sep. Shalini already flagged on the invite that there were two versions floating around last week - confirm out loud that everyone is looking at v7 before you start, it saves a detour later.</a:t>
            </a:r>
          </a:p>
          <a:p>
            <a:r>
              <a:t>Arithmetic check someone will do in their head: 1.70 + 0.65 + 3.11 = 5.46, but the summary says 5.45. That is because the summary sheet rounds the VAR-005 figure to 3.10 while the detail sheet carries 3.11 - the one-lakh gap is a rounding artefact between two tabs of the same workbook, not a new error. This is already an open action on Ananya (fix the tracker), do not try to reconcile it live on the call, and do not let Rajeev wave it away with 'let's not boil the ocean' either, Shalini will push back on that exact point, let her.</a:t>
            </a:r>
          </a:p>
          <a:p>
            <a:r>
              <a:t>VAR-004 workstream lead is Ishaan Bhatt. Do not editorialise on that beyond confirming who to contact if asked.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Marijke will ask what the plan is for VAR-005. Do not give her a plan or a date on this call. The line is: options will come back before the next steering committee, not today. She wants a date and an owner for the fix, not options - acknowledge that directly rather than pretending the ask was for something softer.</a:t>
            </a:r>
          </a:p>
          <a:p>
            <a:r>
              <a:t>Do not describe, hint at, or speculate on how credit notes might eventually be handled inside Power BI or the semantic model. That is not decided and is explicitly not for this room. If pushed, say Finance and architecture will bring a recommendation back.</a:t>
            </a:r>
          </a:p>
          <a:p>
            <a:r>
              <a:t>If asked whether VAR-005 is in the audit file: it is in the variance register, and the register goes to the audit call, but Marijke has already made clear that is not the same thing as being IN the audit file itself - Rajeev has an action to confirm that separately, do not claim it is already done.</a:t>
            </a:r>
          </a:p>
          <a:p>
            <a:r>
              <a:t>FY26 figure only. The FY27 position is not yet available; Finance has not committed a date for it. Do not offer one on their behalf.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nine, at go-live, on the twelfth. Say the number before anyone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(probably Vikram) asks if secondary sales coverage is in the nine: it is not. He sees his secondary sales the same way he does today, this does not change on the twelfth. Take that conversation offline, do not get drawn into his North distributor numbers on this call, they are not on this agenda.</a:t>
            </a:r>
          </a:p>
          <a:p>
            <a:r>
              <a:t>The two reinstated dashboards sit on the existing data model, this is build effort only, it is not new plumbing, and it does NOT move the go-live date. Karthik will confirm this if asked. Ritwik already has wireframes for both from August so the team is not starting cold.</a:t>
            </a:r>
          </a:p>
          <a:p>
            <a:r>
              <a:t>Confirm: this is nine AT go-live on the twelfth, not nine by the end of hypercare. Wei Lin is not on this call but she will pick at that exact distinction when she reads the pack, so get the wording right now rather than clarifying by email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deliberately the appendix-style one, it carries everything that did not fit cleanly onto the earlier slides. Do not read it line by line on the call, use it only if someone asks a specific question and you need the detail in front of you.</a:t>
            </a:r>
          </a:p>
          <a:p>
            <a:r>
              <a:t>If Rajeev flips past this quickly, let him, it is here for completeness and for the minutes, not for airtime. Basically a backstop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give exact UAT start/end dates on this slide, they are not finalised for circulation yet, Sneha is sending the slot schedule out next week, only after that should firm dates go into any written pack. If someone asks for the exact dates today, say they are coming in writing shortly, do not guess a number out loud.</a:t>
            </a:r>
          </a:p>
          <a:p>
            <a:r>
              <a:t>Vikram will likely raise that Baddi and Nashik numbers were missing from his last extract - tell him it will be checked with Farida's team, do not attempt to resolve it live.</a:t>
            </a:r>
          </a:p>
          <a:p>
            <a:r>
              <a:t>If asked how much float is really in the plan: not much, and it is better to say that plainly than to imply otherwise. This is the honest answer if Shalini or Marijke pushes on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intentionally short, it is the summary ask behind all the others: does this committee approve the plan as presented. Do not skip it just because it looks like a placeholder, Rajeev likes a clean close and will read it out as written.</a:t>
            </a:r>
          </a:p>
          <a:p>
            <a:r>
              <a:t>If Marijke asks again 'so what is the plan' on VAR-005 after this slide, repeat: an owner and options come back before the next steering committee, not a fix date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actions read back on the call by Sneha, plus the freeze note which got folded under AI-56 after the fact (it was raised informally mid-discussion and almost got lost, Ananya caught it and asked Sneha to add it).</a:t>
            </a:r>
          </a:p>
          <a:p>
            <a:r>
              <a:t>Do not create a seperate action for the November resourcing gap, Shalini specifically asked for it to sit in the body of the minutes as a flag, not as a numbered action with her name against a date she has not agreed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48840"/>
            <a:ext cx="9144000" cy="457200"/>
          </a:xfrm>
          <a:prstGeom prst="rect">
            <a:avLst/>
          </a:prstGeom>
          <a:noFill/>
        </p:spPr>
        <p:txBody>
          <a:bodyPr wrap="none">
            <a:spAutoFit/>
          </a:bodyPr>
          <a:lstStyle/>
          <a:p>
            <a:r>
              <a:rPr sz="1600" b="1">
                <a:solidFill>
                  <a:srgbClr val="D9D9D6"/>
                </a:solidFill>
                <a:latin typeface="Calibri"/>
              </a:rPr>
              <a:t>PROJECT DRISHTI  |  BHARADWAJ CONSUMER PRODUCTS LTD</a:t>
            </a:r>
          </a:p>
        </p:txBody>
      </p:sp>
      <p:sp>
        <p:nvSpPr>
          <p:cNvPr id="5" name="TextBox 4"/>
          <p:cNvSpPr txBox="1"/>
          <p:nvPr/>
        </p:nvSpPr>
        <p:spPr>
          <a:xfrm>
            <a:off x="822960" y="2606040"/>
            <a:ext cx="10058400" cy="1188720"/>
          </a:xfrm>
          <a:prstGeom prst="rect">
            <a:avLst/>
          </a:prstGeom>
          <a:noFill/>
        </p:spPr>
        <p:txBody>
          <a:bodyPr wrap="square">
            <a:spAutoFit/>
          </a:bodyPr>
          <a:lstStyle/>
          <a:p>
            <a:r>
              <a:rPr sz="4400" b="1">
                <a:solidFill>
                  <a:srgbClr val="FFFFFF"/>
                </a:solidFill>
                <a:latin typeface="Calibri"/>
              </a:rPr>
              <a:t>Steering Committee</a:t>
            </a:r>
          </a:p>
        </p:txBody>
      </p:sp>
      <p:sp>
        <p:nvSpPr>
          <p:cNvPr id="6" name="TextBox 5"/>
          <p:cNvSpPr txBox="1"/>
          <p:nvPr/>
        </p:nvSpPr>
        <p:spPr>
          <a:xfrm>
            <a:off x="822960" y="4343400"/>
            <a:ext cx="10058400" cy="457200"/>
          </a:xfrm>
          <a:prstGeom prst="rect">
            <a:avLst/>
          </a:prstGeom>
          <a:noFill/>
        </p:spPr>
        <p:txBody>
          <a:bodyPr wrap="none">
            <a:spAutoFit/>
          </a:bodyPr>
          <a:lstStyle/>
          <a:p>
            <a:r>
              <a:rPr sz="1600">
                <a:solidFill>
                  <a:srgbClr val="D9D9D6"/>
                </a:solidFill>
                <a:latin typeface="Calibri"/>
              </a:rPr>
              <a:t>Tuesday, 22 September 2026, 15:00-15:45 IST  |  MS Teams</a:t>
            </a:r>
          </a:p>
        </p:txBody>
      </p:sp>
      <p:sp>
        <p:nvSpPr>
          <p:cNvPr id="7" name="TextBox 6"/>
          <p:cNvSpPr txBox="1"/>
          <p:nvPr/>
        </p:nvSpPr>
        <p:spPr>
          <a:xfrm>
            <a:off x="822960" y="4800600"/>
            <a:ext cx="10058400" cy="365760"/>
          </a:xfrm>
          <a:prstGeom prst="rect">
            <a:avLst/>
          </a:prstGeom>
          <a:noFill/>
        </p:spPr>
        <p:txBody>
          <a:bodyPr wrap="none">
            <a:spAutoFit/>
          </a:bodyPr>
          <a:lstStyle/>
          <a:p>
            <a:r>
              <a:rPr sz="1300">
                <a:solidFill>
                  <a:srgbClr val="D9D9D6"/>
                </a:solidFill>
                <a:latin typeface="Calibri"/>
              </a:rPr>
              <a:t>Bharadwaj Consumer Products Ltd  |  Klarissen Group N.V.  |  Northlane Analytics</a:t>
            </a:r>
          </a:p>
        </p:txBody>
      </p:sp>
      <p:sp>
        <p:nvSpPr>
          <p:cNvPr id="8" name="TextBox 7"/>
          <p:cNvSpPr txBox="1"/>
          <p:nvPr/>
        </p:nvSpPr>
        <p:spPr>
          <a:xfrm>
            <a:off x="822960" y="5577840"/>
            <a:ext cx="10515600" cy="914400"/>
          </a:xfrm>
          <a:prstGeom prst="rect">
            <a:avLst/>
          </a:prstGeom>
          <a:noFill/>
        </p:spPr>
        <p:txBody>
          <a:bodyPr wrap="square">
            <a:spAutoFit/>
          </a:bodyPr>
          <a:lstStyle/>
          <a:p>
            <a:r>
              <a:rPr sz="1100">
                <a:solidFill>
                  <a:srgbClr val="D9D9D6"/>
                </a:solidFill>
                <a:latin typeface="Calibri"/>
              </a:rPr>
              <a:t>Circulated to: Rajeev Menon, Shalini Iyer, Vikram Sethi, Karthik Subramanian, Ananya Krishnan, Sneha Pillai</a:t>
            </a:r>
          </a:p>
          <a:p>
            <a:r>
              <a:rPr sz="1100" i="1">
                <a:solidFill>
                  <a:srgbClr val="D9D9D6"/>
                </a:solidFill>
                <a:latin typeface="Calibri"/>
              </a:rPr>
              <a:t>cc: van der Berg, Marijke (Klarissen Group N.V.) | Tan, Wei Lin (Klarissen Group N.V.)</a:t>
            </a:r>
          </a:p>
        </p:txBody>
      </p:sp>
      <p:sp>
        <p:nvSpPr>
          <p:cNvPr id="9" name="TextBox 8"/>
          <p:cNvSpPr txBox="1"/>
          <p:nvPr/>
        </p:nvSpPr>
        <p:spPr>
          <a:xfrm>
            <a:off x="822960" y="6263640"/>
            <a:ext cx="7315200" cy="320040"/>
          </a:xfrm>
          <a:prstGeom prst="rect">
            <a:avLst/>
          </a:prstGeom>
          <a:noFill/>
        </p:spPr>
        <p:txBody>
          <a:bodyPr wrap="none">
            <a:spAutoFit/>
          </a:bodyPr>
          <a:lstStyle/>
          <a:p>
            <a:r>
              <a:rPr sz="1000">
                <a:solidFill>
                  <a:srgbClr val="D9D9D6"/>
                </a:solidFill>
                <a:latin typeface="Calibri"/>
              </a:rPr>
              <a:t>Confidential - Steering Committee Distribution Only</a:t>
            </a:r>
          </a:p>
        </p:txBody>
      </p:sp>
      <p:sp>
        <p:nvSpPr>
          <p:cNvPr id="10" name="Rectangle 9"/>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11" name="TextBox 10"/>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1300" b="1">
                <a:solidFill>
                  <a:srgbClr val="44515E"/>
                </a:solidFill>
                <a:latin typeface="Calibri"/>
              </a:rPr>
              <a:t>22 SEPTEMBER 2026  ·  45 MINUTES</a:t>
            </a:r>
          </a:p>
          <a:p>
            <a:r>
              <a:rPr sz="2600" b="1">
                <a:solidFill>
                  <a:srgbClr val="1F2D3D"/>
                </a:solidFill>
                <a:latin typeface="Calibri"/>
              </a:rPr>
              <a:t>Agenda</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10881360" cy="5120640"/>
          </a:xfrm>
          <a:prstGeom prst="rect">
            <a:avLst/>
          </a:prstGeom>
          <a:noFill/>
        </p:spPr>
        <p:txBody>
          <a:bodyPr wrap="square">
            <a:spAutoFit/>
          </a:bodyPr>
          <a:lstStyle/>
          <a:p>
            <a:pPr>
              <a:lnSpc>
                <a:spcPct val="115000"/>
              </a:lnSpc>
              <a:spcAft>
                <a:spcPts val="600"/>
              </a:spcAft>
            </a:pPr>
            <a:r>
              <a:rPr sz="2000" b="1">
                <a:solidFill>
                  <a:srgbClr val="222222"/>
                </a:solidFill>
                <a:latin typeface="Calibri"/>
              </a:rPr>
              <a:t>•  The plan and the go-live date</a:t>
            </a:r>
          </a:p>
          <a:p>
            <a:pPr lvl="1">
              <a:lnSpc>
                <a:spcPct val="115000"/>
              </a:lnSpc>
              <a:spcAft>
                <a:spcPts val="600"/>
              </a:spcAft>
            </a:pPr>
            <a:r>
              <a:rPr sz="1800" b="0">
                <a:solidFill>
                  <a:srgbClr val="222222"/>
                </a:solidFill>
                <a:latin typeface="Calibri"/>
              </a:rPr>
              <a:t>–  Klarissen group close blackout and the revised cutover shape</a:t>
            </a:r>
          </a:p>
          <a:p>
            <a:pPr>
              <a:lnSpc>
                <a:spcPct val="115000"/>
              </a:lnSpc>
              <a:spcAft>
                <a:spcPts val="600"/>
              </a:spcAft>
            </a:pPr>
            <a:r>
              <a:rPr sz="2000" b="1">
                <a:solidFill>
                  <a:srgbClr val="222222"/>
                </a:solidFill>
                <a:latin typeface="Calibri"/>
              </a:rPr>
              <a:t>•  Variance register</a:t>
            </a:r>
          </a:p>
          <a:p>
            <a:pPr lvl="1">
              <a:lnSpc>
                <a:spcPct val="115000"/>
              </a:lnSpc>
              <a:spcAft>
                <a:spcPts val="600"/>
              </a:spcAft>
            </a:pPr>
            <a:r>
              <a:rPr sz="1800" b="0">
                <a:solidFill>
                  <a:srgbClr val="222222"/>
                </a:solidFill>
                <a:latin typeface="Calibri"/>
              </a:rPr>
              <a:t>–  Closed items, then open items</a:t>
            </a:r>
          </a:p>
          <a:p>
            <a:pPr lvl="1">
              <a:lnSpc>
                <a:spcPct val="115000"/>
              </a:lnSpc>
              <a:spcAft>
                <a:spcPts val="600"/>
              </a:spcAft>
            </a:pPr>
            <a:r>
              <a:rPr sz="1800" b="0">
                <a:solidFill>
                  <a:srgbClr val="222222"/>
                </a:solidFill>
                <a:latin typeface="Calibri"/>
              </a:rPr>
              <a:t>–  Credit note position (VAR-005) - taken as a sub-item at Marijke's request</a:t>
            </a:r>
          </a:p>
          <a:p>
            <a:pPr>
              <a:lnSpc>
                <a:spcPct val="115000"/>
              </a:lnSpc>
              <a:spcAft>
                <a:spcPts val="600"/>
              </a:spcAft>
            </a:pPr>
            <a:r>
              <a:rPr sz="2000" b="1">
                <a:solidFill>
                  <a:srgbClr val="222222"/>
                </a:solidFill>
                <a:latin typeface="Calibri"/>
              </a:rPr>
              <a:t>•  Reporting scope for go-live</a:t>
            </a:r>
          </a:p>
          <a:p>
            <a:pPr lvl="1">
              <a:lnSpc>
                <a:spcPct val="115000"/>
              </a:lnSpc>
              <a:spcAft>
                <a:spcPts val="600"/>
              </a:spcAft>
            </a:pPr>
            <a:r>
              <a:rPr sz="1800" b="0">
                <a:solidFill>
                  <a:srgbClr val="222222"/>
                </a:solidFill>
                <a:latin typeface="Calibri"/>
              </a:rPr>
              <a:t>–  Dashboards confirmed, funding position</a:t>
            </a:r>
          </a:p>
          <a:p>
            <a:pPr>
              <a:lnSpc>
                <a:spcPct val="115000"/>
              </a:lnSpc>
              <a:spcAft>
                <a:spcPts val="600"/>
              </a:spcAft>
            </a:pPr>
            <a:r>
              <a:rPr sz="2000" b="1">
                <a:solidFill>
                  <a:srgbClr val="222222"/>
                </a:solidFill>
                <a:latin typeface="Calibri"/>
              </a:rPr>
              <a:t>•  Any other business</a:t>
            </a:r>
          </a:p>
          <a:p>
            <a:pPr lvl="1">
              <a:lnSpc>
                <a:spcPct val="115000"/>
              </a:lnSpc>
              <a:spcAft>
                <a:spcPts val="600"/>
              </a:spcAft>
            </a:pPr>
            <a:r>
              <a:rPr sz="1800" b="0">
                <a:solidFill>
                  <a:srgbClr val="222222"/>
                </a:solidFill>
                <a:latin typeface="Calibri"/>
              </a:rPr>
              <a:t>–  UAT window</a:t>
            </a:r>
          </a:p>
          <a:p>
            <a:pPr lvl="1">
              <a:lnSpc>
                <a:spcPct val="115000"/>
              </a:lnSpc>
              <a:spcAft>
                <a:spcPts val="600"/>
              </a:spcAft>
            </a:pPr>
            <a:r>
              <a:rPr sz="1800" b="0">
                <a:solidFill>
                  <a:srgbClr val="222222"/>
                </a:solidFill>
                <a:latin typeface="Calibri"/>
              </a:rPr>
              <a:t>–  Actions</a:t>
            </a:r>
          </a:p>
        </p:txBody>
      </p:sp>
      <p:sp>
        <p:nvSpPr>
          <p:cNvPr id="5" name="TextBox 4"/>
          <p:cNvSpPr txBox="1"/>
          <p:nvPr/>
        </p:nvSpPr>
        <p:spPr>
          <a:xfrm>
            <a:off x="9144000" y="274320"/>
            <a:ext cx="2651760" cy="457200"/>
          </a:xfrm>
          <a:prstGeom prst="rect">
            <a:avLst/>
          </a:prstGeom>
          <a:noFill/>
        </p:spPr>
        <p:txBody>
          <a:bodyPr wrap="none">
            <a:spAutoFit/>
          </a:bodyPr>
          <a:lstStyle/>
          <a:p>
            <a:pPr algn="r"/>
            <a:r>
              <a:rPr sz="1000" i="1">
                <a:solidFill>
                  <a:srgbClr val="44515E"/>
                </a:solidFill>
              </a:rPr>
              <a:t>v2 - updated 21-Sep after dry-run w/ Rajeev</a:t>
            </a:r>
          </a:p>
        </p:txBody>
      </p:sp>
      <p:sp>
        <p:nvSpPr>
          <p:cNvPr id="6" name="Rectangle 5"/>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7" name="TextBox 6"/>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828800" cy="1188720"/>
          </a:xfrm>
          <a:prstGeom prst="rect">
            <a:avLst/>
          </a:prstGeom>
          <a:noFill/>
        </p:spPr>
        <p:txBody>
          <a:bodyPr wrap="none">
            <a:spAutoFit/>
          </a:bodyPr>
          <a:lstStyle/>
          <a:p>
            <a:r>
              <a:rPr sz="6000" b="1">
                <a:solidFill>
                  <a:srgbClr val="B8860B"/>
                </a:solidFill>
                <a:latin typeface="Calibri"/>
              </a:rPr>
              <a:t>1</a:t>
            </a:r>
          </a:p>
        </p:txBody>
      </p:sp>
      <p:sp>
        <p:nvSpPr>
          <p:cNvPr id="4" name="TextBox 3"/>
          <p:cNvSpPr txBox="1"/>
          <p:nvPr/>
        </p:nvSpPr>
        <p:spPr>
          <a:xfrm>
            <a:off x="822960" y="3246120"/>
            <a:ext cx="10058400" cy="1005840"/>
          </a:xfrm>
          <a:prstGeom prst="rect">
            <a:avLst/>
          </a:prstGeom>
          <a:noFill/>
        </p:spPr>
        <p:txBody>
          <a:bodyPr wrap="square">
            <a:spAutoFit/>
          </a:bodyPr>
          <a:lstStyle/>
          <a:p>
            <a:r>
              <a:rPr sz="3600" b="1">
                <a:solidFill>
                  <a:srgbClr val="FFFFFF"/>
                </a:solidFill>
                <a:latin typeface="Calibri"/>
              </a:rPr>
              <a:t>The Plan and the Go-Live Date</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Programme Status at a Glance</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7315200" cy="457200"/>
          </a:xfrm>
          <a:prstGeom prst="rect">
            <a:avLst/>
          </a:prstGeom>
          <a:noFill/>
        </p:spPr>
        <p:txBody>
          <a:bodyPr wrap="none">
            <a:spAutoFit/>
          </a:bodyPr>
          <a:lstStyle/>
          <a:p>
            <a:r>
              <a:rPr sz="1800" b="1">
                <a:solidFill>
                  <a:srgbClr val="3C7A3E"/>
                </a:solidFill>
              </a:rPr>
              <a:t>Overall programme status: GREEN</a:t>
            </a:r>
          </a:p>
        </p:txBody>
      </p:sp>
      <p:graphicFrame>
        <p:nvGraphicFramePr>
          <p:cNvPr id="5" name="Table 4"/>
          <p:cNvGraphicFramePr>
            <a:graphicFrameLocks noGrp="1"/>
          </p:cNvGraphicFramePr>
          <p:nvPr/>
        </p:nvGraphicFramePr>
        <p:xfrm>
          <a:off x="548640" y="1783080"/>
          <a:ext cx="11064240" cy="4206240"/>
        </p:xfrm>
        <a:graphic>
          <a:graphicData uri="http://schemas.openxmlformats.org/drawingml/2006/table">
            <a:tbl>
              <a:tblPr firstRow="1" bandRow="1">
                <a:tableStyleId>{5C22544A-7EE6-4342-B048-85BDC9FD1C3A}</a:tableStyleId>
              </a:tblPr>
              <a:tblGrid>
                <a:gridCol w="3108960"/>
                <a:gridCol w="2468880"/>
                <a:gridCol w="1280160"/>
                <a:gridCol w="4206240"/>
              </a:tblGrid>
              <a:tr h="701040">
                <a:tc>
                  <a:txBody>
                    <a:bodyPr/>
                    <a:lstStyle/>
                    <a:p>
                      <a:pPr algn="l"/>
                      <a:r>
                        <a:rPr b="1" sz="1300" i="0">
                          <a:solidFill>
                            <a:srgbClr val="FFFFFF"/>
                          </a:solidFill>
                          <a:latin typeface="Calibri"/>
                        </a:rPr>
                        <a:t>Workstream</a:t>
                      </a:r>
                    </a:p>
                  </a:txBody>
                  <a:tcPr>
                    <a:solidFill>
                      <a:srgbClr val="1F2D3D"/>
                    </a:solidFill>
                  </a:tcPr>
                </a:tc>
                <a:tc>
                  <a:txBody>
                    <a:bodyPr/>
                    <a:lstStyle/>
                    <a:p>
                      <a:pPr algn="l"/>
                      <a:r>
                        <a:rPr b="1" sz="1300" i="0">
                          <a:solidFill>
                            <a:srgbClr val="FFFFFF"/>
                          </a:solidFill>
                          <a:latin typeface="Calibri"/>
                        </a:rPr>
                        <a:t>Lead</a:t>
                      </a:r>
                    </a:p>
                  </a:txBody>
                  <a:tcPr>
                    <a:solidFill>
                      <a:srgbClr val="1F2D3D"/>
                    </a:solidFill>
                  </a:tcPr>
                </a:tc>
                <a:tc>
                  <a:txBody>
                    <a:bodyPr/>
                    <a:lstStyle/>
                    <a:p>
                      <a:pPr algn="l"/>
                      <a:r>
                        <a:rPr b="1" sz="1300" i="0">
                          <a:solidFill>
                            <a:srgbClr val="FFFFFF"/>
                          </a:solidFill>
                          <a:latin typeface="Calibri"/>
                        </a:rPr>
                        <a:t>RAG</a:t>
                      </a:r>
                    </a:p>
                  </a:txBody>
                  <a:tcPr>
                    <a:solidFill>
                      <a:srgbClr val="1F2D3D"/>
                    </a:solidFill>
                  </a:tcPr>
                </a:tc>
                <a:tc>
                  <a:txBody>
                    <a:bodyPr/>
                    <a:lstStyle/>
                    <a:p>
                      <a:pPr algn="l"/>
                      <a:r>
                        <a:rPr b="1" sz="1300" i="0">
                          <a:solidFill>
                            <a:srgbClr val="FFFFFF"/>
                          </a:solidFill>
                          <a:latin typeface="Calibri"/>
                        </a:rPr>
                        <a:t>Comment</a:t>
                      </a:r>
                    </a:p>
                  </a:txBody>
                  <a:tcPr>
                    <a:solidFill>
                      <a:srgbClr val="1F2D3D"/>
                    </a:solidFill>
                  </a:tcPr>
                </a:tc>
              </a:tr>
              <a:tr h="701040">
                <a:tc>
                  <a:txBody>
                    <a:bodyPr/>
                    <a:lstStyle/>
                    <a:p>
                      <a:pPr algn="l"/>
                      <a:r>
                        <a:rPr b="1" sz="1300" i="0">
                          <a:solidFill>
                            <a:srgbClr val="222222"/>
                          </a:solidFill>
                          <a:latin typeface="Calibri"/>
                        </a:rPr>
                        <a:t>Discovery &amp; Root-Cause</a:t>
                      </a:r>
                    </a:p>
                  </a:txBody>
                  <a:tcPr/>
                </a:tc>
                <a:tc>
                  <a:txBody>
                    <a:bodyPr/>
                    <a:lstStyle/>
                    <a:p>
                      <a:pPr algn="l"/>
                      <a:r>
                        <a:rPr b="0" sz="1300" i="0">
                          <a:solidFill>
                            <a:srgbClr val="222222"/>
                          </a:solidFill>
                          <a:latin typeface="Calibri"/>
                        </a:rPr>
                        <a:t>Karthik Subramanian</a:t>
                      </a:r>
                    </a:p>
                  </a:txBody>
                  <a:tcPr/>
                </a:tc>
                <a:tc>
                  <a:txBody>
                    <a:bodyPr/>
                    <a:lstStyle/>
                    <a:p>
                      <a:pPr algn="ctr"/>
                      <a:r>
                        <a:rPr b="1" sz="1300" i="0">
                          <a:solidFill>
                            <a:srgbClr val="222222"/>
                          </a:solidFill>
                          <a:latin typeface="Calibri"/>
                        </a:rPr>
                        <a:t>G</a:t>
                      </a:r>
                    </a:p>
                  </a:txBody>
                  <a:tcPr>
                    <a:solidFill>
                      <a:srgbClr val="E3EFE1"/>
                    </a:solidFill>
                  </a:tcPr>
                </a:tc>
                <a:tc>
                  <a:txBody>
                    <a:bodyPr/>
                    <a:lstStyle/>
                    <a:p>
                      <a:pPr algn="l"/>
                      <a:r>
                        <a:rPr b="0" sz="1300" i="0">
                          <a:solidFill>
                            <a:srgbClr val="222222"/>
                          </a:solidFill>
                          <a:latin typeface="Calibri"/>
                        </a:rPr>
                        <a:t>Closed out; findings carried into remediation build.</a:t>
                      </a:r>
                    </a:p>
                  </a:txBody>
                  <a:tcPr/>
                </a:tc>
              </a:tr>
              <a:tr h="701040">
                <a:tc>
                  <a:txBody>
                    <a:bodyPr/>
                    <a:lstStyle/>
                    <a:p>
                      <a:pPr algn="l"/>
                      <a:r>
                        <a:rPr b="1" sz="1300" i="0">
                          <a:solidFill>
                            <a:srgbClr val="222222"/>
                          </a:solidFill>
                          <a:latin typeface="Calibri"/>
                        </a:rPr>
                        <a:t>Data Quality &amp; Remediation</a:t>
                      </a:r>
                    </a:p>
                  </a:txBody>
                  <a:tcPr/>
                </a:tc>
                <a:tc>
                  <a:txBody>
                    <a:bodyPr/>
                    <a:lstStyle/>
                    <a:p>
                      <a:pPr algn="l"/>
                      <a:r>
                        <a:rPr b="0" sz="1300" i="0">
                          <a:solidFill>
                            <a:srgbClr val="222222"/>
                          </a:solidFill>
                          <a:latin typeface="Calibri"/>
                        </a:rPr>
                        <a:t>Neha Gokhale</a:t>
                      </a:r>
                    </a:p>
                  </a:txBody>
                  <a:tcPr/>
                </a:tc>
                <a:tc>
                  <a:txBody>
                    <a:bodyPr/>
                    <a:lstStyle/>
                    <a:p>
                      <a:pPr algn="ctr"/>
                      <a:r>
                        <a:rPr b="1" sz="1300" i="0">
                          <a:solidFill>
                            <a:srgbClr val="222222"/>
                          </a:solidFill>
                          <a:latin typeface="Calibri"/>
                        </a:rPr>
                        <a:t>A</a:t>
                      </a:r>
                    </a:p>
                  </a:txBody>
                  <a:tcPr>
                    <a:solidFill>
                      <a:srgbClr val="FBF0D9"/>
                    </a:solidFill>
                  </a:tcPr>
                </a:tc>
                <a:tc>
                  <a:txBody>
                    <a:bodyPr/>
                    <a:lstStyle/>
                    <a:p>
                      <a:pPr algn="l"/>
                      <a:r>
                        <a:rPr b="0" sz="1300" i="0">
                          <a:solidFill>
                            <a:srgbClr val="222222"/>
                          </a:solidFill>
                          <a:latin typeface="Calibri"/>
                        </a:rPr>
                        <a:t>Four of eight variance register items still open.</a:t>
                      </a:r>
                    </a:p>
                  </a:txBody>
                  <a:tcPr/>
                </a:tc>
              </a:tr>
              <a:tr h="701040">
                <a:tc>
                  <a:txBody>
                    <a:bodyPr/>
                    <a:lstStyle/>
                    <a:p>
                      <a:pPr algn="l"/>
                      <a:r>
                        <a:rPr b="1" sz="1300" i="0">
                          <a:solidFill>
                            <a:srgbClr val="222222"/>
                          </a:solidFill>
                          <a:latin typeface="Calibri"/>
                        </a:rPr>
                        <a:t>Dashboard Build</a:t>
                      </a:r>
                    </a:p>
                  </a:txBody>
                  <a:tcPr/>
                </a:tc>
                <a:tc>
                  <a:txBody>
                    <a:bodyPr/>
                    <a:lstStyle/>
                    <a:p>
                      <a:pPr algn="l"/>
                      <a:r>
                        <a:rPr b="0" sz="1300" i="0">
                          <a:solidFill>
                            <a:srgbClr val="222222"/>
                          </a:solidFill>
                          <a:latin typeface="Calibri"/>
                        </a:rPr>
                        <a:t>Ritwik Ghosh</a:t>
                      </a:r>
                    </a:p>
                  </a:txBody>
                  <a:tcPr/>
                </a:tc>
                <a:tc>
                  <a:txBody>
                    <a:bodyPr/>
                    <a:lstStyle/>
                    <a:p>
                      <a:pPr algn="ctr"/>
                      <a:r>
                        <a:rPr b="1" sz="1300" i="0">
                          <a:solidFill>
                            <a:srgbClr val="222222"/>
                          </a:solidFill>
                          <a:latin typeface="Calibri"/>
                        </a:rPr>
                        <a:t>G</a:t>
                      </a:r>
                    </a:p>
                  </a:txBody>
                  <a:tcPr>
                    <a:solidFill>
                      <a:srgbClr val="E3EFE1"/>
                    </a:solidFill>
                  </a:tcPr>
                </a:tc>
                <a:tc>
                  <a:txBody>
                    <a:bodyPr/>
                    <a:lstStyle/>
                    <a:p>
                      <a:pPr algn="l"/>
                      <a:r>
                        <a:rPr b="0" sz="1300" i="0">
                          <a:solidFill>
                            <a:srgbClr val="222222"/>
                          </a:solidFill>
                          <a:latin typeface="Calibri"/>
                        </a:rPr>
                        <a:t>Tracking to the confirmed 12-Nov date.</a:t>
                      </a:r>
                    </a:p>
                  </a:txBody>
                  <a:tcPr/>
                </a:tc>
              </a:tr>
              <a:tr h="701040">
                <a:tc>
                  <a:txBody>
                    <a:bodyPr/>
                    <a:lstStyle/>
                    <a:p>
                      <a:pPr algn="l"/>
                      <a:r>
                        <a:rPr b="1" sz="1300" i="0">
                          <a:solidFill>
                            <a:srgbClr val="222222"/>
                          </a:solidFill>
                          <a:latin typeface="Calibri"/>
                        </a:rPr>
                        <a:t>UAT &amp; Cutover Readiness</a:t>
                      </a:r>
                    </a:p>
                  </a:txBody>
                  <a:tcPr/>
                </a:tc>
                <a:tc>
                  <a:txBody>
                    <a:bodyPr/>
                    <a:lstStyle/>
                    <a:p>
                      <a:pPr algn="l"/>
                      <a:r>
                        <a:rPr b="0" sz="1300" i="0">
                          <a:solidFill>
                            <a:srgbClr val="222222"/>
                          </a:solidFill>
                          <a:latin typeface="Calibri"/>
                        </a:rPr>
                        <a:t>Ananya Krishnan</a:t>
                      </a:r>
                    </a:p>
                  </a:txBody>
                  <a:tcPr/>
                </a:tc>
                <a:tc>
                  <a:txBody>
                    <a:bodyPr/>
                    <a:lstStyle/>
                    <a:p>
                      <a:pPr algn="ctr"/>
                      <a:r>
                        <a:rPr b="1" sz="1300" i="0">
                          <a:solidFill>
                            <a:srgbClr val="222222"/>
                          </a:solidFill>
                          <a:latin typeface="Calibri"/>
                        </a:rPr>
                        <a:t>A</a:t>
                      </a:r>
                    </a:p>
                  </a:txBody>
                  <a:tcPr>
                    <a:solidFill>
                      <a:srgbClr val="FBF0D9"/>
                    </a:solidFill>
                  </a:tcPr>
                </a:tc>
                <a:tc>
                  <a:txBody>
                    <a:bodyPr/>
                    <a:lstStyle/>
                    <a:p>
                      <a:pPr algn="l"/>
                      <a:r>
                        <a:rPr b="0" sz="1300" i="0">
                          <a:solidFill>
                            <a:srgbClr val="222222"/>
                          </a:solidFill>
                          <a:latin typeface="Calibri"/>
                        </a:rPr>
                        <a:t>October window agreed in principle; tester nominations TBC.</a:t>
                      </a:r>
                    </a:p>
                  </a:txBody>
                  <a:tcPr/>
                </a:tc>
              </a:tr>
              <a:tr h="701040">
                <a:tc>
                  <a:txBody>
                    <a:bodyPr/>
                    <a:lstStyle/>
                    <a:p>
                      <a:pPr algn="l"/>
                      <a:r>
                        <a:rPr b="1" sz="1300" i="0">
                          <a:solidFill>
                            <a:srgbClr val="222222"/>
                          </a:solidFill>
                          <a:latin typeface="Calibri"/>
                        </a:rPr>
                        <a:t>Change Mgmt &amp; Hypercare</a:t>
                      </a:r>
                    </a:p>
                  </a:txBody>
                  <a:tcPr/>
                </a:tc>
                <a:tc>
                  <a:txBody>
                    <a:bodyPr/>
                    <a:lstStyle/>
                    <a:p>
                      <a:pPr algn="l"/>
                      <a:r>
                        <a:rPr b="0" sz="1300" i="0">
                          <a:solidFill>
                            <a:srgbClr val="222222"/>
                          </a:solidFill>
                          <a:latin typeface="Calibri"/>
                        </a:rPr>
                        <a:t>Sneha Pillai</a:t>
                      </a:r>
                    </a:p>
                  </a:txBody>
                  <a:tcPr/>
                </a:tc>
                <a:tc>
                  <a:txBody>
                    <a:bodyPr/>
                    <a:lstStyle/>
                    <a:p>
                      <a:pPr algn="ctr"/>
                      <a:r>
                        <a:rPr b="1" sz="1300" i="0">
                          <a:solidFill>
                            <a:srgbClr val="222222"/>
                          </a:solidFill>
                          <a:latin typeface="Calibri"/>
                        </a:rPr>
                        <a:t>G</a:t>
                      </a:r>
                    </a:p>
                  </a:txBody>
                  <a:tcPr>
                    <a:solidFill>
                      <a:srgbClr val="E3EFE1"/>
                    </a:solidFill>
                  </a:tcPr>
                </a:tc>
                <a:tc>
                  <a:txBody>
                    <a:bodyPr/>
                    <a:lstStyle/>
                    <a:p>
                      <a:pPr algn="l"/>
                      <a:r>
                        <a:rPr b="0" sz="1300" i="0">
                          <a:solidFill>
                            <a:srgbClr val="222222"/>
                          </a:solidFill>
                          <a:latin typeface="Calibri"/>
                        </a:rPr>
                        <a:t>Plan agreed through to 11-Dec close of hypercare.</a:t>
                      </a:r>
                    </a:p>
                  </a:txBody>
                  <a:tcPr/>
                </a:tc>
              </a:tr>
            </a:tbl>
          </a:graphicData>
        </a:graphic>
      </p:graphicFrame>
      <p:sp>
        <p:nvSpPr>
          <p:cNvPr id="6" name="TextBox 5"/>
          <p:cNvSpPr txBox="1"/>
          <p:nvPr/>
        </p:nvSpPr>
        <p:spPr>
          <a:xfrm>
            <a:off x="548640" y="6080760"/>
            <a:ext cx="10972800" cy="457200"/>
          </a:xfrm>
          <a:prstGeom prst="rect">
            <a:avLst/>
          </a:prstGeom>
          <a:noFill/>
        </p:spPr>
        <p:txBody>
          <a:bodyPr wrap="none">
            <a:spAutoFit/>
          </a:bodyPr>
          <a:lstStyle/>
          <a:p>
            <a:r>
              <a:rPr sz="1100" i="1">
                <a:solidFill>
                  <a:srgbClr val="44515E"/>
                </a:solidFill>
              </a:rPr>
              <a:t>Status as reported to this committee. Detail by item follows.</a:t>
            </a:r>
          </a:p>
        </p:txBody>
      </p:sp>
      <p:sp>
        <p:nvSpPr>
          <p:cNvPr id="7" name="Rectangle 6"/>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8" name="TextBox 7"/>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The Plan and the Go-Live Date</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10881360" cy="1554480"/>
          </a:xfrm>
          <a:prstGeom prst="rect">
            <a:avLst/>
          </a:prstGeom>
          <a:noFill/>
        </p:spPr>
        <p:txBody>
          <a:bodyPr wrap="square">
            <a:spAutoFit/>
          </a:bodyPr>
          <a:lstStyle/>
          <a:p>
            <a:pPr>
              <a:lnSpc>
                <a:spcPct val="115000"/>
              </a:lnSpc>
              <a:spcAft>
                <a:spcPts val="600"/>
              </a:spcAft>
            </a:pPr>
            <a:r>
              <a:rPr sz="1600" b="1">
                <a:solidFill>
                  <a:srgbClr val="222222"/>
                </a:solidFill>
                <a:latin typeface="Calibri"/>
              </a:rPr>
              <a:t>•  This is not a build or a data problem. It is a Group calendar constraint.</a:t>
            </a:r>
          </a:p>
          <a:p>
            <a:pPr>
              <a:lnSpc>
                <a:spcPct val="115000"/>
              </a:lnSpc>
              <a:spcAft>
                <a:spcPts val="600"/>
              </a:spcAft>
            </a:pPr>
            <a:r>
              <a:rPr sz="1600" b="0">
                <a:solidFill>
                  <a:srgbClr val="222222"/>
                </a:solidFill>
                <a:latin typeface="Calibri"/>
              </a:rPr>
              <a:t>•  The Klarissen Group close blackout runs 26 October to 06 November (CET). No operating company may cut over inside that window.</a:t>
            </a:r>
          </a:p>
          <a:p>
            <a:pPr>
              <a:lnSpc>
                <a:spcPct val="115000"/>
              </a:lnSpc>
              <a:spcAft>
                <a:spcPts val="600"/>
              </a:spcAft>
            </a:pPr>
            <a:r>
              <a:rPr sz="1600" b="0">
                <a:solidFill>
                  <a:srgbClr val="222222"/>
                </a:solidFill>
                <a:latin typeface="Calibri"/>
              </a:rPr>
              <a:t>•  The cutover therefore sits entirely on the clean side of the blackout, once UAT has run.</a:t>
            </a:r>
          </a:p>
        </p:txBody>
      </p:sp>
      <p:graphicFrame>
        <p:nvGraphicFramePr>
          <p:cNvPr id="5" name="Table 4"/>
          <p:cNvGraphicFramePr>
            <a:graphicFrameLocks noGrp="1"/>
          </p:cNvGraphicFramePr>
          <p:nvPr/>
        </p:nvGraphicFramePr>
        <p:xfrm>
          <a:off x="1645920" y="2880360"/>
          <a:ext cx="8686800" cy="2834640"/>
        </p:xfrm>
        <a:graphic>
          <a:graphicData uri="http://schemas.openxmlformats.org/drawingml/2006/table">
            <a:tbl>
              <a:tblPr firstRow="1" bandRow="1">
                <a:tableStyleId>{5C22544A-7EE6-4342-B048-85BDC9FD1C3A}</a:tableStyleId>
              </a:tblPr>
              <a:tblGrid>
                <a:gridCol w="4114800"/>
                <a:gridCol w="4572000"/>
              </a:tblGrid>
              <a:tr h="566928">
                <a:tc>
                  <a:txBody>
                    <a:bodyPr/>
                    <a:lstStyle/>
                    <a:p>
                      <a:pPr algn="l"/>
                      <a:r>
                        <a:rPr b="1" sz="1300" i="0">
                          <a:solidFill>
                            <a:srgbClr val="FFFFFF"/>
                          </a:solidFill>
                          <a:latin typeface="Calibri"/>
                        </a:rPr>
                        <a:t>Milestone</a:t>
                      </a:r>
                    </a:p>
                  </a:txBody>
                  <a:tcPr>
                    <a:solidFill>
                      <a:srgbClr val="1F2D3D"/>
                    </a:solidFill>
                  </a:tcPr>
                </a:tc>
                <a:tc>
                  <a:txBody>
                    <a:bodyPr/>
                    <a:lstStyle/>
                    <a:p>
                      <a:pPr algn="l"/>
                      <a:r>
                        <a:rPr b="1" sz="1300" i="0">
                          <a:solidFill>
                            <a:srgbClr val="FFFFFF"/>
                          </a:solidFill>
                          <a:latin typeface="Calibri"/>
                        </a:rPr>
                        <a:t>Date</a:t>
                      </a:r>
                    </a:p>
                  </a:txBody>
                  <a:tcPr>
                    <a:solidFill>
                      <a:srgbClr val="1F2D3D"/>
                    </a:solidFill>
                  </a:tcPr>
                </a:tc>
              </a:tr>
              <a:tr h="566928">
                <a:tc>
                  <a:txBody>
                    <a:bodyPr/>
                    <a:lstStyle/>
                    <a:p>
                      <a:pPr algn="l"/>
                      <a:r>
                        <a:rPr b="0" sz="1300" i="0">
                          <a:solidFill>
                            <a:srgbClr val="222222"/>
                          </a:solidFill>
                          <a:latin typeface="Calibri"/>
                        </a:rPr>
                        <a:t>Cutover weekend</a:t>
                      </a:r>
                    </a:p>
                  </a:txBody>
                  <a:tcPr/>
                </a:tc>
                <a:tc>
                  <a:txBody>
                    <a:bodyPr/>
                    <a:lstStyle/>
                    <a:p>
                      <a:pPr algn="l"/>
                      <a:r>
                        <a:rPr b="0" sz="1300" i="0">
                          <a:solidFill>
                            <a:srgbClr val="222222"/>
                          </a:solidFill>
                          <a:latin typeface="Calibri"/>
                        </a:rPr>
                        <a:t>Saturday 7 - Sunday 8 November 2026</a:t>
                      </a:r>
                    </a:p>
                  </a:txBody>
                  <a:tcPr/>
                </a:tc>
              </a:tr>
              <a:tr h="566928">
                <a:tc>
                  <a:txBody>
                    <a:bodyPr/>
                    <a:lstStyle/>
                    <a:p>
                      <a:pPr algn="l"/>
                      <a:r>
                        <a:rPr b="0" sz="1300" i="0">
                          <a:solidFill>
                            <a:srgbClr val="222222"/>
                          </a:solidFill>
                          <a:latin typeface="Calibri"/>
                        </a:rPr>
                        <a:t>Historical reload window</a:t>
                      </a:r>
                    </a:p>
                  </a:txBody>
                  <a:tcPr/>
                </a:tc>
                <a:tc>
                  <a:txBody>
                    <a:bodyPr/>
                    <a:lstStyle/>
                    <a:p>
                      <a:pPr algn="l"/>
                      <a:r>
                        <a:rPr b="0" sz="1300" i="0">
                          <a:solidFill>
                            <a:srgbClr val="222222"/>
                          </a:solidFill>
                          <a:latin typeface="Calibri"/>
                        </a:rPr>
                        <a:t>Monday 9 - Wednesday 11 November 2026</a:t>
                      </a:r>
                    </a:p>
                  </a:txBody>
                  <a:tcPr/>
                </a:tc>
              </a:tr>
              <a:tr h="566928">
                <a:tc>
                  <a:txBody>
                    <a:bodyPr/>
                    <a:lstStyle/>
                    <a:p>
                      <a:pPr algn="l"/>
                      <a:r>
                        <a:rPr b="1" sz="1300" i="0">
                          <a:solidFill>
                            <a:srgbClr val="222222"/>
                          </a:solidFill>
                          <a:latin typeface="Calibri"/>
                        </a:rPr>
                        <a:t>Business go-live</a:t>
                      </a:r>
                    </a:p>
                  </a:txBody>
                  <a:tcPr>
                    <a:solidFill>
                      <a:srgbClr val="FBF0D9"/>
                    </a:solidFill>
                  </a:tcPr>
                </a:tc>
                <a:tc>
                  <a:txBody>
                    <a:bodyPr/>
                    <a:lstStyle/>
                    <a:p>
                      <a:pPr algn="l"/>
                      <a:r>
                        <a:rPr b="1" sz="1300" i="0">
                          <a:solidFill>
                            <a:srgbClr val="222222"/>
                          </a:solidFill>
                          <a:latin typeface="Calibri"/>
                        </a:rPr>
                        <a:t>Thursday 12 November 2026</a:t>
                      </a:r>
                    </a:p>
                  </a:txBody>
                  <a:tcPr>
                    <a:solidFill>
                      <a:srgbClr val="FBF0D9"/>
                    </a:solidFill>
                  </a:tcPr>
                </a:tc>
              </a:tr>
              <a:tr h="566928">
                <a:tc>
                  <a:txBody>
                    <a:bodyPr/>
                    <a:lstStyle/>
                    <a:p>
                      <a:pPr algn="l"/>
                      <a:r>
                        <a:rPr b="0" sz="1300" i="0">
                          <a:solidFill>
                            <a:srgbClr val="222222"/>
                          </a:solidFill>
                          <a:latin typeface="Calibri"/>
                        </a:rPr>
                        <a:t>Hypercare ends</a:t>
                      </a:r>
                    </a:p>
                  </a:txBody>
                  <a:tcPr/>
                </a:tc>
                <a:tc>
                  <a:txBody>
                    <a:bodyPr/>
                    <a:lstStyle/>
                    <a:p>
                      <a:pPr algn="l"/>
                      <a:r>
                        <a:rPr b="0" sz="1300" i="0">
                          <a:solidFill>
                            <a:srgbClr val="222222"/>
                          </a:solidFill>
                          <a:latin typeface="Calibri"/>
                        </a:rPr>
                        <a:t>Friday 11 December 2026</a:t>
                      </a:r>
                    </a:p>
                  </a:txBody>
                  <a:tcPr/>
                </a:tc>
              </a:tr>
            </a:tbl>
          </a:graphicData>
        </a:graphic>
      </p:graphicFrame>
      <p:sp>
        <p:nvSpPr>
          <p:cNvPr id="6" name="TextBox 5"/>
          <p:cNvSpPr txBox="1"/>
          <p:nvPr/>
        </p:nvSpPr>
        <p:spPr>
          <a:xfrm>
            <a:off x="548640" y="5989320"/>
            <a:ext cx="11064240" cy="548640"/>
          </a:xfrm>
          <a:prstGeom prst="rect">
            <a:avLst/>
          </a:prstGeom>
          <a:noFill/>
        </p:spPr>
        <p:txBody>
          <a:bodyPr wrap="square">
            <a:spAutoFit/>
          </a:bodyPr>
          <a:lstStyle/>
          <a:p>
            <a:r>
              <a:rPr sz="1100" i="1">
                <a:solidFill>
                  <a:srgbClr val="44515E"/>
                </a:solidFill>
              </a:rPr>
              <a:t>No change to commercials - the revised plan stays inside the capped fee. Revised milestone slide to follow in writing on 22/09.</a:t>
            </a:r>
          </a:p>
        </p:txBody>
      </p:sp>
      <p:sp>
        <p:nvSpPr>
          <p:cNvPr id="7" name="Rectangle 6"/>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8" name="TextBox 7"/>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828800" cy="1188720"/>
          </a:xfrm>
          <a:prstGeom prst="rect">
            <a:avLst/>
          </a:prstGeom>
          <a:noFill/>
        </p:spPr>
        <p:txBody>
          <a:bodyPr wrap="none">
            <a:spAutoFit/>
          </a:bodyPr>
          <a:lstStyle/>
          <a:p>
            <a:r>
              <a:rPr sz="6000" b="1">
                <a:solidFill>
                  <a:srgbClr val="B8860B"/>
                </a:solidFill>
                <a:latin typeface="Calibri"/>
              </a:rPr>
              <a:t>2</a:t>
            </a:r>
          </a:p>
        </p:txBody>
      </p:sp>
      <p:sp>
        <p:nvSpPr>
          <p:cNvPr id="4" name="TextBox 3"/>
          <p:cNvSpPr txBox="1"/>
          <p:nvPr/>
        </p:nvSpPr>
        <p:spPr>
          <a:xfrm>
            <a:off x="822960" y="3246120"/>
            <a:ext cx="10058400" cy="1005840"/>
          </a:xfrm>
          <a:prstGeom prst="rect">
            <a:avLst/>
          </a:prstGeom>
          <a:noFill/>
        </p:spPr>
        <p:txBody>
          <a:bodyPr wrap="square">
            <a:spAutoFit/>
          </a:bodyPr>
          <a:lstStyle/>
          <a:p>
            <a:r>
              <a:rPr sz="3600" b="1">
                <a:solidFill>
                  <a:srgbClr val="FFFFFF"/>
                </a:solidFill>
                <a:latin typeface="Calibri"/>
              </a:rPr>
              <a:t>Variance Register</a:t>
            </a:r>
          </a:p>
        </p:txBody>
      </p:sp>
      <p:sp>
        <p:nvSpPr>
          <p:cNvPr id="5" name="TextBox 4"/>
          <p:cNvSpPr txBox="1"/>
          <p:nvPr/>
        </p:nvSpPr>
        <p:spPr>
          <a:xfrm>
            <a:off x="822960" y="4160520"/>
            <a:ext cx="10058400" cy="548640"/>
          </a:xfrm>
          <a:prstGeom prst="rect">
            <a:avLst/>
          </a:prstGeom>
          <a:noFill/>
        </p:spPr>
        <p:txBody>
          <a:bodyPr wrap="none">
            <a:spAutoFit/>
          </a:bodyPr>
          <a:lstStyle/>
          <a:p>
            <a:r>
              <a:rPr sz="1600">
                <a:solidFill>
                  <a:srgbClr val="D9D9D6"/>
                </a:solidFill>
                <a:latin typeface="Calibri"/>
              </a:rPr>
              <a:t>Eight items known. Four closed, four open.</a:t>
            </a:r>
          </a:p>
        </p:txBody>
      </p:sp>
      <p:sp>
        <p:nvSpPr>
          <p:cNvPr id="6" name="Rectangle 5"/>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7" name="TextBox 6"/>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Variance Register - Status Summary</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234440"/>
          <a:ext cx="11247120" cy="4709160"/>
        </p:xfrm>
        <a:graphic>
          <a:graphicData uri="http://schemas.openxmlformats.org/drawingml/2006/table">
            <a:tbl>
              <a:tblPr firstRow="1" bandRow="1">
                <a:tableStyleId>{5C22544A-7EE6-4342-B048-85BDC9FD1C3A}</a:tableStyleId>
              </a:tblPr>
              <a:tblGrid>
                <a:gridCol w="1188720"/>
                <a:gridCol w="5486400"/>
                <a:gridCol w="1554480"/>
                <a:gridCol w="3017520"/>
              </a:tblGrid>
              <a:tr h="470916">
                <a:tc>
                  <a:txBody>
                    <a:bodyPr/>
                    <a:lstStyle/>
                    <a:p>
                      <a:pPr algn="l"/>
                      <a:r>
                        <a:rPr b="1" sz="1200" i="0">
                          <a:solidFill>
                            <a:srgbClr val="FFFFFF"/>
                          </a:solidFill>
                          <a:latin typeface="Calibri"/>
                        </a:rPr>
                        <a:t>ID</a:t>
                      </a:r>
                    </a:p>
                  </a:txBody>
                  <a:tcPr>
                    <a:solidFill>
                      <a:srgbClr val="1F2D3D"/>
                    </a:solidFill>
                  </a:tcPr>
                </a:tc>
                <a:tc>
                  <a:txBody>
                    <a:bodyPr/>
                    <a:lstStyle/>
                    <a:p>
                      <a:pPr algn="l"/>
                      <a:r>
                        <a:rPr b="1" sz="1200" i="0">
                          <a:solidFill>
                            <a:srgbClr val="FFFFFF"/>
                          </a:solidFill>
                          <a:latin typeface="Calibri"/>
                        </a:rPr>
                        <a:t>Title</a:t>
                      </a:r>
                    </a:p>
                  </a:txBody>
                  <a:tcPr>
                    <a:solidFill>
                      <a:srgbClr val="1F2D3D"/>
                    </a:solidFill>
                  </a:tcPr>
                </a:tc>
                <a:tc>
                  <a:txBody>
                    <a:bodyPr/>
                    <a:lstStyle/>
                    <a:p>
                      <a:pPr algn="l"/>
                      <a:r>
                        <a:rPr b="1" sz="1200" i="0">
                          <a:solidFill>
                            <a:srgbClr val="FFFFFF"/>
                          </a:solidFill>
                          <a:latin typeface="Calibri"/>
                        </a:rPr>
                        <a:t>Status</a:t>
                      </a:r>
                    </a:p>
                  </a:txBody>
                  <a:tcPr>
                    <a:solidFill>
                      <a:srgbClr val="1F2D3D"/>
                    </a:solidFill>
                  </a:tcPr>
                </a:tc>
                <a:tc>
                  <a:txBody>
                    <a:bodyPr/>
                    <a:lstStyle/>
                    <a:p>
                      <a:pPr algn="l"/>
                      <a:r>
                        <a:rPr b="1" sz="1200" i="0">
                          <a:solidFill>
                            <a:srgbClr val="FFFFFF"/>
                          </a:solidFill>
                          <a:latin typeface="Calibri"/>
                        </a:rPr>
                        <a:t>FY26 Impact (INR)</a:t>
                      </a:r>
                    </a:p>
                  </a:txBody>
                  <a:tcPr>
                    <a:solidFill>
                      <a:srgbClr val="1F2D3D"/>
                    </a:solidFill>
                  </a:tcPr>
                </a:tc>
              </a:tr>
              <a:tr h="470916">
                <a:tc>
                  <a:txBody>
                    <a:bodyPr/>
                    <a:lstStyle/>
                    <a:p>
                      <a:pPr algn="l"/>
                      <a:r>
                        <a:rPr b="1" sz="1200" i="0">
                          <a:solidFill>
                            <a:srgbClr val="222222"/>
                          </a:solidFill>
                          <a:latin typeface="Calibri"/>
                        </a:rPr>
                        <a:t>VAR-001</a:t>
                      </a:r>
                    </a:p>
                  </a:txBody>
                  <a:tcPr/>
                </a:tc>
                <a:tc>
                  <a:txBody>
                    <a:bodyPr/>
                    <a:lstStyle/>
                    <a:p>
                      <a:pPr algn="l"/>
                      <a:r>
                        <a:rPr b="0" sz="1200" i="0">
                          <a:solidFill>
                            <a:srgbClr val="222222"/>
                          </a:solidFill>
                          <a:latin typeface="Calibri"/>
                        </a:rPr>
                        <a:t>Q1 revenue overstatement (cancelled lines counted as revenue)</a:t>
                      </a:r>
                    </a:p>
                  </a:txBody>
                  <a:tcPr/>
                </a:tc>
                <a:tc>
                  <a:txBody>
                    <a:bodyPr/>
                    <a:lstStyle/>
                    <a:p>
                      <a:pPr algn="l"/>
                      <a:r>
                        <a:rPr b="1" sz="1200" i="0">
                          <a:solidFill>
                            <a:srgbClr val="222222"/>
                          </a:solidFill>
                          <a:latin typeface="Calibri"/>
                        </a:rPr>
                        <a:t>Closed</a:t>
                      </a:r>
                    </a:p>
                  </a:txBody>
                  <a:tcPr/>
                </a:tc>
                <a:tc>
                  <a:txBody>
                    <a:bodyPr/>
                    <a:lstStyle/>
                    <a:p>
                      <a:pPr algn="l"/>
                      <a:r>
                        <a:rPr b="0" sz="1200" i="0">
                          <a:solidFill>
                            <a:srgbClr val="222222"/>
                          </a:solidFill>
                          <a:latin typeface="Calibri"/>
                        </a:rPr>
                        <a:t>4.20 Cr</a:t>
                      </a:r>
                    </a:p>
                  </a:txBody>
                  <a:tcPr/>
                </a:tc>
              </a:tr>
              <a:tr h="470916">
                <a:tc>
                  <a:txBody>
                    <a:bodyPr/>
                    <a:lstStyle/>
                    <a:p>
                      <a:pPr algn="l"/>
                      <a:r>
                        <a:rPr b="1" sz="1200" i="0">
                          <a:solidFill>
                            <a:srgbClr val="222222"/>
                          </a:solidFill>
                          <a:latin typeface="Calibri"/>
                        </a:rPr>
                        <a:t>VAR-002</a:t>
                      </a:r>
                    </a:p>
                  </a:txBody>
                  <a:tcPr/>
                </a:tc>
                <a:tc>
                  <a:txBody>
                    <a:bodyPr/>
                    <a:lstStyle/>
                    <a:p>
                      <a:pPr algn="l"/>
                      <a:r>
                        <a:rPr b="0" sz="1200" i="0">
                          <a:solidFill>
                            <a:srgbClr val="222222"/>
                          </a:solidFill>
                          <a:latin typeface="Calibri"/>
                        </a:rPr>
                        <a:t>Month-end boundary drift</a:t>
                      </a:r>
                    </a:p>
                  </a:txBody>
                  <a:tcPr/>
                </a:tc>
                <a:tc>
                  <a:txBody>
                    <a:bodyPr/>
                    <a:lstStyle/>
                    <a:p>
                      <a:pPr algn="l"/>
                      <a:r>
                        <a:rPr b="1" sz="1200" i="0">
                          <a:solidFill>
                            <a:srgbClr val="222222"/>
                          </a:solidFill>
                          <a:latin typeface="Calibri"/>
                        </a:rPr>
                        <a:t>Closed</a:t>
                      </a:r>
                    </a:p>
                  </a:txBody>
                  <a:tcPr/>
                </a:tc>
                <a:tc>
                  <a:txBody>
                    <a:bodyPr/>
                    <a:lstStyle/>
                    <a:p>
                      <a:pPr algn="l"/>
                      <a:r>
                        <a:rPr b="0" sz="1200" i="0">
                          <a:solidFill>
                            <a:srgbClr val="222222"/>
                          </a:solidFill>
                          <a:latin typeface="Calibri"/>
                        </a:rPr>
                        <a:t>-</a:t>
                      </a:r>
                    </a:p>
                  </a:txBody>
                  <a:tcPr/>
                </a:tc>
              </a:tr>
              <a:tr h="470916">
                <a:tc>
                  <a:txBody>
                    <a:bodyPr/>
                    <a:lstStyle/>
                    <a:p>
                      <a:pPr algn="l"/>
                      <a:r>
                        <a:rPr b="1" sz="1200" i="0">
                          <a:solidFill>
                            <a:srgbClr val="222222"/>
                          </a:solidFill>
                          <a:latin typeface="Calibri"/>
                        </a:rPr>
                        <a:t>VAR-003</a:t>
                      </a:r>
                    </a:p>
                  </a:txBody>
                  <a:tcPr/>
                </a:tc>
                <a:tc>
                  <a:txBody>
                    <a:bodyPr/>
                    <a:lstStyle/>
                    <a:p>
                      <a:pPr algn="l"/>
                      <a:r>
                        <a:rPr b="0" sz="1200" i="0">
                          <a:solidFill>
                            <a:srgbClr val="222222"/>
                          </a:solidFill>
                          <a:latin typeface="Calibri"/>
                        </a:rPr>
                        <a:t>Scheme discount double-count</a:t>
                      </a:r>
                    </a:p>
                  </a:txBody>
                  <a:tcPr/>
                </a:tc>
                <a:tc>
                  <a:txBody>
                    <a:bodyPr/>
                    <a:lstStyle/>
                    <a:p>
                      <a:pPr algn="l"/>
                      <a:r>
                        <a:rPr b="1" sz="1200" i="0">
                          <a:solidFill>
                            <a:srgbClr val="222222"/>
                          </a:solidFill>
                          <a:latin typeface="Calibri"/>
                        </a:rPr>
                        <a:t>Open</a:t>
                      </a:r>
                    </a:p>
                  </a:txBody>
                  <a:tcPr/>
                </a:tc>
                <a:tc>
                  <a:txBody>
                    <a:bodyPr/>
                    <a:lstStyle/>
                    <a:p>
                      <a:pPr algn="l"/>
                      <a:r>
                        <a:rPr b="0" sz="1200" i="0">
                          <a:solidFill>
                            <a:srgbClr val="222222"/>
                          </a:solidFill>
                          <a:latin typeface="Calibri"/>
                        </a:rPr>
                        <a:t>1.70 Cr</a:t>
                      </a:r>
                    </a:p>
                  </a:txBody>
                  <a:tcPr/>
                </a:tc>
              </a:tr>
              <a:tr h="470916">
                <a:tc>
                  <a:txBody>
                    <a:bodyPr/>
                    <a:lstStyle/>
                    <a:p>
                      <a:pPr algn="l"/>
                      <a:r>
                        <a:rPr b="1" sz="1200" i="0">
                          <a:solidFill>
                            <a:srgbClr val="222222"/>
                          </a:solidFill>
                          <a:latin typeface="Calibri"/>
                        </a:rPr>
                        <a:t>VAR-004</a:t>
                      </a:r>
                    </a:p>
                  </a:txBody>
                  <a:tcPr/>
                </a:tc>
                <a:tc>
                  <a:txBody>
                    <a:bodyPr/>
                    <a:lstStyle/>
                    <a:p>
                      <a:pPr algn="l"/>
                      <a:r>
                        <a:rPr b="0" sz="1200" i="0">
                          <a:solidFill>
                            <a:srgbClr val="222222"/>
                          </a:solidFill>
                          <a:latin typeface="Calibri"/>
                        </a:rPr>
                        <a:t>Distributor reassignment duplicates</a:t>
                      </a:r>
                    </a:p>
                  </a:txBody>
                  <a:tcPr/>
                </a:tc>
                <a:tc>
                  <a:txBody>
                    <a:bodyPr/>
                    <a:lstStyle/>
                    <a:p>
                      <a:pPr algn="l"/>
                      <a:r>
                        <a:rPr b="1" sz="1200" i="0">
                          <a:solidFill>
                            <a:srgbClr val="222222"/>
                          </a:solidFill>
                          <a:latin typeface="Calibri"/>
                        </a:rPr>
                        <a:t>Open</a:t>
                      </a:r>
                    </a:p>
                  </a:txBody>
                  <a:tcPr/>
                </a:tc>
                <a:tc>
                  <a:txBody>
                    <a:bodyPr/>
                    <a:lstStyle/>
                    <a:p>
                      <a:pPr algn="l"/>
                      <a:r>
                        <a:rPr b="0" sz="1200" i="0">
                          <a:solidFill>
                            <a:srgbClr val="222222"/>
                          </a:solidFill>
                          <a:latin typeface="Calibri"/>
                        </a:rPr>
                        <a:t>-</a:t>
                      </a:r>
                    </a:p>
                  </a:txBody>
                  <a:tcPr/>
                </a:tc>
              </a:tr>
              <a:tr h="470916">
                <a:tc>
                  <a:txBody>
                    <a:bodyPr/>
                    <a:lstStyle/>
                    <a:p>
                      <a:pPr algn="l"/>
                      <a:r>
                        <a:rPr b="1" sz="1200" i="0">
                          <a:solidFill>
                            <a:srgbClr val="222222"/>
                          </a:solidFill>
                          <a:latin typeface="Calibri"/>
                        </a:rPr>
                        <a:t>VAR-005</a:t>
                      </a:r>
                    </a:p>
                  </a:txBody>
                  <a:tcPr>
                    <a:solidFill>
                      <a:srgbClr val="F7DDDD"/>
                    </a:solidFill>
                  </a:tcPr>
                </a:tc>
                <a:tc>
                  <a:txBody>
                    <a:bodyPr/>
                    <a:lstStyle/>
                    <a:p>
                      <a:pPr algn="l"/>
                      <a:r>
                        <a:rPr b="0" sz="1200" i="0">
                          <a:solidFill>
                            <a:srgbClr val="222222"/>
                          </a:solidFill>
                          <a:latin typeface="Calibri"/>
                        </a:rPr>
                        <a:t>Credit notes absent from warehouse</a:t>
                      </a:r>
                    </a:p>
                  </a:txBody>
                  <a:tcPr>
                    <a:solidFill>
                      <a:srgbClr val="F7DDDD"/>
                    </a:solidFill>
                  </a:tcPr>
                </a:tc>
                <a:tc>
                  <a:txBody>
                    <a:bodyPr/>
                    <a:lstStyle/>
                    <a:p>
                      <a:pPr algn="l"/>
                      <a:r>
                        <a:rPr b="1" sz="1200" i="0">
                          <a:solidFill>
                            <a:srgbClr val="222222"/>
                          </a:solidFill>
                          <a:latin typeface="Calibri"/>
                        </a:rPr>
                        <a:t>Open</a:t>
                      </a:r>
                    </a:p>
                  </a:txBody>
                  <a:tcPr>
                    <a:solidFill>
                      <a:srgbClr val="F7DDDD"/>
                    </a:solidFill>
                  </a:tcPr>
                </a:tc>
                <a:tc>
                  <a:txBody>
                    <a:bodyPr/>
                    <a:lstStyle/>
                    <a:p>
                      <a:pPr algn="l"/>
                      <a:r>
                        <a:rPr b="0" sz="1200" i="0">
                          <a:solidFill>
                            <a:srgbClr val="222222"/>
                          </a:solidFill>
                          <a:latin typeface="Calibri"/>
                        </a:rPr>
                        <a:t>3.10 Cr (validated)</a:t>
                      </a:r>
                    </a:p>
                  </a:txBody>
                  <a:tcPr>
                    <a:solidFill>
                      <a:srgbClr val="F7DDDD"/>
                    </a:solidFill>
                  </a:tcPr>
                </a:tc>
              </a:tr>
              <a:tr h="470916">
                <a:tc>
                  <a:txBody>
                    <a:bodyPr/>
                    <a:lstStyle/>
                    <a:p>
                      <a:pPr algn="l"/>
                      <a:r>
                        <a:rPr b="1" sz="1200" i="0">
                          <a:solidFill>
                            <a:srgbClr val="222222"/>
                          </a:solidFill>
                          <a:latin typeface="Calibri"/>
                        </a:rPr>
                        <a:t>VAR-006</a:t>
                      </a:r>
                    </a:p>
                  </a:txBody>
                  <a:tcPr/>
                </a:tc>
                <a:tc>
                  <a:txBody>
                    <a:bodyPr/>
                    <a:lstStyle/>
                    <a:p>
                      <a:pPr algn="l"/>
                      <a:r>
                        <a:rPr b="0" sz="1200" i="0">
                          <a:solidFill>
                            <a:srgbClr val="222222"/>
                          </a:solidFill>
                          <a:latin typeface="Calibri"/>
                        </a:rPr>
                        <a:t>GST rate change mishandled</a:t>
                      </a:r>
                    </a:p>
                  </a:txBody>
                  <a:tcPr/>
                </a:tc>
                <a:tc>
                  <a:txBody>
                    <a:bodyPr/>
                    <a:lstStyle/>
                    <a:p>
                      <a:pPr algn="l"/>
                      <a:r>
                        <a:rPr b="1" sz="1200" i="0">
                          <a:solidFill>
                            <a:srgbClr val="222222"/>
                          </a:solidFill>
                          <a:latin typeface="Calibri"/>
                        </a:rPr>
                        <a:t>Closed</a:t>
                      </a:r>
                    </a:p>
                  </a:txBody>
                  <a:tcPr/>
                </a:tc>
                <a:tc>
                  <a:txBody>
                    <a:bodyPr/>
                    <a:lstStyle/>
                    <a:p>
                      <a:pPr algn="l"/>
                      <a:r>
                        <a:rPr b="0" sz="1200" i="0">
                          <a:solidFill>
                            <a:srgbClr val="222222"/>
                          </a:solidFill>
                          <a:latin typeface="Calibri"/>
                        </a:rPr>
                        <a:t>-</a:t>
                      </a:r>
                    </a:p>
                  </a:txBody>
                  <a:tcPr/>
                </a:tc>
              </a:tr>
              <a:tr h="470916">
                <a:tc>
                  <a:txBody>
                    <a:bodyPr/>
                    <a:lstStyle/>
                    <a:p>
                      <a:pPr algn="l"/>
                      <a:r>
                        <a:rPr b="1" sz="1200" i="0">
                          <a:solidFill>
                            <a:srgbClr val="222222"/>
                          </a:solidFill>
                          <a:latin typeface="Calibri"/>
                        </a:rPr>
                        <a:t>VAR-007</a:t>
                      </a:r>
                    </a:p>
                  </a:txBody>
                  <a:tcPr/>
                </a:tc>
                <a:tc>
                  <a:txBody>
                    <a:bodyPr/>
                    <a:lstStyle/>
                    <a:p>
                      <a:pPr algn="l"/>
                      <a:r>
                        <a:rPr b="0" sz="1200" i="0">
                          <a:solidFill>
                            <a:srgbClr val="222222"/>
                          </a:solidFill>
                          <a:latin typeface="Calibri"/>
                        </a:rPr>
                        <a:t>Late-arriving SKUs (volume item, no rupee value in register)</a:t>
                      </a:r>
                    </a:p>
                  </a:txBody>
                  <a:tcPr/>
                </a:tc>
                <a:tc>
                  <a:txBody>
                    <a:bodyPr/>
                    <a:lstStyle/>
                    <a:p>
                      <a:pPr algn="l"/>
                      <a:r>
                        <a:rPr b="1" sz="1200" i="0">
                          <a:solidFill>
                            <a:srgbClr val="222222"/>
                          </a:solidFill>
                          <a:latin typeface="Calibri"/>
                        </a:rPr>
                        <a:t>Open</a:t>
                      </a:r>
                    </a:p>
                  </a:txBody>
                  <a:tcPr/>
                </a:tc>
                <a:tc>
                  <a:txBody>
                    <a:bodyPr/>
                    <a:lstStyle/>
                    <a:p>
                      <a:pPr algn="l"/>
                      <a:r>
                        <a:rPr b="0" sz="1200" i="0">
                          <a:solidFill>
                            <a:srgbClr val="222222"/>
                          </a:solidFill>
                          <a:latin typeface="Calibri"/>
                        </a:rPr>
                        <a:t>-</a:t>
                      </a:r>
                    </a:p>
                  </a:txBody>
                  <a:tcPr/>
                </a:tc>
              </a:tr>
              <a:tr h="470916">
                <a:tc>
                  <a:txBody>
                    <a:bodyPr/>
                    <a:lstStyle/>
                    <a:p>
                      <a:pPr algn="l"/>
                      <a:r>
                        <a:rPr b="1" sz="1200" i="0">
                          <a:solidFill>
                            <a:srgbClr val="222222"/>
                          </a:solidFill>
                          <a:latin typeface="Calibri"/>
                        </a:rPr>
                        <a:t>VAR-008</a:t>
                      </a:r>
                    </a:p>
                  </a:txBody>
                  <a:tcPr/>
                </a:tc>
                <a:tc>
                  <a:txBody>
                    <a:bodyPr/>
                    <a:lstStyle/>
                    <a:p>
                      <a:pPr algn="l"/>
                      <a:r>
                        <a:rPr b="0" sz="1200" i="0">
                          <a:solidFill>
                            <a:srgbClr val="222222"/>
                          </a:solidFill>
                          <a:latin typeface="Calibri"/>
                        </a:rPr>
                        <a:t>Feb duplicate load</a:t>
                      </a:r>
                    </a:p>
                  </a:txBody>
                  <a:tcPr/>
                </a:tc>
                <a:tc>
                  <a:txBody>
                    <a:bodyPr/>
                    <a:lstStyle/>
                    <a:p>
                      <a:pPr algn="l"/>
                      <a:r>
                        <a:rPr b="1" sz="1200" i="0">
                          <a:solidFill>
                            <a:srgbClr val="222222"/>
                          </a:solidFill>
                          <a:latin typeface="Calibri"/>
                        </a:rPr>
                        <a:t>Closed</a:t>
                      </a:r>
                    </a:p>
                  </a:txBody>
                  <a:tcPr/>
                </a:tc>
                <a:tc>
                  <a:txBody>
                    <a:bodyPr/>
                    <a:lstStyle/>
                    <a:p>
                      <a:pPr algn="l"/>
                      <a:r>
                        <a:rPr b="0" sz="1200" i="0">
                          <a:solidFill>
                            <a:srgbClr val="222222"/>
                          </a:solidFill>
                          <a:latin typeface="Calibri"/>
                        </a:rPr>
                        <a:t>2.90 Cr</a:t>
                      </a:r>
                    </a:p>
                  </a:txBody>
                  <a:tcPr/>
                </a:tc>
              </a:tr>
              <a:tr h="470916">
                <a:tc>
                  <a:txBody>
                    <a:bodyPr/>
                    <a:lstStyle/>
                    <a:p>
                      <a:pPr algn="l"/>
                      <a:r>
                        <a:rPr b="1" sz="1300" i="0">
                          <a:latin typeface="Calibri"/>
                        </a:rPr>
                        <a:t>TOTAL</a:t>
                      </a:r>
                    </a:p>
                  </a:txBody>
                  <a:tcPr>
                    <a:solidFill>
                      <a:srgbClr val="D9D9D6"/>
                    </a:solidFill>
                  </a:tcPr>
                </a:tc>
                <a:tc>
                  <a:txBody>
                    <a:bodyPr/>
                    <a:lstStyle/>
                    <a:p>
                      <a:pPr algn="l"/>
                      <a:r>
                        <a:rPr b="1" sz="1300" i="0">
                          <a:latin typeface="Calibri"/>
                        </a:rPr>
                        <a:t>4 closed / 4 open</a:t>
                      </a:r>
                    </a:p>
                  </a:txBody>
                  <a:tcPr>
                    <a:solidFill>
                      <a:srgbClr val="D9D9D6"/>
                    </a:solidFill>
                  </a:tcPr>
                </a:tc>
                <a:tc>
                  <a:txBody>
                    <a:bodyPr/>
                    <a:lstStyle/>
                    <a:p>
                      <a:pPr algn="l"/>
                      <a:r>
                        <a:rPr b="1" sz="1300" i="0">
                          <a:latin typeface="Calibri"/>
                        </a:rPr>
                        <a:t>13.85 Cr</a:t>
                      </a:r>
                    </a:p>
                  </a:txBody>
                  <a:tcPr>
                    <a:solidFill>
                      <a:srgbClr val="D9D9D6"/>
                    </a:solidFill>
                  </a:tcPr>
                </a:tc>
                <a:tc>
                  <a:txBody>
                    <a:bodyPr/>
                    <a:lstStyle/>
                    <a:p>
                      <a:pPr algn="l"/>
                      <a:r>
                        <a:rPr b="1" sz="1300" i="0">
                          <a:latin typeface="Calibri"/>
                        </a:rPr>
                        <a:t>8.40 Cr closed / 5.45 Cr open</a:t>
                      </a:r>
                    </a:p>
                  </a:txBody>
                  <a:tcPr>
                    <a:solidFill>
                      <a:srgbClr val="D9D9D6"/>
                    </a:solidFill>
                  </a:tcPr>
                </a:tc>
              </a:tr>
            </a:tbl>
          </a:graphicData>
        </a:graphic>
      </p:graphicFrame>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Open Items in Focus: VAR-003 and VAR-005</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881360" cy="5212080"/>
          </a:xfrm>
          <a:prstGeom prst="rect">
            <a:avLst/>
          </a:prstGeom>
          <a:noFill/>
        </p:spPr>
        <p:txBody>
          <a:bodyPr wrap="square">
            <a:spAutoFit/>
          </a:bodyPr>
          <a:lstStyle/>
          <a:p>
            <a:pPr>
              <a:lnSpc>
                <a:spcPct val="115000"/>
              </a:lnSpc>
              <a:spcAft>
                <a:spcPts val="600"/>
              </a:spcAft>
            </a:pPr>
            <a:r>
              <a:rPr sz="1500" b="1">
                <a:solidFill>
                  <a:srgbClr val="222222"/>
                </a:solidFill>
                <a:latin typeface="Calibri"/>
              </a:rPr>
              <a:t>•  VAR-003 – Scheme discount double-count</a:t>
            </a:r>
          </a:p>
          <a:p>
            <a:pPr lvl="1">
              <a:lnSpc>
                <a:spcPct val="115000"/>
              </a:lnSpc>
              <a:spcAft>
                <a:spcPts val="600"/>
              </a:spcAft>
            </a:pPr>
            <a:r>
              <a:rPr sz="1300" b="0">
                <a:solidFill>
                  <a:srgbClr val="222222"/>
                </a:solidFill>
                <a:latin typeface="Calibri"/>
              </a:rPr>
              <a:t>–  Owner: Aniruddh Deshpande. FY26 impact INR 1.70 Cr. Status unchanged since the last steering committee.</a:t>
            </a:r>
          </a:p>
          <a:p>
            <a:pPr lvl="1">
              <a:lnSpc>
                <a:spcPct val="115000"/>
              </a:lnSpc>
              <a:spcAft>
                <a:spcPts val="600"/>
              </a:spcAft>
            </a:pPr>
            <a:r>
              <a:rPr sz="1300" b="0">
                <a:solidFill>
                  <a:srgbClr val="222222"/>
                </a:solidFill>
                <a:latin typeface="Calibri"/>
              </a:rPr>
              <a:t>–  Root cause is source-side, not in the ETL. A finance procedure inside ORION rewrites the scheme discount amount; the mapping itself is not at fault.</a:t>
            </a:r>
          </a:p>
          <a:p>
            <a:pPr lvl="1">
              <a:lnSpc>
                <a:spcPct val="115000"/>
              </a:lnSpc>
              <a:spcAft>
                <a:spcPts val="600"/>
              </a:spcAft>
            </a:pPr>
            <a:r>
              <a:rPr sz="1300" b="0">
                <a:solidFill>
                  <a:srgbClr val="222222"/>
                </a:solidFill>
                <a:latin typeface="Calibri"/>
              </a:rPr>
              <a:t>–  The stored procedure walkthrough has been circulated separately for anyone who wants the detail. No committed close date is being given today.</a:t>
            </a:r>
          </a:p>
          <a:p>
            <a:pPr>
              <a:lnSpc>
                <a:spcPct val="115000"/>
              </a:lnSpc>
              <a:spcAft>
                <a:spcPts val="600"/>
              </a:spcAft>
            </a:pPr>
            <a:r>
              <a:rPr sz="1500" b="1">
                <a:solidFill>
                  <a:srgbClr val="222222"/>
                </a:solidFill>
                <a:latin typeface="Calibri"/>
              </a:rPr>
              <a:t>•  VAR-005 – Credit notes absent from warehouse</a:t>
            </a:r>
          </a:p>
          <a:p>
            <a:pPr lvl="1">
              <a:lnSpc>
                <a:spcPct val="115000"/>
              </a:lnSpc>
              <a:spcAft>
                <a:spcPts val="600"/>
              </a:spcAft>
            </a:pPr>
            <a:r>
              <a:rPr sz="1300" b="0">
                <a:solidFill>
                  <a:srgbClr val="222222"/>
                </a:solidFill>
                <a:latin typeface="Calibri"/>
              </a:rPr>
              <a:t>–  Owner: Shalini Iyer. Open since 24-Apr-2026.</a:t>
            </a:r>
          </a:p>
          <a:p>
            <a:pPr lvl="1">
              <a:lnSpc>
                <a:spcPct val="115000"/>
              </a:lnSpc>
              <a:spcAft>
                <a:spcPts val="600"/>
              </a:spcAft>
            </a:pPr>
            <a:r>
              <a:rPr sz="1300" b="0">
                <a:solidFill>
                  <a:srgbClr val="222222"/>
                </a:solidFill>
                <a:latin typeface="Calibri"/>
              </a:rPr>
              <a:t>–  Validated FY26 impact: INR 3.11 Cr, across 1,206 documents (rate difference and off-invoice adjustment types only). Validated against the FY26 trial balance on 21-Jul-2026.</a:t>
            </a:r>
          </a:p>
          <a:p>
            <a:pPr lvl="1">
              <a:lnSpc>
                <a:spcPct val="115000"/>
              </a:lnSpc>
              <a:spcAft>
                <a:spcPts val="600"/>
              </a:spcAft>
            </a:pPr>
            <a:r>
              <a:rPr sz="1300" b="0">
                <a:solidFill>
                  <a:srgbClr val="222222"/>
                </a:solidFill>
                <a:latin typeface="Calibri"/>
              </a:rPr>
              <a:t>–  Still open, five months on. Raised at Group level as part of the credit note escalation.</a:t>
            </a:r>
          </a:p>
          <a:p>
            <a:pPr lvl="1">
              <a:lnSpc>
                <a:spcPct val="115000"/>
              </a:lnSpc>
              <a:spcAft>
                <a:spcPts val="600"/>
              </a:spcAft>
            </a:pPr>
            <a:r>
              <a:rPr sz="1300" b="0">
                <a:solidFill>
                  <a:srgbClr val="222222"/>
                </a:solidFill>
                <a:latin typeface="Calibri"/>
              </a:rPr>
              <a:t>–  Ask: resolve the ownership question (who fixes it, not just who reports it) before Klarissen's 31-Dec year end.</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828800" cy="1188720"/>
          </a:xfrm>
          <a:prstGeom prst="rect">
            <a:avLst/>
          </a:prstGeom>
          <a:noFill/>
        </p:spPr>
        <p:txBody>
          <a:bodyPr wrap="none">
            <a:spAutoFit/>
          </a:bodyPr>
          <a:lstStyle/>
          <a:p>
            <a:r>
              <a:rPr sz="6000" b="1">
                <a:solidFill>
                  <a:srgbClr val="B8860B"/>
                </a:solidFill>
                <a:latin typeface="Calibri"/>
              </a:rPr>
              <a:t>3</a:t>
            </a:r>
          </a:p>
        </p:txBody>
      </p:sp>
      <p:sp>
        <p:nvSpPr>
          <p:cNvPr id="4" name="TextBox 3"/>
          <p:cNvSpPr txBox="1"/>
          <p:nvPr/>
        </p:nvSpPr>
        <p:spPr>
          <a:xfrm>
            <a:off x="822960" y="3246120"/>
            <a:ext cx="10058400" cy="1005840"/>
          </a:xfrm>
          <a:prstGeom prst="rect">
            <a:avLst/>
          </a:prstGeom>
          <a:noFill/>
        </p:spPr>
        <p:txBody>
          <a:bodyPr wrap="square">
            <a:spAutoFit/>
          </a:bodyPr>
          <a:lstStyle/>
          <a:p>
            <a:r>
              <a:rPr sz="3600" b="1">
                <a:solidFill>
                  <a:srgbClr val="FFFFFF"/>
                </a:solidFill>
                <a:latin typeface="Calibri"/>
              </a:rPr>
              <a:t>Reporting Scope for Go-Live</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Dashboards Confirmed for Go-Live</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789920" cy="457200"/>
          </a:xfrm>
          <a:prstGeom prst="rect">
            <a:avLst/>
          </a:prstGeom>
          <a:noFill/>
        </p:spPr>
        <p:txBody>
          <a:bodyPr wrap="none">
            <a:spAutoFit/>
          </a:bodyPr>
          <a:lstStyle/>
          <a:p>
            <a:r>
              <a:rPr sz="1800" b="1">
                <a:solidFill>
                  <a:srgbClr val="1F2D3D"/>
                </a:solidFill>
              </a:rPr>
              <a:t>Nine dashboards, live on 12 November.</a:t>
            </a:r>
          </a:p>
        </p:txBody>
      </p:sp>
      <p:graphicFrame>
        <p:nvGraphicFramePr>
          <p:cNvPr id="5" name="Table 4"/>
          <p:cNvGraphicFramePr>
            <a:graphicFrameLocks noGrp="1"/>
          </p:cNvGraphicFramePr>
          <p:nvPr/>
        </p:nvGraphicFramePr>
        <p:xfrm>
          <a:off x="822960" y="1828800"/>
          <a:ext cx="10058400" cy="4206240"/>
        </p:xfrm>
        <a:graphic>
          <a:graphicData uri="http://schemas.openxmlformats.org/drawingml/2006/table">
            <a:tbl>
              <a:tblPr firstRow="1" bandRow="1">
                <a:tableStyleId>{5C22544A-7EE6-4342-B048-85BDC9FD1C3A}</a:tableStyleId>
              </a:tblPr>
              <a:tblGrid>
                <a:gridCol w="1280160"/>
                <a:gridCol w="8778240"/>
              </a:tblGrid>
              <a:tr h="420624">
                <a:tc>
                  <a:txBody>
                    <a:bodyPr/>
                    <a:lstStyle/>
                    <a:p>
                      <a:pPr algn="l"/>
                      <a:r>
                        <a:rPr b="1" sz="1300" i="0">
                          <a:solidFill>
                            <a:srgbClr val="FFFFFF"/>
                          </a:solidFill>
                          <a:latin typeface="Calibri"/>
                        </a:rPr>
                        <a:t>ID</a:t>
                      </a:r>
                    </a:p>
                  </a:txBody>
                  <a:tcPr>
                    <a:solidFill>
                      <a:srgbClr val="1F2D3D"/>
                    </a:solidFill>
                  </a:tcPr>
                </a:tc>
                <a:tc>
                  <a:txBody>
                    <a:bodyPr/>
                    <a:lstStyle/>
                    <a:p>
                      <a:pPr algn="l"/>
                      <a:r>
                        <a:rPr b="1" sz="1300" i="0">
                          <a:solidFill>
                            <a:srgbClr val="FFFFFF"/>
                          </a:solidFill>
                          <a:latin typeface="Calibri"/>
                        </a:rPr>
                        <a:t>Dashboard</a:t>
                      </a:r>
                    </a:p>
                  </a:txBody>
                  <a:tcPr>
                    <a:solidFill>
                      <a:srgbClr val="1F2D3D"/>
                    </a:solidFill>
                  </a:tcPr>
                </a:tc>
              </a:tr>
              <a:tr h="420624">
                <a:tc>
                  <a:txBody>
                    <a:bodyPr/>
                    <a:lstStyle/>
                    <a:p>
                      <a:pPr algn="l"/>
                      <a:r>
                        <a:rPr b="1" sz="1300" i="0">
                          <a:solidFill>
                            <a:srgbClr val="222222"/>
                          </a:solidFill>
                          <a:latin typeface="Calibri"/>
                        </a:rPr>
                        <a:t>D01</a:t>
                      </a:r>
                    </a:p>
                  </a:txBody>
                  <a:tcPr/>
                </a:tc>
                <a:tc>
                  <a:txBody>
                    <a:bodyPr/>
                    <a:lstStyle/>
                    <a:p>
                      <a:pPr algn="l"/>
                      <a:r>
                        <a:rPr b="0" sz="1300" i="0">
                          <a:solidFill>
                            <a:srgbClr val="222222"/>
                          </a:solidFill>
                          <a:latin typeface="Calibri"/>
                        </a:rPr>
                        <a:t>Primary Sales Performance</a:t>
                      </a:r>
                    </a:p>
                  </a:txBody>
                  <a:tcPr/>
                </a:tc>
              </a:tr>
              <a:tr h="420624">
                <a:tc>
                  <a:txBody>
                    <a:bodyPr/>
                    <a:lstStyle/>
                    <a:p>
                      <a:pPr algn="l"/>
                      <a:r>
                        <a:rPr b="1" sz="1300" i="0">
                          <a:solidFill>
                            <a:srgbClr val="222222"/>
                          </a:solidFill>
                          <a:latin typeface="Calibri"/>
                        </a:rPr>
                        <a:t>D03</a:t>
                      </a:r>
                    </a:p>
                  </a:txBody>
                  <a:tcPr/>
                </a:tc>
                <a:tc>
                  <a:txBody>
                    <a:bodyPr/>
                    <a:lstStyle/>
                    <a:p>
                      <a:pPr algn="l"/>
                      <a:r>
                        <a:rPr b="0" sz="1300" i="0">
                          <a:solidFill>
                            <a:srgbClr val="222222"/>
                          </a:solidFill>
                          <a:latin typeface="Calibri"/>
                        </a:rPr>
                        <a:t>Distributor Scorecard</a:t>
                      </a:r>
                    </a:p>
                  </a:txBody>
                  <a:tcPr/>
                </a:tc>
              </a:tr>
              <a:tr h="420624">
                <a:tc>
                  <a:txBody>
                    <a:bodyPr/>
                    <a:lstStyle/>
                    <a:p>
                      <a:pPr algn="l"/>
                      <a:r>
                        <a:rPr b="1" sz="1300" i="0">
                          <a:solidFill>
                            <a:srgbClr val="222222"/>
                          </a:solidFill>
                          <a:latin typeface="Calibri"/>
                        </a:rPr>
                        <a:t>D04</a:t>
                      </a:r>
                    </a:p>
                  </a:txBody>
                  <a:tcPr>
                    <a:solidFill>
                      <a:srgbClr val="FBF0D9"/>
                    </a:solidFill>
                  </a:tcPr>
                </a:tc>
                <a:tc>
                  <a:txBody>
                    <a:bodyPr/>
                    <a:lstStyle/>
                    <a:p>
                      <a:pPr algn="l"/>
                      <a:r>
                        <a:rPr b="1" sz="1300" i="0">
                          <a:solidFill>
                            <a:srgbClr val="222222"/>
                          </a:solidFill>
                          <a:latin typeface="Calibri"/>
                        </a:rPr>
                        <a:t>Scheme Effectiveness (reinstated, August)</a:t>
                      </a:r>
                    </a:p>
                  </a:txBody>
                  <a:tcPr>
                    <a:solidFill>
                      <a:srgbClr val="FBF0D9"/>
                    </a:solidFill>
                  </a:tcPr>
                </a:tc>
              </a:tr>
              <a:tr h="420624">
                <a:tc>
                  <a:txBody>
                    <a:bodyPr/>
                    <a:lstStyle/>
                    <a:p>
                      <a:pPr algn="l"/>
                      <a:r>
                        <a:rPr b="1" sz="1300" i="0">
                          <a:solidFill>
                            <a:srgbClr val="222222"/>
                          </a:solidFill>
                          <a:latin typeface="Calibri"/>
                        </a:rPr>
                        <a:t>D05</a:t>
                      </a:r>
                    </a:p>
                  </a:txBody>
                  <a:tcPr/>
                </a:tc>
                <a:tc>
                  <a:txBody>
                    <a:bodyPr/>
                    <a:lstStyle/>
                    <a:p>
                      <a:pPr algn="l"/>
                      <a:r>
                        <a:rPr b="0" sz="1300" i="0">
                          <a:solidFill>
                            <a:srgbClr val="222222"/>
                          </a:solidFill>
                          <a:latin typeface="Calibri"/>
                        </a:rPr>
                        <a:t>Stock and Despatch</a:t>
                      </a:r>
                    </a:p>
                  </a:txBody>
                  <a:tcPr/>
                </a:tc>
              </a:tr>
              <a:tr h="420624">
                <a:tc>
                  <a:txBody>
                    <a:bodyPr/>
                    <a:lstStyle/>
                    <a:p>
                      <a:pPr algn="l"/>
                      <a:r>
                        <a:rPr b="1" sz="1300" i="0">
                          <a:solidFill>
                            <a:srgbClr val="222222"/>
                          </a:solidFill>
                          <a:latin typeface="Calibri"/>
                        </a:rPr>
                        <a:t>D06</a:t>
                      </a:r>
                    </a:p>
                  </a:txBody>
                  <a:tcPr/>
                </a:tc>
                <a:tc>
                  <a:txBody>
                    <a:bodyPr/>
                    <a:lstStyle/>
                    <a:p>
                      <a:pPr algn="l"/>
                      <a:r>
                        <a:rPr b="0" sz="1300" i="0">
                          <a:solidFill>
                            <a:srgbClr val="222222"/>
                          </a:solidFill>
                          <a:latin typeface="Calibri"/>
                        </a:rPr>
                        <a:t>Order Fulfilment and Fill Rate</a:t>
                      </a:r>
                    </a:p>
                  </a:txBody>
                  <a:tcPr/>
                </a:tc>
              </a:tr>
              <a:tr h="420624">
                <a:tc>
                  <a:txBody>
                    <a:bodyPr/>
                    <a:lstStyle/>
                    <a:p>
                      <a:pPr algn="l"/>
                      <a:r>
                        <a:rPr b="1" sz="1300" i="0">
                          <a:solidFill>
                            <a:srgbClr val="222222"/>
                          </a:solidFill>
                          <a:latin typeface="Calibri"/>
                        </a:rPr>
                        <a:t>D07</a:t>
                      </a:r>
                    </a:p>
                  </a:txBody>
                  <a:tcPr/>
                </a:tc>
                <a:tc>
                  <a:txBody>
                    <a:bodyPr/>
                    <a:lstStyle/>
                    <a:p>
                      <a:pPr algn="l"/>
                      <a:r>
                        <a:rPr b="0" sz="1300" i="0">
                          <a:solidFill>
                            <a:srgbClr val="222222"/>
                          </a:solidFill>
                          <a:latin typeface="Calibri"/>
                        </a:rPr>
                        <a:t>Revenue Reconciliation</a:t>
                      </a:r>
                    </a:p>
                  </a:txBody>
                  <a:tcPr/>
                </a:tc>
              </a:tr>
              <a:tr h="420624">
                <a:tc>
                  <a:txBody>
                    <a:bodyPr/>
                    <a:lstStyle/>
                    <a:p>
                      <a:pPr algn="l"/>
                      <a:r>
                        <a:rPr b="1" sz="1300" i="0">
                          <a:solidFill>
                            <a:srgbClr val="222222"/>
                          </a:solidFill>
                          <a:latin typeface="Calibri"/>
                        </a:rPr>
                        <a:t>D09</a:t>
                      </a:r>
                    </a:p>
                  </a:txBody>
                  <a:tcPr/>
                </a:tc>
                <a:tc>
                  <a:txBody>
                    <a:bodyPr/>
                    <a:lstStyle/>
                    <a:p>
                      <a:pPr algn="l"/>
                      <a:r>
                        <a:rPr b="0" sz="1300" i="0">
                          <a:solidFill>
                            <a:srgbClr val="222222"/>
                          </a:solidFill>
                          <a:latin typeface="Calibri"/>
                        </a:rPr>
                        <a:t>Product Mix and Contribution</a:t>
                      </a:r>
                    </a:p>
                  </a:txBody>
                  <a:tcPr/>
                </a:tc>
              </a:tr>
              <a:tr h="420624">
                <a:tc>
                  <a:txBody>
                    <a:bodyPr/>
                    <a:lstStyle/>
                    <a:p>
                      <a:pPr algn="l"/>
                      <a:r>
                        <a:rPr b="1" sz="1300" i="0">
                          <a:solidFill>
                            <a:srgbClr val="222222"/>
                          </a:solidFill>
                          <a:latin typeface="Calibri"/>
                        </a:rPr>
                        <a:t>D11</a:t>
                      </a:r>
                    </a:p>
                  </a:txBody>
                  <a:tcPr>
                    <a:solidFill>
                      <a:srgbClr val="FBF0D9"/>
                    </a:solidFill>
                  </a:tcPr>
                </a:tc>
                <a:tc>
                  <a:txBody>
                    <a:bodyPr/>
                    <a:lstStyle/>
                    <a:p>
                      <a:pPr algn="l"/>
                      <a:r>
                        <a:rPr b="1" sz="1300" i="0">
                          <a:solidFill>
                            <a:srgbClr val="222222"/>
                          </a:solidFill>
                          <a:latin typeface="Calibri"/>
                        </a:rPr>
                        <a:t>Credit and Receivables Exposure (reinstated, August)</a:t>
                      </a:r>
                    </a:p>
                  </a:txBody>
                  <a:tcPr>
                    <a:solidFill>
                      <a:srgbClr val="FBF0D9"/>
                    </a:solidFill>
                  </a:tcPr>
                </a:tc>
              </a:tr>
              <a:tr h="420624">
                <a:tc>
                  <a:txBody>
                    <a:bodyPr/>
                    <a:lstStyle/>
                    <a:p>
                      <a:pPr algn="l"/>
                      <a:r>
                        <a:rPr b="1" sz="1300" i="0">
                          <a:solidFill>
                            <a:srgbClr val="222222"/>
                          </a:solidFill>
                          <a:latin typeface="Calibri"/>
                        </a:rPr>
                        <a:t>D12</a:t>
                      </a:r>
                    </a:p>
                  </a:txBody>
                  <a:tcPr/>
                </a:tc>
                <a:tc>
                  <a:txBody>
                    <a:bodyPr/>
                    <a:lstStyle/>
                    <a:p>
                      <a:pPr algn="l"/>
                      <a:r>
                        <a:rPr b="0" sz="1300" i="0">
                          <a:solidFill>
                            <a:srgbClr val="222222"/>
                          </a:solidFill>
                          <a:latin typeface="Calibri"/>
                        </a:rPr>
                        <a:t>Executive Summary (Group view)</a:t>
                      </a:r>
                    </a:p>
                  </a:txBody>
                  <a:tcPr/>
                </a:tc>
              </a:tr>
            </a:tbl>
          </a:graphicData>
        </a:graphic>
      </p:graphicFrame>
      <p:sp>
        <p:nvSpPr>
          <p:cNvPr id="6" name="TextBox 5"/>
          <p:cNvSpPr txBox="1"/>
          <p:nvPr/>
        </p:nvSpPr>
        <p:spPr>
          <a:xfrm>
            <a:off x="548640" y="6126480"/>
            <a:ext cx="10972800" cy="548640"/>
          </a:xfrm>
          <a:prstGeom prst="rect">
            <a:avLst/>
          </a:prstGeom>
          <a:noFill/>
        </p:spPr>
        <p:txBody>
          <a:bodyPr wrap="square">
            <a:spAutoFit/>
          </a:bodyPr>
          <a:lstStyle/>
          <a:p>
            <a:r>
              <a:rPr sz="1100" i="1">
                <a:solidFill>
                  <a:srgbClr val="44515E"/>
                </a:solidFill>
              </a:rPr>
              <a:t>D04 and D11 reinstated at Klarissen's request following the credit note escalation and the scheme discount work, funded from the Phase 2 budget line released in August. D11 is built on receivables ageing from the AR open-item extract.</a:t>
            </a:r>
          </a:p>
        </p:txBody>
      </p:sp>
      <p:sp>
        <p:nvSpPr>
          <p:cNvPr id="7" name="Rectangle 6"/>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8" name="TextBox 7"/>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Programme Risks and Open Items - Full Detail</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881360" cy="5394960"/>
          </a:xfrm>
          <a:prstGeom prst="rect">
            <a:avLst/>
          </a:prstGeom>
          <a:noFill/>
        </p:spPr>
        <p:txBody>
          <a:bodyPr wrap="square">
            <a:spAutoFit/>
          </a:bodyPr>
          <a:lstStyle/>
          <a:p>
            <a:pPr>
              <a:lnSpc>
                <a:spcPct val="102000"/>
              </a:lnSpc>
              <a:spcAft>
                <a:spcPts val="600"/>
              </a:spcAft>
            </a:pPr>
            <a:r>
              <a:rPr sz="1250" b="1">
                <a:solidFill>
                  <a:srgbClr val="222222"/>
                </a:solidFill>
                <a:latin typeface="Calibri"/>
              </a:rPr>
              <a:t>•  Delivery</a:t>
            </a:r>
          </a:p>
          <a:p>
            <a:pPr lvl="1">
              <a:lnSpc>
                <a:spcPct val="102000"/>
              </a:lnSpc>
              <a:spcAft>
                <a:spcPts val="600"/>
              </a:spcAft>
            </a:pPr>
            <a:r>
              <a:rPr sz="1050" b="0">
                <a:solidFill>
                  <a:srgbClr val="222222"/>
                </a:solidFill>
                <a:latin typeface="Calibri"/>
              </a:rPr>
              <a:t>–  D04 / D11 build effort lands on the existing DRISHTI_SALES model; no new plumbing, does not move the 12-Nov date, but it is additional load on Ritwik's team in the same window as the rest of the build.</a:t>
            </a:r>
          </a:p>
          <a:p>
            <a:pPr lvl="1">
              <a:lnSpc>
                <a:spcPct val="102000"/>
              </a:lnSpc>
              <a:spcAft>
                <a:spcPts val="600"/>
              </a:spcAft>
            </a:pPr>
            <a:r>
              <a:rPr sz="1050" b="0">
                <a:solidFill>
                  <a:srgbClr val="222222"/>
                </a:solidFill>
                <a:latin typeface="Calibri"/>
              </a:rPr>
              <a:t>–  Dashboard build workstream reported Green this cycle; watching closely, revisit next cycle if slippage shows up.</a:t>
            </a:r>
          </a:p>
          <a:p>
            <a:pPr>
              <a:lnSpc>
                <a:spcPct val="102000"/>
              </a:lnSpc>
              <a:spcAft>
                <a:spcPts val="600"/>
              </a:spcAft>
            </a:pPr>
            <a:r>
              <a:rPr sz="1250" b="1">
                <a:solidFill>
                  <a:srgbClr val="222222"/>
                </a:solidFill>
                <a:latin typeface="Calibri"/>
              </a:rPr>
              <a:t>•  Data / Variance</a:t>
            </a:r>
          </a:p>
          <a:p>
            <a:pPr lvl="1">
              <a:lnSpc>
                <a:spcPct val="102000"/>
              </a:lnSpc>
              <a:spcAft>
                <a:spcPts val="600"/>
              </a:spcAft>
            </a:pPr>
            <a:r>
              <a:rPr sz="1050" b="0">
                <a:solidFill>
                  <a:srgbClr val="222222"/>
                </a:solidFill>
                <a:latin typeface="Calibri"/>
              </a:rPr>
              <a:t>–  VAR-003 (scheme discount double-count): no committed close date. Source-side, owned by Aniruddh Deshpande. Karthik and Ani have not yet agreed a joint position.</a:t>
            </a:r>
          </a:p>
          <a:p>
            <a:pPr lvl="1">
              <a:lnSpc>
                <a:spcPct val="102000"/>
              </a:lnSpc>
              <a:spcAft>
                <a:spcPts val="600"/>
              </a:spcAft>
            </a:pPr>
            <a:r>
              <a:rPr sz="1050" b="0">
                <a:solidFill>
                  <a:srgbClr val="222222"/>
                </a:solidFill>
                <a:latin typeface="Calibri"/>
              </a:rPr>
              <a:t>–  VAR-004 (distributor reassignment duplicates): open, workstream lead Ishaan Bhatt.</a:t>
            </a:r>
          </a:p>
          <a:p>
            <a:pPr lvl="1">
              <a:lnSpc>
                <a:spcPct val="102000"/>
              </a:lnSpc>
              <a:spcAft>
                <a:spcPts val="600"/>
              </a:spcAft>
            </a:pPr>
            <a:r>
              <a:rPr sz="1050" b="0">
                <a:solidFill>
                  <a:srgbClr val="222222"/>
                </a:solidFill>
                <a:latin typeface="Calibri"/>
              </a:rPr>
              <a:t>–  VAR-005 (credit notes): validated at INR 3.11 Cr, open since April. See separate slide, flagged red in the register.</a:t>
            </a:r>
          </a:p>
          <a:p>
            <a:pPr lvl="1">
              <a:lnSpc>
                <a:spcPct val="102000"/>
              </a:lnSpc>
              <a:spcAft>
                <a:spcPts val="600"/>
              </a:spcAft>
            </a:pPr>
            <a:r>
              <a:rPr sz="1050" b="0">
                <a:solidFill>
                  <a:srgbClr val="222222"/>
                </a:solidFill>
                <a:latin typeface="Calibri"/>
              </a:rPr>
              <a:t>–  VAR-007 (late-arriving SKUs): a volume item, no rupee value carried in the register; it stays a register line, not a board pack rupee figure.</a:t>
            </a:r>
          </a:p>
          <a:p>
            <a:pPr>
              <a:lnSpc>
                <a:spcPct val="102000"/>
              </a:lnSpc>
              <a:spcAft>
                <a:spcPts val="600"/>
              </a:spcAft>
            </a:pPr>
            <a:r>
              <a:rPr sz="1250" b="1">
                <a:solidFill>
                  <a:srgbClr val="222222"/>
                </a:solidFill>
                <a:latin typeface="Calibri"/>
              </a:rPr>
              <a:t>•  Resourcing</a:t>
            </a:r>
          </a:p>
          <a:p>
            <a:pPr lvl="1">
              <a:lnSpc>
                <a:spcPct val="102000"/>
              </a:lnSpc>
              <a:spcAft>
                <a:spcPts val="600"/>
              </a:spcAft>
            </a:pPr>
            <a:r>
              <a:rPr sz="1050" b="0">
                <a:solidFill>
                  <a:srgbClr val="222222"/>
                </a:solidFill>
                <a:latin typeface="Calibri"/>
              </a:rPr>
              <a:t>–  UAT draws testers from Finance, Sales Ops and the BI team. Shalini has flagged, more than once now, that it is basically the same three people from her side every cycle.</a:t>
            </a:r>
          </a:p>
          <a:p>
            <a:pPr lvl="1">
              <a:lnSpc>
                <a:spcPct val="102000"/>
              </a:lnSpc>
              <a:spcAft>
                <a:spcPts val="600"/>
              </a:spcAft>
            </a:pPr>
            <a:r>
              <a:rPr sz="1050" b="0">
                <a:solidFill>
                  <a:srgbClr val="222222"/>
                </a:solidFill>
                <a:latin typeface="Calibri"/>
              </a:rPr>
              <a:t>–  November UAT resourcing is NOT yet agreed by Finance. Separate action, do not treat as closed.</a:t>
            </a:r>
          </a:p>
          <a:p>
            <a:pPr>
              <a:lnSpc>
                <a:spcPct val="102000"/>
              </a:lnSpc>
              <a:spcAft>
                <a:spcPts val="600"/>
              </a:spcAft>
            </a:pPr>
            <a:r>
              <a:rPr sz="1250" b="1">
                <a:solidFill>
                  <a:srgbClr val="222222"/>
                </a:solidFill>
                <a:latin typeface="Calibri"/>
              </a:rPr>
              <a:t>•  Governance / Audit</a:t>
            </a:r>
          </a:p>
          <a:p>
            <a:pPr lvl="1">
              <a:lnSpc>
                <a:spcPct val="102000"/>
              </a:lnSpc>
              <a:spcAft>
                <a:spcPts val="600"/>
              </a:spcAft>
            </a:pPr>
            <a:r>
              <a:rPr sz="1050" b="0">
                <a:solidFill>
                  <a:srgbClr val="222222"/>
                </a:solidFill>
                <a:latin typeface="Calibri"/>
              </a:rPr>
              <a:t>–  Action on Rajeev to confirm the variance register position is reflected in the Group audit file, not only the internal register. Marijke has asked for this in writing.</a:t>
            </a:r>
          </a:p>
          <a:p>
            <a:pPr lvl="1">
              <a:lnSpc>
                <a:spcPct val="102000"/>
              </a:lnSpc>
              <a:spcAft>
                <a:spcPts val="600"/>
              </a:spcAft>
            </a:pPr>
            <a:r>
              <a:rPr sz="1050" b="0">
                <a:solidFill>
                  <a:srgbClr val="222222"/>
                </a:solidFill>
                <a:latin typeface="Calibri"/>
              </a:rPr>
              <a:t>–  Credit note number (VAR-005) requested for the audit file seperately from the register - these are being treated by Group Finance as two different things.</a:t>
            </a:r>
          </a:p>
          <a:p>
            <a:pPr>
              <a:lnSpc>
                <a:spcPct val="102000"/>
              </a:lnSpc>
              <a:spcAft>
                <a:spcPts val="600"/>
              </a:spcAft>
            </a:pPr>
            <a:r>
              <a:rPr sz="1250" b="1">
                <a:solidFill>
                  <a:srgbClr val="222222"/>
                </a:solidFill>
                <a:latin typeface="Calibri"/>
              </a:rPr>
              <a:t>•  Commercial</a:t>
            </a:r>
          </a:p>
          <a:p>
            <a:pPr lvl="1">
              <a:lnSpc>
                <a:spcPct val="102000"/>
              </a:lnSpc>
              <a:spcAft>
                <a:spcPts val="600"/>
              </a:spcAft>
            </a:pPr>
            <a:r>
              <a:rPr sz="1050" b="0">
                <a:solidFill>
                  <a:srgbClr val="222222"/>
                </a:solidFill>
                <a:latin typeface="Calibri"/>
              </a:rPr>
              <a:t>–  No change to commercials from the revised cutover shape. The plan stays inside the capped fee as it stands today.</a:t>
            </a:r>
          </a:p>
          <a:p>
            <a:pPr>
              <a:lnSpc>
                <a:spcPct val="102000"/>
              </a:lnSpc>
              <a:spcAft>
                <a:spcPts val="600"/>
              </a:spcAft>
            </a:pPr>
            <a:r>
              <a:rPr sz="1250" b="1">
                <a:solidFill>
                  <a:srgbClr val="222222"/>
                </a:solidFill>
                <a:latin typeface="Calibri"/>
              </a:rPr>
              <a:t>•  Timing</a:t>
            </a:r>
          </a:p>
          <a:p>
            <a:pPr lvl="1">
              <a:lnSpc>
                <a:spcPct val="102000"/>
              </a:lnSpc>
              <a:spcAft>
                <a:spcPts val="600"/>
              </a:spcAft>
            </a:pPr>
            <a:r>
              <a:rPr sz="1050" b="0">
                <a:solidFill>
                  <a:srgbClr val="222222"/>
                </a:solidFill>
                <a:latin typeface="Calibri"/>
              </a:rPr>
              <a:t>–  FY26 credit note figure (3.11 Cr) is an FY26-only number. The FY27 position has not been given a date by Finance yet. As such, do not quote one.</a:t>
            </a:r>
          </a:p>
          <a:p>
            <a:pPr lvl="1">
              <a:lnSpc>
                <a:spcPct val="102000"/>
              </a:lnSpc>
              <a:spcAft>
                <a:spcPts val="600"/>
              </a:spcAft>
            </a:pPr>
            <a:r>
              <a:rPr sz="1050" b="0">
                <a:solidFill>
                  <a:srgbClr val="222222"/>
                </a:solidFill>
                <a:latin typeface="Calibri"/>
              </a:rPr>
              <a:t>–  TBC</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UAT Readiness - October</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10881360" cy="4572000"/>
          </a:xfrm>
          <a:prstGeom prst="rect">
            <a:avLst/>
          </a:prstGeom>
          <a:noFill/>
        </p:spPr>
        <p:txBody>
          <a:bodyPr wrap="square">
            <a:spAutoFit/>
          </a:bodyPr>
          <a:lstStyle/>
          <a:p>
            <a:pPr>
              <a:lnSpc>
                <a:spcPct val="115000"/>
              </a:lnSpc>
              <a:spcAft>
                <a:spcPts val="600"/>
              </a:spcAft>
            </a:pPr>
            <a:r>
              <a:rPr sz="1600" b="0">
                <a:solidFill>
                  <a:srgbClr val="222222"/>
                </a:solidFill>
                <a:latin typeface="Calibri"/>
              </a:rPr>
              <a:t>•  UAT window: October 2026, concluding ahead of the 7-8 November cutover weekend.</a:t>
            </a:r>
          </a:p>
          <a:p>
            <a:pPr>
              <a:lnSpc>
                <a:spcPct val="115000"/>
              </a:lnSpc>
              <a:spcAft>
                <a:spcPts val="600"/>
              </a:spcAft>
            </a:pPr>
            <a:r>
              <a:rPr sz="1600" b="0">
                <a:solidFill>
                  <a:srgbClr val="222222"/>
                </a:solidFill>
                <a:latin typeface="Calibri"/>
              </a:rPr>
              <a:t>•  Exact slot schedule and the tester roster are being circulated by Sneha's team next week.</a:t>
            </a:r>
          </a:p>
          <a:p>
            <a:pPr>
              <a:lnSpc>
                <a:spcPct val="115000"/>
              </a:lnSpc>
              <a:spcAft>
                <a:spcPts val="600"/>
              </a:spcAft>
            </a:pPr>
            <a:r>
              <a:rPr sz="1600" b="0">
                <a:solidFill>
                  <a:srgbClr val="222222"/>
                </a:solidFill>
                <a:latin typeface="Calibri"/>
              </a:rPr>
              <a:t>•  Tester nominations across Finance, Sales Ops and BI: TBC.</a:t>
            </a:r>
          </a:p>
          <a:p>
            <a:pPr>
              <a:lnSpc>
                <a:spcPct val="115000"/>
              </a:lnSpc>
              <a:spcAft>
                <a:spcPts val="600"/>
              </a:spcAft>
            </a:pPr>
            <a:r>
              <a:rPr sz="1600" b="0">
                <a:solidFill>
                  <a:srgbClr val="222222"/>
                </a:solidFill>
                <a:latin typeface="Calibri"/>
              </a:rPr>
              <a:t>•  All nine confirmed dashboards will be covered in the UAT script set, including the two reinstated ones.</a:t>
            </a:r>
          </a:p>
          <a:p>
            <a:pPr>
              <a:lnSpc>
                <a:spcPct val="115000"/>
              </a:lnSpc>
              <a:spcAft>
                <a:spcPts val="600"/>
              </a:spcAft>
            </a:pPr>
            <a:r>
              <a:rPr sz="1600" b="0">
                <a:solidFill>
                  <a:srgbClr val="222222"/>
                </a:solidFill>
                <a:latin typeface="Calibri"/>
              </a:rPr>
              <a:t>•  UAT environment is refreshed from production, so despatch data across plants will be current as of the refresh date.</a:t>
            </a:r>
          </a:p>
          <a:p>
            <a:pPr>
              <a:lnSpc>
                <a:spcPct val="115000"/>
              </a:lnSpc>
              <a:spcAft>
                <a:spcPts val="600"/>
              </a:spcAft>
            </a:pPr>
            <a:r>
              <a:rPr sz="1600" b="0">
                <a:solidFill>
                  <a:srgbClr val="222222"/>
                </a:solidFill>
                <a:latin typeface="Calibri"/>
              </a:rPr>
              <a:t>•  Float in the plan is limited. Not a lot of room if the October window slips.</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Asks of the Steering Committee</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0881360" cy="4389120"/>
          </a:xfrm>
          <a:prstGeom prst="rect">
            <a:avLst/>
          </a:prstGeom>
          <a:noFill/>
        </p:spPr>
        <p:txBody>
          <a:bodyPr wrap="square">
            <a:spAutoFit/>
          </a:bodyPr>
          <a:lstStyle/>
          <a:p>
            <a:pPr>
              <a:lnSpc>
                <a:spcPct val="115000"/>
              </a:lnSpc>
              <a:spcAft>
                <a:spcPts val="600"/>
              </a:spcAft>
            </a:pPr>
            <a:r>
              <a:rPr sz="1700" b="0">
                <a:solidFill>
                  <a:srgbClr val="222222"/>
                </a:solidFill>
                <a:latin typeface="Calibri"/>
              </a:rPr>
              <a:t>•  Hold the 12-November go-live date. No further replanning around it from this point.</a:t>
            </a:r>
          </a:p>
          <a:p>
            <a:pPr>
              <a:lnSpc>
                <a:spcPct val="115000"/>
              </a:lnSpc>
              <a:spcAft>
                <a:spcPts val="600"/>
              </a:spcAft>
            </a:pPr>
            <a:r>
              <a:rPr sz="1700" b="0">
                <a:solidFill>
                  <a:srgbClr val="222222"/>
                </a:solidFill>
                <a:latin typeface="Calibri"/>
              </a:rPr>
              <a:t>•  Confirm the Phase 2 budget line covers the D04 and D11 build through to go-live, as communicated by the Group.</a:t>
            </a:r>
          </a:p>
          <a:p>
            <a:pPr>
              <a:lnSpc>
                <a:spcPct val="115000"/>
              </a:lnSpc>
              <a:spcAft>
                <a:spcPts val="600"/>
              </a:spcAft>
            </a:pPr>
            <a:r>
              <a:rPr sz="1700" b="0">
                <a:solidFill>
                  <a:srgbClr val="222222"/>
                </a:solidFill>
                <a:latin typeface="Calibri"/>
              </a:rPr>
              <a:t>•  Business (Finance / Sales Ops) to confirm UAT tester nominations for the October window within the next week.</a:t>
            </a:r>
          </a:p>
          <a:p>
            <a:pPr>
              <a:lnSpc>
                <a:spcPct val="115000"/>
              </a:lnSpc>
              <a:spcAft>
                <a:spcPts val="600"/>
              </a:spcAft>
            </a:pPr>
            <a:r>
              <a:rPr sz="1700" b="0">
                <a:solidFill>
                  <a:srgbClr val="222222"/>
                </a:solidFill>
                <a:latin typeface="Calibri"/>
              </a:rPr>
              <a:t>•  Group Finance to name an owner for resolving VAR-005 (credit notes), separate from Shalini as the variance owner, ahead of the 31-Dec Klarissen year end.</a:t>
            </a:r>
          </a:p>
          <a:p>
            <a:pPr>
              <a:lnSpc>
                <a:spcPct val="115000"/>
              </a:lnSpc>
              <a:spcAft>
                <a:spcPts val="600"/>
              </a:spcAft>
            </a:pPr>
            <a:r>
              <a:rPr sz="1700" b="0">
                <a:solidFill>
                  <a:srgbClr val="222222"/>
                </a:solidFill>
                <a:latin typeface="Calibri"/>
              </a:rPr>
              <a:t>•  Confirm the variance register position is carried into the Group audit file, not only the internal tracker.</a:t>
            </a:r>
          </a:p>
          <a:p>
            <a:pPr>
              <a:lnSpc>
                <a:spcPct val="115000"/>
              </a:lnSpc>
              <a:spcAft>
                <a:spcPts val="600"/>
              </a:spcAft>
            </a:pPr>
            <a:r>
              <a:rPr sz="1700" b="0">
                <a:solidFill>
                  <a:srgbClr val="222222"/>
                </a:solidFill>
                <a:latin typeface="Calibri"/>
              </a:rPr>
              <a:t>•  Approve.</a:t>
            </a:r>
          </a:p>
        </p:txBody>
      </p:sp>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822960"/>
          </a:xfrm>
          <a:prstGeom prst="rect">
            <a:avLst/>
          </a:prstGeom>
          <a:noFill/>
        </p:spPr>
        <p:txBody>
          <a:bodyPr wrap="square">
            <a:spAutoFit/>
          </a:bodyPr>
          <a:lstStyle/>
          <a:p>
            <a:r>
              <a:rPr sz="2600" b="1">
                <a:solidFill>
                  <a:srgbClr val="1F2D3D"/>
                </a:solidFill>
                <a:latin typeface="Calibri"/>
              </a:rPr>
              <a:t>Next Steps and Actions</a:t>
            </a:r>
          </a:p>
        </p:txBody>
      </p:sp>
      <p:sp>
        <p:nvSpPr>
          <p:cNvPr id="3" name="Rectangle 2"/>
          <p:cNvSpPr/>
          <p:nvPr/>
        </p:nvSpPr>
        <p:spPr>
          <a:xfrm>
            <a:off x="457200" y="1024128"/>
            <a:ext cx="2926080" cy="330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234440"/>
          <a:ext cx="11247120" cy="4480560"/>
        </p:xfrm>
        <a:graphic>
          <a:graphicData uri="http://schemas.openxmlformats.org/drawingml/2006/table">
            <a:tbl>
              <a:tblPr firstRow="1" bandRow="1">
                <a:tableStyleId>{5C22544A-7EE6-4342-B048-85BDC9FD1C3A}</a:tableStyleId>
              </a:tblPr>
              <a:tblGrid>
                <a:gridCol w="1005840"/>
                <a:gridCol w="6035040"/>
                <a:gridCol w="2377440"/>
                <a:gridCol w="1828800"/>
              </a:tblGrid>
              <a:tr h="560070">
                <a:tc>
                  <a:txBody>
                    <a:bodyPr/>
                    <a:lstStyle/>
                    <a:p>
                      <a:pPr algn="l"/>
                      <a:r>
                        <a:rPr b="1" sz="1300" i="0">
                          <a:solidFill>
                            <a:srgbClr val="FFFFFF"/>
                          </a:solidFill>
                          <a:latin typeface="Calibri"/>
                        </a:rPr>
                        <a:t>ID</a:t>
                      </a:r>
                    </a:p>
                  </a:txBody>
                  <a:tcPr>
                    <a:solidFill>
                      <a:srgbClr val="1F2D3D"/>
                    </a:solidFill>
                  </a:tcPr>
                </a:tc>
                <a:tc>
                  <a:txBody>
                    <a:bodyPr/>
                    <a:lstStyle/>
                    <a:p>
                      <a:pPr algn="l"/>
                      <a:r>
                        <a:rPr b="1" sz="1300" i="0">
                          <a:solidFill>
                            <a:srgbClr val="FFFFFF"/>
                          </a:solidFill>
                          <a:latin typeface="Calibri"/>
                        </a:rPr>
                        <a:t>Action</a:t>
                      </a:r>
                    </a:p>
                  </a:txBody>
                  <a:tcPr>
                    <a:solidFill>
                      <a:srgbClr val="1F2D3D"/>
                    </a:solidFill>
                  </a:tcPr>
                </a:tc>
                <a:tc>
                  <a:txBody>
                    <a:bodyPr/>
                    <a:lstStyle/>
                    <a:p>
                      <a:pPr algn="l"/>
                      <a:r>
                        <a:rPr b="1" sz="1300" i="0">
                          <a:solidFill>
                            <a:srgbClr val="FFFFFF"/>
                          </a:solidFill>
                          <a:latin typeface="Calibri"/>
                        </a:rPr>
                        <a:t>Owner</a:t>
                      </a:r>
                    </a:p>
                  </a:txBody>
                  <a:tcPr>
                    <a:solidFill>
                      <a:srgbClr val="1F2D3D"/>
                    </a:solidFill>
                  </a:tcPr>
                </a:tc>
                <a:tc>
                  <a:txBody>
                    <a:bodyPr/>
                    <a:lstStyle/>
                    <a:p>
                      <a:pPr algn="l"/>
                      <a:r>
                        <a:rPr b="1" sz="1300" i="0">
                          <a:solidFill>
                            <a:srgbClr val="FFFFFF"/>
                          </a:solidFill>
                          <a:latin typeface="Calibri"/>
                        </a:rPr>
                        <a:t>Due</a:t>
                      </a:r>
                    </a:p>
                  </a:txBody>
                  <a:tcPr>
                    <a:solidFill>
                      <a:srgbClr val="1F2D3D"/>
                    </a:solidFill>
                  </a:tcPr>
                </a:tc>
              </a:tr>
              <a:tr h="560070">
                <a:tc>
                  <a:txBody>
                    <a:bodyPr/>
                    <a:lstStyle/>
                    <a:p>
                      <a:pPr algn="l"/>
                      <a:r>
                        <a:rPr b="1" sz="1200" i="0">
                          <a:solidFill>
                            <a:srgbClr val="222222"/>
                          </a:solidFill>
                          <a:latin typeface="Calibri"/>
                        </a:rPr>
                        <a:t>AI-56</a:t>
                      </a:r>
                    </a:p>
                  </a:txBody>
                  <a:tcPr/>
                </a:tc>
                <a:tc>
                  <a:txBody>
                    <a:bodyPr/>
                    <a:lstStyle/>
                    <a:p>
                      <a:pPr algn="l"/>
                      <a:r>
                        <a:rPr b="0" sz="1200" i="0">
                          <a:solidFill>
                            <a:srgbClr val="222222"/>
                          </a:solidFill>
                          <a:latin typeface="Calibri"/>
                        </a:rPr>
                        <a:t>Recirculate the plan with the cutover weekend and go-live date marked up (includes the master data freeze note).</a:t>
                      </a:r>
                    </a:p>
                  </a:txBody>
                  <a:tcPr/>
                </a:tc>
                <a:tc>
                  <a:txBody>
                    <a:bodyPr/>
                    <a:lstStyle/>
                    <a:p>
                      <a:pPr algn="l"/>
                      <a:r>
                        <a:rPr b="0" sz="1200" i="0">
                          <a:solidFill>
                            <a:srgbClr val="222222"/>
                          </a:solidFill>
                          <a:latin typeface="Calibri"/>
                        </a:rPr>
                        <a:t>Ananya Krishnan</a:t>
                      </a:r>
                    </a:p>
                  </a:txBody>
                  <a:tcPr/>
                </a:tc>
                <a:tc>
                  <a:txBody>
                    <a:bodyPr/>
                    <a:lstStyle/>
                    <a:p>
                      <a:pPr algn="l"/>
                      <a:r>
                        <a:rPr b="0" sz="1200" i="0">
                          <a:solidFill>
                            <a:srgbClr val="222222"/>
                          </a:solidFill>
                          <a:latin typeface="Calibri"/>
                        </a:rPr>
                        <a:t>24-Sep-2026</a:t>
                      </a:r>
                    </a:p>
                  </a:txBody>
                  <a:tcPr/>
                </a:tc>
              </a:tr>
              <a:tr h="560070">
                <a:tc>
                  <a:txBody>
                    <a:bodyPr/>
                    <a:lstStyle/>
                    <a:p>
                      <a:pPr algn="l"/>
                      <a:r>
                        <a:rPr b="1" sz="1200" i="0">
                          <a:solidFill>
                            <a:srgbClr val="222222"/>
                          </a:solidFill>
                          <a:latin typeface="Calibri"/>
                        </a:rPr>
                        <a:t>AI-57</a:t>
                      </a:r>
                    </a:p>
                  </a:txBody>
                  <a:tcPr/>
                </a:tc>
                <a:tc>
                  <a:txBody>
                    <a:bodyPr/>
                    <a:lstStyle/>
                    <a:p>
                      <a:pPr algn="l"/>
                      <a:r>
                        <a:rPr b="0" sz="1200" i="0">
                          <a:solidFill>
                            <a:srgbClr val="222222"/>
                          </a:solidFill>
                          <a:latin typeface="Calibri"/>
                        </a:rPr>
                        <a:t>Circulate UAT slots and the tester allocation.</a:t>
                      </a:r>
                    </a:p>
                  </a:txBody>
                  <a:tcPr/>
                </a:tc>
                <a:tc>
                  <a:txBody>
                    <a:bodyPr/>
                    <a:lstStyle/>
                    <a:p>
                      <a:pPr algn="l"/>
                      <a:r>
                        <a:rPr b="0" sz="1200" i="0">
                          <a:solidFill>
                            <a:srgbClr val="222222"/>
                          </a:solidFill>
                          <a:latin typeface="Calibri"/>
                        </a:rPr>
                        <a:t>Sneha Pillai</a:t>
                      </a:r>
                    </a:p>
                  </a:txBody>
                  <a:tcPr/>
                </a:tc>
                <a:tc>
                  <a:txBody>
                    <a:bodyPr/>
                    <a:lstStyle/>
                    <a:p>
                      <a:pPr algn="l"/>
                      <a:r>
                        <a:rPr b="0" sz="1200" i="0">
                          <a:solidFill>
                            <a:srgbClr val="222222"/>
                          </a:solidFill>
                          <a:latin typeface="Calibri"/>
                        </a:rPr>
                        <a:t>28-Sep-2026</a:t>
                      </a:r>
                    </a:p>
                  </a:txBody>
                  <a:tcPr/>
                </a:tc>
              </a:tr>
              <a:tr h="560070">
                <a:tc>
                  <a:txBody>
                    <a:bodyPr/>
                    <a:lstStyle/>
                    <a:p>
                      <a:pPr algn="l"/>
                      <a:r>
                        <a:rPr b="1" sz="1200" i="0">
                          <a:solidFill>
                            <a:srgbClr val="222222"/>
                          </a:solidFill>
                          <a:latin typeface="Calibri"/>
                        </a:rPr>
                        <a:t>AI-58</a:t>
                      </a:r>
                    </a:p>
                  </a:txBody>
                  <a:tcPr/>
                </a:tc>
                <a:tc>
                  <a:txBody>
                    <a:bodyPr/>
                    <a:lstStyle/>
                    <a:p>
                      <a:pPr algn="l"/>
                      <a:r>
                        <a:rPr b="0" sz="1200" i="0">
                          <a:solidFill>
                            <a:srgbClr val="222222"/>
                          </a:solidFill>
                          <a:latin typeface="Calibri"/>
                        </a:rPr>
                        <a:t>Revert to Group Finance on VAR-005 with a recommendation and a named owner.</a:t>
                      </a:r>
                    </a:p>
                  </a:txBody>
                  <a:tcPr/>
                </a:tc>
                <a:tc>
                  <a:txBody>
                    <a:bodyPr/>
                    <a:lstStyle/>
                    <a:p>
                      <a:pPr algn="l"/>
                      <a:r>
                        <a:rPr b="0" sz="1200" i="0">
                          <a:solidFill>
                            <a:srgbClr val="222222"/>
                          </a:solidFill>
                          <a:latin typeface="Calibri"/>
                        </a:rPr>
                        <a:t>Shalini Iyer / Ananya Krishnan</a:t>
                      </a:r>
                    </a:p>
                  </a:txBody>
                  <a:tcPr/>
                </a:tc>
                <a:tc>
                  <a:txBody>
                    <a:bodyPr/>
                    <a:lstStyle/>
                    <a:p>
                      <a:pPr algn="l"/>
                      <a:r>
                        <a:rPr b="0" sz="1200" i="0">
                          <a:solidFill>
                            <a:srgbClr val="222222"/>
                          </a:solidFill>
                          <a:latin typeface="Calibri"/>
                        </a:rPr>
                        <a:t>Before next steerco</a:t>
                      </a:r>
                    </a:p>
                  </a:txBody>
                  <a:tcPr/>
                </a:tc>
              </a:tr>
              <a:tr h="560070">
                <a:tc>
                  <a:txBody>
                    <a:bodyPr/>
                    <a:lstStyle/>
                    <a:p>
                      <a:pPr algn="l"/>
                      <a:r>
                        <a:rPr b="1" sz="1200" i="0">
                          <a:solidFill>
                            <a:srgbClr val="222222"/>
                          </a:solidFill>
                          <a:latin typeface="Calibri"/>
                        </a:rPr>
                        <a:t>AI-59</a:t>
                      </a:r>
                    </a:p>
                  </a:txBody>
                  <a:tcPr/>
                </a:tc>
                <a:tc>
                  <a:txBody>
                    <a:bodyPr/>
                    <a:lstStyle/>
                    <a:p>
                      <a:pPr algn="l"/>
                      <a:r>
                        <a:rPr b="0" sz="1200" i="0">
                          <a:solidFill>
                            <a:srgbClr val="222222"/>
                          </a:solidFill>
                          <a:latin typeface="Calibri"/>
                        </a:rPr>
                        <a:t>Send the FY26 variance walk by month, in EUR at 92.40, to Wei Lin.</a:t>
                      </a:r>
                    </a:p>
                  </a:txBody>
                  <a:tcPr/>
                </a:tc>
                <a:tc>
                  <a:txBody>
                    <a:bodyPr/>
                    <a:lstStyle/>
                    <a:p>
                      <a:pPr algn="l"/>
                      <a:r>
                        <a:rPr b="0" sz="1200" i="0">
                          <a:solidFill>
                            <a:srgbClr val="222222"/>
                          </a:solidFill>
                          <a:latin typeface="Calibri"/>
                        </a:rPr>
                        <a:t>Ananya Krishnan</a:t>
                      </a:r>
                    </a:p>
                  </a:txBody>
                  <a:tcPr/>
                </a:tc>
                <a:tc>
                  <a:txBody>
                    <a:bodyPr/>
                    <a:lstStyle/>
                    <a:p>
                      <a:pPr algn="l"/>
                      <a:r>
                        <a:rPr b="0" sz="1200" i="0">
                          <a:solidFill>
                            <a:srgbClr val="222222"/>
                          </a:solidFill>
                          <a:latin typeface="Calibri"/>
                        </a:rPr>
                        <a:t>02-Oct-2026</a:t>
                      </a:r>
                    </a:p>
                  </a:txBody>
                  <a:tcPr/>
                </a:tc>
              </a:tr>
              <a:tr h="560070">
                <a:tc>
                  <a:txBody>
                    <a:bodyPr/>
                    <a:lstStyle/>
                    <a:p>
                      <a:pPr algn="l"/>
                      <a:r>
                        <a:rPr b="1" sz="1200" i="0">
                          <a:solidFill>
                            <a:srgbClr val="222222"/>
                          </a:solidFill>
                          <a:latin typeface="Calibri"/>
                        </a:rPr>
                        <a:t>AI-60</a:t>
                      </a:r>
                    </a:p>
                  </a:txBody>
                  <a:tcPr/>
                </a:tc>
                <a:tc>
                  <a:txBody>
                    <a:bodyPr/>
                    <a:lstStyle/>
                    <a:p>
                      <a:pPr algn="l"/>
                      <a:r>
                        <a:rPr b="0" sz="1200" i="0">
                          <a:solidFill>
                            <a:srgbClr val="222222"/>
                          </a:solidFill>
                          <a:latin typeface="Calibri"/>
                        </a:rPr>
                        <a:t>Confirm the variance register position is reflected in the audit file.</a:t>
                      </a:r>
                    </a:p>
                  </a:txBody>
                  <a:tcPr/>
                </a:tc>
                <a:tc>
                  <a:txBody>
                    <a:bodyPr/>
                    <a:lstStyle/>
                    <a:p>
                      <a:pPr algn="l"/>
                      <a:r>
                        <a:rPr b="0" sz="1200" i="0">
                          <a:solidFill>
                            <a:srgbClr val="222222"/>
                          </a:solidFill>
                          <a:latin typeface="Calibri"/>
                        </a:rPr>
                        <a:t>Rajeev Menon</a:t>
                      </a:r>
                    </a:p>
                  </a:txBody>
                  <a:tcPr/>
                </a:tc>
                <a:tc>
                  <a:txBody>
                    <a:bodyPr/>
                    <a:lstStyle/>
                    <a:p>
                      <a:pPr algn="l"/>
                      <a:r>
                        <a:rPr b="0" sz="1200" i="0">
                          <a:solidFill>
                            <a:srgbClr val="222222"/>
                          </a:solidFill>
                          <a:latin typeface="Calibri"/>
                        </a:rPr>
                        <a:t>09-Oct-2026</a:t>
                      </a:r>
                    </a:p>
                  </a:txBody>
                  <a:tcPr/>
                </a:tc>
              </a:tr>
              <a:tr h="560070">
                <a:tc>
                  <a:txBody>
                    <a:bodyPr/>
                    <a:lstStyle/>
                    <a:p>
                      <a:pPr algn="l"/>
                      <a:r>
                        <a:rPr b="1" sz="1200" i="0">
                          <a:solidFill>
                            <a:srgbClr val="222222"/>
                          </a:solidFill>
                          <a:latin typeface="Calibri"/>
                        </a:rPr>
                        <a:t>AI-61</a:t>
                      </a:r>
                    </a:p>
                  </a:txBody>
                  <a:tcPr/>
                </a:tc>
                <a:tc>
                  <a:txBody>
                    <a:bodyPr/>
                    <a:lstStyle/>
                    <a:p>
                      <a:pPr algn="l"/>
                      <a:r>
                        <a:rPr b="0" sz="1200" i="0">
                          <a:solidFill>
                            <a:srgbClr val="222222"/>
                          </a:solidFill>
                          <a:latin typeface="Calibri"/>
                        </a:rPr>
                        <a:t>Correct the rounding inconsistency between the tracker's summary and detail sheets.</a:t>
                      </a:r>
                    </a:p>
                  </a:txBody>
                  <a:tcPr/>
                </a:tc>
                <a:tc>
                  <a:txBody>
                    <a:bodyPr/>
                    <a:lstStyle/>
                    <a:p>
                      <a:pPr algn="l"/>
                      <a:r>
                        <a:rPr b="0" sz="1200" i="0">
                          <a:solidFill>
                            <a:srgbClr val="222222"/>
                          </a:solidFill>
                          <a:latin typeface="Calibri"/>
                        </a:rPr>
                        <a:t>Ananya Krishnan</a:t>
                      </a:r>
                    </a:p>
                  </a:txBody>
                  <a:tcPr/>
                </a:tc>
                <a:tc>
                  <a:txBody>
                    <a:bodyPr/>
                    <a:lstStyle/>
                    <a:p>
                      <a:pPr algn="l"/>
                      <a:r>
                        <a:rPr b="0" sz="1200" i="0">
                          <a:solidFill>
                            <a:srgbClr val="222222"/>
                          </a:solidFill>
                          <a:latin typeface="Calibri"/>
                        </a:rPr>
                        <a:t>25-Sep-2026</a:t>
                      </a:r>
                    </a:p>
                  </a:txBody>
                  <a:tcPr/>
                </a:tc>
              </a:tr>
              <a:tr h="560070">
                <a:tc>
                  <a:txBody>
                    <a:bodyPr/>
                    <a:lstStyle/>
                    <a:p>
                      <a:pPr algn="l"/>
                    </a:p>
                  </a:txBody>
                  <a:tcPr>
                    <a:solidFill>
                      <a:srgbClr val="F2F2F0"/>
                    </a:solidFill>
                  </a:tcPr>
                </a:tc>
                <a:tc>
                  <a:txBody>
                    <a:bodyPr/>
                    <a:lstStyle/>
                    <a:p>
                      <a:pPr algn="l"/>
                      <a:r>
                        <a:rPr b="0" sz="1100" i="1">
                          <a:solidFill>
                            <a:srgbClr val="44515E"/>
                          </a:solidFill>
                          <a:latin typeface="Calibri"/>
                        </a:rPr>
                        <a:t>Note: Shalini has not agreed November UAT resourcing; carried as an open item, not an action with a due date.</a:t>
                      </a:r>
                    </a:p>
                  </a:txBody>
                  <a:tcPr>
                    <a:solidFill>
                      <a:srgbClr val="F2F2F0"/>
                    </a:solidFill>
                  </a:tcPr>
                </a:tc>
                <a:tc>
                  <a:txBody>
                    <a:bodyPr/>
                    <a:lstStyle/>
                    <a:p>
                      <a:pPr algn="l"/>
                    </a:p>
                  </a:txBody>
                  <a:tcPr>
                    <a:solidFill>
                      <a:srgbClr val="F2F2F0"/>
                    </a:solidFill>
                  </a:tcPr>
                </a:tc>
                <a:tc>
                  <a:txBody>
                    <a:bodyPr/>
                    <a:lstStyle/>
                    <a:p>
                      <a:pPr algn="l"/>
                    </a:p>
                  </a:txBody>
                  <a:tcPr>
                    <a:solidFill>
                      <a:srgbClr val="F2F2F0"/>
                    </a:solidFill>
                  </a:tcPr>
                </a:tc>
              </a:tr>
            </a:tbl>
          </a:graphicData>
        </a:graphic>
      </p:graphicFrame>
      <p:sp>
        <p:nvSpPr>
          <p:cNvPr id="5" name="Rectangle 4"/>
          <p:cNvSpPr/>
          <p:nvPr/>
        </p:nvSpPr>
        <p:spPr>
          <a:xfrm>
            <a:off x="0" y="6565392"/>
            <a:ext cx="12191695" cy="292608"/>
          </a:xfrm>
          <a:prstGeom prst="rect">
            <a:avLst/>
          </a:prstGeom>
          <a:solidFill>
            <a:srgbClr val="1F2D3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182880" rIns="182880"/>
          <a:lstStyle/>
          <a:p>
            <a:pPr algn="l"/>
            <a:r>
              <a:rPr sz="900">
                <a:solidFill>
                  <a:srgbClr val="FFFFFF"/>
                </a:solidFill>
                <a:latin typeface="Calibri"/>
              </a:rPr>
              <a:t>Bharadwaj Consumer Products Ltd  |  Confidential - Steering Committee Distribution Only</a:t>
            </a:r>
          </a:p>
        </p:txBody>
      </p:sp>
      <p:sp>
        <p:nvSpPr>
          <p:cNvPr id="6" name="TextBox 5"/>
          <p:cNvSpPr txBox="1"/>
          <p:nvPr/>
        </p:nvSpPr>
        <p:spPr>
          <a:xfrm>
            <a:off x="11277295" y="6565392"/>
            <a:ext cx="731520" cy="292608"/>
          </a:xfrm>
          <a:prstGeom prst="rect">
            <a:avLst/>
          </a:prstGeom>
          <a:noFill/>
        </p:spPr>
        <p:txBody>
          <a:bodyPr wrap="none" anchor="ctr" lIns="0" rIns="137160">
            <a:spAutoFit/>
          </a:bodyPr>
          <a:lstStyle/>
          <a:p>
            <a:pPr algn="r"/>
            <a:r>
              <a:rPr sz="90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017520"/>
            <a:ext cx="9966960" cy="914400"/>
          </a:xfrm>
          <a:prstGeom prst="rect">
            <a:avLst/>
          </a:prstGeom>
          <a:noFill/>
        </p:spPr>
        <p:txBody>
          <a:bodyPr wrap="square">
            <a:spAutoFit/>
          </a:bodyPr>
          <a:lstStyle/>
          <a:p>
            <a:pPr algn="ctr"/>
            <a:r>
              <a:rPr sz="2000" b="1">
                <a:solidFill>
                  <a:srgbClr val="44515E"/>
                </a:solidFill>
                <a:latin typeface="Calibri"/>
              </a:rP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Drishti - Steering Committee (Sep 2026)</dc:title>
  <dc:subject>Programme status, variance register and go-live plan for the BCPL Drishti steering committee</dc:subject>
  <dc:creator>Ananya Krishnan</dc:creator>
  <cp:keywords/>
  <dc:description>SYNTHETIC — generated for internal demo. No real entity depicted.</dc:description>
  <cp:lastModifiedBy>Ananya Krishnan</cp:lastModifiedBy>
  <cp:revision>1</cp:revision>
  <dcterms:created xsi:type="dcterms:W3CDTF">2026-09-21T22:10:00Z</dcterms:created>
  <dcterms:modified xsi:type="dcterms:W3CDTF">2026-09-22T08:40:00Z</dcterms:modified>
  <cp:category>Steering Committee Pack</cp:category>
</cp:coreProperties>
</file>