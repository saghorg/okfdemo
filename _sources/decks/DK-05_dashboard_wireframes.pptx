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Sent this a day late - recording on Wed overran and Ananya wanted one clean pass before it went out to the wider list. If it comes up, that is the reason, nothing more to it. Do not open with an apology in the room, just get into it.</a:t>
            </a:r>
          </a:p>
          <a:p/>
          <a:p>
            <a:r>
              <a:t>Marked v2 because the pre-read circulated Monday was v1 and had D07 audience wrong (had ten, should be four - fixed in this version, see D07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to about 20 minutes if Rajeev dials in - he only wants to know what is on the seven and what is not, do not let the drill-down argument eat the whole slot again like it did on Wednesday.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relitigate scope in this room - if anyone tries, park it for Ananya and Shalini offline. This slide is the seven committed and nothing else goes in this pack under that heading. If someone asks why these seven and not some other combination, the honest answer is that decision was made in March and is not mine to re-open here.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Named user count (128 / 41 Sales Ops) is Ritwik's own headcount as of the workshop – it has NOT been signed off by Shalini yet. Do not quote it as final if it comes up, say it is being finalised. Access list recieved from Shalini's team is still being finalised, so treat this whole slide as a working draft, not the access model.</a:t>
            </a:r>
          </a:p>
          <a:p/>
          <a:p>
            <a:r>
              <a:t>If Priya asks whether we can just add a few more columns to make life easier later: the honest answer is not really, we are already fighting size on a 1.9 GB import model and every extra column is a refresh-time cost, not a free add.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Shalini asks what 'net' means on the trend, do not answer for her – that is exactly what the definitions sheet (AI-46) is for, and it is not signed yet. If asked why the trend does not go back further than two years: the answer is the archive table exists on the source side but nothing extracts it into the warehouse today, do not promise a 5-year view is coming, nobody has scoped that.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the one place a full distributor list already works, because it is a single-column list, not a measures table – worth saying out loud if the drill-down argument comes up again here, since Vikram sometimes points at this page as proof that 'it can be done'. It can, on this page. Not the same problem as putting 340-odd rows into a wide table on every page.</a:t>
            </a:r>
          </a:p>
          <a:p/>
          <a:p>
            <a:r>
              <a:t>Outstanding column: do not commit to sourcing this from receivables on this call. Genuinely not confirmed whether it is modelled today.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Plant attribution shown here (Baddi -&gt; north/east, Nashik -&gt; west/north/some south) is Ritwik's working assumption for this wireframe ONLY. Meghna has not confirmed whether that mapping is actually in the model or just how people describe it informally. Do not present it as confirmed if asked – action is with Ritwik and Ishaan, no date yet.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Fill rate is not agreed. If someone in the room quotes a fill-rate figure as if it is settled, do not nod along – that is exactly the 'one definition, four numbers' problem the whole workshop kept running into. Priya is checking whether the existing report counts partial ships as filled; my guess is yes, and that is the wrong answer, but it is her call to confirm, not mine to pre-empt here.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Audience is Finance, realistically four people – Shalini corrected this herself in the workshop (the pre-read had ten, which is why this deck is v2). Keep the smaller number off the slide body, no need to make a point of it in front of the room. Rajeev only ever opens the summary strip, never the working table underneath – worth remembering if he is dialled in.</a:t>
            </a:r>
          </a:p>
          <a:p/>
          <a:p>
            <a:r>
              <a:t>Do not put any reconciliation amount on this slide or say it out loud. Whatever is on the working table today is a placeholder, this is a wireframe, not a populated report.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put a percentage next to the Unknown bar in this deck. For the record, if asked directly: roughly 2% of invoiced volume is landing there this is a known DQ gap against rule DQ-R-04, Meghna is sending Ritwik the monthly figures separately (AI-51). Keep the actual number out of anything client-facing for now, it is not a good look for a launch page and it will get fixed before build closes.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Rajeev opens everything on his phone. That is not a nice-to-have, it is the actual constraint – if this page needs scrolling it will not get used, full stop. Group view page 2 uses Wei Lin's vocabulary (channel partner, promo accrual) deliberately, because that page is for her audience, not ours – do not ‘fix’ the wording back to distributor on that page specifically.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two are not funded. Do not let the room start designing them in detail today, that sends the wrong signal to Rajeev before he has even decided – this pack shows them as candidates, that is as far as it goes.</a:t>
            </a:r>
          </a:p>
          <a:p/>
          <a:p>
            <a:r>
              <a:t>If Marijke or Wei Lin ask what D11 actually shows: the answer is ageing against credit limit, sourced from the receivables extract, nothing more. Do not speculate beyond that on this call, and do not get pulled into where the underlying data comes from beyond what is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same argument for the third time this week if Wei Lin or the group side ask why secondary is not simply merged in: the honest reason is coverage. The DMS feed covers about 74% of distributors with a five day lag, so a national number built off it is comparing different quality by region depending on where you look. Do not put the 74% figure on the slide itself, it becomes the headline if we do – keep it verbal, and only if someone asks directly.</a:t>
            </a:r>
          </a:p>
          <a:p/>
          <a:p>
            <a:r>
              <a:t>Vikram will very likely repeat his usual stockist count in this meeting too – that is his own working number, it is not reconciled against the customer master, do not validate it and do not contradict it out loud, just let it sit as his quote (which is how it is captured on this slide).</a:t>
            </a:r>
          </a:p>
          <a:p/>
          <a:p>
            <a:r>
              <a:t>If Shalini asks directly where this sits: answer is with Ananya, taken up separately with Karthik and Vikram, no date committed. Do not promise a date in the room even if pushed.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numbers here are exactly as read back at the end of the workshop – do not renumber them for this pack even though they run out of order relative to the earlier slides, that is how Sneha's notes have them and people will cross-check.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 more sitting in a room reconciling whose spreadsheet is right' line is a bit strong – realistically the trackers do not go away on day one, say it with a smile, do not oversell it if Shalini pushes back, she has heard this kind of line before.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3600" b="1" i="0">
                <a:solidFill>
                  <a:srgbClr val="142640"/>
                </a:solidFill>
                <a:latin typeface="Calibri"/>
              </a:rPr>
              <a:t>Drishti - Dashboard Wireframes</a:t>
            </a:r>
          </a:p>
        </p:txBody>
      </p:sp>
      <p:sp>
        <p:nvSpPr>
          <p:cNvPr id="3" name="Subtitle 2"/>
          <p:cNvSpPr>
            <a:spLocks noGrp="1"/>
          </p:cNvSpPr>
          <p:nvPr>
            <p:ph type="subTitle" idx="1"/>
          </p:nvPr>
        </p:nvSpPr>
        <p:spPr/>
        <p:txBody>
          <a:bodyPr/>
          <a:lstStyle/>
          <a:p>
            <a:r>
              <a:rPr sz="1600" b="1" i="0">
                <a:solidFill>
                  <a:srgbClr val="242424"/>
                </a:solidFill>
                <a:latin typeface="Calibri"/>
              </a:rPr>
              <a:t>Power BI wireframe pack - seven committed pages, two candidates for sponsor decision</a:t>
            </a:r>
          </a:p>
          <a:p>
            <a:r>
              <a:rPr sz="1400" b="0" i="0">
                <a:solidFill>
                  <a:srgbClr val="4A6F94"/>
                </a:solidFill>
                <a:latin typeface="Calibri"/>
              </a:rPr>
              <a:t>Bharadwaj Consumer Products Ltd  |  Northlane Analytics</a:t>
            </a:r>
          </a:p>
          <a:p>
            <a:r>
              <a:rPr sz="1400" b="0" i="0">
                <a:solidFill>
                  <a:srgbClr val="4A6F94"/>
                </a:solidFill>
                <a:latin typeface="Calibri"/>
              </a:rPr>
              <a:t>07-Aug-2026  (v2 – post-workshop revision)</a:t>
            </a:r>
          </a:p>
          <a:p>
            <a:r>
              <a:rPr sz="1400" b="0" i="0">
                <a:solidFill>
                  <a:srgbClr val="4A6F94"/>
                </a:solidFill>
                <a:latin typeface="Calibri"/>
              </a:rPr>
              <a:t>Prepared by: Ritwik Ghosh, BI Developer</a:t>
            </a:r>
          </a:p>
        </p:txBody>
      </p:sp>
      <p:sp>
        <p:nvSpPr>
          <p:cNvPr id="4" name="TextBox 3"/>
          <p:cNvSpPr txBox="1"/>
          <p:nvPr/>
        </p:nvSpPr>
        <p:spPr>
          <a:xfrm>
            <a:off x="457200" y="6446520"/>
            <a:ext cx="8229600" cy="320040"/>
          </a:xfrm>
          <a:prstGeom prst="rect">
            <a:avLst/>
          </a:prstGeom>
          <a:noFill/>
        </p:spPr>
        <p:txBody>
          <a:bodyPr wrap="square" anchor="t">
            <a:spAutoFit/>
          </a:bodyPr>
          <a:lstStyle/>
          <a:p>
            <a:pPr algn="l"/>
            <a:r>
              <a:rPr sz="900" b="0" i="1">
                <a:solidFill>
                  <a:srgbClr val="AFB7C0"/>
                </a:solidFill>
                <a:latin typeface="Calibri"/>
              </a:rPr>
              <a:t>Confidential – Internal Working Draft v2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i="0">
                <a:solidFill>
                  <a:srgbClr val="142640"/>
                </a:solidFill>
                <a:latin typeface="Calibri"/>
              </a:rPr>
              <a:t>Agenda</a:t>
            </a:r>
          </a:p>
        </p:txBody>
      </p:sp>
      <p:sp>
        <p:nvSpPr>
          <p:cNvPr id="3" name="Content Placeholder 2"/>
          <p:cNvSpPr>
            <a:spLocks noGrp="1"/>
          </p:cNvSpPr>
          <p:nvPr>
            <p:ph idx="1"/>
          </p:nvPr>
        </p:nvSpPr>
        <p:spPr/>
        <p:txBody>
          <a:bodyPr/>
          <a:lstStyle/>
          <a:p>
            <a:pPr/>
            <a:r>
              <a:rPr sz="1800" b="1" i="0">
                <a:solidFill>
                  <a:srgbClr val="242424"/>
                </a:solidFill>
                <a:latin typeface="Calibri"/>
              </a:rPr>
              <a:t>Scope recap and platform notes</a:t>
            </a:r>
          </a:p>
          <a:p>
            <a:pPr/>
            <a:r>
              <a:rPr sz="1800" b="1" i="0">
                <a:solidFill>
                  <a:srgbClr val="242424"/>
                </a:solidFill>
                <a:latin typeface="Calibri"/>
              </a:rPr>
              <a:t>Wireframes - the seven committed pages (D01, D03, D05, D06, D07, D09, D12)</a:t>
            </a:r>
          </a:p>
          <a:p>
            <a:pPr/>
            <a:r>
              <a:rPr sz="1800" b="1" i="0">
                <a:solidFill>
                  <a:srgbClr val="242424"/>
                </a:solidFill>
                <a:latin typeface="Calibri"/>
              </a:rPr>
              <a:t>Candidates under discussion - not funded (D04, D11)</a:t>
            </a:r>
          </a:p>
          <a:p>
            <a:pPr/>
            <a:r>
              <a:rPr sz="1800" b="1" i="0">
                <a:solidFill>
                  <a:srgbClr val="242424"/>
                </a:solidFill>
                <a:latin typeface="Calibri"/>
              </a:rPr>
              <a:t>Open question - distributor-level drill-down</a:t>
            </a:r>
          </a:p>
          <a:p>
            <a:pPr/>
            <a:r>
              <a:rPr sz="1800" b="1" i="0">
                <a:solidFill>
                  <a:srgbClr val="242424"/>
                </a:solidFill>
                <a:latin typeface="Calibri"/>
              </a:rPr>
              <a:t>Next steps and owners</a:t>
            </a:r>
          </a:p>
        </p:txBody>
      </p:sp>
      <p:sp>
        <p:nvSpPr>
          <p:cNvPr id="4" name="TextBox 3"/>
          <p:cNvSpPr txBox="1"/>
          <p:nvPr/>
        </p:nvSpPr>
        <p:spPr>
          <a:xfrm>
            <a:off x="320040" y="6537960"/>
            <a:ext cx="4572000" cy="274320"/>
          </a:xfrm>
          <a:prstGeom prst="rect">
            <a:avLst/>
          </a:prstGeom>
          <a:noFill/>
        </p:spPr>
        <p:txBody>
          <a:bodyPr wrap="square" anchor="t">
            <a:spAutoFit/>
          </a:bodyPr>
          <a:lstStyle/>
          <a:p>
            <a:pPr algn="l"/>
            <a:r>
              <a:rPr sz="800" b="0" i="0">
                <a:solidFill>
                  <a:srgbClr val="AFB7C0"/>
                </a:solidFill>
                <a:latin typeface="Calibri"/>
              </a:rPr>
              <a:t>Bharadwaj Consumer Products Ltd | Project Drishti</a:t>
            </a:r>
          </a:p>
        </p:txBody>
      </p:sp>
      <p:sp>
        <p:nvSpPr>
          <p:cNvPr id="5" name="TextBox 4"/>
          <p:cNvSpPr txBox="1"/>
          <p:nvPr/>
        </p:nvSpPr>
        <p:spPr>
          <a:xfrm>
            <a:off x="4206240" y="6537960"/>
            <a:ext cx="3840480" cy="274320"/>
          </a:xfrm>
          <a:prstGeom prst="rect">
            <a:avLst/>
          </a:prstGeom>
          <a:noFill/>
        </p:spPr>
        <p:txBody>
          <a:bodyPr wrap="square" anchor="t">
            <a:spAutoFit/>
          </a:bodyPr>
          <a:lstStyle/>
          <a:p>
            <a:pPr algn="ctr"/>
            <a:r>
              <a:rPr sz="800" b="0" i="1">
                <a:solidFill>
                  <a:srgbClr val="AFB7C0"/>
                </a:solidFill>
                <a:latin typeface="Calibri"/>
              </a:rPr>
              <a:t>Confidential – Internal Working Draft v2</a:t>
            </a:r>
          </a:p>
        </p:txBody>
      </p:sp>
      <p:sp>
        <p:nvSpPr>
          <p:cNvPr id="6" name="TextBox 5"/>
          <p:cNvSpPr txBox="1"/>
          <p:nvPr/>
        </p:nvSpPr>
        <p:spPr>
          <a:xfrm>
            <a:off x="10881360" y="6537960"/>
            <a:ext cx="914400" cy="274320"/>
          </a:xfrm>
          <a:prstGeom prst="rect">
            <a:avLst/>
          </a:prstGeom>
          <a:noFill/>
        </p:spPr>
        <p:txBody>
          <a:bodyPr wrap="square" anchor="t">
            <a:spAutoFit/>
          </a:bodyPr>
          <a:lstStyle/>
          <a:p>
            <a:pPr algn="r"/>
            <a:r>
              <a:rPr sz="800" b="0" i="0">
                <a:solidFill>
                  <a:srgbClr val="AFB7C0"/>
                </a:solidFill>
                <a:latin typeface="Calibr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i="0">
                <a:solidFill>
                  <a:srgbClr val="142640"/>
                </a:solidFill>
                <a:latin typeface="Calibri"/>
              </a:rPr>
              <a:t>Scope and Platform</a:t>
            </a:r>
          </a:p>
        </p:txBody>
      </p:sp>
      <p:sp>
        <p:nvSpPr>
          <p:cNvPr id="3" name="Text Placeholder 2"/>
          <p:cNvSpPr>
            <a:spLocks noGrp="1"/>
          </p:cNvSpPr>
          <p:nvPr>
            <p:ph type="body" idx="1"/>
          </p:nvPr>
        </p:nvSpPr>
        <p:spPr/>
        <p:txBody>
          <a:bodyPr/>
          <a:lstStyle/>
          <a:p>
            <a:r>
              <a:rPr sz="1600" b="0" i="1">
                <a:solidFill>
                  <a:srgbClr val="4A6F94"/>
                </a:solidFill>
                <a:latin typeface="Calibri"/>
              </a:rPr>
              <a:t>What is committed, what runs it, and who can see what</a:t>
            </a:r>
          </a:p>
        </p:txBody>
      </p:sp>
      <p:sp>
        <p:nvSpPr>
          <p:cNvPr id="4" name="TextBox 3"/>
          <p:cNvSpPr txBox="1"/>
          <p:nvPr/>
        </p:nvSpPr>
        <p:spPr>
          <a:xfrm>
            <a:off x="320040" y="6537960"/>
            <a:ext cx="4572000" cy="274320"/>
          </a:xfrm>
          <a:prstGeom prst="rect">
            <a:avLst/>
          </a:prstGeom>
          <a:noFill/>
        </p:spPr>
        <p:txBody>
          <a:bodyPr wrap="square" anchor="t">
            <a:spAutoFit/>
          </a:bodyPr>
          <a:lstStyle/>
          <a:p>
            <a:pPr algn="l"/>
            <a:r>
              <a:rPr sz="800" b="0" i="0">
                <a:solidFill>
                  <a:srgbClr val="AFB7C0"/>
                </a:solidFill>
                <a:latin typeface="Calibri"/>
              </a:rPr>
              <a:t>Bharadwaj Consumer Products Ltd | Project Drishti</a:t>
            </a:r>
          </a:p>
        </p:txBody>
      </p:sp>
      <p:sp>
        <p:nvSpPr>
          <p:cNvPr id="5" name="TextBox 4"/>
          <p:cNvSpPr txBox="1"/>
          <p:nvPr/>
        </p:nvSpPr>
        <p:spPr>
          <a:xfrm>
            <a:off x="4206240" y="6537960"/>
            <a:ext cx="3840480" cy="274320"/>
          </a:xfrm>
          <a:prstGeom prst="rect">
            <a:avLst/>
          </a:prstGeom>
          <a:noFill/>
        </p:spPr>
        <p:txBody>
          <a:bodyPr wrap="square" anchor="t">
            <a:spAutoFit/>
          </a:bodyPr>
          <a:lstStyle/>
          <a:p>
            <a:pPr algn="ctr"/>
            <a:r>
              <a:rPr sz="800" b="0" i="1">
                <a:solidFill>
                  <a:srgbClr val="AFB7C0"/>
                </a:solidFill>
                <a:latin typeface="Calibri"/>
              </a:rPr>
              <a:t>Confidential – Internal Working Draft v2</a:t>
            </a:r>
          </a:p>
        </p:txBody>
      </p:sp>
      <p:sp>
        <p:nvSpPr>
          <p:cNvPr id="6" name="TextBox 5"/>
          <p:cNvSpPr txBox="1"/>
          <p:nvPr/>
        </p:nvSpPr>
        <p:spPr>
          <a:xfrm>
            <a:off x="10881360" y="6537960"/>
            <a:ext cx="914400" cy="274320"/>
          </a:xfrm>
          <a:prstGeom prst="rect">
            <a:avLst/>
          </a:prstGeom>
          <a:noFill/>
        </p:spPr>
        <p:txBody>
          <a:bodyPr wrap="square" anchor="t">
            <a:spAutoFit/>
          </a:bodyPr>
          <a:lstStyle/>
          <a:p>
            <a:pPr algn="r"/>
            <a:r>
              <a:rPr sz="800" b="0" i="0">
                <a:solidFill>
                  <a:srgbClr val="AFB7C0"/>
                </a:solidFill>
                <a:latin typeface="Calibr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i="0">
                <a:solidFill>
                  <a:srgbClr val="142640"/>
                </a:solidFill>
                <a:latin typeface="Calibri"/>
              </a:rPr>
              <a:t>Scope recap - the seven committed pages</a:t>
            </a:r>
          </a:p>
        </p:txBody>
      </p:sp>
      <p:graphicFrame>
        <p:nvGraphicFramePr>
          <p:cNvPr id="3" name="Table 2"/>
          <p:cNvGraphicFramePr>
            <a:graphicFrameLocks noGrp="1"/>
          </p:cNvGraphicFramePr>
          <p:nvPr/>
        </p:nvGraphicFramePr>
        <p:xfrm>
          <a:off x="457200" y="1234440"/>
          <a:ext cx="11247118" cy="3291840"/>
        </p:xfrm>
        <a:graphic>
          <a:graphicData uri="http://schemas.openxmlformats.org/drawingml/2006/table">
            <a:tbl>
              <a:tblPr firstRow="1" bandRow="1">
                <a:tableStyleId>{5C22544A-7EE6-4342-B048-85BDC9FD1C3A}</a:tableStyleId>
              </a:tblPr>
              <a:tblGrid>
                <a:gridCol w="1061049"/>
                <a:gridCol w="3395356"/>
                <a:gridCol w="3183147"/>
                <a:gridCol w="3607566"/>
              </a:tblGrid>
              <a:tr h="411480">
                <a:tc>
                  <a:txBody>
                    <a:bodyPr/>
                    <a:lstStyle/>
                    <a:p>
                      <a:pPr algn="l"/>
                      <a:r>
                        <a:rPr sz="1300" b="1" i="0">
                          <a:solidFill>
                            <a:srgbClr val="FFFFFF"/>
                          </a:solidFill>
                          <a:latin typeface="Calibri"/>
                        </a:rPr>
                        <a:t>ID</a:t>
                      </a:r>
                    </a:p>
                  </a:txBody>
                  <a:tcPr marL="50000" marR="50000" marT="20000" marB="20000" anchor="ctr">
                    <a:solidFill>
                      <a:srgbClr val="1F3A5F"/>
                    </a:solidFill>
                  </a:tcPr>
                </a:tc>
                <a:tc>
                  <a:txBody>
                    <a:bodyPr/>
                    <a:lstStyle/>
                    <a:p>
                      <a:pPr/>
                      <a:r>
                        <a:rPr sz="1300" b="1" i="0">
                          <a:solidFill>
                            <a:srgbClr val="FFFFFF"/>
                          </a:solidFill>
                          <a:latin typeface="Calibri"/>
                        </a:rPr>
                        <a:t>Dashboard</a:t>
                      </a:r>
                    </a:p>
                  </a:txBody>
                  <a:tcPr marL="50000" marR="50000" marT="20000" marB="20000" anchor="ctr">
                    <a:solidFill>
                      <a:srgbClr val="1F3A5F"/>
                    </a:solidFill>
                  </a:tcPr>
                </a:tc>
                <a:tc>
                  <a:txBody>
                    <a:bodyPr/>
                    <a:lstStyle/>
                    <a:p>
                      <a:pPr/>
                      <a:r>
                        <a:rPr sz="1300" b="1" i="0">
                          <a:solidFill>
                            <a:srgbClr val="FFFFFF"/>
                          </a:solidFill>
                          <a:latin typeface="Calibri"/>
                        </a:rPr>
                        <a:t>Primary data object</a:t>
                      </a:r>
                    </a:p>
                  </a:txBody>
                  <a:tcPr marL="50000" marR="50000" marT="20000" marB="20000" anchor="ctr">
                    <a:solidFill>
                      <a:srgbClr val="1F3A5F"/>
                    </a:solidFill>
                  </a:tcPr>
                </a:tc>
                <a:tc>
                  <a:txBody>
                    <a:bodyPr/>
                    <a:lstStyle/>
                    <a:p>
                      <a:pPr/>
                      <a:r>
                        <a:rPr sz="1300" b="1" i="0">
                          <a:solidFill>
                            <a:srgbClr val="FFFFFF"/>
                          </a:solidFill>
                          <a:latin typeface="Calibri"/>
                        </a:rPr>
                        <a:t>Audience / cadence</a:t>
                      </a:r>
                    </a:p>
                  </a:txBody>
                  <a:tcPr marL="50000" marR="50000" marT="20000" marB="20000" anchor="ctr">
                    <a:solidFill>
                      <a:srgbClr val="1F3A5F"/>
                    </a:solidFill>
                  </a:tcPr>
                </a:tc>
              </a:tr>
              <a:tr h="411480">
                <a:tc>
                  <a:txBody>
                    <a:bodyPr/>
                    <a:lstStyle/>
                    <a:p>
                      <a:pPr algn="l"/>
                      <a:r>
                        <a:rPr sz="1300" b="0" i="0">
                          <a:solidFill>
                            <a:srgbClr val="242424"/>
                          </a:solidFill>
                          <a:latin typeface="Calibri"/>
                        </a:rPr>
                        <a:t>D01</a:t>
                      </a:r>
                    </a:p>
                  </a:txBody>
                  <a:tcPr marL="50000" marR="50000" marT="20000" marB="20000" anchor="ctr">
                    <a:solidFill>
                      <a:srgbClr val="FFFFFF"/>
                    </a:solidFill>
                  </a:tcPr>
                </a:tc>
                <a:tc>
                  <a:txBody>
                    <a:bodyPr/>
                    <a:lstStyle/>
                    <a:p>
                      <a:pPr algn="l"/>
                      <a:r>
                        <a:rPr sz="1300" b="0" i="0">
                          <a:solidFill>
                            <a:srgbClr val="242424"/>
                          </a:solidFill>
                          <a:latin typeface="Calibri"/>
                        </a:rPr>
                        <a:t>Primary Sales Performance</a:t>
                      </a:r>
                    </a:p>
                  </a:txBody>
                  <a:tcPr marL="50000" marR="50000" marT="20000" marB="20000" anchor="ctr">
                    <a:solidFill>
                      <a:srgbClr val="FFFFFF"/>
                    </a:solidFill>
                  </a:tcPr>
                </a:tc>
                <a:tc>
                  <a:txBody>
                    <a:bodyPr/>
                    <a:lstStyle/>
                    <a:p>
                      <a:pPr algn="l"/>
                      <a:r>
                        <a:rPr sz="1300" b="0" i="0">
                          <a:solidFill>
                            <a:srgbClr val="242424"/>
                          </a:solidFill>
                          <a:latin typeface="Calibri"/>
                        </a:rPr>
                        <a:t>FACT_INVOICE_LINE</a:t>
                      </a:r>
                    </a:p>
                  </a:txBody>
                  <a:tcPr marL="50000" marR="50000" marT="20000" marB="20000" anchor="ctr">
                    <a:solidFill>
                      <a:srgbClr val="FFFFFF"/>
                    </a:solidFill>
                  </a:tcPr>
                </a:tc>
                <a:tc>
                  <a:txBody>
                    <a:bodyPr/>
                    <a:lstStyle/>
                    <a:p>
                      <a:pPr algn="l"/>
                      <a:r>
                        <a:rPr sz="1300" b="0" i="0">
                          <a:solidFill>
                            <a:srgbClr val="242424"/>
                          </a:solidFill>
                          <a:latin typeface="Calibri"/>
                        </a:rPr>
                        <a:t>Sales Ops, wide; monthly + trend</a:t>
                      </a:r>
                    </a:p>
                  </a:txBody>
                  <a:tcPr marL="50000" marR="50000" marT="20000" marB="20000" anchor="ctr">
                    <a:solidFill>
                      <a:srgbClr val="FFFFFF"/>
                    </a:solidFill>
                  </a:tcPr>
                </a:tc>
              </a:tr>
              <a:tr h="411480">
                <a:tc>
                  <a:txBody>
                    <a:bodyPr/>
                    <a:lstStyle/>
                    <a:p>
                      <a:pPr algn="l"/>
                      <a:r>
                        <a:rPr sz="1300" b="0" i="0">
                          <a:solidFill>
                            <a:srgbClr val="242424"/>
                          </a:solidFill>
                          <a:latin typeface="Calibri"/>
                        </a:rPr>
                        <a:t>D03</a:t>
                      </a:r>
                    </a:p>
                  </a:txBody>
                  <a:tcPr marL="50000" marR="50000" marT="20000" marB="20000" anchor="ctr">
                    <a:solidFill>
                      <a:srgbClr val="F2F4F7"/>
                    </a:solidFill>
                  </a:tcPr>
                </a:tc>
                <a:tc>
                  <a:txBody>
                    <a:bodyPr/>
                    <a:lstStyle/>
                    <a:p>
                      <a:pPr algn="l"/>
                      <a:r>
                        <a:rPr sz="1300" b="0" i="0">
                          <a:solidFill>
                            <a:srgbClr val="242424"/>
                          </a:solidFill>
                          <a:latin typeface="Calibri"/>
                        </a:rPr>
                        <a:t>Distributor Scorecard</a:t>
                      </a:r>
                    </a:p>
                  </a:txBody>
                  <a:tcPr marL="50000" marR="50000" marT="20000" marB="20000" anchor="ctr">
                    <a:solidFill>
                      <a:srgbClr val="F2F4F7"/>
                    </a:solidFill>
                  </a:tcPr>
                </a:tc>
                <a:tc>
                  <a:txBody>
                    <a:bodyPr/>
                    <a:lstStyle/>
                    <a:p>
                      <a:pPr algn="l"/>
                      <a:r>
                        <a:rPr sz="1300" b="0" i="0">
                          <a:solidFill>
                            <a:srgbClr val="242424"/>
                          </a:solidFill>
                          <a:latin typeface="Calibri"/>
                        </a:rPr>
                        <a:t>FACT_INVOICE_LINE</a:t>
                      </a:r>
                    </a:p>
                  </a:txBody>
                  <a:tcPr marL="50000" marR="50000" marT="20000" marB="20000" anchor="ctr">
                    <a:solidFill>
                      <a:srgbClr val="F2F4F7"/>
                    </a:solidFill>
                  </a:tcPr>
                </a:tc>
                <a:tc>
                  <a:txBody>
                    <a:bodyPr/>
                    <a:lstStyle/>
                    <a:p>
                      <a:pPr algn="l"/>
                      <a:r>
                        <a:rPr sz="1300" b="0" i="0">
                          <a:solidFill>
                            <a:srgbClr val="242424"/>
                          </a:solidFill>
                          <a:latin typeface="Calibri"/>
                        </a:rPr>
                        <a:t>Regional managers, Sales Ops; monthly</a:t>
                      </a:r>
                    </a:p>
                  </a:txBody>
                  <a:tcPr marL="50000" marR="50000" marT="20000" marB="20000" anchor="ctr">
                    <a:solidFill>
                      <a:srgbClr val="F2F4F7"/>
                    </a:solidFill>
                  </a:tcPr>
                </a:tc>
              </a:tr>
              <a:tr h="411480">
                <a:tc>
                  <a:txBody>
                    <a:bodyPr/>
                    <a:lstStyle/>
                    <a:p>
                      <a:pPr algn="l"/>
                      <a:r>
                        <a:rPr sz="1300" b="0" i="0">
                          <a:solidFill>
                            <a:srgbClr val="242424"/>
                          </a:solidFill>
                          <a:latin typeface="Calibri"/>
                        </a:rPr>
                        <a:t>D05</a:t>
                      </a:r>
                    </a:p>
                  </a:txBody>
                  <a:tcPr marL="50000" marR="50000" marT="20000" marB="20000" anchor="ctr">
                    <a:solidFill>
                      <a:srgbClr val="FFFFFF"/>
                    </a:solidFill>
                  </a:tcPr>
                </a:tc>
                <a:tc>
                  <a:txBody>
                    <a:bodyPr/>
                    <a:lstStyle/>
                    <a:p>
                      <a:pPr algn="l"/>
                      <a:r>
                        <a:rPr sz="1300" b="0" i="0">
                          <a:solidFill>
                            <a:srgbClr val="242424"/>
                          </a:solidFill>
                          <a:latin typeface="Calibri"/>
                        </a:rPr>
                        <a:t>Stock and Despatch</a:t>
                      </a:r>
                    </a:p>
                  </a:txBody>
                  <a:tcPr marL="50000" marR="50000" marT="20000" marB="20000" anchor="ctr">
                    <a:solidFill>
                      <a:srgbClr val="FFFFFF"/>
                    </a:solidFill>
                  </a:tcPr>
                </a:tc>
                <a:tc>
                  <a:txBody>
                    <a:bodyPr/>
                    <a:lstStyle/>
                    <a:p>
                      <a:pPr algn="l"/>
                      <a:r>
                        <a:rPr sz="1300" b="0" i="0">
                          <a:solidFill>
                            <a:srgbClr val="242424"/>
                          </a:solidFill>
                          <a:latin typeface="Calibri"/>
                        </a:rPr>
                        <a:t>FACT_INVOICE_LINE (despatch)</a:t>
                      </a:r>
                    </a:p>
                  </a:txBody>
                  <a:tcPr marL="50000" marR="50000" marT="20000" marB="20000" anchor="ctr">
                    <a:solidFill>
                      <a:srgbClr val="FFFFFF"/>
                    </a:solidFill>
                  </a:tcPr>
                </a:tc>
                <a:tc>
                  <a:txBody>
                    <a:bodyPr/>
                    <a:lstStyle/>
                    <a:p>
                      <a:pPr algn="l"/>
                      <a:r>
                        <a:rPr sz="1300" b="0" i="0">
                          <a:solidFill>
                            <a:srgbClr val="242424"/>
                          </a:solidFill>
                          <a:latin typeface="Calibri"/>
                        </a:rPr>
                        <a:t>Supply chain, depots; daily</a:t>
                      </a:r>
                    </a:p>
                  </a:txBody>
                  <a:tcPr marL="50000" marR="50000" marT="20000" marB="20000" anchor="ctr">
                    <a:solidFill>
                      <a:srgbClr val="FFFFFF"/>
                    </a:solidFill>
                  </a:tcPr>
                </a:tc>
              </a:tr>
              <a:tr h="411480">
                <a:tc>
                  <a:txBody>
                    <a:bodyPr/>
                    <a:lstStyle/>
                    <a:p>
                      <a:pPr algn="l"/>
                      <a:r>
                        <a:rPr sz="1300" b="0" i="0">
                          <a:solidFill>
                            <a:srgbClr val="242424"/>
                          </a:solidFill>
                          <a:latin typeface="Calibri"/>
                        </a:rPr>
                        <a:t>D06</a:t>
                      </a:r>
                    </a:p>
                  </a:txBody>
                  <a:tcPr marL="50000" marR="50000" marT="20000" marB="20000" anchor="ctr">
                    <a:solidFill>
                      <a:srgbClr val="F2F4F7"/>
                    </a:solidFill>
                  </a:tcPr>
                </a:tc>
                <a:tc>
                  <a:txBody>
                    <a:bodyPr/>
                    <a:lstStyle/>
                    <a:p>
                      <a:pPr algn="l"/>
                      <a:r>
                        <a:rPr sz="1300" b="0" i="0">
                          <a:solidFill>
                            <a:srgbClr val="242424"/>
                          </a:solidFill>
                          <a:latin typeface="Calibri"/>
                        </a:rPr>
                        <a:t>Order Fulfilment and Fill Rate</a:t>
                      </a:r>
                    </a:p>
                  </a:txBody>
                  <a:tcPr marL="50000" marR="50000" marT="20000" marB="20000" anchor="ctr">
                    <a:solidFill>
                      <a:srgbClr val="F2F4F7"/>
                    </a:solidFill>
                  </a:tcPr>
                </a:tc>
                <a:tc>
                  <a:txBody>
                    <a:bodyPr/>
                    <a:lstStyle/>
                    <a:p>
                      <a:pPr algn="l"/>
                      <a:r>
                        <a:rPr sz="1300" b="0" i="0">
                          <a:solidFill>
                            <a:srgbClr val="242424"/>
                          </a:solidFill>
                          <a:latin typeface="Calibri"/>
                        </a:rPr>
                        <a:t>FACT_ORDER_LINE</a:t>
                      </a:r>
                    </a:p>
                  </a:txBody>
                  <a:tcPr marL="50000" marR="50000" marT="20000" marB="20000" anchor="ctr">
                    <a:solidFill>
                      <a:srgbClr val="F2F4F7"/>
                    </a:solidFill>
                  </a:tcPr>
                </a:tc>
                <a:tc>
                  <a:txBody>
                    <a:bodyPr/>
                    <a:lstStyle/>
                    <a:p>
                      <a:pPr algn="l"/>
                      <a:r>
                        <a:rPr sz="1300" b="0" i="0">
                          <a:solidFill>
                            <a:srgbClr val="242424"/>
                          </a:solidFill>
                          <a:latin typeface="Calibri"/>
                        </a:rPr>
                        <a:t>Sales Ops, Supply chain; monthly</a:t>
                      </a:r>
                    </a:p>
                  </a:txBody>
                  <a:tcPr marL="50000" marR="50000" marT="20000" marB="20000" anchor="ctr">
                    <a:solidFill>
                      <a:srgbClr val="F2F4F7"/>
                    </a:solidFill>
                  </a:tcPr>
                </a:tc>
              </a:tr>
              <a:tr h="411480">
                <a:tc>
                  <a:txBody>
                    <a:bodyPr/>
                    <a:lstStyle/>
                    <a:p>
                      <a:pPr algn="l"/>
                      <a:r>
                        <a:rPr sz="1300" b="0" i="0">
                          <a:solidFill>
                            <a:srgbClr val="242424"/>
                          </a:solidFill>
                          <a:latin typeface="Calibri"/>
                        </a:rPr>
                        <a:t>D07</a:t>
                      </a:r>
                    </a:p>
                  </a:txBody>
                  <a:tcPr marL="50000" marR="50000" marT="20000" marB="20000" anchor="ctr">
                    <a:solidFill>
                      <a:srgbClr val="FFFFFF"/>
                    </a:solidFill>
                  </a:tcPr>
                </a:tc>
                <a:tc>
                  <a:txBody>
                    <a:bodyPr/>
                    <a:lstStyle/>
                    <a:p>
                      <a:pPr algn="l"/>
                      <a:r>
                        <a:rPr sz="1300" b="0" i="0">
                          <a:solidFill>
                            <a:srgbClr val="242424"/>
                          </a:solidFill>
                          <a:latin typeface="Calibri"/>
                        </a:rPr>
                        <a:t>Revenue Reconciliation</a:t>
                      </a:r>
                    </a:p>
                  </a:txBody>
                  <a:tcPr marL="50000" marR="50000" marT="20000" marB="20000" anchor="ctr">
                    <a:solidFill>
                      <a:srgbClr val="FFFFFF"/>
                    </a:solidFill>
                  </a:tcPr>
                </a:tc>
                <a:tc>
                  <a:txBody>
                    <a:bodyPr/>
                    <a:lstStyle/>
                    <a:p>
                      <a:pPr algn="l"/>
                      <a:r>
                        <a:rPr sz="1300" b="0" i="0">
                          <a:solidFill>
                            <a:srgbClr val="242424"/>
                          </a:solidFill>
                          <a:latin typeface="Calibri"/>
                        </a:rPr>
                        <a:t>FACT_INVOICE_LINE</a:t>
                      </a:r>
                    </a:p>
                  </a:txBody>
                  <a:tcPr marL="50000" marR="50000" marT="20000" marB="20000" anchor="ctr">
                    <a:solidFill>
                      <a:srgbClr val="FFFFFF"/>
                    </a:solidFill>
                  </a:tcPr>
                </a:tc>
                <a:tc>
                  <a:txBody>
                    <a:bodyPr/>
                    <a:lstStyle/>
                    <a:p>
                      <a:pPr algn="l"/>
                      <a:r>
                        <a:rPr sz="1300" b="0" i="0">
                          <a:solidFill>
                            <a:srgbClr val="242424"/>
                          </a:solidFill>
                          <a:latin typeface="Calibri"/>
                        </a:rPr>
                        <a:t>Finance only, small group; monthly</a:t>
                      </a:r>
                    </a:p>
                  </a:txBody>
                  <a:tcPr marL="50000" marR="50000" marT="20000" marB="20000" anchor="ctr">
                    <a:solidFill>
                      <a:srgbClr val="FFFFFF"/>
                    </a:solidFill>
                  </a:tcPr>
                </a:tc>
              </a:tr>
              <a:tr h="411480">
                <a:tc>
                  <a:txBody>
                    <a:bodyPr/>
                    <a:lstStyle/>
                    <a:p>
                      <a:pPr algn="l"/>
                      <a:r>
                        <a:rPr sz="1300" b="0" i="0">
                          <a:solidFill>
                            <a:srgbClr val="242424"/>
                          </a:solidFill>
                          <a:latin typeface="Calibri"/>
                        </a:rPr>
                        <a:t>D09</a:t>
                      </a:r>
                    </a:p>
                  </a:txBody>
                  <a:tcPr marL="50000" marR="50000" marT="20000" marB="20000" anchor="ctr">
                    <a:solidFill>
                      <a:srgbClr val="F2F4F7"/>
                    </a:solidFill>
                  </a:tcPr>
                </a:tc>
                <a:tc>
                  <a:txBody>
                    <a:bodyPr/>
                    <a:lstStyle/>
                    <a:p>
                      <a:pPr algn="l"/>
                      <a:r>
                        <a:rPr sz="1300" b="0" i="0">
                          <a:solidFill>
                            <a:srgbClr val="242424"/>
                          </a:solidFill>
                          <a:latin typeface="Calibri"/>
                        </a:rPr>
                        <a:t>Product Mix and Contribution</a:t>
                      </a:r>
                    </a:p>
                  </a:txBody>
                  <a:tcPr marL="50000" marR="50000" marT="20000" marB="20000" anchor="ctr">
                    <a:solidFill>
                      <a:srgbClr val="F2F4F7"/>
                    </a:solidFill>
                  </a:tcPr>
                </a:tc>
                <a:tc>
                  <a:txBody>
                    <a:bodyPr/>
                    <a:lstStyle/>
                    <a:p>
                      <a:pPr algn="l"/>
                      <a:r>
                        <a:rPr sz="1300" b="0" i="0">
                          <a:solidFill>
                            <a:srgbClr val="242424"/>
                          </a:solidFill>
                          <a:latin typeface="Calibri"/>
                        </a:rPr>
                        <a:t>FACT_INVOICE_LINE</a:t>
                      </a:r>
                    </a:p>
                  </a:txBody>
                  <a:tcPr marL="50000" marR="50000" marT="20000" marB="20000" anchor="ctr">
                    <a:solidFill>
                      <a:srgbClr val="F2F4F7"/>
                    </a:solidFill>
                  </a:tcPr>
                </a:tc>
                <a:tc>
                  <a:txBody>
                    <a:bodyPr/>
                    <a:lstStyle/>
                    <a:p>
                      <a:pPr algn="l"/>
                      <a:r>
                        <a:rPr sz="1300" b="0" i="0">
                          <a:solidFill>
                            <a:srgbClr val="242424"/>
                          </a:solidFill>
                          <a:latin typeface="Calibri"/>
                        </a:rPr>
                        <a:t>Brand/Category teams; monthly</a:t>
                      </a:r>
                    </a:p>
                  </a:txBody>
                  <a:tcPr marL="50000" marR="50000" marT="20000" marB="20000" anchor="ctr">
                    <a:solidFill>
                      <a:srgbClr val="F2F4F7"/>
                    </a:solidFill>
                  </a:tcPr>
                </a:tc>
              </a:tr>
              <a:tr h="411480">
                <a:tc>
                  <a:txBody>
                    <a:bodyPr/>
                    <a:lstStyle/>
                    <a:p>
                      <a:pPr algn="l"/>
                      <a:r>
                        <a:rPr sz="1300" b="0" i="0">
                          <a:solidFill>
                            <a:srgbClr val="242424"/>
                          </a:solidFill>
                          <a:latin typeface="Calibri"/>
                        </a:rPr>
                        <a:t>D12</a:t>
                      </a:r>
                    </a:p>
                  </a:txBody>
                  <a:tcPr marL="50000" marR="50000" marT="20000" marB="20000" anchor="ctr">
                    <a:solidFill>
                      <a:srgbClr val="FFFFFF"/>
                    </a:solidFill>
                  </a:tcPr>
                </a:tc>
                <a:tc>
                  <a:txBody>
                    <a:bodyPr/>
                    <a:lstStyle/>
                    <a:p>
                      <a:pPr algn="l"/>
                      <a:r>
                        <a:rPr sz="1300" b="0" i="0">
                          <a:solidFill>
                            <a:srgbClr val="242424"/>
                          </a:solidFill>
                          <a:latin typeface="Calibri"/>
                        </a:rPr>
                        <a:t>Executive Summary (Group view)</a:t>
                      </a:r>
                    </a:p>
                  </a:txBody>
                  <a:tcPr marL="50000" marR="50000" marT="20000" marB="20000" anchor="ctr">
                    <a:solidFill>
                      <a:srgbClr val="FFFFFF"/>
                    </a:solidFill>
                  </a:tcPr>
                </a:tc>
                <a:tc>
                  <a:txBody>
                    <a:bodyPr/>
                    <a:lstStyle/>
                    <a:p>
                      <a:pPr algn="l"/>
                      <a:r>
                        <a:rPr sz="1300" b="0" i="0">
                          <a:solidFill>
                            <a:srgbClr val="242424"/>
                          </a:solidFill>
                          <a:latin typeface="Calibri"/>
                        </a:rPr>
                        <a:t>aggregate</a:t>
                      </a:r>
                    </a:p>
                  </a:txBody>
                  <a:tcPr marL="50000" marR="50000" marT="20000" marB="20000" anchor="ctr">
                    <a:solidFill>
                      <a:srgbClr val="FFFFFF"/>
                    </a:solidFill>
                  </a:tcPr>
                </a:tc>
                <a:tc>
                  <a:txBody>
                    <a:bodyPr/>
                    <a:lstStyle/>
                    <a:p>
                      <a:pPr algn="l"/>
                      <a:r>
                        <a:rPr sz="1300" b="0" i="0">
                          <a:solidFill>
                            <a:srgbClr val="242424"/>
                          </a:solidFill>
                          <a:latin typeface="Calibri"/>
                        </a:rPr>
                        <a:t>Rajeev, Shalini, Group; daily glance</a:t>
                      </a:r>
                    </a:p>
                  </a:txBody>
                  <a:tcPr marL="50000" marR="50000" marT="20000" marB="20000" anchor="ctr">
                    <a:solidFill>
                      <a:srgbClr val="FFFFFF"/>
                    </a:solidFill>
                  </a:tcPr>
                </a:tc>
              </a:tr>
            </a:tbl>
          </a:graphicData>
        </a:graphic>
      </p:graphicFrame>
      <p:sp>
        <p:nvSpPr>
          <p:cNvPr id="4" name="TextBox 3"/>
          <p:cNvSpPr txBox="1"/>
          <p:nvPr/>
        </p:nvSpPr>
        <p:spPr>
          <a:xfrm>
            <a:off x="457200" y="4709160"/>
            <a:ext cx="11247120" cy="1463040"/>
          </a:xfrm>
          <a:prstGeom prst="rect">
            <a:avLst/>
          </a:prstGeom>
          <a:noFill/>
        </p:spPr>
        <p:txBody>
          <a:bodyPr wrap="square" anchor="t">
            <a:spAutoFit/>
          </a:bodyPr>
          <a:lstStyle/>
          <a:p>
            <a:pPr algn="l"/>
            <a:r>
              <a:rPr sz="1300" b="0" i="0">
                <a:solidFill>
                  <a:srgbClr val="242424"/>
                </a:solidFill>
                <a:latin typeface="Calibri"/>
              </a:rPr>
              <a:t>These are the seven committed for the dashboard build. Two further pages that keep coming up in conversation are carried as candidates later in this pack, marked CANDIDATE – not funded; that is a decision for the sponsor, not for this workshop.</a:t>
            </a:r>
          </a:p>
          <a:p>
            <a:pPr algn="l"/>
            <a:r>
              <a:rPr sz="1300" b="0" i="0">
                <a:solidFill>
                  <a:srgbClr val="242424"/>
                </a:solidFill>
                <a:latin typeface="Calibri"/>
              </a:rPr>
              <a:t>Definitions sheet (one page: net revenue, primary, secondary, fill rate) is the gating item before build finalises on any of these - owner Shalini Iyer with Ritwik Ghosh.</a:t>
            </a:r>
          </a:p>
        </p:txBody>
      </p:sp>
      <p:sp>
        <p:nvSpPr>
          <p:cNvPr id="5" name="TextBox 4"/>
          <p:cNvSpPr txBox="1"/>
          <p:nvPr/>
        </p:nvSpPr>
        <p:spPr>
          <a:xfrm>
            <a:off x="320040" y="6537960"/>
            <a:ext cx="4572000" cy="274320"/>
          </a:xfrm>
          <a:prstGeom prst="rect">
            <a:avLst/>
          </a:prstGeom>
          <a:noFill/>
        </p:spPr>
        <p:txBody>
          <a:bodyPr wrap="square" anchor="t">
            <a:spAutoFit/>
          </a:bodyPr>
          <a:lstStyle/>
          <a:p>
            <a:pPr algn="l"/>
            <a:r>
              <a:rPr sz="800" b="0" i="0">
                <a:solidFill>
                  <a:srgbClr val="AFB7C0"/>
                </a:solidFill>
                <a:latin typeface="Calibri"/>
              </a:rPr>
              <a:t>Bharadwaj Consumer Products Ltd | Project Drishti</a:t>
            </a:r>
          </a:p>
        </p:txBody>
      </p:sp>
      <p:sp>
        <p:nvSpPr>
          <p:cNvPr id="6" name="TextBox 5"/>
          <p:cNvSpPr txBox="1"/>
          <p:nvPr/>
        </p:nvSpPr>
        <p:spPr>
          <a:xfrm>
            <a:off x="4206240" y="6537960"/>
            <a:ext cx="3840480" cy="274320"/>
          </a:xfrm>
          <a:prstGeom prst="rect">
            <a:avLst/>
          </a:prstGeom>
          <a:noFill/>
        </p:spPr>
        <p:txBody>
          <a:bodyPr wrap="square" anchor="t">
            <a:spAutoFit/>
          </a:bodyPr>
          <a:lstStyle/>
          <a:p>
            <a:pPr algn="ctr"/>
            <a:r>
              <a:rPr sz="800" b="0" i="1">
                <a:solidFill>
                  <a:srgbClr val="AFB7C0"/>
                </a:solidFill>
                <a:latin typeface="Calibri"/>
              </a:rPr>
              <a:t>Confidential – Internal Working Draft v2</a:t>
            </a:r>
          </a:p>
        </p:txBody>
      </p:sp>
      <p:sp>
        <p:nvSpPr>
          <p:cNvPr id="7" name="TextBox 6"/>
          <p:cNvSpPr txBox="1"/>
          <p:nvPr/>
        </p:nvSpPr>
        <p:spPr>
          <a:xfrm>
            <a:off x="10881360" y="6537960"/>
            <a:ext cx="914400" cy="274320"/>
          </a:xfrm>
          <a:prstGeom prst="rect">
            <a:avLst/>
          </a:prstGeom>
          <a:noFill/>
        </p:spPr>
        <p:txBody>
          <a:bodyPr wrap="square" anchor="t">
            <a:spAutoFit/>
          </a:bodyPr>
          <a:lstStyle/>
          <a:p>
            <a:pPr algn="r"/>
            <a:r>
              <a:rPr sz="800" b="0" i="0">
                <a:solidFill>
                  <a:srgbClr val="AFB7C0"/>
                </a:solidFill>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i="0">
                <a:solidFill>
                  <a:srgbClr val="142640"/>
                </a:solidFill>
                <a:latin typeface="Calibri"/>
              </a:rPr>
              <a:t>Platform and access notes</a:t>
            </a:r>
          </a:p>
        </p:txBody>
      </p:sp>
      <p:sp>
        <p:nvSpPr>
          <p:cNvPr id="3" name="TextBox 2"/>
          <p:cNvSpPr txBox="1"/>
          <p:nvPr/>
        </p:nvSpPr>
        <p:spPr>
          <a:xfrm>
            <a:off x="457200" y="1188720"/>
            <a:ext cx="6035040" cy="4206240"/>
          </a:xfrm>
          <a:prstGeom prst="rect">
            <a:avLst/>
          </a:prstGeom>
          <a:noFill/>
        </p:spPr>
        <p:txBody>
          <a:bodyPr wrap="square" anchor="t">
            <a:spAutoFit/>
          </a:bodyPr>
          <a:lstStyle/>
          <a:p>
            <a:pPr algn="l"/>
            <a:r>
              <a:rPr sz="1500" b="1" i="0">
                <a:solidFill>
                  <a:srgbClr val="1F3A5F"/>
                </a:solidFill>
                <a:latin typeface="Calibri"/>
              </a:rPr>
              <a:t>Semantic model</a:t>
            </a:r>
          </a:p>
          <a:p>
            <a:pPr lvl="1" algn="l"/>
            <a:r>
              <a:rPr sz="1200" b="0" i="0">
                <a:solidFill>
                  <a:srgbClr val="242424"/>
                </a:solidFill>
                <a:latin typeface="Calibri"/>
              </a:rPr>
              <a:t>One dataset, DRISHTI_SALES, import mode (a compressed copy, not live) – currently around 1.9 GB.</a:t>
            </a:r>
          </a:p>
          <a:p>
            <a:pPr lvl="1" algn="l"/>
            <a:r>
              <a:rPr sz="1200" b="0" i="0">
                <a:solidFill>
                  <a:srgbClr val="242424"/>
                </a:solidFill>
                <a:latin typeface="Calibri"/>
              </a:rPr>
              <a:t>Workspace BCPL-DRISHTI-PRD on Premium P1 capacity for production.</a:t>
            </a:r>
          </a:p>
          <a:p>
            <a:pPr algn="l"/>
            <a:r>
              <a:rPr sz="1500" b="1" i="0">
                <a:solidFill>
                  <a:srgbClr val="1F3A5F"/>
                </a:solidFill>
                <a:latin typeface="Calibri"/>
              </a:rPr>
              <a:t>Refresh</a:t>
            </a:r>
          </a:p>
          <a:p>
            <a:pPr lvl="1" algn="l"/>
            <a:r>
              <a:rPr sz="1200" b="0" i="0">
                <a:solidFill>
                  <a:srgbClr val="242424"/>
                </a:solidFill>
                <a:latin typeface="Calibri"/>
              </a:rPr>
              <a:t>Two refreshes a day, 06:00 and 14:00 IST.</a:t>
            </a:r>
          </a:p>
          <a:p>
            <a:pPr lvl="1" algn="l"/>
            <a:r>
              <a:rPr sz="1200" b="0" i="0">
                <a:solidFill>
                  <a:srgbClr val="242424"/>
                </a:solidFill>
                <a:latin typeface="Calibri"/>
              </a:rPr>
              <a:t>More frequent refresh during month end was raised – left as an open item, not decided.</a:t>
            </a:r>
          </a:p>
          <a:p>
            <a:pPr algn="l"/>
            <a:r>
              <a:rPr sz="1500" b="1" i="0">
                <a:solidFill>
                  <a:srgbClr val="1F3A5F"/>
                </a:solidFill>
                <a:latin typeface="Calibri"/>
              </a:rPr>
              <a:t>Naming and access</a:t>
            </a:r>
          </a:p>
          <a:p>
            <a:pPr lvl="1" algn="l"/>
            <a:r>
              <a:rPr sz="1200" b="0" i="0">
                <a:solidFill>
                  <a:srgbClr val="242424"/>
                </a:solidFill>
                <a:latin typeface="Calibri"/>
              </a:rPr>
              <a:t>Every report published as “DRISHTI - &lt;dashboard name&gt;”, e.g. DRISHTI - Primary Sales Performance.</a:t>
            </a:r>
          </a:p>
          <a:p>
            <a:pPr lvl="1" algn="l"/>
            <a:r>
              <a:rPr sz="1200" b="0" i="0">
                <a:solidFill>
                  <a:srgbClr val="242424"/>
                </a:solidFill>
                <a:latin typeface="Calibri"/>
              </a:rPr>
              <a:t>Security is row-level by REGION_CODE, four roles (see table). Whoever maintains that mapping table going forward has not been formally decided.</a:t>
            </a:r>
          </a:p>
          <a:p>
            <a:pPr lvl="1" algn="l"/>
            <a:r>
              <a:rPr sz="1200" b="0" i="0">
                <a:solidFill>
                  <a:srgbClr val="242424"/>
                </a:solidFill>
                <a:latin typeface="Calibri"/>
              </a:rPr>
              <a:t>~128 named users on the list today, of which ~41 are Sales Ops.</a:t>
            </a:r>
          </a:p>
        </p:txBody>
      </p:sp>
      <p:graphicFrame>
        <p:nvGraphicFramePr>
          <p:cNvPr id="4" name="Table 3"/>
          <p:cNvGraphicFramePr>
            <a:graphicFrameLocks noGrp="1"/>
          </p:cNvGraphicFramePr>
          <p:nvPr/>
        </p:nvGraphicFramePr>
        <p:xfrm>
          <a:off x="6766560" y="1234440"/>
          <a:ext cx="4892040" cy="1691640"/>
        </p:xfrm>
        <a:graphic>
          <a:graphicData uri="http://schemas.openxmlformats.org/drawingml/2006/table">
            <a:tbl>
              <a:tblPr firstRow="1" bandRow="1">
                <a:tableStyleId>{5C22544A-7EE6-4342-B048-85BDC9FD1C3A}</a:tableStyleId>
              </a:tblPr>
              <a:tblGrid>
                <a:gridCol w="2446020"/>
                <a:gridCol w="2446020"/>
              </a:tblGrid>
              <a:tr h="338328">
                <a:tc>
                  <a:txBody>
                    <a:bodyPr/>
                    <a:lstStyle/>
                    <a:p>
                      <a:pPr algn="l"/>
                      <a:r>
                        <a:rPr sz="1300" b="1" i="0">
                          <a:solidFill>
                            <a:srgbClr val="FFFFFF"/>
                          </a:solidFill>
                          <a:latin typeface="Calibri"/>
                        </a:rPr>
                        <a:t>RLS role</a:t>
                      </a:r>
                    </a:p>
                  </a:txBody>
                  <a:tcPr marL="50000" marR="50000" marT="20000" marB="20000" anchor="ctr">
                    <a:solidFill>
                      <a:srgbClr val="1F3A5F"/>
                    </a:solidFill>
                  </a:tcPr>
                </a:tc>
                <a:tc>
                  <a:txBody>
                    <a:bodyPr/>
                    <a:lstStyle/>
                    <a:p>
                      <a:pPr/>
                      <a:r>
                        <a:rPr sz="1300" b="1" i="0">
                          <a:solidFill>
                            <a:srgbClr val="FFFFFF"/>
                          </a:solidFill>
                          <a:latin typeface="Calibri"/>
                        </a:rPr>
                        <a:t>Region</a:t>
                      </a:r>
                    </a:p>
                  </a:txBody>
                  <a:tcPr marL="50000" marR="50000" marT="20000" marB="20000" anchor="ctr">
                    <a:solidFill>
                      <a:srgbClr val="1F3A5F"/>
                    </a:solidFill>
                  </a:tcPr>
                </a:tc>
              </a:tr>
              <a:tr h="338328">
                <a:tc>
                  <a:txBody>
                    <a:bodyPr/>
                    <a:lstStyle/>
                    <a:p>
                      <a:pPr algn="l"/>
                      <a:r>
                        <a:rPr sz="1300" b="0" i="0">
                          <a:solidFill>
                            <a:srgbClr val="242424"/>
                          </a:solidFill>
                          <a:latin typeface="Calibri"/>
                        </a:rPr>
                        <a:t>ROLE 1</a:t>
                      </a:r>
                    </a:p>
                  </a:txBody>
                  <a:tcPr marL="50000" marR="50000" marT="20000" marB="20000" anchor="ctr">
                    <a:solidFill>
                      <a:srgbClr val="FFFFFF"/>
                    </a:solidFill>
                  </a:tcPr>
                </a:tc>
                <a:tc>
                  <a:txBody>
                    <a:bodyPr/>
                    <a:lstStyle/>
                    <a:p>
                      <a:pPr algn="l"/>
                      <a:r>
                        <a:rPr sz="1300" b="0" i="0">
                          <a:solidFill>
                            <a:srgbClr val="242424"/>
                          </a:solidFill>
                          <a:latin typeface="Calibri"/>
                        </a:rPr>
                        <a:t>North</a:t>
                      </a:r>
                    </a:p>
                  </a:txBody>
                  <a:tcPr marL="50000" marR="50000" marT="20000" marB="20000" anchor="ctr">
                    <a:solidFill>
                      <a:srgbClr val="FFFFFF"/>
                    </a:solidFill>
                  </a:tcPr>
                </a:tc>
              </a:tr>
              <a:tr h="338328">
                <a:tc>
                  <a:txBody>
                    <a:bodyPr/>
                    <a:lstStyle/>
                    <a:p>
                      <a:pPr algn="l"/>
                      <a:r>
                        <a:rPr sz="1300" b="0" i="0">
                          <a:solidFill>
                            <a:srgbClr val="242424"/>
                          </a:solidFill>
                          <a:latin typeface="Calibri"/>
                        </a:rPr>
                        <a:t>ROLE 2</a:t>
                      </a:r>
                    </a:p>
                  </a:txBody>
                  <a:tcPr marL="50000" marR="50000" marT="20000" marB="20000" anchor="ctr">
                    <a:solidFill>
                      <a:srgbClr val="F2F4F7"/>
                    </a:solidFill>
                  </a:tcPr>
                </a:tc>
                <a:tc>
                  <a:txBody>
                    <a:bodyPr/>
                    <a:lstStyle/>
                    <a:p>
                      <a:pPr algn="l"/>
                      <a:r>
                        <a:rPr sz="1300" b="0" i="0">
                          <a:solidFill>
                            <a:srgbClr val="242424"/>
                          </a:solidFill>
                          <a:latin typeface="Calibri"/>
                        </a:rPr>
                        <a:t>West</a:t>
                      </a:r>
                    </a:p>
                  </a:txBody>
                  <a:tcPr marL="50000" marR="50000" marT="20000" marB="20000" anchor="ctr">
                    <a:solidFill>
                      <a:srgbClr val="F2F4F7"/>
                    </a:solidFill>
                  </a:tcPr>
                </a:tc>
              </a:tr>
              <a:tr h="338328">
                <a:tc>
                  <a:txBody>
                    <a:bodyPr/>
                    <a:lstStyle/>
                    <a:p>
                      <a:pPr algn="l"/>
                      <a:r>
                        <a:rPr sz="1300" b="0" i="0">
                          <a:solidFill>
                            <a:srgbClr val="242424"/>
                          </a:solidFill>
                          <a:latin typeface="Calibri"/>
                        </a:rPr>
                        <a:t>ROLE 3</a:t>
                      </a:r>
                    </a:p>
                  </a:txBody>
                  <a:tcPr marL="50000" marR="50000" marT="20000" marB="20000" anchor="ctr">
                    <a:solidFill>
                      <a:srgbClr val="FFFFFF"/>
                    </a:solidFill>
                  </a:tcPr>
                </a:tc>
                <a:tc>
                  <a:txBody>
                    <a:bodyPr/>
                    <a:lstStyle/>
                    <a:p>
                      <a:pPr algn="l"/>
                      <a:r>
                        <a:rPr sz="1300" b="0" i="0">
                          <a:solidFill>
                            <a:srgbClr val="242424"/>
                          </a:solidFill>
                          <a:latin typeface="Calibri"/>
                        </a:rPr>
                        <a:t>South</a:t>
                      </a:r>
                    </a:p>
                  </a:txBody>
                  <a:tcPr marL="50000" marR="50000" marT="20000" marB="20000" anchor="ctr">
                    <a:solidFill>
                      <a:srgbClr val="FFFFFF"/>
                    </a:solidFill>
                  </a:tcPr>
                </a:tc>
              </a:tr>
              <a:tr h="338328">
                <a:tc>
                  <a:txBody>
                    <a:bodyPr/>
                    <a:lstStyle/>
                    <a:p>
                      <a:pPr algn="l"/>
                      <a:r>
                        <a:rPr sz="1300" b="0" i="0">
                          <a:solidFill>
                            <a:srgbClr val="242424"/>
                          </a:solidFill>
                          <a:latin typeface="Calibri"/>
                        </a:rPr>
                        <a:t>ROLE 4</a:t>
                      </a:r>
                    </a:p>
                  </a:txBody>
                  <a:tcPr marL="50000" marR="50000" marT="20000" marB="20000" anchor="ctr">
                    <a:solidFill>
                      <a:srgbClr val="F2F4F7"/>
                    </a:solidFill>
                  </a:tcPr>
                </a:tc>
                <a:tc>
                  <a:txBody>
                    <a:bodyPr/>
                    <a:lstStyle/>
                    <a:p>
                      <a:pPr algn="l"/>
                      <a:r>
                        <a:rPr sz="1300" b="0" i="0">
                          <a:solidFill>
                            <a:srgbClr val="242424"/>
                          </a:solidFill>
                          <a:latin typeface="Calibri"/>
                        </a:rPr>
                        <a:t>East</a:t>
                      </a:r>
                    </a:p>
                  </a:txBody>
                  <a:tcPr marL="50000" marR="50000" marT="20000" marB="20000" anchor="ctr">
                    <a:solidFill>
                      <a:srgbClr val="F2F4F7"/>
                    </a:solidFill>
                  </a:tcPr>
                </a:tc>
              </a:tr>
            </a:tbl>
          </a:graphicData>
        </a:graphic>
      </p:graphicFrame>
      <p:sp>
        <p:nvSpPr>
          <p:cNvPr id="5" name="TextBox 4"/>
          <p:cNvSpPr txBox="1"/>
          <p:nvPr/>
        </p:nvSpPr>
        <p:spPr>
          <a:xfrm>
            <a:off x="6766560" y="3154680"/>
            <a:ext cx="4892040" cy="2286000"/>
          </a:xfrm>
          <a:prstGeom prst="rect">
            <a:avLst/>
          </a:prstGeom>
          <a:noFill/>
        </p:spPr>
        <p:txBody>
          <a:bodyPr wrap="square" anchor="t">
            <a:spAutoFit/>
          </a:bodyPr>
          <a:lstStyle/>
          <a:p>
            <a:pPr algn="l"/>
            <a:r>
              <a:rPr sz="1200" b="0" i="1">
                <a:solidFill>
                  <a:srgbClr val="4A6F94"/>
                </a:solidFill>
                <a:latin typeface="Calibri"/>
              </a:rPr>
              <a:t>For context (not a knock on anyone in this room): the existing OBIEE catalogue sits at 41 reports today and usage last year showed not even half of them get opened. Part of the case for doing this properly once.</a:t>
            </a:r>
          </a:p>
        </p:txBody>
      </p:sp>
      <p:sp>
        <p:nvSpPr>
          <p:cNvPr id="6" name="TextBox 5"/>
          <p:cNvSpPr txBox="1"/>
          <p:nvPr/>
        </p:nvSpPr>
        <p:spPr>
          <a:xfrm>
            <a:off x="320040" y="6537960"/>
            <a:ext cx="4572000" cy="274320"/>
          </a:xfrm>
          <a:prstGeom prst="rect">
            <a:avLst/>
          </a:prstGeom>
          <a:noFill/>
        </p:spPr>
        <p:txBody>
          <a:bodyPr wrap="square" anchor="t">
            <a:spAutoFit/>
          </a:bodyPr>
          <a:lstStyle/>
          <a:p>
            <a:pPr algn="l"/>
            <a:r>
              <a:rPr sz="800" b="0" i="0">
                <a:solidFill>
                  <a:srgbClr val="AFB7C0"/>
                </a:solidFill>
                <a:latin typeface="Calibri"/>
              </a:rPr>
              <a:t>Bharadwaj Consumer Products Ltd | Project Drishti</a:t>
            </a:r>
          </a:p>
        </p:txBody>
      </p:sp>
      <p:sp>
        <p:nvSpPr>
          <p:cNvPr id="7" name="TextBox 6"/>
          <p:cNvSpPr txBox="1"/>
          <p:nvPr/>
        </p:nvSpPr>
        <p:spPr>
          <a:xfrm>
            <a:off x="4206240" y="6537960"/>
            <a:ext cx="3840480" cy="274320"/>
          </a:xfrm>
          <a:prstGeom prst="rect">
            <a:avLst/>
          </a:prstGeom>
          <a:noFill/>
        </p:spPr>
        <p:txBody>
          <a:bodyPr wrap="square" anchor="t">
            <a:spAutoFit/>
          </a:bodyPr>
          <a:lstStyle/>
          <a:p>
            <a:pPr algn="ctr"/>
            <a:r>
              <a:rPr sz="800" b="0" i="1">
                <a:solidFill>
                  <a:srgbClr val="AFB7C0"/>
                </a:solidFill>
                <a:latin typeface="Calibri"/>
              </a:rPr>
              <a:t>Confidential – Internal Working Draft v2</a:t>
            </a:r>
          </a:p>
        </p:txBody>
      </p:sp>
      <p:sp>
        <p:nvSpPr>
          <p:cNvPr id="8" name="TextBox 7"/>
          <p:cNvSpPr txBox="1"/>
          <p:nvPr/>
        </p:nvSpPr>
        <p:spPr>
          <a:xfrm>
            <a:off x="10881360" y="6537960"/>
            <a:ext cx="914400" cy="274320"/>
          </a:xfrm>
          <a:prstGeom prst="rect">
            <a:avLst/>
          </a:prstGeom>
          <a:noFill/>
        </p:spPr>
        <p:txBody>
          <a:bodyPr wrap="square" anchor="t">
            <a:spAutoFit/>
          </a:bodyPr>
          <a:lstStyle/>
          <a:p>
            <a:pPr algn="r"/>
            <a:r>
              <a:rPr sz="800" b="0" i="0">
                <a:solidFill>
                  <a:srgbClr val="AFB7C0"/>
                </a:solidFill>
                <a:latin typeface="Calibr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142640"/>
                </a:solidFill>
                <a:latin typeface="Calibri"/>
              </a:rPr>
              <a:t>Wireframes - the seven committed pages</a:t>
            </a:r>
          </a:p>
        </p:txBody>
      </p:sp>
      <p:sp>
        <p:nvSpPr>
          <p:cNvPr id="3" name="Text Placeholder 2"/>
          <p:cNvSpPr>
            <a:spLocks noGrp="1"/>
          </p:cNvSpPr>
          <p:nvPr>
            <p:ph type="body" idx="1"/>
          </p:nvPr>
        </p:nvSpPr>
        <p:spPr/>
        <p:txBody>
          <a:bodyPr/>
          <a:lstStyle/>
          <a:p>
            <a:r>
              <a:rPr sz="1600" b="0" i="1">
                <a:solidFill>
                  <a:srgbClr val="4A6F94"/>
                </a:solidFill>
                <a:latin typeface="Calibri"/>
              </a:rPr>
              <a:t>Filter rail, KPI row, trend, detail grid – per page</a:t>
            </a:r>
          </a:p>
        </p:txBody>
      </p:sp>
      <p:sp>
        <p:nvSpPr>
          <p:cNvPr id="4" name="TextBox 3"/>
          <p:cNvSpPr txBox="1"/>
          <p:nvPr/>
        </p:nvSpPr>
        <p:spPr>
          <a:xfrm>
            <a:off x="320040" y="6537960"/>
            <a:ext cx="4572000" cy="274320"/>
          </a:xfrm>
          <a:prstGeom prst="rect">
            <a:avLst/>
          </a:prstGeom>
          <a:noFill/>
        </p:spPr>
        <p:txBody>
          <a:bodyPr wrap="square" anchor="t">
            <a:spAutoFit/>
          </a:bodyPr>
          <a:lstStyle/>
          <a:p>
            <a:pPr algn="l"/>
            <a:r>
              <a:rPr sz="800" b="0" i="0">
                <a:solidFill>
                  <a:srgbClr val="AFB7C0"/>
                </a:solidFill>
                <a:latin typeface="Calibri"/>
              </a:rPr>
              <a:t>Bharadwaj Consumer Products Ltd | Project Drishti</a:t>
            </a:r>
          </a:p>
        </p:txBody>
      </p:sp>
      <p:sp>
        <p:nvSpPr>
          <p:cNvPr id="5" name="TextBox 4"/>
          <p:cNvSpPr txBox="1"/>
          <p:nvPr/>
        </p:nvSpPr>
        <p:spPr>
          <a:xfrm>
            <a:off x="4206240" y="6537960"/>
            <a:ext cx="3840480" cy="274320"/>
          </a:xfrm>
          <a:prstGeom prst="rect">
            <a:avLst/>
          </a:prstGeom>
          <a:noFill/>
        </p:spPr>
        <p:txBody>
          <a:bodyPr wrap="square" anchor="t">
            <a:spAutoFit/>
          </a:bodyPr>
          <a:lstStyle/>
          <a:p>
            <a:pPr algn="ctr"/>
            <a:r>
              <a:rPr sz="800" b="0" i="1">
                <a:solidFill>
                  <a:srgbClr val="AFB7C0"/>
                </a:solidFill>
                <a:latin typeface="Calibri"/>
              </a:rPr>
              <a:t>Confidential – Internal Working Draft v2</a:t>
            </a:r>
          </a:p>
        </p:txBody>
      </p:sp>
      <p:sp>
        <p:nvSpPr>
          <p:cNvPr id="6" name="TextBox 5"/>
          <p:cNvSpPr txBox="1"/>
          <p:nvPr/>
        </p:nvSpPr>
        <p:spPr>
          <a:xfrm>
            <a:off x="10881360" y="6537960"/>
            <a:ext cx="914400" cy="274320"/>
          </a:xfrm>
          <a:prstGeom prst="rect">
            <a:avLst/>
          </a:prstGeom>
          <a:noFill/>
        </p:spPr>
        <p:txBody>
          <a:bodyPr wrap="square" anchor="t">
            <a:spAutoFit/>
          </a:bodyPr>
          <a:lstStyle/>
          <a:p>
            <a:pPr algn="r"/>
            <a:r>
              <a:rPr sz="800" b="0" i="0">
                <a:solidFill>
                  <a:srgbClr val="AFB7C0"/>
                </a:solidFill>
                <a:latin typeface="Calibr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142640"/>
                </a:solidFill>
                <a:latin typeface="Calibri"/>
              </a:rPr>
              <a:t>D01 - Primary Sales Performance</a:t>
            </a:r>
          </a:p>
        </p:txBody>
      </p:sp>
      <p:sp>
        <p:nvSpPr>
          <p:cNvPr id="3" name="Rectangle 2"/>
          <p:cNvSpPr/>
          <p:nvPr/>
        </p:nvSpPr>
        <p:spPr>
          <a:xfrm>
            <a:off x="365760" y="1051560"/>
            <a:ext cx="11430000" cy="4206240"/>
          </a:xfrm>
          <a:prstGeom prst="rect">
            <a:avLst/>
          </a:prstGeom>
          <a:solidFill>
            <a:srgbClr val="FFFFFF"/>
          </a:solidFill>
          <a:ln w="1905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4" name="Rectangle 3"/>
          <p:cNvSpPr/>
          <p:nvPr/>
        </p:nvSpPr>
        <p:spPr>
          <a:xfrm>
            <a:off x="365760" y="1051560"/>
            <a:ext cx="11430000" cy="3108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1200" b="1" i="0">
                <a:solidFill>
                  <a:srgbClr val="FFFFFF"/>
                </a:solidFill>
                <a:latin typeface="Calibri"/>
              </a:rPr>
              <a:t>DRISHTI - Primary Sales Performance</a:t>
            </a:r>
          </a:p>
        </p:txBody>
      </p:sp>
      <p:sp>
        <p:nvSpPr>
          <p:cNvPr id="5" name="Rectangle 4"/>
          <p:cNvSpPr/>
          <p:nvPr/>
        </p:nvSpPr>
        <p:spPr>
          <a:xfrm>
            <a:off x="365760" y="1362456"/>
            <a:ext cx="2286000" cy="3895344"/>
          </a:xfrm>
          <a:prstGeom prst="rect">
            <a:avLst/>
          </a:prstGeom>
          <a:solidFill>
            <a:srgbClr val="E8EBEF"/>
          </a:solidFill>
          <a:ln w="9525">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6" name="Rectangle 5"/>
          <p:cNvSpPr/>
          <p:nvPr/>
        </p:nvSpPr>
        <p:spPr>
          <a:xfrm>
            <a:off x="365760" y="1362456"/>
            <a:ext cx="2286000" cy="201168"/>
          </a:xfrm>
          <a:prstGeom prst="rect">
            <a:avLst/>
          </a:prstGeom>
          <a:solidFill>
            <a:srgbClr val="AFB7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700" b="1" i="0">
                <a:solidFill>
                  <a:srgbClr val="FFFFFF"/>
                </a:solidFill>
                <a:latin typeface="Calibri"/>
              </a:rPr>
              <a:t>FILTER RAIL</a:t>
            </a:r>
          </a:p>
        </p:txBody>
      </p:sp>
      <p:sp>
        <p:nvSpPr>
          <p:cNvPr id="7" name="Rectangle 6"/>
          <p:cNvSpPr/>
          <p:nvPr/>
        </p:nvSpPr>
        <p:spPr>
          <a:xfrm>
            <a:off x="410760" y="1618488"/>
            <a:ext cx="2196000" cy="237744"/>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750" b="0" i="0">
                <a:solidFill>
                  <a:srgbClr val="242424"/>
                </a:solidFill>
                <a:latin typeface="Calibri"/>
              </a:rPr>
              <a:t>Region</a:t>
            </a:r>
          </a:p>
        </p:txBody>
      </p:sp>
      <p:sp>
        <p:nvSpPr>
          <p:cNvPr id="8" name="Rectangle 7"/>
          <p:cNvSpPr/>
          <p:nvPr/>
        </p:nvSpPr>
        <p:spPr>
          <a:xfrm>
            <a:off x="410760" y="1886232"/>
            <a:ext cx="2196000" cy="237744"/>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750" b="0" i="0">
                <a:solidFill>
                  <a:srgbClr val="242424"/>
                </a:solidFill>
                <a:latin typeface="Calibri"/>
              </a:rPr>
              <a:t>Brand</a:t>
            </a:r>
          </a:p>
        </p:txBody>
      </p:sp>
      <p:sp>
        <p:nvSpPr>
          <p:cNvPr id="9" name="Rectangle 8"/>
          <p:cNvSpPr/>
          <p:nvPr/>
        </p:nvSpPr>
        <p:spPr>
          <a:xfrm>
            <a:off x="410760" y="2153976"/>
            <a:ext cx="2196000" cy="237744"/>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750" b="0" i="0">
                <a:solidFill>
                  <a:srgbClr val="242424"/>
                </a:solidFill>
                <a:latin typeface="Calibri"/>
              </a:rPr>
              <a:t>Depot</a:t>
            </a:r>
          </a:p>
        </p:txBody>
      </p:sp>
      <p:sp>
        <p:nvSpPr>
          <p:cNvPr id="10" name="Rectangle 9"/>
          <p:cNvSpPr/>
          <p:nvPr/>
        </p:nvSpPr>
        <p:spPr>
          <a:xfrm>
            <a:off x="410760" y="2421720"/>
            <a:ext cx="2196000" cy="237744"/>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750" b="0" i="0">
                <a:solidFill>
                  <a:srgbClr val="242424"/>
                </a:solidFill>
                <a:latin typeface="Calibri"/>
              </a:rPr>
              <a:t>Territory</a:t>
            </a:r>
          </a:p>
        </p:txBody>
      </p:sp>
      <p:sp>
        <p:nvSpPr>
          <p:cNvPr id="11" name="Rectangle 10"/>
          <p:cNvSpPr/>
          <p:nvPr/>
        </p:nvSpPr>
        <p:spPr>
          <a:xfrm>
            <a:off x="410760" y="2689464"/>
            <a:ext cx="2196000" cy="237744"/>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750" b="0" i="0">
                <a:solidFill>
                  <a:srgbClr val="242424"/>
                </a:solidFill>
                <a:latin typeface="Calibri"/>
              </a:rPr>
              <a:t>Month (fiscal / calendar toggle)</a:t>
            </a:r>
          </a:p>
        </p:txBody>
      </p:sp>
      <p:sp>
        <p:nvSpPr>
          <p:cNvPr id="12" name="Rectangle 11"/>
          <p:cNvSpPr/>
          <p:nvPr/>
        </p:nvSpPr>
        <p:spPr>
          <a:xfrm>
            <a:off x="2666760" y="1377456"/>
            <a:ext cx="2256000" cy="427200"/>
          </a:xfrm>
          <a:prstGeom prst="rect">
            <a:avLst/>
          </a:prstGeom>
          <a:solidFill>
            <a:srgbClr val="E9F1FA"/>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800" b="1" i="0">
                <a:solidFill>
                  <a:srgbClr val="242424"/>
                </a:solidFill>
                <a:latin typeface="Calibri"/>
              </a:rPr>
              <a:t>[Net Sales]</a:t>
            </a:r>
          </a:p>
        </p:txBody>
      </p:sp>
      <p:sp>
        <p:nvSpPr>
          <p:cNvPr id="13" name="Rectangle 12"/>
          <p:cNvSpPr/>
          <p:nvPr/>
        </p:nvSpPr>
        <p:spPr>
          <a:xfrm>
            <a:off x="4952760" y="1377456"/>
            <a:ext cx="2256000" cy="427200"/>
          </a:xfrm>
          <a:prstGeom prst="rect">
            <a:avLst/>
          </a:prstGeom>
          <a:solidFill>
            <a:srgbClr val="E9F1FA"/>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800" b="1" i="0">
                <a:solidFill>
                  <a:srgbClr val="242424"/>
                </a:solidFill>
                <a:latin typeface="Calibri"/>
              </a:rPr>
              <a:t>[Growth %]</a:t>
            </a:r>
          </a:p>
        </p:txBody>
      </p:sp>
      <p:sp>
        <p:nvSpPr>
          <p:cNvPr id="14" name="Rectangle 13"/>
          <p:cNvSpPr/>
          <p:nvPr/>
        </p:nvSpPr>
        <p:spPr>
          <a:xfrm>
            <a:off x="7238760" y="1377456"/>
            <a:ext cx="2256000" cy="427200"/>
          </a:xfrm>
          <a:prstGeom prst="rect">
            <a:avLst/>
          </a:prstGeom>
          <a:solidFill>
            <a:srgbClr val="E9F1FA"/>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800" b="1" i="0">
                <a:solidFill>
                  <a:srgbClr val="242424"/>
                </a:solidFill>
                <a:latin typeface="Calibri"/>
              </a:rPr>
              <a:t>[Scheme Disc. %]</a:t>
            </a:r>
          </a:p>
        </p:txBody>
      </p:sp>
      <p:sp>
        <p:nvSpPr>
          <p:cNvPr id="15" name="Rectangle 14"/>
          <p:cNvSpPr/>
          <p:nvPr/>
        </p:nvSpPr>
        <p:spPr>
          <a:xfrm>
            <a:off x="9524760" y="1377456"/>
            <a:ext cx="2256000" cy="427200"/>
          </a:xfrm>
          <a:prstGeom prst="rect">
            <a:avLst/>
          </a:prstGeom>
          <a:solidFill>
            <a:srgbClr val="E9F1FA"/>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800" b="1" i="0">
                <a:solidFill>
                  <a:srgbClr val="242424"/>
                </a:solidFill>
                <a:latin typeface="Calibri"/>
              </a:rPr>
              <a:t>[data as of …]</a:t>
            </a:r>
          </a:p>
        </p:txBody>
      </p:sp>
      <p:sp>
        <p:nvSpPr>
          <p:cNvPr id="16" name="Rectangle 15"/>
          <p:cNvSpPr/>
          <p:nvPr/>
        </p:nvSpPr>
        <p:spPr>
          <a:xfrm>
            <a:off x="2651760" y="1819656"/>
            <a:ext cx="9144000" cy="1444020"/>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7" name="TextBox 16"/>
          <p:cNvSpPr txBox="1"/>
          <p:nvPr/>
        </p:nvSpPr>
        <p:spPr>
          <a:xfrm>
            <a:off x="2711760" y="1839656"/>
            <a:ext cx="9024000" cy="182880"/>
          </a:xfrm>
          <a:prstGeom prst="rect">
            <a:avLst/>
          </a:prstGeom>
          <a:noFill/>
        </p:spPr>
        <p:txBody>
          <a:bodyPr wrap="square" anchor="t">
            <a:spAutoFit/>
          </a:bodyPr>
          <a:lstStyle/>
          <a:p>
            <a:pPr algn="l"/>
            <a:r>
              <a:rPr sz="700" b="1" i="0">
                <a:solidFill>
                  <a:srgbClr val="4A6F94"/>
                </a:solidFill>
                <a:latin typeface="Calibri"/>
              </a:rPr>
              <a:t>TREND - 12-month rolling, value as bars, growth as a line (net = TBC, see definitions sheet)</a:t>
            </a:r>
          </a:p>
        </p:txBody>
      </p:sp>
      <p:sp>
        <p:nvSpPr>
          <p:cNvPr id="18" name="Rectangle 17"/>
          <p:cNvSpPr/>
          <p:nvPr/>
        </p:nvSpPr>
        <p:spPr>
          <a:xfrm>
            <a:off x="2875280" y="2413820"/>
            <a:ext cx="558800" cy="776704"/>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9" name="Rectangle 18"/>
          <p:cNvSpPr/>
          <p:nvPr/>
        </p:nvSpPr>
        <p:spPr>
          <a:xfrm>
            <a:off x="3891280" y="2519061"/>
            <a:ext cx="558800" cy="671463"/>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0" name="Rectangle 19"/>
          <p:cNvSpPr/>
          <p:nvPr/>
        </p:nvSpPr>
        <p:spPr>
          <a:xfrm>
            <a:off x="4907280" y="2793261"/>
            <a:ext cx="558800" cy="397263"/>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1" name="Rectangle 20"/>
          <p:cNvSpPr/>
          <p:nvPr/>
        </p:nvSpPr>
        <p:spPr>
          <a:xfrm>
            <a:off x="5923280" y="2675266"/>
            <a:ext cx="558800" cy="515258"/>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2" name="Rectangle 21"/>
          <p:cNvSpPr/>
          <p:nvPr/>
        </p:nvSpPr>
        <p:spPr>
          <a:xfrm>
            <a:off x="6939280" y="2853806"/>
            <a:ext cx="558800" cy="336718"/>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3" name="Rectangle 22"/>
          <p:cNvSpPr/>
          <p:nvPr/>
        </p:nvSpPr>
        <p:spPr>
          <a:xfrm>
            <a:off x="7955280" y="2667226"/>
            <a:ext cx="558800" cy="523298"/>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4" name="Rectangle 23"/>
          <p:cNvSpPr/>
          <p:nvPr/>
        </p:nvSpPr>
        <p:spPr>
          <a:xfrm>
            <a:off x="8971280" y="2426209"/>
            <a:ext cx="558800" cy="764315"/>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5" name="Rectangle 24"/>
          <p:cNvSpPr/>
          <p:nvPr/>
        </p:nvSpPr>
        <p:spPr>
          <a:xfrm>
            <a:off x="9987280" y="2336790"/>
            <a:ext cx="558800" cy="853734"/>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6" name="Rectangle 25"/>
          <p:cNvSpPr/>
          <p:nvPr/>
        </p:nvSpPr>
        <p:spPr>
          <a:xfrm>
            <a:off x="11003280" y="2667419"/>
            <a:ext cx="558800" cy="523105"/>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graphicFrame>
        <p:nvGraphicFramePr>
          <p:cNvPr id="27" name="Table 26"/>
          <p:cNvGraphicFramePr>
            <a:graphicFrameLocks noGrp="1"/>
          </p:cNvGraphicFramePr>
          <p:nvPr/>
        </p:nvGraphicFramePr>
        <p:xfrm>
          <a:off x="2651760" y="3263676"/>
          <a:ext cx="9144000" cy="1994124"/>
        </p:xfrm>
        <a:graphic>
          <a:graphicData uri="http://schemas.openxmlformats.org/drawingml/2006/table">
            <a:tbl>
              <a:tblPr firstRow="1" bandRow="1">
                <a:tableStyleId>{5C22544A-7EE6-4342-B048-85BDC9FD1C3A}</a:tableStyleId>
              </a:tblPr>
              <a:tblGrid>
                <a:gridCol w="1828800"/>
                <a:gridCol w="1828800"/>
                <a:gridCol w="1828800"/>
                <a:gridCol w="1828800"/>
                <a:gridCol w="1828800"/>
              </a:tblGrid>
              <a:tr h="664708">
                <a:tc>
                  <a:txBody>
                    <a:bodyPr/>
                    <a:lstStyle/>
                    <a:p>
                      <a:pPr algn="l"/>
                      <a:r>
                        <a:rPr sz="750" b="1" i="0">
                          <a:solidFill>
                            <a:srgbClr val="FFFFFF"/>
                          </a:solidFill>
                          <a:latin typeface="Calibri"/>
                        </a:rPr>
                        <a:t>Distributor</a:t>
                      </a:r>
                    </a:p>
                  </a:txBody>
                  <a:tcPr marL="50000" marR="50000" marT="20000" marB="20000" anchor="ctr">
                    <a:solidFill>
                      <a:srgbClr val="1F3A5F"/>
                    </a:solidFill>
                  </a:tcPr>
                </a:tc>
                <a:tc>
                  <a:txBody>
                    <a:bodyPr/>
                    <a:lstStyle/>
                    <a:p>
                      <a:pPr/>
                      <a:r>
                        <a:rPr sz="750" b="1" i="0">
                          <a:solidFill>
                            <a:srgbClr val="FFFFFF"/>
                          </a:solidFill>
                          <a:latin typeface="Calibri"/>
                        </a:rPr>
                        <a:t>SKU</a:t>
                      </a:r>
                    </a:p>
                  </a:txBody>
                  <a:tcPr marL="50000" marR="50000" marT="20000" marB="20000" anchor="ctr">
                    <a:solidFill>
                      <a:srgbClr val="1F3A5F"/>
                    </a:solidFill>
                  </a:tcPr>
                </a:tc>
                <a:tc>
                  <a:txBody>
                    <a:bodyPr/>
                    <a:lstStyle/>
                    <a:p>
                      <a:pPr/>
                      <a:r>
                        <a:rPr sz="750" b="1" i="0">
                          <a:solidFill>
                            <a:srgbClr val="FFFFFF"/>
                          </a:solidFill>
                          <a:latin typeface="Calibri"/>
                        </a:rPr>
                        <a:t>Net Sales</a:t>
                      </a:r>
                    </a:p>
                  </a:txBody>
                  <a:tcPr marL="50000" marR="50000" marT="20000" marB="20000" anchor="ctr">
                    <a:solidFill>
                      <a:srgbClr val="1F3A5F"/>
                    </a:solidFill>
                  </a:tcPr>
                </a:tc>
                <a:tc>
                  <a:txBody>
                    <a:bodyPr/>
                    <a:lstStyle/>
                    <a:p>
                      <a:pPr/>
                      <a:r>
                        <a:rPr sz="750" b="1" i="0">
                          <a:solidFill>
                            <a:srgbClr val="FFFFFF"/>
                          </a:solidFill>
                          <a:latin typeface="Calibri"/>
                        </a:rPr>
                        <a:t>Growth %</a:t>
                      </a:r>
                    </a:p>
                  </a:txBody>
                  <a:tcPr marL="50000" marR="50000" marT="20000" marB="20000" anchor="ctr">
                    <a:solidFill>
                      <a:srgbClr val="1F3A5F"/>
                    </a:solidFill>
                  </a:tcPr>
                </a:tc>
                <a:tc>
                  <a:txBody>
                    <a:bodyPr/>
                    <a:lstStyle/>
                    <a:p>
                      <a:pPr/>
                      <a:r>
                        <a:rPr sz="750" b="1" i="0">
                          <a:solidFill>
                            <a:srgbClr val="FFFFFF"/>
                          </a:solidFill>
                          <a:latin typeface="Calibri"/>
                        </a:rPr>
                        <a:t>Scheme Disc.</a:t>
                      </a:r>
                    </a:p>
                  </a:txBody>
                  <a:tcPr marL="50000" marR="50000" marT="20000" marB="20000" anchor="ctr">
                    <a:solidFill>
                      <a:srgbClr val="1F3A5F"/>
                    </a:solidFill>
                  </a:tcPr>
                </a:tc>
              </a:tr>
              <a:tr h="664708">
                <a:tc>
                  <a:txBody>
                    <a:bodyPr/>
                    <a:lstStyle/>
                    <a:p>
                      <a:pPr algn="l"/>
                      <a:r>
                        <a:rPr sz="700" b="0" i="0">
                          <a:solidFill>
                            <a:srgbClr val="242424"/>
                          </a:solidFill>
                          <a:latin typeface="Calibri"/>
                        </a:rPr>
                        <a:t>[top 50 by value, search enabled]</a:t>
                      </a:r>
                    </a:p>
                  </a:txBody>
                  <a:tcPr marL="50000" marR="50000" marT="20000" marB="20000" anchor="ctr">
                    <a:solidFill>
                      <a:srgbClr val="FFFFFF"/>
                    </a:solidFill>
                  </a:tcPr>
                </a:tc>
                <a:tc>
                  <a:txBody>
                    <a:bodyPr/>
                    <a:lstStyle/>
                    <a:p>
                      <a:pPr algn="l"/>
                      <a:r>
                        <a:rPr sz="700" b="0" i="0">
                          <a:solidFill>
                            <a:srgbClr val="242424"/>
                          </a:solidFill>
                          <a:latin typeface="Calibri"/>
                        </a:rPr>
                        <a:t>…</a:t>
                      </a:r>
                    </a:p>
                  </a:txBody>
                  <a:tcPr marL="50000" marR="50000" marT="20000" marB="20000" anchor="ctr">
                    <a:solidFill>
                      <a:srgbClr val="FFFFFF"/>
                    </a:solidFill>
                  </a:tcPr>
                </a:tc>
                <a:tc>
                  <a:txBody>
                    <a:bodyPr/>
                    <a:lstStyle/>
                    <a:p>
                      <a:pPr algn="l"/>
                      <a:r>
                        <a:rPr sz="700" b="0" i="0">
                          <a:solidFill>
                            <a:srgbClr val="242424"/>
                          </a:solidFill>
                          <a:latin typeface="Calibri"/>
                        </a:rPr>
                        <a:t>…</a:t>
                      </a:r>
                    </a:p>
                  </a:txBody>
                  <a:tcPr marL="50000" marR="50000" marT="20000" marB="20000" anchor="ctr">
                    <a:solidFill>
                      <a:srgbClr val="FFFFFF"/>
                    </a:solidFill>
                  </a:tcPr>
                </a:tc>
                <a:tc>
                  <a:txBody>
                    <a:bodyPr/>
                    <a:lstStyle/>
                    <a:p>
                      <a:pPr algn="l"/>
                      <a:r>
                        <a:rPr sz="700" b="0" i="0">
                          <a:solidFill>
                            <a:srgbClr val="242424"/>
                          </a:solidFill>
                          <a:latin typeface="Calibri"/>
                        </a:rPr>
                        <a:t>…</a:t>
                      </a:r>
                    </a:p>
                  </a:txBody>
                  <a:tcPr marL="50000" marR="50000" marT="20000" marB="20000" anchor="ctr">
                    <a:solidFill>
                      <a:srgbClr val="FFFFFF"/>
                    </a:solidFill>
                  </a:tcPr>
                </a:tc>
                <a:tc>
                  <a:txBody>
                    <a:bodyPr/>
                    <a:lstStyle/>
                    <a:p>
                      <a:pPr algn="l"/>
                      <a:r>
                        <a:rPr sz="700" b="0" i="0">
                          <a:solidFill>
                            <a:srgbClr val="242424"/>
                          </a:solidFill>
                          <a:latin typeface="Calibri"/>
                        </a:rPr>
                        <a:t>…</a:t>
                      </a:r>
                    </a:p>
                  </a:txBody>
                  <a:tcPr marL="50000" marR="50000" marT="20000" marB="20000" anchor="ctr">
                    <a:solidFill>
                      <a:srgbClr val="FFFFFF"/>
                    </a:solidFill>
                  </a:tcPr>
                </a:tc>
              </a:tr>
              <a:tr h="664708">
                <a:tc>
                  <a:txBody>
                    <a:bodyPr/>
                    <a:lstStyle/>
                    <a:p>
                      <a:pPr algn="l"/>
                      <a:r>
                        <a:rPr sz="700" b="0" i="0">
                          <a:solidFill>
                            <a:srgbClr val="242424"/>
                          </a:solidFill>
                          <a:latin typeface="Calibri"/>
                        </a:rPr>
                        <a:t>…</a:t>
                      </a:r>
                    </a:p>
                  </a:txBody>
                  <a:tcPr marL="50000" marR="50000" marT="20000" marB="20000" anchor="ctr">
                    <a:solidFill>
                      <a:srgbClr val="F2F4F7"/>
                    </a:solidFill>
                  </a:tcPr>
                </a:tc>
                <a:tc>
                  <a:txBody>
                    <a:bodyPr/>
                    <a:lstStyle/>
                    <a:p>
                      <a:pPr algn="l"/>
                      <a:r>
                        <a:rPr sz="700" b="0" i="0">
                          <a:solidFill>
                            <a:srgbClr val="242424"/>
                          </a:solidFill>
                          <a:latin typeface="Calibri"/>
                        </a:rPr>
                        <a:t>…</a:t>
                      </a:r>
                    </a:p>
                  </a:txBody>
                  <a:tcPr marL="50000" marR="50000" marT="20000" marB="20000" anchor="ctr">
                    <a:solidFill>
                      <a:srgbClr val="F2F4F7"/>
                    </a:solidFill>
                  </a:tcPr>
                </a:tc>
                <a:tc>
                  <a:txBody>
                    <a:bodyPr/>
                    <a:lstStyle/>
                    <a:p>
                      <a:pPr algn="l"/>
                      <a:r>
                        <a:rPr sz="700" b="0" i="0">
                          <a:solidFill>
                            <a:srgbClr val="242424"/>
                          </a:solidFill>
                          <a:latin typeface="Calibri"/>
                        </a:rPr>
                        <a:t>…</a:t>
                      </a:r>
                    </a:p>
                  </a:txBody>
                  <a:tcPr marL="50000" marR="50000" marT="20000" marB="20000" anchor="ctr">
                    <a:solidFill>
                      <a:srgbClr val="F2F4F7"/>
                    </a:solidFill>
                  </a:tcPr>
                </a:tc>
                <a:tc>
                  <a:txBody>
                    <a:bodyPr/>
                    <a:lstStyle/>
                    <a:p>
                      <a:pPr algn="l"/>
                      <a:r>
                        <a:rPr sz="700" b="0" i="0">
                          <a:solidFill>
                            <a:srgbClr val="242424"/>
                          </a:solidFill>
                          <a:latin typeface="Calibri"/>
                        </a:rPr>
                        <a:t>…</a:t>
                      </a:r>
                    </a:p>
                  </a:txBody>
                  <a:tcPr marL="50000" marR="50000" marT="20000" marB="20000" anchor="ctr">
                    <a:solidFill>
                      <a:srgbClr val="F2F4F7"/>
                    </a:solidFill>
                  </a:tcPr>
                </a:tc>
                <a:tc>
                  <a:txBody>
                    <a:bodyPr/>
                    <a:lstStyle/>
                    <a:p>
                      <a:pPr algn="l"/>
                      <a:r>
                        <a:rPr sz="700" b="0" i="0">
                          <a:solidFill>
                            <a:srgbClr val="242424"/>
                          </a:solidFill>
                          <a:latin typeface="Calibri"/>
                        </a:rPr>
                        <a:t>…</a:t>
                      </a:r>
                    </a:p>
                  </a:txBody>
                  <a:tcPr marL="50000" marR="50000" marT="20000" marB="20000" anchor="ctr">
                    <a:solidFill>
                      <a:srgbClr val="F2F4F7"/>
                    </a:solidFill>
                  </a:tcPr>
                </a:tc>
              </a:tr>
            </a:tbl>
          </a:graphicData>
        </a:graphic>
      </p:graphicFrame>
      <p:sp>
        <p:nvSpPr>
          <p:cNvPr id="28" name="TextBox 27"/>
          <p:cNvSpPr txBox="1"/>
          <p:nvPr/>
        </p:nvSpPr>
        <p:spPr>
          <a:xfrm>
            <a:off x="365760" y="5349240"/>
            <a:ext cx="11430000" cy="1051560"/>
          </a:xfrm>
          <a:prstGeom prst="rect">
            <a:avLst/>
          </a:prstGeom>
          <a:noFill/>
        </p:spPr>
        <p:txBody>
          <a:bodyPr wrap="square" anchor="t">
            <a:spAutoFit/>
          </a:bodyPr>
          <a:lstStyle/>
          <a:p>
            <a:pPr algn="l"/>
            <a:r>
              <a:rPr sz="1100" b="0" i="0">
                <a:solidFill>
                  <a:srgbClr val="242424"/>
                </a:solidFill>
                <a:latin typeface="Calibri"/>
              </a:rPr>
              <a:t>Bottom table is Ananya's proposal: distributor x SKU, top 50 by value, with search. Vikram's position is this does not work for his team – see the Open Question slide.</a:t>
            </a:r>
          </a:p>
          <a:p>
            <a:pPr algn="l"/>
            <a:r>
              <a:rPr sz="1100" b="0" i="0">
                <a:solidFill>
                  <a:srgbClr val="242424"/>
                </a:solidFill>
                <a:latin typeface="Calibri"/>
              </a:rPr>
              <a:t>Trend axis limited to current + prior FY only. Basically because the source archive for older lines is not extracted into the warehouse today, only current + prior year.</a:t>
            </a:r>
          </a:p>
        </p:txBody>
      </p:sp>
      <p:sp>
        <p:nvSpPr>
          <p:cNvPr id="29" name="TextBox 28"/>
          <p:cNvSpPr txBox="1"/>
          <p:nvPr/>
        </p:nvSpPr>
        <p:spPr>
          <a:xfrm>
            <a:off x="320040" y="6537960"/>
            <a:ext cx="4572000" cy="274320"/>
          </a:xfrm>
          <a:prstGeom prst="rect">
            <a:avLst/>
          </a:prstGeom>
          <a:noFill/>
        </p:spPr>
        <p:txBody>
          <a:bodyPr wrap="square" anchor="t">
            <a:spAutoFit/>
          </a:bodyPr>
          <a:lstStyle/>
          <a:p>
            <a:pPr algn="l"/>
            <a:r>
              <a:rPr sz="800" b="0" i="0">
                <a:solidFill>
                  <a:srgbClr val="AFB7C0"/>
                </a:solidFill>
                <a:latin typeface="Calibri"/>
              </a:rPr>
              <a:t>Bharadwaj Consumer Products Ltd | Project Drishti</a:t>
            </a:r>
          </a:p>
        </p:txBody>
      </p:sp>
      <p:sp>
        <p:nvSpPr>
          <p:cNvPr id="30" name="TextBox 29"/>
          <p:cNvSpPr txBox="1"/>
          <p:nvPr/>
        </p:nvSpPr>
        <p:spPr>
          <a:xfrm>
            <a:off x="4206240" y="6537960"/>
            <a:ext cx="3840480" cy="274320"/>
          </a:xfrm>
          <a:prstGeom prst="rect">
            <a:avLst/>
          </a:prstGeom>
          <a:noFill/>
        </p:spPr>
        <p:txBody>
          <a:bodyPr wrap="square" anchor="t">
            <a:spAutoFit/>
          </a:bodyPr>
          <a:lstStyle/>
          <a:p>
            <a:pPr algn="ctr"/>
            <a:r>
              <a:rPr sz="800" b="0" i="1">
                <a:solidFill>
                  <a:srgbClr val="AFB7C0"/>
                </a:solidFill>
                <a:latin typeface="Calibri"/>
              </a:rPr>
              <a:t>Confidential – Internal Working Draft v2</a:t>
            </a:r>
          </a:p>
        </p:txBody>
      </p:sp>
      <p:sp>
        <p:nvSpPr>
          <p:cNvPr id="31" name="TextBox 30"/>
          <p:cNvSpPr txBox="1"/>
          <p:nvPr/>
        </p:nvSpPr>
        <p:spPr>
          <a:xfrm>
            <a:off x="10881360" y="6537960"/>
            <a:ext cx="914400" cy="274320"/>
          </a:xfrm>
          <a:prstGeom prst="rect">
            <a:avLst/>
          </a:prstGeom>
          <a:noFill/>
        </p:spPr>
        <p:txBody>
          <a:bodyPr wrap="square" anchor="t">
            <a:spAutoFit/>
          </a:bodyPr>
          <a:lstStyle/>
          <a:p>
            <a:pPr algn="r"/>
            <a:r>
              <a:rPr sz="800" b="0" i="0">
                <a:solidFill>
                  <a:srgbClr val="AFB7C0"/>
                </a:solidFill>
                <a:latin typeface="Calibr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142640"/>
                </a:solidFill>
                <a:latin typeface="Calibri"/>
              </a:rPr>
              <a:t>D03 - Distributor Scorecard</a:t>
            </a:r>
          </a:p>
        </p:txBody>
      </p:sp>
      <p:sp>
        <p:nvSpPr>
          <p:cNvPr id="3" name="Rectangle 2"/>
          <p:cNvSpPr/>
          <p:nvPr/>
        </p:nvSpPr>
        <p:spPr>
          <a:xfrm>
            <a:off x="365760" y="1051560"/>
            <a:ext cx="11430000" cy="3931920"/>
          </a:xfrm>
          <a:prstGeom prst="rect">
            <a:avLst/>
          </a:prstGeom>
          <a:solidFill>
            <a:srgbClr val="FFFFFF"/>
          </a:solidFill>
          <a:ln w="1905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4" name="Rectangle 3"/>
          <p:cNvSpPr/>
          <p:nvPr/>
        </p:nvSpPr>
        <p:spPr>
          <a:xfrm>
            <a:off x="365760" y="1051560"/>
            <a:ext cx="11430000" cy="3108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1200" b="1" i="0">
                <a:solidFill>
                  <a:srgbClr val="FFFFFF"/>
                </a:solidFill>
                <a:latin typeface="Calibri"/>
              </a:rPr>
              <a:t>DRISHTI - Distributor Scorecard</a:t>
            </a:r>
          </a:p>
        </p:txBody>
      </p:sp>
      <p:sp>
        <p:nvSpPr>
          <p:cNvPr id="5" name="Rectangle 4"/>
          <p:cNvSpPr/>
          <p:nvPr/>
        </p:nvSpPr>
        <p:spPr>
          <a:xfrm>
            <a:off x="365760" y="1362456"/>
            <a:ext cx="2286000" cy="3621024"/>
          </a:xfrm>
          <a:prstGeom prst="rect">
            <a:avLst/>
          </a:prstGeom>
          <a:solidFill>
            <a:srgbClr val="E8EBEF"/>
          </a:solidFill>
          <a:ln w="9525">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6" name="Rectangle 5"/>
          <p:cNvSpPr/>
          <p:nvPr/>
        </p:nvSpPr>
        <p:spPr>
          <a:xfrm>
            <a:off x="365760" y="1362456"/>
            <a:ext cx="2286000" cy="201168"/>
          </a:xfrm>
          <a:prstGeom prst="rect">
            <a:avLst/>
          </a:prstGeom>
          <a:solidFill>
            <a:srgbClr val="AFB7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700" b="1" i="0">
                <a:solidFill>
                  <a:srgbClr val="FFFFFF"/>
                </a:solidFill>
                <a:latin typeface="Calibri"/>
              </a:rPr>
              <a:t>FILTER RAIL</a:t>
            </a:r>
          </a:p>
        </p:txBody>
      </p:sp>
      <p:sp>
        <p:nvSpPr>
          <p:cNvPr id="7" name="Rectangle 6"/>
          <p:cNvSpPr/>
          <p:nvPr/>
        </p:nvSpPr>
        <p:spPr>
          <a:xfrm>
            <a:off x="410760" y="1618488"/>
            <a:ext cx="2196000" cy="237744"/>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750" b="0" i="0">
                <a:solidFill>
                  <a:srgbClr val="242424"/>
                </a:solidFill>
                <a:latin typeface="Calibri"/>
              </a:rPr>
              <a:t>Region (prompt)</a:t>
            </a:r>
          </a:p>
        </p:txBody>
      </p:sp>
      <p:sp>
        <p:nvSpPr>
          <p:cNvPr id="8" name="Rectangle 7"/>
          <p:cNvSpPr/>
          <p:nvPr/>
        </p:nvSpPr>
        <p:spPr>
          <a:xfrm>
            <a:off x="410760" y="1886232"/>
            <a:ext cx="2196000" cy="237744"/>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750" b="0" i="0">
                <a:solidFill>
                  <a:srgbClr val="242424"/>
                </a:solidFill>
                <a:latin typeface="Calibri"/>
              </a:rPr>
              <a:t>Month (prompt)</a:t>
            </a:r>
          </a:p>
        </p:txBody>
      </p:sp>
      <p:sp>
        <p:nvSpPr>
          <p:cNvPr id="9" name="Rectangle 8"/>
          <p:cNvSpPr/>
          <p:nvPr/>
        </p:nvSpPr>
        <p:spPr>
          <a:xfrm>
            <a:off x="2666760" y="1377456"/>
            <a:ext cx="2256000" cy="427200"/>
          </a:xfrm>
          <a:prstGeom prst="rect">
            <a:avLst/>
          </a:prstGeom>
          <a:solidFill>
            <a:srgbClr val="E9F1FA"/>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800" b="1" i="0">
                <a:solidFill>
                  <a:srgbClr val="242424"/>
                </a:solidFill>
                <a:latin typeface="Calibri"/>
              </a:rPr>
              <a:t>[Billing MTD]</a:t>
            </a:r>
          </a:p>
        </p:txBody>
      </p:sp>
      <p:sp>
        <p:nvSpPr>
          <p:cNvPr id="10" name="Rectangle 9"/>
          <p:cNvSpPr/>
          <p:nvPr/>
        </p:nvSpPr>
        <p:spPr>
          <a:xfrm>
            <a:off x="4952760" y="1377456"/>
            <a:ext cx="2256000" cy="427200"/>
          </a:xfrm>
          <a:prstGeom prst="rect">
            <a:avLst/>
          </a:prstGeom>
          <a:solidFill>
            <a:srgbClr val="E9F1FA"/>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800" b="1" i="0">
                <a:solidFill>
                  <a:srgbClr val="242424"/>
                </a:solidFill>
                <a:latin typeface="Calibri"/>
              </a:rPr>
              <a:t>[Growth]</a:t>
            </a:r>
          </a:p>
        </p:txBody>
      </p:sp>
      <p:sp>
        <p:nvSpPr>
          <p:cNvPr id="11" name="Rectangle 10"/>
          <p:cNvSpPr/>
          <p:nvPr/>
        </p:nvSpPr>
        <p:spPr>
          <a:xfrm>
            <a:off x="7238760" y="1377456"/>
            <a:ext cx="2256000" cy="427200"/>
          </a:xfrm>
          <a:prstGeom prst="rect">
            <a:avLst/>
          </a:prstGeom>
          <a:solidFill>
            <a:srgbClr val="E9F1FA"/>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800" b="1" i="0">
                <a:solidFill>
                  <a:srgbClr val="242424"/>
                </a:solidFill>
                <a:latin typeface="Calibri"/>
              </a:rPr>
              <a:t>[Outstanding – TBC]</a:t>
            </a:r>
          </a:p>
        </p:txBody>
      </p:sp>
      <p:sp>
        <p:nvSpPr>
          <p:cNvPr id="12" name="Rectangle 11"/>
          <p:cNvSpPr/>
          <p:nvPr/>
        </p:nvSpPr>
        <p:spPr>
          <a:xfrm>
            <a:off x="9524760" y="1377456"/>
            <a:ext cx="2256000" cy="427200"/>
          </a:xfrm>
          <a:prstGeom prst="rect">
            <a:avLst/>
          </a:prstGeom>
          <a:solidFill>
            <a:srgbClr val="E9F1FA"/>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800" b="1" i="0">
                <a:solidFill>
                  <a:srgbClr val="242424"/>
                </a:solidFill>
                <a:latin typeface="Calibri"/>
              </a:rPr>
              <a:t>[Scheme Disc. Amt]</a:t>
            </a:r>
          </a:p>
        </p:txBody>
      </p:sp>
      <p:sp>
        <p:nvSpPr>
          <p:cNvPr id="13" name="Rectangle 12"/>
          <p:cNvSpPr/>
          <p:nvPr/>
        </p:nvSpPr>
        <p:spPr>
          <a:xfrm>
            <a:off x="2651760" y="1819656"/>
            <a:ext cx="9144000" cy="1328806"/>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4" name="TextBox 13"/>
          <p:cNvSpPr txBox="1"/>
          <p:nvPr/>
        </p:nvSpPr>
        <p:spPr>
          <a:xfrm>
            <a:off x="2711760" y="1839656"/>
            <a:ext cx="9024000" cy="182880"/>
          </a:xfrm>
          <a:prstGeom prst="rect">
            <a:avLst/>
          </a:prstGeom>
          <a:noFill/>
        </p:spPr>
        <p:txBody>
          <a:bodyPr wrap="square" anchor="t">
            <a:spAutoFit/>
          </a:bodyPr>
          <a:lstStyle/>
          <a:p>
            <a:pPr algn="l"/>
            <a:r>
              <a:rPr sz="700" b="1" i="0">
                <a:solidFill>
                  <a:srgbClr val="4A6F94"/>
                </a:solidFill>
                <a:latin typeface="Calibri"/>
              </a:rPr>
              <a:t>TREND - selected distributor, monthly – built as a monthly rhythm, not daily</a:t>
            </a:r>
          </a:p>
        </p:txBody>
      </p:sp>
      <p:sp>
        <p:nvSpPr>
          <p:cNvPr id="15" name="Rectangle 14"/>
          <p:cNvSpPr/>
          <p:nvPr/>
        </p:nvSpPr>
        <p:spPr>
          <a:xfrm>
            <a:off x="2875280" y="2499558"/>
            <a:ext cx="558800" cy="575752"/>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6" name="Rectangle 15"/>
          <p:cNvSpPr/>
          <p:nvPr/>
        </p:nvSpPr>
        <p:spPr>
          <a:xfrm>
            <a:off x="3891280" y="2354718"/>
            <a:ext cx="558800" cy="720592"/>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7" name="Rectangle 16"/>
          <p:cNvSpPr/>
          <p:nvPr/>
        </p:nvSpPr>
        <p:spPr>
          <a:xfrm>
            <a:off x="4907280" y="2538704"/>
            <a:ext cx="558800" cy="536606"/>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8" name="Rectangle 17"/>
          <p:cNvSpPr/>
          <p:nvPr/>
        </p:nvSpPr>
        <p:spPr>
          <a:xfrm>
            <a:off x="5923280" y="2501655"/>
            <a:ext cx="558800" cy="573655"/>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9" name="Rectangle 18"/>
          <p:cNvSpPr/>
          <p:nvPr/>
        </p:nvSpPr>
        <p:spPr>
          <a:xfrm>
            <a:off x="6939280" y="2242625"/>
            <a:ext cx="558800" cy="832685"/>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0" name="Rectangle 19"/>
          <p:cNvSpPr/>
          <p:nvPr/>
        </p:nvSpPr>
        <p:spPr>
          <a:xfrm>
            <a:off x="7955280" y="2791930"/>
            <a:ext cx="558800" cy="283380"/>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1" name="Rectangle 20"/>
          <p:cNvSpPr/>
          <p:nvPr/>
        </p:nvSpPr>
        <p:spPr>
          <a:xfrm>
            <a:off x="8971280" y="2338012"/>
            <a:ext cx="558800" cy="737298"/>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2" name="Rectangle 21"/>
          <p:cNvSpPr/>
          <p:nvPr/>
        </p:nvSpPr>
        <p:spPr>
          <a:xfrm>
            <a:off x="9987280" y="2515700"/>
            <a:ext cx="558800" cy="559610"/>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3" name="Rectangle 22"/>
          <p:cNvSpPr/>
          <p:nvPr/>
        </p:nvSpPr>
        <p:spPr>
          <a:xfrm>
            <a:off x="11003280" y="2669953"/>
            <a:ext cx="558800" cy="405357"/>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4" name="Rectangle 23"/>
          <p:cNvSpPr/>
          <p:nvPr/>
        </p:nvSpPr>
        <p:spPr>
          <a:xfrm>
            <a:off x="2651760" y="3148462"/>
            <a:ext cx="9144000" cy="1835018"/>
          </a:xfrm>
          <a:prstGeom prst="rect">
            <a:avLst/>
          </a:prstGeom>
          <a:solidFill>
            <a:srgbClr val="F7F7F7"/>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t" wrap="square" lIns="45000" rIns="45000" tIns="20000" bIns="20000"/>
          <a:lstStyle/>
          <a:p>
            <a:pPr algn="l"/>
            <a:r>
              <a:rPr sz="800" b="0" i="0">
                <a:solidFill>
                  <a:srgbClr val="242424"/>
                </a:solidFill>
                <a:latin typeface="Calibri"/>
              </a:rPr>
              <a:t>DETAIL GRID - master list of all distributors, one column, click to select – detail panel updates on the right (master-detail pattern)</a:t>
            </a:r>
          </a:p>
        </p:txBody>
      </p:sp>
      <p:sp>
        <p:nvSpPr>
          <p:cNvPr id="25" name="TextBox 24"/>
          <p:cNvSpPr txBox="1"/>
          <p:nvPr/>
        </p:nvSpPr>
        <p:spPr>
          <a:xfrm>
            <a:off x="365760" y="5074920"/>
            <a:ext cx="11430000" cy="1280160"/>
          </a:xfrm>
          <a:prstGeom prst="rect">
            <a:avLst/>
          </a:prstGeom>
          <a:noFill/>
        </p:spPr>
        <p:txBody>
          <a:bodyPr wrap="square" anchor="t">
            <a:spAutoFit/>
          </a:bodyPr>
          <a:lstStyle/>
          <a:p>
            <a:pPr algn="l"/>
            <a:r>
              <a:rPr sz="1100" b="0" i="0">
                <a:solidFill>
                  <a:srgbClr val="242424"/>
                </a:solidFill>
                <a:latin typeface="Calibri"/>
              </a:rPr>
              <a:t>Layout: left = full distributor list (a list, not a wide table, so it can carry every row without a volume problem). Right = KPI cards, scheme discount amount and trend for whichever distributor is selected.</a:t>
            </a:r>
          </a:p>
          <a:p>
            <a:pPr algn="l"/>
            <a:r>
              <a:rPr sz="1100" b="0" i="0">
                <a:solidFill>
                  <a:srgbClr val="242424"/>
                </a:solidFill>
                <a:latin typeface="Calibri"/>
              </a:rPr>
              <a:t>Outstanding column – in the old report this comes from a seperate subject area (receivables), not sales. [TBC – Ishaan to confirm whether it is even in the model as it stands.]</a:t>
            </a:r>
          </a:p>
        </p:txBody>
      </p:sp>
      <p:sp>
        <p:nvSpPr>
          <p:cNvPr id="26" name="TextBox 25"/>
          <p:cNvSpPr txBox="1"/>
          <p:nvPr/>
        </p:nvSpPr>
        <p:spPr>
          <a:xfrm>
            <a:off x="320040" y="6537960"/>
            <a:ext cx="4572000" cy="274320"/>
          </a:xfrm>
          <a:prstGeom prst="rect">
            <a:avLst/>
          </a:prstGeom>
          <a:noFill/>
        </p:spPr>
        <p:txBody>
          <a:bodyPr wrap="square" anchor="t">
            <a:spAutoFit/>
          </a:bodyPr>
          <a:lstStyle/>
          <a:p>
            <a:pPr algn="l"/>
            <a:r>
              <a:rPr sz="800" b="0" i="0">
                <a:solidFill>
                  <a:srgbClr val="AFB7C0"/>
                </a:solidFill>
                <a:latin typeface="Calibri"/>
              </a:rPr>
              <a:t>Bharadwaj Consumer Products Ltd | Project Drishti</a:t>
            </a:r>
          </a:p>
        </p:txBody>
      </p:sp>
      <p:sp>
        <p:nvSpPr>
          <p:cNvPr id="27" name="TextBox 26"/>
          <p:cNvSpPr txBox="1"/>
          <p:nvPr/>
        </p:nvSpPr>
        <p:spPr>
          <a:xfrm>
            <a:off x="4206240" y="6537960"/>
            <a:ext cx="3840480" cy="274320"/>
          </a:xfrm>
          <a:prstGeom prst="rect">
            <a:avLst/>
          </a:prstGeom>
          <a:noFill/>
        </p:spPr>
        <p:txBody>
          <a:bodyPr wrap="square" anchor="t">
            <a:spAutoFit/>
          </a:bodyPr>
          <a:lstStyle/>
          <a:p>
            <a:pPr algn="ctr"/>
            <a:r>
              <a:rPr sz="800" b="0" i="1">
                <a:solidFill>
                  <a:srgbClr val="AFB7C0"/>
                </a:solidFill>
                <a:latin typeface="Calibri"/>
              </a:rPr>
              <a:t>Confidential – Internal Working Draft v2</a:t>
            </a:r>
          </a:p>
        </p:txBody>
      </p:sp>
      <p:sp>
        <p:nvSpPr>
          <p:cNvPr id="28" name="TextBox 27"/>
          <p:cNvSpPr txBox="1"/>
          <p:nvPr/>
        </p:nvSpPr>
        <p:spPr>
          <a:xfrm>
            <a:off x="10881360" y="6537960"/>
            <a:ext cx="914400" cy="274320"/>
          </a:xfrm>
          <a:prstGeom prst="rect">
            <a:avLst/>
          </a:prstGeom>
          <a:noFill/>
        </p:spPr>
        <p:txBody>
          <a:bodyPr wrap="square" anchor="t">
            <a:spAutoFit/>
          </a:bodyPr>
          <a:lstStyle/>
          <a:p>
            <a:pPr algn="r"/>
            <a:r>
              <a:rPr sz="800" b="0" i="0">
                <a:solidFill>
                  <a:srgbClr val="AFB7C0"/>
                </a:solidFill>
                <a:latin typeface="Calibr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142640"/>
                </a:solidFill>
                <a:latin typeface="Calibri"/>
              </a:rPr>
              <a:t>D05 - Stock and Despatch</a:t>
            </a:r>
          </a:p>
        </p:txBody>
      </p:sp>
      <p:sp>
        <p:nvSpPr>
          <p:cNvPr id="3" name="Rectangle 2"/>
          <p:cNvSpPr/>
          <p:nvPr/>
        </p:nvSpPr>
        <p:spPr>
          <a:xfrm>
            <a:off x="365760" y="1051560"/>
            <a:ext cx="11430000" cy="3931920"/>
          </a:xfrm>
          <a:prstGeom prst="rect">
            <a:avLst/>
          </a:prstGeom>
          <a:solidFill>
            <a:srgbClr val="FFFFFF"/>
          </a:solidFill>
          <a:ln w="1905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4" name="Rectangle 3"/>
          <p:cNvSpPr/>
          <p:nvPr/>
        </p:nvSpPr>
        <p:spPr>
          <a:xfrm>
            <a:off x="365760" y="1051560"/>
            <a:ext cx="11430000" cy="3108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1200" b="1" i="0">
                <a:solidFill>
                  <a:srgbClr val="FFFFFF"/>
                </a:solidFill>
                <a:latin typeface="Calibri"/>
              </a:rPr>
              <a:t>DRISHTI - Stock and Despatch</a:t>
            </a:r>
          </a:p>
        </p:txBody>
      </p:sp>
      <p:sp>
        <p:nvSpPr>
          <p:cNvPr id="5" name="Rectangle 4"/>
          <p:cNvSpPr/>
          <p:nvPr/>
        </p:nvSpPr>
        <p:spPr>
          <a:xfrm>
            <a:off x="365760" y="1362456"/>
            <a:ext cx="2286000" cy="3621024"/>
          </a:xfrm>
          <a:prstGeom prst="rect">
            <a:avLst/>
          </a:prstGeom>
          <a:solidFill>
            <a:srgbClr val="E8EBEF"/>
          </a:solidFill>
          <a:ln w="9525">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6" name="Rectangle 5"/>
          <p:cNvSpPr/>
          <p:nvPr/>
        </p:nvSpPr>
        <p:spPr>
          <a:xfrm>
            <a:off x="365760" y="1362456"/>
            <a:ext cx="2286000" cy="201168"/>
          </a:xfrm>
          <a:prstGeom prst="rect">
            <a:avLst/>
          </a:prstGeom>
          <a:solidFill>
            <a:srgbClr val="AFB7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700" b="1" i="0">
                <a:solidFill>
                  <a:srgbClr val="FFFFFF"/>
                </a:solidFill>
                <a:latin typeface="Calibri"/>
              </a:rPr>
              <a:t>FILTER RAIL</a:t>
            </a:r>
          </a:p>
        </p:txBody>
      </p:sp>
      <p:sp>
        <p:nvSpPr>
          <p:cNvPr id="7" name="Rectangle 6"/>
          <p:cNvSpPr/>
          <p:nvPr/>
        </p:nvSpPr>
        <p:spPr>
          <a:xfrm>
            <a:off x="410760" y="1618488"/>
            <a:ext cx="2196000" cy="237744"/>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750" b="0" i="0">
                <a:solidFill>
                  <a:srgbClr val="242424"/>
                </a:solidFill>
                <a:latin typeface="Calibri"/>
              </a:rPr>
              <a:t>Plant (Baddi, Nashik)</a:t>
            </a:r>
          </a:p>
        </p:txBody>
      </p:sp>
      <p:sp>
        <p:nvSpPr>
          <p:cNvPr id="8" name="Rectangle 7"/>
          <p:cNvSpPr/>
          <p:nvPr/>
        </p:nvSpPr>
        <p:spPr>
          <a:xfrm>
            <a:off x="410760" y="1886232"/>
            <a:ext cx="2196000" cy="237744"/>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750" b="0" i="0">
                <a:solidFill>
                  <a:srgbClr val="242424"/>
                </a:solidFill>
                <a:latin typeface="Calibri"/>
              </a:rPr>
              <a:t>Depot (22)</a:t>
            </a:r>
          </a:p>
        </p:txBody>
      </p:sp>
      <p:sp>
        <p:nvSpPr>
          <p:cNvPr id="9" name="Rectangle 8"/>
          <p:cNvSpPr/>
          <p:nvPr/>
        </p:nvSpPr>
        <p:spPr>
          <a:xfrm>
            <a:off x="410760" y="2153976"/>
            <a:ext cx="2196000" cy="237744"/>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750" b="0" i="0">
                <a:solidFill>
                  <a:srgbClr val="242424"/>
                </a:solidFill>
                <a:latin typeface="Calibri"/>
              </a:rPr>
              <a:t>Date</a:t>
            </a:r>
          </a:p>
        </p:txBody>
      </p:sp>
      <p:sp>
        <p:nvSpPr>
          <p:cNvPr id="10" name="Rectangle 9"/>
          <p:cNvSpPr/>
          <p:nvPr/>
        </p:nvSpPr>
        <p:spPr>
          <a:xfrm>
            <a:off x="2666760" y="1377456"/>
            <a:ext cx="3018000" cy="427200"/>
          </a:xfrm>
          <a:prstGeom prst="rect">
            <a:avLst/>
          </a:prstGeom>
          <a:solidFill>
            <a:srgbClr val="E9F1FA"/>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800" b="1" i="0">
                <a:solidFill>
                  <a:srgbClr val="242424"/>
                </a:solidFill>
                <a:latin typeface="Calibri"/>
              </a:rPr>
              <a:t>[Cases Despatched]</a:t>
            </a:r>
          </a:p>
        </p:txBody>
      </p:sp>
      <p:sp>
        <p:nvSpPr>
          <p:cNvPr id="11" name="Rectangle 10"/>
          <p:cNvSpPr/>
          <p:nvPr/>
        </p:nvSpPr>
        <p:spPr>
          <a:xfrm>
            <a:off x="5714760" y="1377456"/>
            <a:ext cx="3018000" cy="427200"/>
          </a:xfrm>
          <a:prstGeom prst="rect">
            <a:avLst/>
          </a:prstGeom>
          <a:solidFill>
            <a:srgbClr val="E9F1FA"/>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800" b="1" i="0">
                <a:solidFill>
                  <a:srgbClr val="242424"/>
                </a:solidFill>
                <a:latin typeface="Calibri"/>
              </a:rPr>
              <a:t>[Value Despatched]</a:t>
            </a:r>
          </a:p>
        </p:txBody>
      </p:sp>
      <p:sp>
        <p:nvSpPr>
          <p:cNvPr id="12" name="Rectangle 11"/>
          <p:cNvSpPr/>
          <p:nvPr/>
        </p:nvSpPr>
        <p:spPr>
          <a:xfrm>
            <a:off x="8762760" y="1377456"/>
            <a:ext cx="3018000" cy="427200"/>
          </a:xfrm>
          <a:prstGeom prst="rect">
            <a:avLst/>
          </a:prstGeom>
          <a:solidFill>
            <a:srgbClr val="E9F1FA"/>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800" b="1" i="0">
                <a:solidFill>
                  <a:srgbClr val="242424"/>
                </a:solidFill>
                <a:latin typeface="Calibri"/>
              </a:rPr>
              <a:t>[Pending Orders]</a:t>
            </a:r>
          </a:p>
        </p:txBody>
      </p:sp>
      <p:sp>
        <p:nvSpPr>
          <p:cNvPr id="13" name="Rectangle 12"/>
          <p:cNvSpPr/>
          <p:nvPr/>
        </p:nvSpPr>
        <p:spPr>
          <a:xfrm>
            <a:off x="2651760" y="1819656"/>
            <a:ext cx="9144000" cy="1328806"/>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4" name="TextBox 13"/>
          <p:cNvSpPr txBox="1"/>
          <p:nvPr/>
        </p:nvSpPr>
        <p:spPr>
          <a:xfrm>
            <a:off x="2711760" y="1839656"/>
            <a:ext cx="9024000" cy="182880"/>
          </a:xfrm>
          <a:prstGeom prst="rect">
            <a:avLst/>
          </a:prstGeom>
          <a:noFill/>
        </p:spPr>
        <p:txBody>
          <a:bodyPr wrap="square" anchor="t">
            <a:spAutoFit/>
          </a:bodyPr>
          <a:lstStyle/>
          <a:p>
            <a:pPr algn="l"/>
            <a:r>
              <a:rPr sz="700" b="1" i="0">
                <a:solidFill>
                  <a:srgbClr val="4A6F94"/>
                </a:solidFill>
                <a:latin typeface="Calibri"/>
              </a:rPr>
              <a:t>TREND - plant-wise, two bars only – we only have two plants</a:t>
            </a:r>
          </a:p>
        </p:txBody>
      </p:sp>
      <p:sp>
        <p:nvSpPr>
          <p:cNvPr id="15" name="Rectangle 14"/>
          <p:cNvSpPr/>
          <p:nvPr/>
        </p:nvSpPr>
        <p:spPr>
          <a:xfrm>
            <a:off x="2875280" y="2763617"/>
            <a:ext cx="558800" cy="311693"/>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6" name="Rectangle 15"/>
          <p:cNvSpPr/>
          <p:nvPr/>
        </p:nvSpPr>
        <p:spPr>
          <a:xfrm>
            <a:off x="3891280" y="2374648"/>
            <a:ext cx="558800" cy="700662"/>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7" name="Rectangle 16"/>
          <p:cNvSpPr/>
          <p:nvPr/>
        </p:nvSpPr>
        <p:spPr>
          <a:xfrm>
            <a:off x="4907280" y="2686160"/>
            <a:ext cx="558800" cy="389150"/>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8" name="Rectangle 17"/>
          <p:cNvSpPr/>
          <p:nvPr/>
        </p:nvSpPr>
        <p:spPr>
          <a:xfrm>
            <a:off x="5923280" y="2580536"/>
            <a:ext cx="558800" cy="494774"/>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9" name="Rectangle 18"/>
          <p:cNvSpPr/>
          <p:nvPr/>
        </p:nvSpPr>
        <p:spPr>
          <a:xfrm>
            <a:off x="6939280" y="2518418"/>
            <a:ext cx="558800" cy="556892"/>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0" name="Rectangle 19"/>
          <p:cNvSpPr/>
          <p:nvPr/>
        </p:nvSpPr>
        <p:spPr>
          <a:xfrm>
            <a:off x="7955280" y="2759594"/>
            <a:ext cx="558800" cy="315716"/>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1" name="Rectangle 20"/>
          <p:cNvSpPr/>
          <p:nvPr/>
        </p:nvSpPr>
        <p:spPr>
          <a:xfrm>
            <a:off x="8971280" y="2808408"/>
            <a:ext cx="558800" cy="266902"/>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2" name="Rectangle 21"/>
          <p:cNvSpPr/>
          <p:nvPr/>
        </p:nvSpPr>
        <p:spPr>
          <a:xfrm>
            <a:off x="9987280" y="2620716"/>
            <a:ext cx="558800" cy="454594"/>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3" name="Rectangle 22"/>
          <p:cNvSpPr/>
          <p:nvPr/>
        </p:nvSpPr>
        <p:spPr>
          <a:xfrm>
            <a:off x="11003280" y="2145409"/>
            <a:ext cx="558800" cy="929901"/>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4" name="Rectangle 23"/>
          <p:cNvSpPr/>
          <p:nvPr/>
        </p:nvSpPr>
        <p:spPr>
          <a:xfrm>
            <a:off x="2651760" y="3148462"/>
            <a:ext cx="9144000" cy="1835018"/>
          </a:xfrm>
          <a:prstGeom prst="rect">
            <a:avLst/>
          </a:prstGeom>
          <a:solidFill>
            <a:srgbClr val="F7F7F7"/>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t" wrap="square" lIns="45000" rIns="45000" tIns="20000" bIns="20000"/>
          <a:lstStyle/>
          <a:p>
            <a:pPr algn="l"/>
            <a:r>
              <a:rPr sz="800" b="0" i="0">
                <a:solidFill>
                  <a:srgbClr val="242424"/>
                </a:solidFill>
                <a:latin typeface="Calibri"/>
              </a:rPr>
              <a:t>DETAIL GRID - depot-wise table (22 depots) with an in-cell bar; pending orders visual to the right</a:t>
            </a:r>
          </a:p>
        </p:txBody>
      </p:sp>
      <p:graphicFrame>
        <p:nvGraphicFramePr>
          <p:cNvPr id="25" name="Table 24"/>
          <p:cNvGraphicFramePr>
            <a:graphicFrameLocks noGrp="1"/>
          </p:cNvGraphicFramePr>
          <p:nvPr/>
        </p:nvGraphicFramePr>
        <p:xfrm>
          <a:off x="365760" y="5074920"/>
          <a:ext cx="5486399" cy="1280160"/>
        </p:xfrm>
        <a:graphic>
          <a:graphicData uri="http://schemas.openxmlformats.org/drawingml/2006/table">
            <a:tbl>
              <a:tblPr firstRow="1" bandRow="1">
                <a:tableStyleId>{5C22544A-7EE6-4342-B048-85BDC9FD1C3A}</a:tableStyleId>
              </a:tblPr>
              <a:tblGrid>
                <a:gridCol w="1645920"/>
                <a:gridCol w="3840479"/>
              </a:tblGrid>
              <a:tr h="426720">
                <a:tc>
                  <a:txBody>
                    <a:bodyPr/>
                    <a:lstStyle/>
                    <a:p>
                      <a:pPr algn="l"/>
                      <a:r>
                        <a:rPr sz="1100" b="1" i="0">
                          <a:solidFill>
                            <a:srgbClr val="FFFFFF"/>
                          </a:solidFill>
                          <a:latin typeface="Calibri"/>
                        </a:rPr>
                        <a:t>Zone</a:t>
                      </a:r>
                    </a:p>
                  </a:txBody>
                  <a:tcPr marL="50000" marR="50000" marT="20000" marB="20000" anchor="ctr">
                    <a:solidFill>
                      <a:srgbClr val="1F3A5F"/>
                    </a:solidFill>
                  </a:tcPr>
                </a:tc>
                <a:tc>
                  <a:txBody>
                    <a:bodyPr/>
                    <a:lstStyle/>
                    <a:p>
                      <a:pPr/>
                      <a:r>
                        <a:rPr sz="1100" b="1" i="0">
                          <a:solidFill>
                            <a:srgbClr val="FFFFFF"/>
                          </a:solidFill>
                          <a:latin typeface="Calibri"/>
                        </a:rPr>
                        <a:t>Content</a:t>
                      </a:r>
                    </a:p>
                  </a:txBody>
                  <a:tcPr marL="50000" marR="50000" marT="20000" marB="20000" anchor="ctr">
                    <a:solidFill>
                      <a:srgbClr val="1F3A5F"/>
                    </a:solidFill>
                  </a:tcPr>
                </a:tc>
              </a:tr>
              <a:tr h="426720">
                <a:tc>
                  <a:txBody>
                    <a:bodyPr/>
                    <a:lstStyle/>
                    <a:p>
                      <a:pPr algn="l"/>
                      <a:r>
                        <a:rPr sz="1100" b="0" i="0">
                          <a:solidFill>
                            <a:srgbClr val="242424"/>
                          </a:solidFill>
                          <a:latin typeface="Calibri"/>
                        </a:rPr>
                        <a:t>Filters</a:t>
                      </a:r>
                    </a:p>
                  </a:txBody>
                  <a:tcPr marL="50000" marR="50000" marT="20000" marB="20000" anchor="ctr">
                    <a:solidFill>
                      <a:srgbClr val="FFFFFF"/>
                    </a:solidFill>
                  </a:tcPr>
                </a:tc>
                <a:tc>
                  <a:txBody>
                    <a:bodyPr/>
                    <a:lstStyle/>
                    <a:p>
                      <a:pPr algn="l"/>
                      <a:r>
                        <a:rPr sz="1100" b="0" i="0">
                          <a:solidFill>
                            <a:srgbClr val="242424"/>
                          </a:solidFill>
                          <a:latin typeface="Calibri"/>
                        </a:rPr>
                        <a:t>Plant, Depot, Month</a:t>
                      </a:r>
                    </a:p>
                  </a:txBody>
                  <a:tcPr marL="50000" marR="50000" marT="20000" marB="20000" anchor="ctr">
                    <a:solidFill>
                      <a:srgbClr val="FFFFFF"/>
                    </a:solidFill>
                  </a:tcPr>
                </a:tc>
              </a:tr>
              <a:tr h="426720">
                <a:tc>
                  <a:txBody>
                    <a:bodyPr/>
                    <a:lstStyle/>
                    <a:p>
                      <a:pPr algn="l"/>
                      <a:r>
                        <a:rPr sz="1100" b="0" i="0">
                          <a:solidFill>
                            <a:srgbClr val="242424"/>
                          </a:solidFill>
                          <a:latin typeface="Calibri"/>
                        </a:rPr>
                        <a:t>Cadence</a:t>
                      </a:r>
                    </a:p>
                  </a:txBody>
                  <a:tcPr marL="50000" marR="50000" marT="20000" marB="20000" anchor="ctr">
                    <a:solidFill>
                      <a:srgbClr val="F2F4F7"/>
                    </a:solidFill>
                  </a:tcPr>
                </a:tc>
                <a:tc>
                  <a:txBody>
                    <a:bodyPr/>
                    <a:lstStyle/>
                    <a:p>
                      <a:pPr algn="l"/>
                      <a:r>
                        <a:rPr sz="1100" b="0" i="0">
                          <a:solidFill>
                            <a:srgbClr val="242424"/>
                          </a:solidFill>
                          <a:latin typeface="Calibri"/>
                        </a:rPr>
                        <a:t>Daily.</a:t>
                      </a:r>
                    </a:p>
                  </a:txBody>
                  <a:tcPr marL="50000" marR="50000" marT="20000" marB="20000" anchor="ctr">
                    <a:solidFill>
                      <a:srgbClr val="F2F4F7"/>
                    </a:solidFill>
                  </a:tcPr>
                </a:tc>
              </a:tr>
            </a:tbl>
          </a:graphicData>
        </a:graphic>
      </p:graphicFrame>
      <p:sp>
        <p:nvSpPr>
          <p:cNvPr id="26" name="TextBox 25"/>
          <p:cNvSpPr txBox="1"/>
          <p:nvPr/>
        </p:nvSpPr>
        <p:spPr>
          <a:xfrm>
            <a:off x="6035040" y="5074920"/>
            <a:ext cx="5760720" cy="1280160"/>
          </a:xfrm>
          <a:prstGeom prst="rect">
            <a:avLst/>
          </a:prstGeom>
          <a:noFill/>
        </p:spPr>
        <p:txBody>
          <a:bodyPr wrap="square" anchor="t">
            <a:spAutoFit/>
          </a:bodyPr>
          <a:lstStyle/>
          <a:p>
            <a:pPr algn="l"/>
            <a:r>
              <a:rPr sz="1100" b="0" i="0">
                <a:solidFill>
                  <a:srgbClr val="242424"/>
                </a:solidFill>
                <a:latin typeface="Calibri"/>
              </a:rPr>
              <a:t>Open item: whether plant is actually modelled or just derived from depot for this wireframe (Baddi feeds north/east, Nashik feeds west/north and some of south, as people think about it today). Owner: Ritwik with Ishaan.</a:t>
            </a:r>
          </a:p>
        </p:txBody>
      </p:sp>
      <p:sp>
        <p:nvSpPr>
          <p:cNvPr id="27" name="TextBox 26"/>
          <p:cNvSpPr txBox="1"/>
          <p:nvPr/>
        </p:nvSpPr>
        <p:spPr>
          <a:xfrm>
            <a:off x="320040" y="6537960"/>
            <a:ext cx="4572000" cy="274320"/>
          </a:xfrm>
          <a:prstGeom prst="rect">
            <a:avLst/>
          </a:prstGeom>
          <a:noFill/>
        </p:spPr>
        <p:txBody>
          <a:bodyPr wrap="square" anchor="t">
            <a:spAutoFit/>
          </a:bodyPr>
          <a:lstStyle/>
          <a:p>
            <a:pPr algn="l"/>
            <a:r>
              <a:rPr sz="800" b="0" i="0">
                <a:solidFill>
                  <a:srgbClr val="AFB7C0"/>
                </a:solidFill>
                <a:latin typeface="Calibri"/>
              </a:rPr>
              <a:t>Bharadwaj Consumer Products Ltd | Project Drishti</a:t>
            </a:r>
          </a:p>
        </p:txBody>
      </p:sp>
      <p:sp>
        <p:nvSpPr>
          <p:cNvPr id="28" name="TextBox 27"/>
          <p:cNvSpPr txBox="1"/>
          <p:nvPr/>
        </p:nvSpPr>
        <p:spPr>
          <a:xfrm>
            <a:off x="4206240" y="6537960"/>
            <a:ext cx="3840480" cy="274320"/>
          </a:xfrm>
          <a:prstGeom prst="rect">
            <a:avLst/>
          </a:prstGeom>
          <a:noFill/>
        </p:spPr>
        <p:txBody>
          <a:bodyPr wrap="square" anchor="t">
            <a:spAutoFit/>
          </a:bodyPr>
          <a:lstStyle/>
          <a:p>
            <a:pPr algn="ctr"/>
            <a:r>
              <a:rPr sz="800" b="0" i="1">
                <a:solidFill>
                  <a:srgbClr val="AFB7C0"/>
                </a:solidFill>
                <a:latin typeface="Calibri"/>
              </a:rPr>
              <a:t>Confidential – Internal Working Draft v2</a:t>
            </a:r>
          </a:p>
        </p:txBody>
      </p:sp>
      <p:sp>
        <p:nvSpPr>
          <p:cNvPr id="29" name="TextBox 28"/>
          <p:cNvSpPr txBox="1"/>
          <p:nvPr/>
        </p:nvSpPr>
        <p:spPr>
          <a:xfrm>
            <a:off x="10881360" y="6537960"/>
            <a:ext cx="914400" cy="274320"/>
          </a:xfrm>
          <a:prstGeom prst="rect">
            <a:avLst/>
          </a:prstGeom>
          <a:noFill/>
        </p:spPr>
        <p:txBody>
          <a:bodyPr wrap="square" anchor="t">
            <a:spAutoFit/>
          </a:bodyPr>
          <a:lstStyle/>
          <a:p>
            <a:pPr algn="r"/>
            <a:r>
              <a:rPr sz="800" b="0" i="0">
                <a:solidFill>
                  <a:srgbClr val="AFB7C0"/>
                </a:solidFill>
                <a:latin typeface="Calibr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142640"/>
                </a:solidFill>
                <a:latin typeface="Calibri"/>
              </a:rPr>
              <a:t>D06 - Order Fulfilment and Fill Rate</a:t>
            </a:r>
          </a:p>
        </p:txBody>
      </p:sp>
      <p:sp>
        <p:nvSpPr>
          <p:cNvPr id="3" name="Rectangle 2"/>
          <p:cNvSpPr/>
          <p:nvPr/>
        </p:nvSpPr>
        <p:spPr>
          <a:xfrm>
            <a:off x="365760" y="1051560"/>
            <a:ext cx="11430000" cy="3931920"/>
          </a:xfrm>
          <a:prstGeom prst="rect">
            <a:avLst/>
          </a:prstGeom>
          <a:solidFill>
            <a:srgbClr val="FFFFFF"/>
          </a:solidFill>
          <a:ln w="1905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4" name="Rectangle 3"/>
          <p:cNvSpPr/>
          <p:nvPr/>
        </p:nvSpPr>
        <p:spPr>
          <a:xfrm>
            <a:off x="365760" y="1051560"/>
            <a:ext cx="11430000" cy="3108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1200" b="1" i="0">
                <a:solidFill>
                  <a:srgbClr val="FFFFFF"/>
                </a:solidFill>
                <a:latin typeface="Calibri"/>
              </a:rPr>
              <a:t>DRISHTI - Order Fulfilment and Fill Rate</a:t>
            </a:r>
          </a:p>
        </p:txBody>
      </p:sp>
      <p:sp>
        <p:nvSpPr>
          <p:cNvPr id="5" name="Rectangle 4"/>
          <p:cNvSpPr/>
          <p:nvPr/>
        </p:nvSpPr>
        <p:spPr>
          <a:xfrm>
            <a:off x="365760" y="1362456"/>
            <a:ext cx="2286000" cy="3621024"/>
          </a:xfrm>
          <a:prstGeom prst="rect">
            <a:avLst/>
          </a:prstGeom>
          <a:solidFill>
            <a:srgbClr val="E8EBEF"/>
          </a:solidFill>
          <a:ln w="9525">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6" name="Rectangle 5"/>
          <p:cNvSpPr/>
          <p:nvPr/>
        </p:nvSpPr>
        <p:spPr>
          <a:xfrm>
            <a:off x="365760" y="1362456"/>
            <a:ext cx="2286000" cy="201168"/>
          </a:xfrm>
          <a:prstGeom prst="rect">
            <a:avLst/>
          </a:prstGeom>
          <a:solidFill>
            <a:srgbClr val="AFB7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700" b="1" i="0">
                <a:solidFill>
                  <a:srgbClr val="FFFFFF"/>
                </a:solidFill>
                <a:latin typeface="Calibri"/>
              </a:rPr>
              <a:t>FILTER RAIL</a:t>
            </a:r>
          </a:p>
        </p:txBody>
      </p:sp>
      <p:sp>
        <p:nvSpPr>
          <p:cNvPr id="7" name="Rectangle 6"/>
          <p:cNvSpPr/>
          <p:nvPr/>
        </p:nvSpPr>
        <p:spPr>
          <a:xfrm>
            <a:off x="410760" y="1618488"/>
            <a:ext cx="2196000" cy="237744"/>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750" b="0" i="0">
                <a:solidFill>
                  <a:srgbClr val="242424"/>
                </a:solidFill>
                <a:latin typeface="Calibri"/>
              </a:rPr>
              <a:t>Region</a:t>
            </a:r>
          </a:p>
        </p:txBody>
      </p:sp>
      <p:sp>
        <p:nvSpPr>
          <p:cNvPr id="8" name="Rectangle 7"/>
          <p:cNvSpPr/>
          <p:nvPr/>
        </p:nvSpPr>
        <p:spPr>
          <a:xfrm>
            <a:off x="410760" y="1886232"/>
            <a:ext cx="2196000" cy="237744"/>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750" b="0" i="0">
                <a:solidFill>
                  <a:srgbClr val="242424"/>
                </a:solidFill>
                <a:latin typeface="Calibri"/>
              </a:rPr>
              <a:t>Depot</a:t>
            </a:r>
          </a:p>
        </p:txBody>
      </p:sp>
      <p:sp>
        <p:nvSpPr>
          <p:cNvPr id="9" name="Rectangle 8"/>
          <p:cNvSpPr/>
          <p:nvPr/>
        </p:nvSpPr>
        <p:spPr>
          <a:xfrm>
            <a:off x="410760" y="2153976"/>
            <a:ext cx="2196000" cy="237744"/>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750" b="0" i="0">
                <a:solidFill>
                  <a:srgbClr val="242424"/>
                </a:solidFill>
                <a:latin typeface="Calibri"/>
              </a:rPr>
              <a:t>Month</a:t>
            </a:r>
          </a:p>
        </p:txBody>
      </p:sp>
      <p:sp>
        <p:nvSpPr>
          <p:cNvPr id="10" name="Rectangle 9"/>
          <p:cNvSpPr/>
          <p:nvPr/>
        </p:nvSpPr>
        <p:spPr>
          <a:xfrm>
            <a:off x="2666760" y="1377456"/>
            <a:ext cx="3018000" cy="427200"/>
          </a:xfrm>
          <a:prstGeom prst="rect">
            <a:avLst/>
          </a:prstGeom>
          <a:solidFill>
            <a:srgbClr val="E9F1FA"/>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800" b="1" i="0">
                <a:solidFill>
                  <a:srgbClr val="242424"/>
                </a:solidFill>
                <a:latin typeface="Calibri"/>
              </a:rPr>
              <a:t>[Fill Rate % – defn TBC]</a:t>
            </a:r>
          </a:p>
        </p:txBody>
      </p:sp>
      <p:sp>
        <p:nvSpPr>
          <p:cNvPr id="11" name="Rectangle 10"/>
          <p:cNvSpPr/>
          <p:nvPr/>
        </p:nvSpPr>
        <p:spPr>
          <a:xfrm>
            <a:off x="5714760" y="1377456"/>
            <a:ext cx="3018000" cy="427200"/>
          </a:xfrm>
          <a:prstGeom prst="rect">
            <a:avLst/>
          </a:prstGeom>
          <a:solidFill>
            <a:srgbClr val="E9F1FA"/>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800" b="1" i="0">
                <a:solidFill>
                  <a:srgbClr val="242424"/>
                </a:solidFill>
                <a:latin typeface="Calibri"/>
              </a:rPr>
              <a:t>[Orders]</a:t>
            </a:r>
          </a:p>
        </p:txBody>
      </p:sp>
      <p:sp>
        <p:nvSpPr>
          <p:cNvPr id="12" name="Rectangle 11"/>
          <p:cNvSpPr/>
          <p:nvPr/>
        </p:nvSpPr>
        <p:spPr>
          <a:xfrm>
            <a:off x="8762760" y="1377456"/>
            <a:ext cx="3018000" cy="427200"/>
          </a:xfrm>
          <a:prstGeom prst="rect">
            <a:avLst/>
          </a:prstGeom>
          <a:solidFill>
            <a:srgbClr val="E9F1FA"/>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800" b="1" i="0">
                <a:solidFill>
                  <a:srgbClr val="242424"/>
                </a:solidFill>
                <a:latin typeface="Calibri"/>
              </a:rPr>
              <a:t>[Lines Short-Shipped]</a:t>
            </a:r>
          </a:p>
        </p:txBody>
      </p:sp>
      <p:sp>
        <p:nvSpPr>
          <p:cNvPr id="13" name="Rectangle 12"/>
          <p:cNvSpPr/>
          <p:nvPr/>
        </p:nvSpPr>
        <p:spPr>
          <a:xfrm>
            <a:off x="2651760" y="1819656"/>
            <a:ext cx="9144000" cy="1328806"/>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4" name="TextBox 13"/>
          <p:cNvSpPr txBox="1"/>
          <p:nvPr/>
        </p:nvSpPr>
        <p:spPr>
          <a:xfrm>
            <a:off x="2711760" y="1839656"/>
            <a:ext cx="9024000" cy="182880"/>
          </a:xfrm>
          <a:prstGeom prst="rect">
            <a:avLst/>
          </a:prstGeom>
          <a:noFill/>
        </p:spPr>
        <p:txBody>
          <a:bodyPr wrap="square" anchor="t">
            <a:spAutoFit/>
          </a:bodyPr>
          <a:lstStyle/>
          <a:p>
            <a:pPr algn="l"/>
            <a:r>
              <a:rPr sz="700" b="1" i="0">
                <a:solidFill>
                  <a:srgbClr val="4A6F94"/>
                </a:solidFill>
                <a:latin typeface="Calibri"/>
              </a:rPr>
              <a:t>TREND - fill rate, monthly</a:t>
            </a:r>
          </a:p>
        </p:txBody>
      </p:sp>
      <p:sp>
        <p:nvSpPr>
          <p:cNvPr id="15" name="Rectangle 14"/>
          <p:cNvSpPr/>
          <p:nvPr/>
        </p:nvSpPr>
        <p:spPr>
          <a:xfrm>
            <a:off x="2875280" y="2486474"/>
            <a:ext cx="558800" cy="588836"/>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6" name="Rectangle 15"/>
          <p:cNvSpPr/>
          <p:nvPr/>
        </p:nvSpPr>
        <p:spPr>
          <a:xfrm>
            <a:off x="3891280" y="2397601"/>
            <a:ext cx="558800" cy="677709"/>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7" name="Rectangle 16"/>
          <p:cNvSpPr/>
          <p:nvPr/>
        </p:nvSpPr>
        <p:spPr>
          <a:xfrm>
            <a:off x="4907280" y="2243633"/>
            <a:ext cx="558800" cy="831677"/>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8" name="Rectangle 17"/>
          <p:cNvSpPr/>
          <p:nvPr/>
        </p:nvSpPr>
        <p:spPr>
          <a:xfrm>
            <a:off x="5923280" y="2382960"/>
            <a:ext cx="558800" cy="692350"/>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9" name="Rectangle 18"/>
          <p:cNvSpPr/>
          <p:nvPr/>
        </p:nvSpPr>
        <p:spPr>
          <a:xfrm>
            <a:off x="6939280" y="2706123"/>
            <a:ext cx="558800" cy="369187"/>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0" name="Rectangle 19"/>
          <p:cNvSpPr/>
          <p:nvPr/>
        </p:nvSpPr>
        <p:spPr>
          <a:xfrm>
            <a:off x="7955280" y="2670948"/>
            <a:ext cx="558800" cy="404362"/>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1" name="Rectangle 20"/>
          <p:cNvSpPr/>
          <p:nvPr/>
        </p:nvSpPr>
        <p:spPr>
          <a:xfrm>
            <a:off x="8971280" y="2732171"/>
            <a:ext cx="558800" cy="343139"/>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2" name="Rectangle 21"/>
          <p:cNvSpPr/>
          <p:nvPr/>
        </p:nvSpPr>
        <p:spPr>
          <a:xfrm>
            <a:off x="9987280" y="2763327"/>
            <a:ext cx="558800" cy="311983"/>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3" name="Rectangle 22"/>
          <p:cNvSpPr/>
          <p:nvPr/>
        </p:nvSpPr>
        <p:spPr>
          <a:xfrm>
            <a:off x="11003280" y="2737410"/>
            <a:ext cx="558800" cy="337900"/>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4" name="Rectangle 23"/>
          <p:cNvSpPr/>
          <p:nvPr/>
        </p:nvSpPr>
        <p:spPr>
          <a:xfrm>
            <a:off x="2651760" y="3148462"/>
            <a:ext cx="9144000" cy="1835018"/>
          </a:xfrm>
          <a:prstGeom prst="rect">
            <a:avLst/>
          </a:prstGeom>
          <a:solidFill>
            <a:srgbClr val="F7F7F7"/>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t" wrap="square" lIns="45000" rIns="45000" tIns="20000" bIns="20000"/>
          <a:lstStyle/>
          <a:p>
            <a:pPr algn="l"/>
            <a:r>
              <a:rPr sz="800" b="0" i="0">
                <a:solidFill>
                  <a:srgbClr val="242424"/>
                </a:solidFill>
                <a:latin typeface="Calibri"/>
              </a:rPr>
              <a:t>DETAIL GRID - order line vs invoice line, side by side, filtered to the selected month/region</a:t>
            </a:r>
          </a:p>
        </p:txBody>
      </p:sp>
      <p:sp>
        <p:nvSpPr>
          <p:cNvPr id="25" name="TextBox 24"/>
          <p:cNvSpPr txBox="1"/>
          <p:nvPr/>
        </p:nvSpPr>
        <p:spPr>
          <a:xfrm>
            <a:off x="365760" y="5074920"/>
            <a:ext cx="11430000" cy="1188720"/>
          </a:xfrm>
          <a:prstGeom prst="rect">
            <a:avLst/>
          </a:prstGeom>
          <a:noFill/>
        </p:spPr>
        <p:txBody>
          <a:bodyPr wrap="square" anchor="t">
            <a:spAutoFit/>
          </a:bodyPr>
          <a:lstStyle/>
          <a:p>
            <a:pPr algn="l"/>
            <a:r>
              <a:rPr sz="1100" b="0" i="0">
                <a:solidFill>
                  <a:srgbClr val="242424"/>
                </a:solidFill>
                <a:latin typeface="Calibri"/>
              </a:rPr>
              <a:t>Fill rate definition is still open. The old OBIEE analysis counts a part-shipped line as “filled”, line fill rather than value fill, which is not what people actually believe on the ground. Priya to check the existing definition (AI-55).</a:t>
            </a:r>
          </a:p>
        </p:txBody>
      </p:sp>
      <p:sp>
        <p:nvSpPr>
          <p:cNvPr id="26" name="TextBox 25"/>
          <p:cNvSpPr txBox="1"/>
          <p:nvPr/>
        </p:nvSpPr>
        <p:spPr>
          <a:xfrm>
            <a:off x="320040" y="6537960"/>
            <a:ext cx="4572000" cy="274320"/>
          </a:xfrm>
          <a:prstGeom prst="rect">
            <a:avLst/>
          </a:prstGeom>
          <a:noFill/>
        </p:spPr>
        <p:txBody>
          <a:bodyPr wrap="square" anchor="t">
            <a:spAutoFit/>
          </a:bodyPr>
          <a:lstStyle/>
          <a:p>
            <a:pPr algn="l"/>
            <a:r>
              <a:rPr sz="800" b="0" i="0">
                <a:solidFill>
                  <a:srgbClr val="AFB7C0"/>
                </a:solidFill>
                <a:latin typeface="Calibri"/>
              </a:rPr>
              <a:t>Bharadwaj Consumer Products Ltd | Project Drishti</a:t>
            </a:r>
          </a:p>
        </p:txBody>
      </p:sp>
      <p:sp>
        <p:nvSpPr>
          <p:cNvPr id="27" name="TextBox 26"/>
          <p:cNvSpPr txBox="1"/>
          <p:nvPr/>
        </p:nvSpPr>
        <p:spPr>
          <a:xfrm>
            <a:off x="4206240" y="6537960"/>
            <a:ext cx="3840480" cy="274320"/>
          </a:xfrm>
          <a:prstGeom prst="rect">
            <a:avLst/>
          </a:prstGeom>
          <a:noFill/>
        </p:spPr>
        <p:txBody>
          <a:bodyPr wrap="square" anchor="t">
            <a:spAutoFit/>
          </a:bodyPr>
          <a:lstStyle/>
          <a:p>
            <a:pPr algn="ctr"/>
            <a:r>
              <a:rPr sz="800" b="0" i="1">
                <a:solidFill>
                  <a:srgbClr val="AFB7C0"/>
                </a:solidFill>
                <a:latin typeface="Calibri"/>
              </a:rPr>
              <a:t>Confidential – Internal Working Draft v2</a:t>
            </a:r>
          </a:p>
        </p:txBody>
      </p:sp>
      <p:sp>
        <p:nvSpPr>
          <p:cNvPr id="28" name="TextBox 27"/>
          <p:cNvSpPr txBox="1"/>
          <p:nvPr/>
        </p:nvSpPr>
        <p:spPr>
          <a:xfrm>
            <a:off x="10881360" y="6537960"/>
            <a:ext cx="914400" cy="274320"/>
          </a:xfrm>
          <a:prstGeom prst="rect">
            <a:avLst/>
          </a:prstGeom>
          <a:noFill/>
        </p:spPr>
        <p:txBody>
          <a:bodyPr wrap="square" anchor="t">
            <a:spAutoFit/>
          </a:bodyPr>
          <a:lstStyle/>
          <a:p>
            <a:pPr algn="r"/>
            <a:r>
              <a:rPr sz="800" b="0" i="0">
                <a:solidFill>
                  <a:srgbClr val="AFB7C0"/>
                </a:solidFill>
                <a:latin typeface="Calibr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142640"/>
                </a:solidFill>
                <a:latin typeface="Calibri"/>
              </a:rPr>
              <a:t>D07 - Revenue Reconciliation</a:t>
            </a:r>
          </a:p>
        </p:txBody>
      </p:sp>
      <p:sp>
        <p:nvSpPr>
          <p:cNvPr id="3" name="Rectangle 2"/>
          <p:cNvSpPr/>
          <p:nvPr/>
        </p:nvSpPr>
        <p:spPr>
          <a:xfrm>
            <a:off x="365760" y="1051560"/>
            <a:ext cx="11430000" cy="3931920"/>
          </a:xfrm>
          <a:prstGeom prst="rect">
            <a:avLst/>
          </a:prstGeom>
          <a:solidFill>
            <a:srgbClr val="FFFFFF"/>
          </a:solidFill>
          <a:ln w="1905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4" name="Rectangle 3"/>
          <p:cNvSpPr/>
          <p:nvPr/>
        </p:nvSpPr>
        <p:spPr>
          <a:xfrm>
            <a:off x="365760" y="1051560"/>
            <a:ext cx="11430000" cy="3108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1200" b="1" i="0">
                <a:solidFill>
                  <a:srgbClr val="FFFFFF"/>
                </a:solidFill>
                <a:latin typeface="Calibri"/>
              </a:rPr>
              <a:t>DRISHTI - Revenue Reconciliation</a:t>
            </a:r>
          </a:p>
        </p:txBody>
      </p:sp>
      <p:sp>
        <p:nvSpPr>
          <p:cNvPr id="5" name="Rectangle 4"/>
          <p:cNvSpPr/>
          <p:nvPr/>
        </p:nvSpPr>
        <p:spPr>
          <a:xfrm>
            <a:off x="365760" y="1362456"/>
            <a:ext cx="2286000" cy="3621024"/>
          </a:xfrm>
          <a:prstGeom prst="rect">
            <a:avLst/>
          </a:prstGeom>
          <a:solidFill>
            <a:srgbClr val="E8EBEF"/>
          </a:solidFill>
          <a:ln w="9525">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6" name="Rectangle 5"/>
          <p:cNvSpPr/>
          <p:nvPr/>
        </p:nvSpPr>
        <p:spPr>
          <a:xfrm>
            <a:off x="365760" y="1362456"/>
            <a:ext cx="2286000" cy="201168"/>
          </a:xfrm>
          <a:prstGeom prst="rect">
            <a:avLst/>
          </a:prstGeom>
          <a:solidFill>
            <a:srgbClr val="AFB7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700" b="1" i="0">
                <a:solidFill>
                  <a:srgbClr val="FFFFFF"/>
                </a:solidFill>
                <a:latin typeface="Calibri"/>
              </a:rPr>
              <a:t>FILTER RAIL</a:t>
            </a:r>
          </a:p>
        </p:txBody>
      </p:sp>
      <p:sp>
        <p:nvSpPr>
          <p:cNvPr id="7" name="Rectangle 6"/>
          <p:cNvSpPr/>
          <p:nvPr/>
        </p:nvSpPr>
        <p:spPr>
          <a:xfrm>
            <a:off x="410760" y="1618488"/>
            <a:ext cx="2196000" cy="237744"/>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750" b="0" i="0">
                <a:solidFill>
                  <a:srgbClr val="242424"/>
                </a:solidFill>
                <a:latin typeface="Calibri"/>
              </a:rPr>
              <a:t>Month</a:t>
            </a:r>
          </a:p>
        </p:txBody>
      </p:sp>
      <p:sp>
        <p:nvSpPr>
          <p:cNvPr id="8" name="Rectangle 7"/>
          <p:cNvSpPr/>
          <p:nvPr/>
        </p:nvSpPr>
        <p:spPr>
          <a:xfrm>
            <a:off x="410760" y="1886232"/>
            <a:ext cx="2196000" cy="237744"/>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750" b="0" i="0">
                <a:solidFill>
                  <a:srgbClr val="242424"/>
                </a:solidFill>
                <a:latin typeface="Calibri"/>
              </a:rPr>
              <a:t>Region</a:t>
            </a:r>
          </a:p>
        </p:txBody>
      </p:sp>
      <p:sp>
        <p:nvSpPr>
          <p:cNvPr id="9" name="Rectangle 8"/>
          <p:cNvSpPr/>
          <p:nvPr/>
        </p:nvSpPr>
        <p:spPr>
          <a:xfrm>
            <a:off x="2666760" y="1377456"/>
            <a:ext cx="9114000" cy="427200"/>
          </a:xfrm>
          <a:prstGeom prst="rect">
            <a:avLst/>
          </a:prstGeom>
          <a:solidFill>
            <a:srgbClr val="E9F1FA"/>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800" b="1" i="0">
                <a:solidFill>
                  <a:srgbClr val="242424"/>
                </a:solidFill>
                <a:latin typeface="Calibri"/>
              </a:rPr>
              <a:t>[Summary Strip]</a:t>
            </a:r>
          </a:p>
        </p:txBody>
      </p:sp>
      <p:sp>
        <p:nvSpPr>
          <p:cNvPr id="10" name="Rectangle 9"/>
          <p:cNvSpPr/>
          <p:nvPr/>
        </p:nvSpPr>
        <p:spPr>
          <a:xfrm>
            <a:off x="2651760" y="1819656"/>
            <a:ext cx="9144000" cy="1328806"/>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1" name="TextBox 10"/>
          <p:cNvSpPr txBox="1"/>
          <p:nvPr/>
        </p:nvSpPr>
        <p:spPr>
          <a:xfrm>
            <a:off x="2711760" y="1839656"/>
            <a:ext cx="9024000" cy="182880"/>
          </a:xfrm>
          <a:prstGeom prst="rect">
            <a:avLst/>
          </a:prstGeom>
          <a:noFill/>
        </p:spPr>
        <p:txBody>
          <a:bodyPr wrap="square" anchor="t">
            <a:spAutoFit/>
          </a:bodyPr>
          <a:lstStyle/>
          <a:p>
            <a:pPr algn="l"/>
            <a:r>
              <a:rPr sz="700" b="1" i="0">
                <a:solidFill>
                  <a:srgbClr val="4A6F94"/>
                </a:solidFill>
                <a:latin typeface="Calibri"/>
              </a:rPr>
              <a:t>TREND - a working page, not a pretty one – audience is Finance, realistically four people</a:t>
            </a:r>
          </a:p>
        </p:txBody>
      </p:sp>
      <p:sp>
        <p:nvSpPr>
          <p:cNvPr id="12" name="Rectangle 11"/>
          <p:cNvSpPr/>
          <p:nvPr/>
        </p:nvSpPr>
        <p:spPr>
          <a:xfrm>
            <a:off x="2875280" y="2451486"/>
            <a:ext cx="558800" cy="623824"/>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3" name="Rectangle 12"/>
          <p:cNvSpPr/>
          <p:nvPr/>
        </p:nvSpPr>
        <p:spPr>
          <a:xfrm>
            <a:off x="3891280" y="2708069"/>
            <a:ext cx="558800" cy="367241"/>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4" name="Rectangle 13"/>
          <p:cNvSpPr/>
          <p:nvPr/>
        </p:nvSpPr>
        <p:spPr>
          <a:xfrm>
            <a:off x="4907280" y="2386034"/>
            <a:ext cx="558800" cy="689276"/>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5" name="Rectangle 14"/>
          <p:cNvSpPr/>
          <p:nvPr/>
        </p:nvSpPr>
        <p:spPr>
          <a:xfrm>
            <a:off x="5923280" y="2533034"/>
            <a:ext cx="558800" cy="542276"/>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6" name="Rectangle 15"/>
          <p:cNvSpPr/>
          <p:nvPr/>
        </p:nvSpPr>
        <p:spPr>
          <a:xfrm>
            <a:off x="6939280" y="2463820"/>
            <a:ext cx="558800" cy="611490"/>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7" name="Rectangle 16"/>
          <p:cNvSpPr/>
          <p:nvPr/>
        </p:nvSpPr>
        <p:spPr>
          <a:xfrm>
            <a:off x="7955280" y="2551253"/>
            <a:ext cx="558800" cy="524057"/>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8" name="Rectangle 17"/>
          <p:cNvSpPr/>
          <p:nvPr/>
        </p:nvSpPr>
        <p:spPr>
          <a:xfrm>
            <a:off x="8971280" y="2533301"/>
            <a:ext cx="558800" cy="542009"/>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9" name="Rectangle 18"/>
          <p:cNvSpPr/>
          <p:nvPr/>
        </p:nvSpPr>
        <p:spPr>
          <a:xfrm>
            <a:off x="9987280" y="2378495"/>
            <a:ext cx="558800" cy="696815"/>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0" name="Rectangle 19"/>
          <p:cNvSpPr/>
          <p:nvPr/>
        </p:nvSpPr>
        <p:spPr>
          <a:xfrm>
            <a:off x="11003280" y="2685823"/>
            <a:ext cx="558800" cy="389487"/>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1" name="Rectangle 20"/>
          <p:cNvSpPr/>
          <p:nvPr/>
        </p:nvSpPr>
        <p:spPr>
          <a:xfrm>
            <a:off x="2651760" y="3148462"/>
            <a:ext cx="9144000" cy="1835018"/>
          </a:xfrm>
          <a:prstGeom prst="rect">
            <a:avLst/>
          </a:prstGeom>
          <a:solidFill>
            <a:srgbClr val="F7F7F7"/>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t" wrap="square" lIns="45000" rIns="45000" tIns="20000" bIns="20000"/>
          <a:lstStyle/>
          <a:p>
            <a:pPr algn="l"/>
            <a:r>
              <a:rPr sz="800" b="0" i="0">
                <a:solidFill>
                  <a:srgbClr val="242424"/>
                </a:solidFill>
                <a:latin typeface="Calibri"/>
              </a:rPr>
              <a:t>DETAIL GRID - working table below the summary strip: warehouse figure vs trial balance, by month and region, with drill-through to line-level detail</a:t>
            </a:r>
          </a:p>
        </p:txBody>
      </p:sp>
      <p:graphicFrame>
        <p:nvGraphicFramePr>
          <p:cNvPr id="22" name="Table 21"/>
          <p:cNvGraphicFramePr>
            <a:graphicFrameLocks noGrp="1"/>
          </p:cNvGraphicFramePr>
          <p:nvPr/>
        </p:nvGraphicFramePr>
        <p:xfrm>
          <a:off x="365760" y="5074920"/>
          <a:ext cx="11429998" cy="1234440"/>
        </p:xfrm>
        <a:graphic>
          <a:graphicData uri="http://schemas.openxmlformats.org/drawingml/2006/table">
            <a:tbl>
              <a:tblPr firstRow="1" bandRow="1">
                <a:tableStyleId>{5C22544A-7EE6-4342-B048-85BDC9FD1C3A}</a:tableStyleId>
              </a:tblPr>
              <a:tblGrid>
                <a:gridCol w="2078181"/>
                <a:gridCol w="4156363"/>
                <a:gridCol w="5195454"/>
              </a:tblGrid>
              <a:tr h="411480">
                <a:tc>
                  <a:txBody>
                    <a:bodyPr/>
                    <a:lstStyle/>
                    <a:p>
                      <a:pPr algn="l"/>
                      <a:r>
                        <a:rPr sz="1100" b="1" i="0">
                          <a:solidFill>
                            <a:srgbClr val="FFFFFF"/>
                          </a:solidFill>
                          <a:latin typeface="Calibri"/>
                        </a:rPr>
                        <a:t>Zone</a:t>
                      </a:r>
                    </a:p>
                  </a:txBody>
                  <a:tcPr marL="50000" marR="50000" marT="20000" marB="20000" anchor="ctr">
                    <a:solidFill>
                      <a:srgbClr val="1F3A5F"/>
                    </a:solidFill>
                  </a:tcPr>
                </a:tc>
                <a:tc>
                  <a:txBody>
                    <a:bodyPr/>
                    <a:lstStyle/>
                    <a:p>
                      <a:pPr/>
                      <a:r>
                        <a:rPr sz="1100" b="1" i="0">
                          <a:solidFill>
                            <a:srgbClr val="FFFFFF"/>
                          </a:solidFill>
                          <a:latin typeface="Calibri"/>
                        </a:rPr>
                        <a:t>Content</a:t>
                      </a:r>
                    </a:p>
                  </a:txBody>
                  <a:tcPr marL="50000" marR="50000" marT="20000" marB="20000" anchor="ctr">
                    <a:solidFill>
                      <a:srgbClr val="1F3A5F"/>
                    </a:solidFill>
                  </a:tcPr>
                </a:tc>
                <a:tc>
                  <a:txBody>
                    <a:bodyPr/>
                    <a:lstStyle/>
                    <a:p>
                      <a:pPr/>
                      <a:r>
                        <a:rPr sz="1100" b="1" i="0">
                          <a:solidFill>
                            <a:srgbClr val="FFFFFF"/>
                          </a:solidFill>
                          <a:latin typeface="Calibri"/>
                        </a:rPr>
                        <a:t>Notes</a:t>
                      </a:r>
                    </a:p>
                  </a:txBody>
                  <a:tcPr marL="50000" marR="50000" marT="20000" marB="20000" anchor="ctr">
                    <a:solidFill>
                      <a:srgbClr val="1F3A5F"/>
                    </a:solidFill>
                  </a:tcPr>
                </a:tc>
              </a:tr>
              <a:tr h="411480">
                <a:tc>
                  <a:txBody>
                    <a:bodyPr/>
                    <a:lstStyle/>
                    <a:p>
                      <a:pPr algn="l"/>
                      <a:r>
                        <a:rPr sz="1100" b="0" i="0">
                          <a:solidFill>
                            <a:srgbClr val="242424"/>
                          </a:solidFill>
                          <a:latin typeface="Calibri"/>
                        </a:rPr>
                        <a:t>Summary strip</a:t>
                      </a:r>
                    </a:p>
                  </a:txBody>
                  <a:tcPr marL="50000" marR="50000" marT="20000" marB="20000" anchor="ctr">
                    <a:solidFill>
                      <a:srgbClr val="FFFFFF"/>
                    </a:solidFill>
                  </a:tcPr>
                </a:tc>
                <a:tc>
                  <a:txBody>
                    <a:bodyPr/>
                    <a:lstStyle/>
                    <a:p>
                      <a:pPr algn="l"/>
                      <a:r>
                        <a:rPr sz="1100" b="0" i="0">
                          <a:solidFill>
                            <a:srgbClr val="242424"/>
                          </a:solidFill>
                          <a:latin typeface="Calibri"/>
                        </a:rPr>
                        <a:t>Top of page, headline reconciliation view</a:t>
                      </a:r>
                    </a:p>
                  </a:txBody>
                  <a:tcPr marL="50000" marR="50000" marT="20000" marB="20000" anchor="ctr">
                    <a:solidFill>
                      <a:srgbClr val="FFFFFF"/>
                    </a:solidFill>
                  </a:tcPr>
                </a:tc>
                <a:tc>
                  <a:txBody>
                    <a:bodyPr/>
                    <a:lstStyle/>
                    <a:p>
                      <a:pPr algn="l"/>
                      <a:r>
                        <a:rPr sz="1100" b="0" i="0">
                          <a:solidFill>
                            <a:srgbClr val="242424"/>
                          </a:solidFill>
                          <a:latin typeface="Calibri"/>
                        </a:rPr>
                        <a:t>Rajeev opens this and only this</a:t>
                      </a:r>
                    </a:p>
                  </a:txBody>
                  <a:tcPr marL="50000" marR="50000" marT="20000" marB="20000" anchor="ctr">
                    <a:solidFill>
                      <a:srgbClr val="FFFFFF"/>
                    </a:solidFill>
                  </a:tcPr>
                </a:tc>
              </a:tr>
              <a:tr h="411480">
                <a:tc>
                  <a:txBody>
                    <a:bodyPr/>
                    <a:lstStyle/>
                    <a:p>
                      <a:pPr algn="l"/>
                      <a:r>
                        <a:rPr sz="1100" b="0" i="0">
                          <a:solidFill>
                            <a:srgbClr val="242424"/>
                          </a:solidFill>
                          <a:latin typeface="Calibri"/>
                        </a:rPr>
                        <a:t>Working table</a:t>
                      </a:r>
                    </a:p>
                  </a:txBody>
                  <a:tcPr marL="50000" marR="50000" marT="20000" marB="20000" anchor="ctr">
                    <a:solidFill>
                      <a:srgbClr val="F2F4F7"/>
                    </a:solidFill>
                  </a:tcPr>
                </a:tc>
                <a:tc>
                  <a:txBody>
                    <a:bodyPr/>
                    <a:lstStyle/>
                    <a:p>
                      <a:pPr algn="l"/>
                      <a:r>
                        <a:rPr sz="1100" b="0" i="0">
                          <a:solidFill>
                            <a:srgbClr val="242424"/>
                          </a:solidFill>
                          <a:latin typeface="Calibri"/>
                        </a:rPr>
                        <a:t>Warehouse vs trial balance detail</a:t>
                      </a:r>
                    </a:p>
                  </a:txBody>
                  <a:tcPr marL="50000" marR="50000" marT="20000" marB="20000" anchor="ctr">
                    <a:solidFill>
                      <a:srgbClr val="F2F4F7"/>
                    </a:solidFill>
                  </a:tcPr>
                </a:tc>
                <a:tc>
                  <a:txBody>
                    <a:bodyPr/>
                    <a:lstStyle/>
                    <a:p>
                      <a:pPr algn="l"/>
                      <a:r>
                        <a:rPr sz="1100" b="0" i="0">
                          <a:solidFill>
                            <a:srgbClr val="242424"/>
                          </a:solidFill>
                          <a:latin typeface="Calibri"/>
                        </a:rPr>
                        <a:t>Drill-through to line level once filtered</a:t>
                      </a:r>
                    </a:p>
                  </a:txBody>
                  <a:tcPr marL="50000" marR="50000" marT="20000" marB="20000" anchor="ctr">
                    <a:solidFill>
                      <a:srgbClr val="F2F4F7"/>
                    </a:solidFill>
                  </a:tcPr>
                </a:tc>
              </a:tr>
            </a:tbl>
          </a:graphicData>
        </a:graphic>
      </p:graphicFrame>
      <p:sp>
        <p:nvSpPr>
          <p:cNvPr id="23" name="TextBox 22"/>
          <p:cNvSpPr txBox="1"/>
          <p:nvPr/>
        </p:nvSpPr>
        <p:spPr>
          <a:xfrm>
            <a:off x="320040" y="6537960"/>
            <a:ext cx="4572000" cy="274320"/>
          </a:xfrm>
          <a:prstGeom prst="rect">
            <a:avLst/>
          </a:prstGeom>
          <a:noFill/>
        </p:spPr>
        <p:txBody>
          <a:bodyPr wrap="square" anchor="t">
            <a:spAutoFit/>
          </a:bodyPr>
          <a:lstStyle/>
          <a:p>
            <a:pPr algn="l"/>
            <a:r>
              <a:rPr sz="800" b="0" i="0">
                <a:solidFill>
                  <a:srgbClr val="AFB7C0"/>
                </a:solidFill>
                <a:latin typeface="Calibri"/>
              </a:rPr>
              <a:t>Bharadwaj Consumer Products Ltd | Project Drishti</a:t>
            </a:r>
          </a:p>
        </p:txBody>
      </p:sp>
      <p:sp>
        <p:nvSpPr>
          <p:cNvPr id="24" name="TextBox 23"/>
          <p:cNvSpPr txBox="1"/>
          <p:nvPr/>
        </p:nvSpPr>
        <p:spPr>
          <a:xfrm>
            <a:off x="4206240" y="6537960"/>
            <a:ext cx="3840480" cy="274320"/>
          </a:xfrm>
          <a:prstGeom prst="rect">
            <a:avLst/>
          </a:prstGeom>
          <a:noFill/>
        </p:spPr>
        <p:txBody>
          <a:bodyPr wrap="square" anchor="t">
            <a:spAutoFit/>
          </a:bodyPr>
          <a:lstStyle/>
          <a:p>
            <a:pPr algn="ctr"/>
            <a:r>
              <a:rPr sz="800" b="0" i="1">
                <a:solidFill>
                  <a:srgbClr val="AFB7C0"/>
                </a:solidFill>
                <a:latin typeface="Calibri"/>
              </a:rPr>
              <a:t>Confidential – Internal Working Draft v2</a:t>
            </a:r>
          </a:p>
        </p:txBody>
      </p:sp>
      <p:sp>
        <p:nvSpPr>
          <p:cNvPr id="25" name="TextBox 24"/>
          <p:cNvSpPr txBox="1"/>
          <p:nvPr/>
        </p:nvSpPr>
        <p:spPr>
          <a:xfrm>
            <a:off x="10881360" y="6537960"/>
            <a:ext cx="914400" cy="274320"/>
          </a:xfrm>
          <a:prstGeom prst="rect">
            <a:avLst/>
          </a:prstGeom>
          <a:noFill/>
        </p:spPr>
        <p:txBody>
          <a:bodyPr wrap="square" anchor="t">
            <a:spAutoFit/>
          </a:bodyPr>
          <a:lstStyle/>
          <a:p>
            <a:pPr algn="r"/>
            <a:r>
              <a:rPr sz="800" b="0" i="0">
                <a:solidFill>
                  <a:srgbClr val="AFB7C0"/>
                </a:solidFill>
                <a:latin typeface="Calibr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142640"/>
                </a:solidFill>
                <a:latin typeface="Calibri"/>
              </a:rPr>
              <a:t>D09 - Product Mix and Contribution</a:t>
            </a:r>
          </a:p>
        </p:txBody>
      </p:sp>
      <p:sp>
        <p:nvSpPr>
          <p:cNvPr id="3" name="Rectangle 2"/>
          <p:cNvSpPr/>
          <p:nvPr/>
        </p:nvSpPr>
        <p:spPr>
          <a:xfrm>
            <a:off x="365760" y="1051560"/>
            <a:ext cx="11430000" cy="3931920"/>
          </a:xfrm>
          <a:prstGeom prst="rect">
            <a:avLst/>
          </a:prstGeom>
          <a:solidFill>
            <a:srgbClr val="FFFFFF"/>
          </a:solidFill>
          <a:ln w="1905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4" name="Rectangle 3"/>
          <p:cNvSpPr/>
          <p:nvPr/>
        </p:nvSpPr>
        <p:spPr>
          <a:xfrm>
            <a:off x="365760" y="1051560"/>
            <a:ext cx="11430000" cy="3108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1200" b="1" i="0">
                <a:solidFill>
                  <a:srgbClr val="FFFFFF"/>
                </a:solidFill>
                <a:latin typeface="Calibri"/>
              </a:rPr>
              <a:t>DRISHTI - Product Mix and Contribution</a:t>
            </a:r>
          </a:p>
        </p:txBody>
      </p:sp>
      <p:sp>
        <p:nvSpPr>
          <p:cNvPr id="5" name="Rectangle 4"/>
          <p:cNvSpPr/>
          <p:nvPr/>
        </p:nvSpPr>
        <p:spPr>
          <a:xfrm>
            <a:off x="365760" y="1362456"/>
            <a:ext cx="2286000" cy="3621024"/>
          </a:xfrm>
          <a:prstGeom prst="rect">
            <a:avLst/>
          </a:prstGeom>
          <a:solidFill>
            <a:srgbClr val="E8EBEF"/>
          </a:solidFill>
          <a:ln w="9525">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6" name="Rectangle 5"/>
          <p:cNvSpPr/>
          <p:nvPr/>
        </p:nvSpPr>
        <p:spPr>
          <a:xfrm>
            <a:off x="365760" y="1362456"/>
            <a:ext cx="2286000" cy="201168"/>
          </a:xfrm>
          <a:prstGeom prst="rect">
            <a:avLst/>
          </a:prstGeom>
          <a:solidFill>
            <a:srgbClr val="AFB7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700" b="1" i="0">
                <a:solidFill>
                  <a:srgbClr val="FFFFFF"/>
                </a:solidFill>
                <a:latin typeface="Calibri"/>
              </a:rPr>
              <a:t>FILTER RAIL</a:t>
            </a:r>
          </a:p>
        </p:txBody>
      </p:sp>
      <p:sp>
        <p:nvSpPr>
          <p:cNvPr id="7" name="Rectangle 6"/>
          <p:cNvSpPr/>
          <p:nvPr/>
        </p:nvSpPr>
        <p:spPr>
          <a:xfrm>
            <a:off x="410760" y="1618488"/>
            <a:ext cx="2196000" cy="237744"/>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750" b="0" i="0">
                <a:solidFill>
                  <a:srgbClr val="242424"/>
                </a:solidFill>
                <a:latin typeface="Calibri"/>
              </a:rPr>
              <a:t>Brand</a:t>
            </a:r>
          </a:p>
        </p:txBody>
      </p:sp>
      <p:sp>
        <p:nvSpPr>
          <p:cNvPr id="8" name="Rectangle 7"/>
          <p:cNvSpPr/>
          <p:nvPr/>
        </p:nvSpPr>
        <p:spPr>
          <a:xfrm>
            <a:off x="410760" y="1886232"/>
            <a:ext cx="2196000" cy="237744"/>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750" b="0" i="0">
                <a:solidFill>
                  <a:srgbClr val="242424"/>
                </a:solidFill>
                <a:latin typeface="Calibri"/>
              </a:rPr>
              <a:t>Category</a:t>
            </a:r>
          </a:p>
        </p:txBody>
      </p:sp>
      <p:sp>
        <p:nvSpPr>
          <p:cNvPr id="9" name="Rectangle 8"/>
          <p:cNvSpPr/>
          <p:nvPr/>
        </p:nvSpPr>
        <p:spPr>
          <a:xfrm>
            <a:off x="410760" y="2153976"/>
            <a:ext cx="2196000" cy="237744"/>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750" b="0" i="0">
                <a:solidFill>
                  <a:srgbClr val="242424"/>
                </a:solidFill>
                <a:latin typeface="Calibri"/>
              </a:rPr>
              <a:t>Pack size</a:t>
            </a:r>
          </a:p>
        </p:txBody>
      </p:sp>
      <p:sp>
        <p:nvSpPr>
          <p:cNvPr id="10" name="Rectangle 9"/>
          <p:cNvSpPr/>
          <p:nvPr/>
        </p:nvSpPr>
        <p:spPr>
          <a:xfrm>
            <a:off x="410760" y="2421720"/>
            <a:ext cx="2196000" cy="237744"/>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750" b="0" i="0">
                <a:solidFill>
                  <a:srgbClr val="242424"/>
                </a:solidFill>
                <a:latin typeface="Calibri"/>
              </a:rPr>
              <a:t>Month</a:t>
            </a:r>
          </a:p>
        </p:txBody>
      </p:sp>
      <p:sp>
        <p:nvSpPr>
          <p:cNvPr id="11" name="Rectangle 10"/>
          <p:cNvSpPr/>
          <p:nvPr/>
        </p:nvSpPr>
        <p:spPr>
          <a:xfrm>
            <a:off x="2666760" y="1377456"/>
            <a:ext cx="9114000" cy="427200"/>
          </a:xfrm>
          <a:prstGeom prst="rect">
            <a:avLst/>
          </a:prstGeom>
          <a:solidFill>
            <a:srgbClr val="E9F1FA"/>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800" b="1" i="0">
                <a:solidFill>
                  <a:srgbClr val="242424"/>
                </a:solidFill>
                <a:latin typeface="Calibri"/>
              </a:rPr>
              <a:t>[Contribution by value]</a:t>
            </a:r>
          </a:p>
        </p:txBody>
      </p:sp>
      <p:sp>
        <p:nvSpPr>
          <p:cNvPr id="12" name="Rectangle 11"/>
          <p:cNvSpPr/>
          <p:nvPr/>
        </p:nvSpPr>
        <p:spPr>
          <a:xfrm>
            <a:off x="2651760" y="1819656"/>
            <a:ext cx="9144000" cy="1328806"/>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3" name="TextBox 12"/>
          <p:cNvSpPr txBox="1"/>
          <p:nvPr/>
        </p:nvSpPr>
        <p:spPr>
          <a:xfrm>
            <a:off x="2711760" y="1839656"/>
            <a:ext cx="9024000" cy="182880"/>
          </a:xfrm>
          <a:prstGeom prst="rect">
            <a:avLst/>
          </a:prstGeom>
          <a:noFill/>
        </p:spPr>
        <p:txBody>
          <a:bodyPr wrap="square" anchor="t">
            <a:spAutoFit/>
          </a:bodyPr>
          <a:lstStyle/>
          <a:p>
            <a:pPr algn="l"/>
            <a:r>
              <a:rPr sz="700" b="1" i="0">
                <a:solidFill>
                  <a:srgbClr val="4A6F94"/>
                </a:solidFill>
                <a:latin typeface="Calibri"/>
              </a:rPr>
              <a:t>TREND - brand / category / pack size, with an “Unknown” bar shown honestly, not hidden</a:t>
            </a:r>
          </a:p>
        </p:txBody>
      </p:sp>
      <p:sp>
        <p:nvSpPr>
          <p:cNvPr id="14" name="Rectangle 13"/>
          <p:cNvSpPr/>
          <p:nvPr/>
        </p:nvSpPr>
        <p:spPr>
          <a:xfrm>
            <a:off x="2875280" y="2183882"/>
            <a:ext cx="558800" cy="891428"/>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5" name="Rectangle 14"/>
          <p:cNvSpPr/>
          <p:nvPr/>
        </p:nvSpPr>
        <p:spPr>
          <a:xfrm>
            <a:off x="3891280" y="2585705"/>
            <a:ext cx="558800" cy="489605"/>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6" name="Rectangle 15"/>
          <p:cNvSpPr/>
          <p:nvPr/>
        </p:nvSpPr>
        <p:spPr>
          <a:xfrm>
            <a:off x="4907280" y="2623270"/>
            <a:ext cx="558800" cy="452040"/>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7" name="Rectangle 16"/>
          <p:cNvSpPr/>
          <p:nvPr/>
        </p:nvSpPr>
        <p:spPr>
          <a:xfrm>
            <a:off x="5923280" y="2497377"/>
            <a:ext cx="558800" cy="577933"/>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8" name="Rectangle 17"/>
          <p:cNvSpPr/>
          <p:nvPr/>
        </p:nvSpPr>
        <p:spPr>
          <a:xfrm>
            <a:off x="6939280" y="2285368"/>
            <a:ext cx="558800" cy="789942"/>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9" name="Rectangle 18"/>
          <p:cNvSpPr/>
          <p:nvPr/>
        </p:nvSpPr>
        <p:spPr>
          <a:xfrm>
            <a:off x="7955280" y="2381667"/>
            <a:ext cx="558800" cy="693643"/>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0" name="Rectangle 19"/>
          <p:cNvSpPr/>
          <p:nvPr/>
        </p:nvSpPr>
        <p:spPr>
          <a:xfrm>
            <a:off x="8971280" y="2173025"/>
            <a:ext cx="558800" cy="902285"/>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1" name="Rectangle 20"/>
          <p:cNvSpPr/>
          <p:nvPr/>
        </p:nvSpPr>
        <p:spPr>
          <a:xfrm>
            <a:off x="9987280" y="2659875"/>
            <a:ext cx="558800" cy="415435"/>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2" name="Rectangle 21"/>
          <p:cNvSpPr/>
          <p:nvPr/>
        </p:nvSpPr>
        <p:spPr>
          <a:xfrm>
            <a:off x="11003280" y="2281885"/>
            <a:ext cx="558800" cy="793425"/>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3" name="Rectangle 22"/>
          <p:cNvSpPr/>
          <p:nvPr/>
        </p:nvSpPr>
        <p:spPr>
          <a:xfrm>
            <a:off x="2651760" y="3148462"/>
            <a:ext cx="9144000" cy="1835018"/>
          </a:xfrm>
          <a:prstGeom prst="rect">
            <a:avLst/>
          </a:prstGeom>
          <a:solidFill>
            <a:srgbClr val="F7F7F7"/>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t" wrap="square" lIns="45000" rIns="45000" tIns="20000" bIns="20000"/>
          <a:lstStyle/>
          <a:p>
            <a:pPr algn="l"/>
            <a:r>
              <a:rPr sz="800" b="0" i="0">
                <a:solidFill>
                  <a:srgbClr val="242424"/>
                </a:solidFill>
                <a:latin typeface="Calibri"/>
              </a:rPr>
              <a:t>DETAIL GRID - SKU level below the chart – e.g. Suvarn detergent 1kg vs 500g, Rakshak bar 250g, Nimbua dishwash bar (illustrative SKUs raised in the workshop)</a:t>
            </a:r>
          </a:p>
        </p:txBody>
      </p:sp>
      <p:sp>
        <p:nvSpPr>
          <p:cNvPr id="24" name="TextBox 23"/>
          <p:cNvSpPr txBox="1"/>
          <p:nvPr/>
        </p:nvSpPr>
        <p:spPr>
          <a:xfrm>
            <a:off x="365760" y="5074920"/>
            <a:ext cx="11430000" cy="1234440"/>
          </a:xfrm>
          <a:prstGeom prst="rect">
            <a:avLst/>
          </a:prstGeom>
          <a:noFill/>
        </p:spPr>
        <p:txBody>
          <a:bodyPr wrap="square" anchor="t">
            <a:spAutoFit/>
          </a:bodyPr>
          <a:lstStyle/>
          <a:p>
            <a:pPr algn="l"/>
            <a:r>
              <a:rPr sz="1100" b="0" i="0">
                <a:solidFill>
                  <a:srgbClr val="242424"/>
                </a:solidFill>
                <a:latin typeface="Calibri"/>
              </a:rPr>
              <a:t>SCHEME DISCOUNT is not shown on this page – out of scope for D09, see D04 candidate if that gets funded.</a:t>
            </a:r>
          </a:p>
          <a:p>
            <a:pPr algn="l"/>
            <a:r>
              <a:rPr sz="1100" b="0" i="0">
                <a:solidFill>
                  <a:srgbClr val="242424"/>
                </a:solidFill>
                <a:latin typeface="Calibri"/>
              </a:rPr>
              <a:t>A slice of invoiced volume lands on an “Unknown” product member because of a known data quality gap. We show it as its own bar with a visible note, not a tooltip, not excluded silently. Do not put a number against it on this slide.</a:t>
            </a:r>
          </a:p>
        </p:txBody>
      </p:sp>
      <p:sp>
        <p:nvSpPr>
          <p:cNvPr id="25" name="TextBox 24"/>
          <p:cNvSpPr txBox="1"/>
          <p:nvPr/>
        </p:nvSpPr>
        <p:spPr>
          <a:xfrm>
            <a:off x="320040" y="6537960"/>
            <a:ext cx="4572000" cy="274320"/>
          </a:xfrm>
          <a:prstGeom prst="rect">
            <a:avLst/>
          </a:prstGeom>
          <a:noFill/>
        </p:spPr>
        <p:txBody>
          <a:bodyPr wrap="square" anchor="t">
            <a:spAutoFit/>
          </a:bodyPr>
          <a:lstStyle/>
          <a:p>
            <a:pPr algn="l"/>
            <a:r>
              <a:rPr sz="800" b="0" i="0">
                <a:solidFill>
                  <a:srgbClr val="AFB7C0"/>
                </a:solidFill>
                <a:latin typeface="Calibri"/>
              </a:rPr>
              <a:t>Bharadwaj Consumer Products Ltd | Project Drishti</a:t>
            </a:r>
          </a:p>
        </p:txBody>
      </p:sp>
      <p:sp>
        <p:nvSpPr>
          <p:cNvPr id="26" name="TextBox 25"/>
          <p:cNvSpPr txBox="1"/>
          <p:nvPr/>
        </p:nvSpPr>
        <p:spPr>
          <a:xfrm>
            <a:off x="4206240" y="6537960"/>
            <a:ext cx="3840480" cy="274320"/>
          </a:xfrm>
          <a:prstGeom prst="rect">
            <a:avLst/>
          </a:prstGeom>
          <a:noFill/>
        </p:spPr>
        <p:txBody>
          <a:bodyPr wrap="square" anchor="t">
            <a:spAutoFit/>
          </a:bodyPr>
          <a:lstStyle/>
          <a:p>
            <a:pPr algn="ctr"/>
            <a:r>
              <a:rPr sz="800" b="0" i="1">
                <a:solidFill>
                  <a:srgbClr val="AFB7C0"/>
                </a:solidFill>
                <a:latin typeface="Calibri"/>
              </a:rPr>
              <a:t>Confidential – Internal Working Draft v2</a:t>
            </a:r>
          </a:p>
        </p:txBody>
      </p:sp>
      <p:sp>
        <p:nvSpPr>
          <p:cNvPr id="27" name="TextBox 26"/>
          <p:cNvSpPr txBox="1"/>
          <p:nvPr/>
        </p:nvSpPr>
        <p:spPr>
          <a:xfrm>
            <a:off x="10881360" y="6537960"/>
            <a:ext cx="914400" cy="274320"/>
          </a:xfrm>
          <a:prstGeom prst="rect">
            <a:avLst/>
          </a:prstGeom>
          <a:noFill/>
        </p:spPr>
        <p:txBody>
          <a:bodyPr wrap="square" anchor="t">
            <a:spAutoFit/>
          </a:bodyPr>
          <a:lstStyle/>
          <a:p>
            <a:pPr algn="r"/>
            <a:r>
              <a:rPr sz="800" b="0" i="0">
                <a:solidFill>
                  <a:srgbClr val="AFB7C0"/>
                </a:solidFill>
                <a:latin typeface="Calibr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142640"/>
                </a:solidFill>
                <a:latin typeface="Calibri"/>
              </a:rPr>
              <a:t>D12 - Executive Summary (Group view)</a:t>
            </a:r>
          </a:p>
        </p:txBody>
      </p:sp>
      <p:sp>
        <p:nvSpPr>
          <p:cNvPr id="3" name="Rectangle 2"/>
          <p:cNvSpPr/>
          <p:nvPr/>
        </p:nvSpPr>
        <p:spPr>
          <a:xfrm>
            <a:off x="2194560" y="1051560"/>
            <a:ext cx="3291840" cy="5212080"/>
          </a:xfrm>
          <a:prstGeom prst="rect">
            <a:avLst/>
          </a:prstGeom>
          <a:solidFill>
            <a:srgbClr val="FFFFFF"/>
          </a:solidFill>
          <a:ln w="1905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4" name="Rectangle 3"/>
          <p:cNvSpPr/>
          <p:nvPr/>
        </p:nvSpPr>
        <p:spPr>
          <a:xfrm>
            <a:off x="2194560" y="1051560"/>
            <a:ext cx="3291840" cy="3108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1200" b="1" i="0">
                <a:solidFill>
                  <a:srgbClr val="FFFFFF"/>
                </a:solidFill>
                <a:latin typeface="Calibri"/>
              </a:rPr>
              <a:t>DRISHTI - Executive Summary</a:t>
            </a:r>
          </a:p>
        </p:txBody>
      </p:sp>
      <p:sp>
        <p:nvSpPr>
          <p:cNvPr id="5" name="Rectangle 4"/>
          <p:cNvSpPr/>
          <p:nvPr/>
        </p:nvSpPr>
        <p:spPr>
          <a:xfrm>
            <a:off x="2194560" y="1362456"/>
            <a:ext cx="658368" cy="4901184"/>
          </a:xfrm>
          <a:prstGeom prst="rect">
            <a:avLst/>
          </a:prstGeom>
          <a:solidFill>
            <a:srgbClr val="E8EBEF"/>
          </a:solidFill>
          <a:ln w="9525">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6" name="Rectangle 5"/>
          <p:cNvSpPr/>
          <p:nvPr/>
        </p:nvSpPr>
        <p:spPr>
          <a:xfrm>
            <a:off x="2194560" y="1362456"/>
            <a:ext cx="658368" cy="201168"/>
          </a:xfrm>
          <a:prstGeom prst="rect">
            <a:avLst/>
          </a:prstGeom>
          <a:solidFill>
            <a:srgbClr val="AFB7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700" b="1" i="0">
                <a:solidFill>
                  <a:srgbClr val="FFFFFF"/>
                </a:solidFill>
                <a:latin typeface="Calibri"/>
              </a:rPr>
              <a:t>FILTER RAIL</a:t>
            </a:r>
          </a:p>
        </p:txBody>
      </p:sp>
      <p:sp>
        <p:nvSpPr>
          <p:cNvPr id="7" name="Rectangle 6"/>
          <p:cNvSpPr/>
          <p:nvPr/>
        </p:nvSpPr>
        <p:spPr>
          <a:xfrm>
            <a:off x="2239560" y="1618488"/>
            <a:ext cx="568368" cy="237744"/>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750" b="0" i="0">
                <a:solidFill>
                  <a:srgbClr val="242424"/>
                </a:solidFill>
                <a:latin typeface="Calibri"/>
              </a:rPr>
              <a:t>Month</a:t>
            </a:r>
          </a:p>
        </p:txBody>
      </p:sp>
      <p:sp>
        <p:nvSpPr>
          <p:cNvPr id="8" name="Rectangle 7"/>
          <p:cNvSpPr/>
          <p:nvPr/>
        </p:nvSpPr>
        <p:spPr>
          <a:xfrm>
            <a:off x="2867928" y="1377456"/>
            <a:ext cx="1286736" cy="427200"/>
          </a:xfrm>
          <a:prstGeom prst="rect">
            <a:avLst/>
          </a:prstGeom>
          <a:solidFill>
            <a:srgbClr val="E9F1FA"/>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800" b="1" i="0">
                <a:solidFill>
                  <a:srgbClr val="242424"/>
                </a:solidFill>
                <a:latin typeface="Calibri"/>
              </a:rPr>
              <a:t>[Net Sales]</a:t>
            </a:r>
          </a:p>
        </p:txBody>
      </p:sp>
      <p:sp>
        <p:nvSpPr>
          <p:cNvPr id="9" name="Rectangle 8"/>
          <p:cNvSpPr/>
          <p:nvPr/>
        </p:nvSpPr>
        <p:spPr>
          <a:xfrm>
            <a:off x="4184664" y="1377456"/>
            <a:ext cx="1286736" cy="427200"/>
          </a:xfrm>
          <a:prstGeom prst="rect">
            <a:avLst/>
          </a:prstGeom>
          <a:solidFill>
            <a:srgbClr val="E9F1FA"/>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800" b="1" i="0">
                <a:solidFill>
                  <a:srgbClr val="242424"/>
                </a:solidFill>
                <a:latin typeface="Calibri"/>
              </a:rPr>
              <a:t>[Growth]</a:t>
            </a:r>
          </a:p>
        </p:txBody>
      </p:sp>
      <p:sp>
        <p:nvSpPr>
          <p:cNvPr id="10" name="Rectangle 9"/>
          <p:cNvSpPr/>
          <p:nvPr/>
        </p:nvSpPr>
        <p:spPr>
          <a:xfrm>
            <a:off x="2852928" y="1819656"/>
            <a:ext cx="2633472" cy="1866473"/>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1" name="TextBox 10"/>
          <p:cNvSpPr txBox="1"/>
          <p:nvPr/>
        </p:nvSpPr>
        <p:spPr>
          <a:xfrm>
            <a:off x="2912928" y="1839656"/>
            <a:ext cx="2513472" cy="182880"/>
          </a:xfrm>
          <a:prstGeom prst="rect">
            <a:avLst/>
          </a:prstGeom>
          <a:noFill/>
        </p:spPr>
        <p:txBody>
          <a:bodyPr wrap="square" anchor="t">
            <a:spAutoFit/>
          </a:bodyPr>
          <a:lstStyle/>
          <a:p>
            <a:pPr algn="l"/>
            <a:r>
              <a:rPr sz="700" b="1" i="0">
                <a:solidFill>
                  <a:srgbClr val="4A6F94"/>
                </a:solidFill>
                <a:latin typeface="Calibri"/>
              </a:rPr>
              <a:t>TREND - one trend, that is it</a:t>
            </a:r>
          </a:p>
        </p:txBody>
      </p:sp>
      <p:sp>
        <p:nvSpPr>
          <p:cNvPr id="12" name="Rectangle 11"/>
          <p:cNvSpPr/>
          <p:nvPr/>
        </p:nvSpPr>
        <p:spPr>
          <a:xfrm>
            <a:off x="2917301" y="2590645"/>
            <a:ext cx="160934" cy="1022332"/>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3" name="Rectangle 12"/>
          <p:cNvSpPr/>
          <p:nvPr/>
        </p:nvSpPr>
        <p:spPr>
          <a:xfrm>
            <a:off x="3209909" y="2862179"/>
            <a:ext cx="160934" cy="750798"/>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4" name="Rectangle 13"/>
          <p:cNvSpPr/>
          <p:nvPr/>
        </p:nvSpPr>
        <p:spPr>
          <a:xfrm>
            <a:off x="3502517" y="2242863"/>
            <a:ext cx="160934" cy="1370114"/>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5" name="Rectangle 14"/>
          <p:cNvSpPr/>
          <p:nvPr/>
        </p:nvSpPr>
        <p:spPr>
          <a:xfrm>
            <a:off x="3795125" y="2538900"/>
            <a:ext cx="160934" cy="1074077"/>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6" name="Rectangle 15"/>
          <p:cNvSpPr/>
          <p:nvPr/>
        </p:nvSpPr>
        <p:spPr>
          <a:xfrm>
            <a:off x="4087733" y="3142555"/>
            <a:ext cx="160934" cy="470422"/>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7" name="Rectangle 16"/>
          <p:cNvSpPr/>
          <p:nvPr/>
        </p:nvSpPr>
        <p:spPr>
          <a:xfrm>
            <a:off x="4380341" y="2224039"/>
            <a:ext cx="160934" cy="1388938"/>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8" name="Rectangle 17"/>
          <p:cNvSpPr/>
          <p:nvPr/>
        </p:nvSpPr>
        <p:spPr>
          <a:xfrm>
            <a:off x="4672949" y="3065427"/>
            <a:ext cx="160934" cy="547550"/>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9" name="Rectangle 18"/>
          <p:cNvSpPr/>
          <p:nvPr/>
        </p:nvSpPr>
        <p:spPr>
          <a:xfrm>
            <a:off x="4965557" y="2445527"/>
            <a:ext cx="160934" cy="1167450"/>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0" name="Rectangle 19"/>
          <p:cNvSpPr/>
          <p:nvPr/>
        </p:nvSpPr>
        <p:spPr>
          <a:xfrm>
            <a:off x="5258165" y="3179662"/>
            <a:ext cx="160934" cy="433315"/>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1" name="Rectangle 20"/>
          <p:cNvSpPr/>
          <p:nvPr/>
        </p:nvSpPr>
        <p:spPr>
          <a:xfrm>
            <a:off x="2852928" y="3686129"/>
            <a:ext cx="2633472" cy="2577511"/>
          </a:xfrm>
          <a:prstGeom prst="rect">
            <a:avLst/>
          </a:prstGeom>
          <a:solidFill>
            <a:srgbClr val="F7F7F7"/>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t" wrap="square" lIns="45000" rIns="45000" tIns="20000" bIns="20000"/>
          <a:lstStyle/>
          <a:p>
            <a:pPr algn="l"/>
            <a:r>
              <a:rPr sz="800" b="0" i="0">
                <a:solidFill>
                  <a:srgbClr val="242424"/>
                </a:solidFill>
                <a:latin typeface="Calibri"/>
              </a:rPr>
              <a:t>DETAIL GRID - no wide tables on this page – cards and a single trend only</a:t>
            </a:r>
          </a:p>
        </p:txBody>
      </p:sp>
      <p:sp>
        <p:nvSpPr>
          <p:cNvPr id="22" name="Rectangle 21"/>
          <p:cNvSpPr/>
          <p:nvPr/>
        </p:nvSpPr>
        <p:spPr>
          <a:xfrm>
            <a:off x="5852160" y="1051560"/>
            <a:ext cx="502920" cy="5212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2800" b="1" i="0">
                <a:solidFill>
                  <a:srgbClr val="AFB7C0"/>
                </a:solidFill>
                <a:latin typeface="Calibri"/>
              </a:rPr>
              <a:t>→</a:t>
            </a:r>
          </a:p>
        </p:txBody>
      </p:sp>
      <p:sp>
        <p:nvSpPr>
          <p:cNvPr id="23" name="TextBox 22"/>
          <p:cNvSpPr txBox="1"/>
          <p:nvPr/>
        </p:nvSpPr>
        <p:spPr>
          <a:xfrm>
            <a:off x="6583680" y="1188720"/>
            <a:ext cx="5120640" cy="3840480"/>
          </a:xfrm>
          <a:prstGeom prst="rect">
            <a:avLst/>
          </a:prstGeom>
          <a:noFill/>
        </p:spPr>
        <p:txBody>
          <a:bodyPr wrap="square" anchor="t">
            <a:spAutoFit/>
          </a:bodyPr>
          <a:lstStyle/>
          <a:p>
            <a:pPr algn="l"/>
            <a:r>
              <a:rPr sz="1500" b="1" i="0">
                <a:solidFill>
                  <a:srgbClr val="1F3A5F"/>
                </a:solidFill>
                <a:latin typeface="Calibri"/>
              </a:rPr>
              <a:t>Page 1 – one screen, no scroll, phone-first</a:t>
            </a:r>
          </a:p>
          <a:p>
            <a:pPr lvl="1" algn="l"/>
            <a:r>
              <a:rPr sz="1200" b="0" i="0">
                <a:solidFill>
                  <a:srgbClr val="242424"/>
                </a:solidFill>
                <a:latin typeface="Calibri"/>
              </a:rPr>
              <a:t>Rajeev opens everything on his phone – that is the actual design constraint, not a nice-to-have. Cards and one trend, nothing wider.</a:t>
            </a:r>
          </a:p>
          <a:p>
            <a:pPr algn="l"/>
            <a:r>
              <a:rPr sz="1500" b="1" i="0">
                <a:solidFill>
                  <a:srgbClr val="1F3A5F"/>
                </a:solidFill>
                <a:latin typeface="Calibri"/>
              </a:rPr>
              <a:t>Page 2 – Group view (second page, same report)</a:t>
            </a:r>
          </a:p>
          <a:p>
            <a:pPr lvl="1" algn="l"/>
            <a:r>
              <a:rPr sz="1200" b="0" i="0">
                <a:solidFill>
                  <a:srgbClr val="242424"/>
                </a:solidFill>
                <a:latin typeface="Calibri"/>
              </a:rPr>
              <a:t>Line items requested by Klarissen Group FP&amp;A: net revenue, volume, promo accrual, channel partner count – same measures the distributor pages call by BCPL's own names.</a:t>
            </a:r>
          </a:p>
          <a:p>
            <a:pPr lvl="1" algn="l"/>
            <a:r>
              <a:rPr sz="1200" b="0" i="0">
                <a:solidFill>
                  <a:srgbClr val="242424"/>
                </a:solidFill>
                <a:latin typeface="Calibri"/>
              </a:rPr>
              <a:t>Sent as a scheduled export around the group monthly close, timing to be worked out separately since the two closes fall on different weeks.</a:t>
            </a:r>
          </a:p>
        </p:txBody>
      </p:sp>
      <p:sp>
        <p:nvSpPr>
          <p:cNvPr id="24" name="TextBox 23"/>
          <p:cNvSpPr txBox="1"/>
          <p:nvPr/>
        </p:nvSpPr>
        <p:spPr>
          <a:xfrm>
            <a:off x="320040" y="6537960"/>
            <a:ext cx="4572000" cy="274320"/>
          </a:xfrm>
          <a:prstGeom prst="rect">
            <a:avLst/>
          </a:prstGeom>
          <a:noFill/>
        </p:spPr>
        <p:txBody>
          <a:bodyPr wrap="square" anchor="t">
            <a:spAutoFit/>
          </a:bodyPr>
          <a:lstStyle/>
          <a:p>
            <a:pPr algn="l"/>
            <a:r>
              <a:rPr sz="800" b="0" i="0">
                <a:solidFill>
                  <a:srgbClr val="AFB7C0"/>
                </a:solidFill>
                <a:latin typeface="Calibri"/>
              </a:rPr>
              <a:t>Bharadwaj Consumer Products Ltd | Project Drishti</a:t>
            </a:r>
          </a:p>
        </p:txBody>
      </p:sp>
      <p:sp>
        <p:nvSpPr>
          <p:cNvPr id="25" name="TextBox 24"/>
          <p:cNvSpPr txBox="1"/>
          <p:nvPr/>
        </p:nvSpPr>
        <p:spPr>
          <a:xfrm>
            <a:off x="4206240" y="6537960"/>
            <a:ext cx="3840480" cy="274320"/>
          </a:xfrm>
          <a:prstGeom prst="rect">
            <a:avLst/>
          </a:prstGeom>
          <a:noFill/>
        </p:spPr>
        <p:txBody>
          <a:bodyPr wrap="square" anchor="t">
            <a:spAutoFit/>
          </a:bodyPr>
          <a:lstStyle/>
          <a:p>
            <a:pPr algn="ctr"/>
            <a:r>
              <a:rPr sz="800" b="0" i="1">
                <a:solidFill>
                  <a:srgbClr val="AFB7C0"/>
                </a:solidFill>
                <a:latin typeface="Calibri"/>
              </a:rPr>
              <a:t>Confidential – Internal Working Draft v2</a:t>
            </a:r>
          </a:p>
        </p:txBody>
      </p:sp>
      <p:sp>
        <p:nvSpPr>
          <p:cNvPr id="26" name="TextBox 25"/>
          <p:cNvSpPr txBox="1"/>
          <p:nvPr/>
        </p:nvSpPr>
        <p:spPr>
          <a:xfrm>
            <a:off x="10881360" y="6537960"/>
            <a:ext cx="914400" cy="274320"/>
          </a:xfrm>
          <a:prstGeom prst="rect">
            <a:avLst/>
          </a:prstGeom>
          <a:noFill/>
        </p:spPr>
        <p:txBody>
          <a:bodyPr wrap="square" anchor="t">
            <a:spAutoFit/>
          </a:bodyPr>
          <a:lstStyle/>
          <a:p>
            <a:pPr algn="r"/>
            <a:r>
              <a:rPr sz="800" b="0" i="0">
                <a:solidFill>
                  <a:srgbClr val="AFB7C0"/>
                </a:solidFill>
                <a:latin typeface="Calibr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142640"/>
                </a:solidFill>
                <a:latin typeface="Calibri"/>
              </a:rPr>
              <a:t>Candidates - not funded</a:t>
            </a:r>
          </a:p>
        </p:txBody>
      </p:sp>
      <p:sp>
        <p:nvSpPr>
          <p:cNvPr id="3" name="Text Placeholder 2"/>
          <p:cNvSpPr>
            <a:spLocks noGrp="1"/>
          </p:cNvSpPr>
          <p:nvPr>
            <p:ph type="body" idx="1"/>
          </p:nvPr>
        </p:nvSpPr>
        <p:spPr/>
        <p:txBody>
          <a:bodyPr/>
          <a:lstStyle/>
          <a:p>
            <a:r>
              <a:rPr sz="1500" b="0" i="1">
                <a:solidFill>
                  <a:srgbClr val="4A6F94"/>
                </a:solidFill>
                <a:latin typeface="Calibri"/>
              </a:rPr>
              <a:t>Two pages that keep coming up. Going into the pack for a sponsor decision.</a:t>
            </a:r>
          </a:p>
        </p:txBody>
      </p:sp>
      <p:sp>
        <p:nvSpPr>
          <p:cNvPr id="4" name="TextBox 3"/>
          <p:cNvSpPr txBox="1"/>
          <p:nvPr/>
        </p:nvSpPr>
        <p:spPr>
          <a:xfrm>
            <a:off x="320040" y="6537960"/>
            <a:ext cx="4572000" cy="274320"/>
          </a:xfrm>
          <a:prstGeom prst="rect">
            <a:avLst/>
          </a:prstGeom>
          <a:noFill/>
        </p:spPr>
        <p:txBody>
          <a:bodyPr wrap="square" anchor="t">
            <a:spAutoFit/>
          </a:bodyPr>
          <a:lstStyle/>
          <a:p>
            <a:pPr algn="l"/>
            <a:r>
              <a:rPr sz="800" b="0" i="0">
                <a:solidFill>
                  <a:srgbClr val="AFB7C0"/>
                </a:solidFill>
                <a:latin typeface="Calibri"/>
              </a:rPr>
              <a:t>Bharadwaj Consumer Products Ltd | Project Drishti</a:t>
            </a:r>
          </a:p>
        </p:txBody>
      </p:sp>
      <p:sp>
        <p:nvSpPr>
          <p:cNvPr id="5" name="TextBox 4"/>
          <p:cNvSpPr txBox="1"/>
          <p:nvPr/>
        </p:nvSpPr>
        <p:spPr>
          <a:xfrm>
            <a:off x="4206240" y="6537960"/>
            <a:ext cx="3840480" cy="274320"/>
          </a:xfrm>
          <a:prstGeom prst="rect">
            <a:avLst/>
          </a:prstGeom>
          <a:noFill/>
        </p:spPr>
        <p:txBody>
          <a:bodyPr wrap="square" anchor="t">
            <a:spAutoFit/>
          </a:bodyPr>
          <a:lstStyle/>
          <a:p>
            <a:pPr algn="ctr"/>
            <a:r>
              <a:rPr sz="800" b="0" i="1">
                <a:solidFill>
                  <a:srgbClr val="AFB7C0"/>
                </a:solidFill>
                <a:latin typeface="Calibri"/>
              </a:rPr>
              <a:t>Confidential – Internal Working Draft v2</a:t>
            </a:r>
          </a:p>
        </p:txBody>
      </p:sp>
      <p:sp>
        <p:nvSpPr>
          <p:cNvPr id="6" name="TextBox 5"/>
          <p:cNvSpPr txBox="1"/>
          <p:nvPr/>
        </p:nvSpPr>
        <p:spPr>
          <a:xfrm>
            <a:off x="10881360" y="6537960"/>
            <a:ext cx="914400" cy="274320"/>
          </a:xfrm>
          <a:prstGeom prst="rect">
            <a:avLst/>
          </a:prstGeom>
          <a:noFill/>
        </p:spPr>
        <p:txBody>
          <a:bodyPr wrap="square" anchor="t">
            <a:spAutoFit/>
          </a:bodyPr>
          <a:lstStyle/>
          <a:p>
            <a:pPr algn="r"/>
            <a:r>
              <a:rPr sz="800" b="0" i="0">
                <a:solidFill>
                  <a:srgbClr val="AFB7C0"/>
                </a:solidFill>
                <a:latin typeface="Calibr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142640"/>
                </a:solidFill>
                <a:latin typeface="Calibri"/>
              </a:rPr>
              <a:t>D04 and D11 - candidate pages</a:t>
            </a:r>
          </a:p>
        </p:txBody>
      </p:sp>
      <p:sp>
        <p:nvSpPr>
          <p:cNvPr id="3" name="Rectangle 2"/>
          <p:cNvSpPr/>
          <p:nvPr/>
        </p:nvSpPr>
        <p:spPr>
          <a:xfrm>
            <a:off x="320040" y="1051560"/>
            <a:ext cx="5486400" cy="3246120"/>
          </a:xfrm>
          <a:prstGeom prst="rect">
            <a:avLst/>
          </a:prstGeom>
          <a:solidFill>
            <a:srgbClr val="FFFFFF"/>
          </a:solidFill>
          <a:ln w="1905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4" name="Rectangle 3"/>
          <p:cNvSpPr/>
          <p:nvPr/>
        </p:nvSpPr>
        <p:spPr>
          <a:xfrm>
            <a:off x="320040" y="1051560"/>
            <a:ext cx="5486400" cy="3108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1200" b="1" i="0">
                <a:solidFill>
                  <a:srgbClr val="FFFFFF"/>
                </a:solidFill>
                <a:latin typeface="Calibri"/>
              </a:rPr>
              <a:t>DRISHTI - Scheme Effectiveness</a:t>
            </a:r>
          </a:p>
        </p:txBody>
      </p:sp>
      <p:sp>
        <p:nvSpPr>
          <p:cNvPr id="5" name="Rectangle 4"/>
          <p:cNvSpPr/>
          <p:nvPr/>
        </p:nvSpPr>
        <p:spPr>
          <a:xfrm>
            <a:off x="4014216" y="1081560"/>
            <a:ext cx="1737360" cy="250896"/>
          </a:xfrm>
          <a:prstGeom prst="rect">
            <a:avLst/>
          </a:prstGeom>
          <a:solidFill>
            <a:srgbClr val="A63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800" b="1" i="0">
                <a:solidFill>
                  <a:srgbClr val="FFFFFF"/>
                </a:solidFill>
                <a:latin typeface="Calibri"/>
              </a:rPr>
              <a:t>CANDIDATE</a:t>
            </a:r>
          </a:p>
        </p:txBody>
      </p:sp>
      <p:sp>
        <p:nvSpPr>
          <p:cNvPr id="6" name="Rectangle 5"/>
          <p:cNvSpPr/>
          <p:nvPr/>
        </p:nvSpPr>
        <p:spPr>
          <a:xfrm>
            <a:off x="320040" y="1362456"/>
            <a:ext cx="1097280" cy="2935224"/>
          </a:xfrm>
          <a:prstGeom prst="rect">
            <a:avLst/>
          </a:prstGeom>
          <a:solidFill>
            <a:srgbClr val="E8EBEF"/>
          </a:solidFill>
          <a:ln w="9525">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7" name="Rectangle 6"/>
          <p:cNvSpPr/>
          <p:nvPr/>
        </p:nvSpPr>
        <p:spPr>
          <a:xfrm>
            <a:off x="320040" y="1362456"/>
            <a:ext cx="1097280" cy="201168"/>
          </a:xfrm>
          <a:prstGeom prst="rect">
            <a:avLst/>
          </a:prstGeom>
          <a:solidFill>
            <a:srgbClr val="AFB7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700" b="1" i="0">
                <a:solidFill>
                  <a:srgbClr val="FFFFFF"/>
                </a:solidFill>
                <a:latin typeface="Calibri"/>
              </a:rPr>
              <a:t>FILTER RAIL</a:t>
            </a:r>
          </a:p>
        </p:txBody>
      </p:sp>
      <p:sp>
        <p:nvSpPr>
          <p:cNvPr id="8" name="Rectangle 7"/>
          <p:cNvSpPr/>
          <p:nvPr/>
        </p:nvSpPr>
        <p:spPr>
          <a:xfrm>
            <a:off x="365040" y="1618488"/>
            <a:ext cx="1007280" cy="237744"/>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750" b="0" i="0">
                <a:solidFill>
                  <a:srgbClr val="242424"/>
                </a:solidFill>
                <a:latin typeface="Calibri"/>
              </a:rPr>
              <a:t>Scheme type</a:t>
            </a:r>
          </a:p>
        </p:txBody>
      </p:sp>
      <p:sp>
        <p:nvSpPr>
          <p:cNvPr id="9" name="Rectangle 8"/>
          <p:cNvSpPr/>
          <p:nvPr/>
        </p:nvSpPr>
        <p:spPr>
          <a:xfrm>
            <a:off x="365040" y="1886232"/>
            <a:ext cx="1007280" cy="237744"/>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750" b="0" i="0">
                <a:solidFill>
                  <a:srgbClr val="242424"/>
                </a:solidFill>
                <a:latin typeface="Calibri"/>
              </a:rPr>
              <a:t>Brand</a:t>
            </a:r>
          </a:p>
        </p:txBody>
      </p:sp>
      <p:sp>
        <p:nvSpPr>
          <p:cNvPr id="10" name="Rectangle 9"/>
          <p:cNvSpPr/>
          <p:nvPr/>
        </p:nvSpPr>
        <p:spPr>
          <a:xfrm>
            <a:off x="365040" y="2153976"/>
            <a:ext cx="1007280" cy="237744"/>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750" b="0" i="0">
                <a:solidFill>
                  <a:srgbClr val="242424"/>
                </a:solidFill>
                <a:latin typeface="Calibri"/>
              </a:rPr>
              <a:t>Month</a:t>
            </a:r>
          </a:p>
        </p:txBody>
      </p:sp>
      <p:sp>
        <p:nvSpPr>
          <p:cNvPr id="11" name="Rectangle 10"/>
          <p:cNvSpPr/>
          <p:nvPr/>
        </p:nvSpPr>
        <p:spPr>
          <a:xfrm>
            <a:off x="1432320" y="1377456"/>
            <a:ext cx="2164560" cy="427200"/>
          </a:xfrm>
          <a:prstGeom prst="rect">
            <a:avLst/>
          </a:prstGeom>
          <a:solidFill>
            <a:srgbClr val="E9F1FA"/>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800" b="1" i="0">
                <a:solidFill>
                  <a:srgbClr val="242424"/>
                </a:solidFill>
                <a:latin typeface="Calibri"/>
              </a:rPr>
              <a:t>[Scheme Spend]</a:t>
            </a:r>
          </a:p>
        </p:txBody>
      </p:sp>
      <p:sp>
        <p:nvSpPr>
          <p:cNvPr id="12" name="Rectangle 11"/>
          <p:cNvSpPr/>
          <p:nvPr/>
        </p:nvSpPr>
        <p:spPr>
          <a:xfrm>
            <a:off x="3626880" y="1377456"/>
            <a:ext cx="2164560" cy="427200"/>
          </a:xfrm>
          <a:prstGeom prst="rect">
            <a:avLst/>
          </a:prstGeom>
          <a:solidFill>
            <a:srgbClr val="E9F1FA"/>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800" b="1" i="0">
                <a:solidFill>
                  <a:srgbClr val="242424"/>
                </a:solidFill>
                <a:latin typeface="Calibri"/>
              </a:rPr>
              <a:t>[Uplift %]</a:t>
            </a:r>
          </a:p>
        </p:txBody>
      </p:sp>
      <p:sp>
        <p:nvSpPr>
          <p:cNvPr id="13" name="Rectangle 12"/>
          <p:cNvSpPr/>
          <p:nvPr/>
        </p:nvSpPr>
        <p:spPr>
          <a:xfrm>
            <a:off x="1417320" y="1819656"/>
            <a:ext cx="4389120" cy="1040770"/>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4" name="TextBox 13"/>
          <p:cNvSpPr txBox="1"/>
          <p:nvPr/>
        </p:nvSpPr>
        <p:spPr>
          <a:xfrm>
            <a:off x="1477320" y="1839656"/>
            <a:ext cx="4269120" cy="182880"/>
          </a:xfrm>
          <a:prstGeom prst="rect">
            <a:avLst/>
          </a:prstGeom>
          <a:noFill/>
        </p:spPr>
        <p:txBody>
          <a:bodyPr wrap="square" anchor="t">
            <a:spAutoFit/>
          </a:bodyPr>
          <a:lstStyle/>
          <a:p>
            <a:pPr algn="l"/>
            <a:r>
              <a:rPr sz="700" b="1" i="0">
                <a:solidFill>
                  <a:srgbClr val="4A6F94"/>
                </a:solidFill>
                <a:latin typeface="Calibri"/>
              </a:rPr>
              <a:t>TREND - scheme-wise, monthly</a:t>
            </a:r>
          </a:p>
        </p:txBody>
      </p:sp>
      <p:sp>
        <p:nvSpPr>
          <p:cNvPr id="15" name="Rectangle 14"/>
          <p:cNvSpPr/>
          <p:nvPr/>
        </p:nvSpPr>
        <p:spPr>
          <a:xfrm>
            <a:off x="1524609" y="2568159"/>
            <a:ext cx="268224" cy="219115"/>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6" name="Rectangle 15"/>
          <p:cNvSpPr/>
          <p:nvPr/>
        </p:nvSpPr>
        <p:spPr>
          <a:xfrm>
            <a:off x="2012289" y="2482404"/>
            <a:ext cx="268224" cy="304870"/>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7" name="Rectangle 16"/>
          <p:cNvSpPr/>
          <p:nvPr/>
        </p:nvSpPr>
        <p:spPr>
          <a:xfrm>
            <a:off x="2499969" y="2543628"/>
            <a:ext cx="268224" cy="243646"/>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8" name="Rectangle 17"/>
          <p:cNvSpPr/>
          <p:nvPr/>
        </p:nvSpPr>
        <p:spPr>
          <a:xfrm>
            <a:off x="2987649" y="2255854"/>
            <a:ext cx="268224" cy="531420"/>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19" name="Rectangle 18"/>
          <p:cNvSpPr/>
          <p:nvPr/>
        </p:nvSpPr>
        <p:spPr>
          <a:xfrm>
            <a:off x="3475329" y="2143071"/>
            <a:ext cx="268224" cy="644203"/>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0" name="Rectangle 19"/>
          <p:cNvSpPr/>
          <p:nvPr/>
        </p:nvSpPr>
        <p:spPr>
          <a:xfrm>
            <a:off x="3963009" y="2326315"/>
            <a:ext cx="268224" cy="460959"/>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1" name="Rectangle 20"/>
          <p:cNvSpPr/>
          <p:nvPr/>
        </p:nvSpPr>
        <p:spPr>
          <a:xfrm>
            <a:off x="4450689" y="2300968"/>
            <a:ext cx="268224" cy="486306"/>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2" name="Rectangle 21"/>
          <p:cNvSpPr/>
          <p:nvPr/>
        </p:nvSpPr>
        <p:spPr>
          <a:xfrm>
            <a:off x="4938369" y="2205025"/>
            <a:ext cx="268224" cy="582249"/>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3" name="Rectangle 22"/>
          <p:cNvSpPr/>
          <p:nvPr/>
        </p:nvSpPr>
        <p:spPr>
          <a:xfrm>
            <a:off x="5426049" y="2453980"/>
            <a:ext cx="268224" cy="333294"/>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4" name="Rectangle 23"/>
          <p:cNvSpPr/>
          <p:nvPr/>
        </p:nvSpPr>
        <p:spPr>
          <a:xfrm>
            <a:off x="1417320" y="2860426"/>
            <a:ext cx="4389120" cy="1437254"/>
          </a:xfrm>
          <a:prstGeom prst="rect">
            <a:avLst/>
          </a:prstGeom>
          <a:solidFill>
            <a:srgbClr val="F7F7F7"/>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t" wrap="square" lIns="45000" rIns="45000" tIns="20000" bIns="20000"/>
          <a:lstStyle/>
          <a:p>
            <a:pPr algn="l"/>
            <a:r>
              <a:rPr sz="800" b="0" i="0">
                <a:solidFill>
                  <a:srgbClr val="242424"/>
                </a:solidFill>
                <a:latin typeface="Calibri"/>
              </a:rPr>
              <a:t>DETAIL GRID - scheme-wise spend against uplift, one row per scheme</a:t>
            </a:r>
          </a:p>
        </p:txBody>
      </p:sp>
      <p:sp>
        <p:nvSpPr>
          <p:cNvPr id="25" name="Rectangle 24"/>
          <p:cNvSpPr/>
          <p:nvPr/>
        </p:nvSpPr>
        <p:spPr>
          <a:xfrm>
            <a:off x="6080760" y="1051560"/>
            <a:ext cx="5669280" cy="3246120"/>
          </a:xfrm>
          <a:prstGeom prst="rect">
            <a:avLst/>
          </a:prstGeom>
          <a:solidFill>
            <a:srgbClr val="FFFFFF"/>
          </a:solidFill>
          <a:ln w="1905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6" name="Rectangle 25"/>
          <p:cNvSpPr/>
          <p:nvPr/>
        </p:nvSpPr>
        <p:spPr>
          <a:xfrm>
            <a:off x="6080760" y="1051560"/>
            <a:ext cx="5669280" cy="3108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1200" b="1" i="0">
                <a:solidFill>
                  <a:srgbClr val="FFFFFF"/>
                </a:solidFill>
                <a:latin typeface="Calibri"/>
              </a:rPr>
              <a:t>DRISHTI - Credit and Receivables Exposure</a:t>
            </a:r>
          </a:p>
        </p:txBody>
      </p:sp>
      <p:sp>
        <p:nvSpPr>
          <p:cNvPr id="27" name="Rectangle 26"/>
          <p:cNvSpPr/>
          <p:nvPr/>
        </p:nvSpPr>
        <p:spPr>
          <a:xfrm>
            <a:off x="9957816" y="1081560"/>
            <a:ext cx="1737360" cy="250896"/>
          </a:xfrm>
          <a:prstGeom prst="rect">
            <a:avLst/>
          </a:prstGeom>
          <a:solidFill>
            <a:srgbClr val="A63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800" b="1" i="0">
                <a:solidFill>
                  <a:srgbClr val="FFFFFF"/>
                </a:solidFill>
                <a:latin typeface="Calibri"/>
              </a:rPr>
              <a:t>CANDIDATE · DRAFT</a:t>
            </a:r>
          </a:p>
        </p:txBody>
      </p:sp>
      <p:sp>
        <p:nvSpPr>
          <p:cNvPr id="28" name="Rectangle 27"/>
          <p:cNvSpPr/>
          <p:nvPr/>
        </p:nvSpPr>
        <p:spPr>
          <a:xfrm>
            <a:off x="6080760" y="1362456"/>
            <a:ext cx="1133856" cy="2935224"/>
          </a:xfrm>
          <a:prstGeom prst="rect">
            <a:avLst/>
          </a:prstGeom>
          <a:solidFill>
            <a:srgbClr val="E8EBEF"/>
          </a:solidFill>
          <a:ln w="9525">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29" name="Rectangle 28"/>
          <p:cNvSpPr/>
          <p:nvPr/>
        </p:nvSpPr>
        <p:spPr>
          <a:xfrm>
            <a:off x="6080760" y="1362456"/>
            <a:ext cx="1133856" cy="201168"/>
          </a:xfrm>
          <a:prstGeom prst="rect">
            <a:avLst/>
          </a:prstGeom>
          <a:solidFill>
            <a:srgbClr val="AFB7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700" b="1" i="0">
                <a:solidFill>
                  <a:srgbClr val="FFFFFF"/>
                </a:solidFill>
                <a:latin typeface="Calibri"/>
              </a:rPr>
              <a:t>FILTER RAIL</a:t>
            </a:r>
          </a:p>
        </p:txBody>
      </p:sp>
      <p:sp>
        <p:nvSpPr>
          <p:cNvPr id="30" name="Rectangle 29"/>
          <p:cNvSpPr/>
          <p:nvPr/>
        </p:nvSpPr>
        <p:spPr>
          <a:xfrm>
            <a:off x="6125760" y="1618488"/>
            <a:ext cx="1043856" cy="237744"/>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750" b="0" i="0">
                <a:solidFill>
                  <a:srgbClr val="242424"/>
                </a:solidFill>
                <a:latin typeface="Calibri"/>
              </a:rPr>
              <a:t>Region</a:t>
            </a:r>
          </a:p>
        </p:txBody>
      </p:sp>
      <p:sp>
        <p:nvSpPr>
          <p:cNvPr id="31" name="Rectangle 30"/>
          <p:cNvSpPr/>
          <p:nvPr/>
        </p:nvSpPr>
        <p:spPr>
          <a:xfrm>
            <a:off x="6125760" y="1886232"/>
            <a:ext cx="1043856" cy="237744"/>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750" b="0" i="0">
                <a:solidFill>
                  <a:srgbClr val="242424"/>
                </a:solidFill>
                <a:latin typeface="Calibri"/>
              </a:rPr>
              <a:t>Ageing bucket</a:t>
            </a:r>
          </a:p>
        </p:txBody>
      </p:sp>
      <p:sp>
        <p:nvSpPr>
          <p:cNvPr id="32" name="Rectangle 31"/>
          <p:cNvSpPr/>
          <p:nvPr/>
        </p:nvSpPr>
        <p:spPr>
          <a:xfrm>
            <a:off x="7229616" y="1377456"/>
            <a:ext cx="2237712" cy="427200"/>
          </a:xfrm>
          <a:prstGeom prst="rect">
            <a:avLst/>
          </a:prstGeom>
          <a:solidFill>
            <a:srgbClr val="E9F1FA"/>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800" b="1" i="0">
                <a:solidFill>
                  <a:srgbClr val="242424"/>
                </a:solidFill>
                <a:latin typeface="Calibri"/>
              </a:rPr>
              <a:t>[Total Exposure]</a:t>
            </a:r>
          </a:p>
        </p:txBody>
      </p:sp>
      <p:sp>
        <p:nvSpPr>
          <p:cNvPr id="33" name="Rectangle 32"/>
          <p:cNvSpPr/>
          <p:nvPr/>
        </p:nvSpPr>
        <p:spPr>
          <a:xfrm>
            <a:off x="9497328" y="1377456"/>
            <a:ext cx="2237712" cy="427200"/>
          </a:xfrm>
          <a:prstGeom prst="rect">
            <a:avLst/>
          </a:prstGeom>
          <a:solidFill>
            <a:srgbClr val="E9F1FA"/>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800" b="1" i="0">
                <a:solidFill>
                  <a:srgbClr val="242424"/>
                </a:solidFill>
                <a:latin typeface="Calibri"/>
              </a:rPr>
              <a:t>[Overdue %]</a:t>
            </a:r>
          </a:p>
        </p:txBody>
      </p:sp>
      <p:sp>
        <p:nvSpPr>
          <p:cNvPr id="34" name="Rectangle 33"/>
          <p:cNvSpPr/>
          <p:nvPr/>
        </p:nvSpPr>
        <p:spPr>
          <a:xfrm>
            <a:off x="7214616" y="1819656"/>
            <a:ext cx="4535424" cy="1040770"/>
          </a:xfrm>
          <a:prstGeom prst="rect">
            <a:avLst/>
          </a:prstGeom>
          <a:solidFill>
            <a:srgbClr val="FFFFFF"/>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35" name="TextBox 34"/>
          <p:cNvSpPr txBox="1"/>
          <p:nvPr/>
        </p:nvSpPr>
        <p:spPr>
          <a:xfrm>
            <a:off x="7274616" y="1839656"/>
            <a:ext cx="4415424" cy="182880"/>
          </a:xfrm>
          <a:prstGeom prst="rect">
            <a:avLst/>
          </a:prstGeom>
          <a:noFill/>
        </p:spPr>
        <p:txBody>
          <a:bodyPr wrap="square" anchor="t">
            <a:spAutoFit/>
          </a:bodyPr>
          <a:lstStyle/>
          <a:p>
            <a:pPr algn="l"/>
            <a:r>
              <a:rPr sz="700" b="1" i="0">
                <a:solidFill>
                  <a:srgbClr val="4A6F94"/>
                </a:solidFill>
                <a:latin typeface="Calibri"/>
              </a:rPr>
              <a:t>TREND - ageing mix, monthly</a:t>
            </a:r>
          </a:p>
        </p:txBody>
      </p:sp>
      <p:sp>
        <p:nvSpPr>
          <p:cNvPr id="36" name="Rectangle 35"/>
          <p:cNvSpPr/>
          <p:nvPr/>
        </p:nvSpPr>
        <p:spPr>
          <a:xfrm>
            <a:off x="7325481" y="2496341"/>
            <a:ext cx="277164" cy="290933"/>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37" name="Rectangle 36"/>
          <p:cNvSpPr/>
          <p:nvPr/>
        </p:nvSpPr>
        <p:spPr>
          <a:xfrm>
            <a:off x="7829417" y="2501739"/>
            <a:ext cx="277164" cy="285535"/>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38" name="Rectangle 37"/>
          <p:cNvSpPr/>
          <p:nvPr/>
        </p:nvSpPr>
        <p:spPr>
          <a:xfrm>
            <a:off x="8333353" y="2339974"/>
            <a:ext cx="277164" cy="447300"/>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39" name="Rectangle 38"/>
          <p:cNvSpPr/>
          <p:nvPr/>
        </p:nvSpPr>
        <p:spPr>
          <a:xfrm>
            <a:off x="8837289" y="2369110"/>
            <a:ext cx="277164" cy="418164"/>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40" name="Rectangle 39"/>
          <p:cNvSpPr/>
          <p:nvPr/>
        </p:nvSpPr>
        <p:spPr>
          <a:xfrm>
            <a:off x="9341225" y="2556714"/>
            <a:ext cx="277164" cy="230560"/>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41" name="Rectangle 40"/>
          <p:cNvSpPr/>
          <p:nvPr/>
        </p:nvSpPr>
        <p:spPr>
          <a:xfrm>
            <a:off x="9845161" y="2315599"/>
            <a:ext cx="277164" cy="471675"/>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42" name="Rectangle 41"/>
          <p:cNvSpPr/>
          <p:nvPr/>
        </p:nvSpPr>
        <p:spPr>
          <a:xfrm>
            <a:off x="10349097" y="2203227"/>
            <a:ext cx="277164" cy="584047"/>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43" name="Rectangle 42"/>
          <p:cNvSpPr/>
          <p:nvPr/>
        </p:nvSpPr>
        <p:spPr>
          <a:xfrm>
            <a:off x="10853033" y="2256048"/>
            <a:ext cx="277164" cy="531226"/>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44" name="Rectangle 43"/>
          <p:cNvSpPr/>
          <p:nvPr/>
        </p:nvSpPr>
        <p:spPr>
          <a:xfrm>
            <a:off x="11356969" y="2313830"/>
            <a:ext cx="277164" cy="473444"/>
          </a:xfrm>
          <a:prstGeom prst="rect">
            <a:avLst/>
          </a:prstGeom>
          <a:solidFill>
            <a:srgbClr val="BBD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ctr"/>
            <a:r>
              <a:rPr sz="1000" b="0" i="0">
                <a:solidFill>
                  <a:srgbClr val="242424"/>
                </a:solidFill>
                <a:latin typeface="Calibri"/>
              </a:rPr>
              <a:t/>
            </a:r>
          </a:p>
        </p:txBody>
      </p:sp>
      <p:sp>
        <p:nvSpPr>
          <p:cNvPr id="45" name="Rectangle 44"/>
          <p:cNvSpPr/>
          <p:nvPr/>
        </p:nvSpPr>
        <p:spPr>
          <a:xfrm>
            <a:off x="7214616" y="2860426"/>
            <a:ext cx="4535424" cy="1437254"/>
          </a:xfrm>
          <a:prstGeom prst="rect">
            <a:avLst/>
          </a:prstGeom>
          <a:solidFill>
            <a:srgbClr val="F7F7F7"/>
          </a:solidFill>
          <a:ln w="6350">
            <a:solidFill>
              <a:srgbClr val="AFB7C0"/>
            </a:solidFill>
          </a:ln>
          <a:effectLst/>
        </p:spPr>
        <p:style>
          <a:lnRef idx="1">
            <a:schemeClr val="accent1"/>
          </a:lnRef>
          <a:fillRef idx="3">
            <a:schemeClr val="accent1"/>
          </a:fillRef>
          <a:effectRef idx="2">
            <a:schemeClr val="accent1"/>
          </a:effectRef>
          <a:fontRef idx="minor">
            <a:schemeClr val="lt1"/>
          </a:fontRef>
        </p:style>
        <p:txBody>
          <a:bodyPr rtlCol="0" anchor="t" wrap="square" lIns="45000" rIns="45000" tIns="20000" bIns="20000"/>
          <a:lstStyle/>
          <a:p>
            <a:pPr algn="l"/>
            <a:r>
              <a:rPr sz="800" b="0" i="0">
                <a:solidFill>
                  <a:srgbClr val="242424"/>
                </a:solidFill>
                <a:latin typeface="Calibri"/>
              </a:rPr>
              <a:t>DETAIL GRID - ageing buckets (0-30 / 31-60 / 61-90 / 90+) by distributor, against credit limit. Source: AR_OPEN_ITEM (a Finance extract, not currently in the warehouse model – would need to be brought in)</a:t>
            </a:r>
          </a:p>
        </p:txBody>
      </p:sp>
      <p:graphicFrame>
        <p:nvGraphicFramePr>
          <p:cNvPr id="46" name="Table 45"/>
          <p:cNvGraphicFramePr>
            <a:graphicFrameLocks noGrp="1"/>
          </p:cNvGraphicFramePr>
          <p:nvPr/>
        </p:nvGraphicFramePr>
        <p:xfrm>
          <a:off x="320040" y="4480560"/>
          <a:ext cx="11430000" cy="1508760"/>
        </p:xfrm>
        <a:graphic>
          <a:graphicData uri="http://schemas.openxmlformats.org/drawingml/2006/table">
            <a:tbl>
              <a:tblPr firstRow="1" bandRow="1">
                <a:tableStyleId>{5C22544A-7EE6-4342-B048-85BDC9FD1C3A}</a:tableStyleId>
              </a:tblPr>
              <a:tblGrid>
                <a:gridCol w="3108960"/>
                <a:gridCol w="2377440"/>
                <a:gridCol w="5943600"/>
              </a:tblGrid>
              <a:tr h="502920">
                <a:tc>
                  <a:txBody>
                    <a:bodyPr/>
                    <a:lstStyle/>
                    <a:p>
                      <a:pPr algn="l"/>
                      <a:r>
                        <a:rPr sz="1100" b="1" i="0">
                          <a:solidFill>
                            <a:srgbClr val="FFFFFF"/>
                          </a:solidFill>
                          <a:latin typeface="Calibri"/>
                        </a:rPr>
                        <a:t>Page</a:t>
                      </a:r>
                    </a:p>
                  </a:txBody>
                  <a:tcPr marL="50000" marR="50000" marT="20000" marB="20000" anchor="ctr">
                    <a:solidFill>
                      <a:srgbClr val="1F3A5F"/>
                    </a:solidFill>
                  </a:tcPr>
                </a:tc>
                <a:tc>
                  <a:txBody>
                    <a:bodyPr/>
                    <a:lstStyle/>
                    <a:p>
                      <a:pPr/>
                      <a:r>
                        <a:rPr sz="1100" b="1" i="0">
                          <a:solidFill>
                            <a:srgbClr val="FFFFFF"/>
                          </a:solidFill>
                          <a:latin typeface="Calibri"/>
                        </a:rPr>
                        <a:t>Status</a:t>
                      </a:r>
                    </a:p>
                  </a:txBody>
                  <a:tcPr marL="50000" marR="50000" marT="20000" marB="20000" anchor="ctr">
                    <a:solidFill>
                      <a:srgbClr val="1F3A5F"/>
                    </a:solidFill>
                  </a:tcPr>
                </a:tc>
                <a:tc>
                  <a:txBody>
                    <a:bodyPr/>
                    <a:lstStyle/>
                    <a:p>
                      <a:pPr/>
                      <a:r>
                        <a:rPr sz="1100" b="1" i="0">
                          <a:solidFill>
                            <a:srgbClr val="FFFFFF"/>
                          </a:solidFill>
                          <a:latin typeface="Calibri"/>
                        </a:rPr>
                        <a:t>Notes</a:t>
                      </a:r>
                    </a:p>
                  </a:txBody>
                  <a:tcPr marL="50000" marR="50000" marT="20000" marB="20000" anchor="ctr">
                    <a:solidFill>
                      <a:srgbClr val="1F3A5F"/>
                    </a:solidFill>
                  </a:tcPr>
                </a:tc>
              </a:tr>
              <a:tr h="502920">
                <a:tc>
                  <a:txBody>
                    <a:bodyPr/>
                    <a:lstStyle/>
                    <a:p>
                      <a:pPr algn="l"/>
                      <a:r>
                        <a:rPr sz="1100" b="0" i="0">
                          <a:solidFill>
                            <a:srgbClr val="242424"/>
                          </a:solidFill>
                          <a:latin typeface="Calibri"/>
                        </a:rPr>
                        <a:t>D04 Scheme Effectiveness</a:t>
                      </a:r>
                    </a:p>
                  </a:txBody>
                  <a:tcPr marL="50000" marR="50000" marT="20000" marB="20000" anchor="ctr">
                    <a:solidFill>
                      <a:srgbClr val="FFFFFF"/>
                    </a:solidFill>
                  </a:tcPr>
                </a:tc>
                <a:tc>
                  <a:txBody>
                    <a:bodyPr/>
                    <a:lstStyle/>
                    <a:p>
                      <a:pPr algn="l"/>
                      <a:r>
                        <a:rPr sz="1100" b="0" i="0">
                          <a:solidFill>
                            <a:srgbClr val="242424"/>
                          </a:solidFill>
                          <a:latin typeface="Calibri"/>
                        </a:rPr>
                        <a:t>Candidate – not funded</a:t>
                      </a:r>
                    </a:p>
                  </a:txBody>
                  <a:tcPr marL="50000" marR="50000" marT="20000" marB="20000" anchor="ctr">
                    <a:solidFill>
                      <a:srgbClr val="FFFFFF"/>
                    </a:solidFill>
                  </a:tcPr>
                </a:tc>
                <a:tc>
                  <a:txBody>
                    <a:bodyPr/>
                    <a:lstStyle/>
                    <a:p>
                      <a:pPr algn="l"/>
                      <a:r>
                        <a:rPr sz="1100" b="0" i="0">
                          <a:solidFill>
                            <a:srgbClr val="242424"/>
                          </a:solidFill>
                          <a:latin typeface="Calibri"/>
                        </a:rPr>
                        <a:t>Requested by Sales Ops and Finance; layout already sketched, not built.</a:t>
                      </a:r>
                    </a:p>
                  </a:txBody>
                  <a:tcPr marL="50000" marR="50000" marT="20000" marB="20000" anchor="ctr">
                    <a:solidFill>
                      <a:srgbClr val="FFFFFF"/>
                    </a:solidFill>
                  </a:tcPr>
                </a:tc>
              </a:tr>
              <a:tr h="502920">
                <a:tc>
                  <a:txBody>
                    <a:bodyPr/>
                    <a:lstStyle/>
                    <a:p>
                      <a:pPr algn="l"/>
                      <a:r>
                        <a:rPr sz="1100" b="0" i="0">
                          <a:solidFill>
                            <a:srgbClr val="242424"/>
                          </a:solidFill>
                          <a:latin typeface="Calibri"/>
                        </a:rPr>
                        <a:t>D11 Credit and Receivables Exposure</a:t>
                      </a:r>
                    </a:p>
                  </a:txBody>
                  <a:tcPr marL="50000" marR="50000" marT="20000" marB="20000" anchor="ctr">
                    <a:solidFill>
                      <a:srgbClr val="F2F4F7"/>
                    </a:solidFill>
                  </a:tcPr>
                </a:tc>
                <a:tc>
                  <a:txBody>
                    <a:bodyPr/>
                    <a:lstStyle/>
                    <a:p>
                      <a:pPr algn="l"/>
                      <a:r>
                        <a:rPr sz="1100" b="0" i="0">
                          <a:solidFill>
                            <a:srgbClr val="242424"/>
                          </a:solidFill>
                          <a:latin typeface="Calibri"/>
                        </a:rPr>
                        <a:t>Candidate – not funded, draft layout</a:t>
                      </a:r>
                    </a:p>
                  </a:txBody>
                  <a:tcPr marL="50000" marR="50000" marT="20000" marB="20000" anchor="ctr">
                    <a:solidFill>
                      <a:srgbClr val="F2F4F7"/>
                    </a:solidFill>
                  </a:tcPr>
                </a:tc>
                <a:tc>
                  <a:txBody>
                    <a:bodyPr/>
                    <a:lstStyle/>
                    <a:p>
                      <a:pPr algn="l"/>
                      <a:r>
                        <a:rPr sz="1100" b="0" i="0">
                          <a:solidFill>
                            <a:srgbClr val="242424"/>
                          </a:solidFill>
                          <a:latin typeface="Calibri"/>
                        </a:rPr>
                        <a:t>Not a small addition – the receivables extract is not in the model today.</a:t>
                      </a:r>
                    </a:p>
                  </a:txBody>
                  <a:tcPr marL="50000" marR="50000" marT="20000" marB="20000" anchor="ctr">
                    <a:solidFill>
                      <a:srgbClr val="F2F4F7"/>
                    </a:solidFill>
                  </a:tcPr>
                </a:tc>
              </a:tr>
            </a:tbl>
          </a:graphicData>
        </a:graphic>
      </p:graphicFrame>
      <p:sp>
        <p:nvSpPr>
          <p:cNvPr id="47" name="TextBox 46"/>
          <p:cNvSpPr txBox="1"/>
          <p:nvPr/>
        </p:nvSpPr>
        <p:spPr>
          <a:xfrm>
            <a:off x="320040" y="6537960"/>
            <a:ext cx="4572000" cy="274320"/>
          </a:xfrm>
          <a:prstGeom prst="rect">
            <a:avLst/>
          </a:prstGeom>
          <a:noFill/>
        </p:spPr>
        <p:txBody>
          <a:bodyPr wrap="square" anchor="t">
            <a:spAutoFit/>
          </a:bodyPr>
          <a:lstStyle/>
          <a:p>
            <a:pPr algn="l"/>
            <a:r>
              <a:rPr sz="800" b="0" i="0">
                <a:solidFill>
                  <a:srgbClr val="AFB7C0"/>
                </a:solidFill>
                <a:latin typeface="Calibri"/>
              </a:rPr>
              <a:t>Bharadwaj Consumer Products Ltd | Project Drishti</a:t>
            </a:r>
          </a:p>
        </p:txBody>
      </p:sp>
      <p:sp>
        <p:nvSpPr>
          <p:cNvPr id="48" name="TextBox 47"/>
          <p:cNvSpPr txBox="1"/>
          <p:nvPr/>
        </p:nvSpPr>
        <p:spPr>
          <a:xfrm>
            <a:off x="4206240" y="6537960"/>
            <a:ext cx="3840480" cy="274320"/>
          </a:xfrm>
          <a:prstGeom prst="rect">
            <a:avLst/>
          </a:prstGeom>
          <a:noFill/>
        </p:spPr>
        <p:txBody>
          <a:bodyPr wrap="square" anchor="t">
            <a:spAutoFit/>
          </a:bodyPr>
          <a:lstStyle/>
          <a:p>
            <a:pPr algn="ctr"/>
            <a:r>
              <a:rPr sz="800" b="0" i="1">
                <a:solidFill>
                  <a:srgbClr val="AFB7C0"/>
                </a:solidFill>
                <a:latin typeface="Calibri"/>
              </a:rPr>
              <a:t>Confidential – Internal Working Draft v2</a:t>
            </a:r>
          </a:p>
        </p:txBody>
      </p:sp>
      <p:sp>
        <p:nvSpPr>
          <p:cNvPr id="49" name="TextBox 48"/>
          <p:cNvSpPr txBox="1"/>
          <p:nvPr/>
        </p:nvSpPr>
        <p:spPr>
          <a:xfrm>
            <a:off x="10881360" y="6537960"/>
            <a:ext cx="914400" cy="274320"/>
          </a:xfrm>
          <a:prstGeom prst="rect">
            <a:avLst/>
          </a:prstGeom>
          <a:noFill/>
        </p:spPr>
        <p:txBody>
          <a:bodyPr wrap="square" anchor="t">
            <a:spAutoFit/>
          </a:bodyPr>
          <a:lstStyle/>
          <a:p>
            <a:pPr algn="r"/>
            <a:r>
              <a:rPr sz="800" b="0" i="0">
                <a:solidFill>
                  <a:srgbClr val="AFB7C0"/>
                </a:solidFill>
                <a:latin typeface="Calibr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200" b="1" i="0">
                <a:solidFill>
                  <a:srgbClr val="142640"/>
                </a:solidFill>
                <a:latin typeface="Calibri"/>
              </a:rPr>
              <a:t>Open question - distributor-level drill-down</a:t>
            </a:r>
          </a:p>
        </p:txBody>
      </p:sp>
      <p:sp>
        <p:nvSpPr>
          <p:cNvPr id="3" name="TextBox 2"/>
          <p:cNvSpPr txBox="1"/>
          <p:nvPr/>
        </p:nvSpPr>
        <p:spPr>
          <a:xfrm>
            <a:off x="274320" y="868680"/>
            <a:ext cx="11612880" cy="777240"/>
          </a:xfrm>
          <a:prstGeom prst="rect">
            <a:avLst/>
          </a:prstGeom>
          <a:noFill/>
        </p:spPr>
        <p:txBody>
          <a:bodyPr wrap="square" anchor="t">
            <a:spAutoFit/>
          </a:bodyPr>
          <a:lstStyle/>
          <a:p>
            <a:pPr algn="l"/>
            <a:r>
              <a:rPr sz="1050" b="0" i="0">
                <a:solidFill>
                  <a:srgbClr val="242424"/>
                </a:solidFill>
                <a:latin typeface="Calibri"/>
              </a:rPr>
              <a:t>Raised repeatedly through the 05-Aug workshop (three separate rounds on the same three positions). Not resolved there. Carried forward here as the single biggest open item against this wireframe pack – everything else in this deck can be built against the seven as shown, this one cannot be finalised yet, and it touches every page, not just one.</a:t>
            </a:r>
          </a:p>
        </p:txBody>
      </p:sp>
      <p:graphicFrame>
        <p:nvGraphicFramePr>
          <p:cNvPr id="4" name="Table 3"/>
          <p:cNvGraphicFramePr>
            <a:graphicFrameLocks noGrp="1"/>
          </p:cNvGraphicFramePr>
          <p:nvPr/>
        </p:nvGraphicFramePr>
        <p:xfrm>
          <a:off x="274320" y="1691640"/>
          <a:ext cx="6400800" cy="2423160"/>
        </p:xfrm>
        <a:graphic>
          <a:graphicData uri="http://schemas.openxmlformats.org/drawingml/2006/table">
            <a:tbl>
              <a:tblPr firstRow="1" bandRow="1">
                <a:tableStyleId>{5C22544A-7EE6-4342-B048-85BDC9FD1C3A}</a:tableStyleId>
              </a:tblPr>
              <a:tblGrid>
                <a:gridCol w="2011680"/>
                <a:gridCol w="4389120"/>
              </a:tblGrid>
              <a:tr h="484632">
                <a:tc>
                  <a:txBody>
                    <a:bodyPr/>
                    <a:lstStyle/>
                    <a:p>
                      <a:pPr algn="l"/>
                      <a:r>
                        <a:rPr sz="950" b="1" i="0">
                          <a:solidFill>
                            <a:srgbClr val="FFFFFF"/>
                          </a:solidFill>
                          <a:latin typeface="Calibri"/>
                        </a:rPr>
                        <a:t>Position</a:t>
                      </a:r>
                    </a:p>
                  </a:txBody>
                  <a:tcPr marL="50000" marR="50000" marT="20000" marB="20000" anchor="ctr">
                    <a:solidFill>
                      <a:srgbClr val="1F3A5F"/>
                    </a:solidFill>
                  </a:tcPr>
                </a:tc>
                <a:tc>
                  <a:txBody>
                    <a:bodyPr/>
                    <a:lstStyle/>
                    <a:p>
                      <a:pPr/>
                      <a:r>
                        <a:rPr sz="950" b="1" i="0">
                          <a:solidFill>
                            <a:srgbClr val="FFFFFF"/>
                          </a:solidFill>
                          <a:latin typeface="Calibri"/>
                        </a:rPr>
                        <a:t>Detail</a:t>
                      </a:r>
                    </a:p>
                  </a:txBody>
                  <a:tcPr marL="50000" marR="50000" marT="20000" marB="20000" anchor="ctr">
                    <a:solidFill>
                      <a:srgbClr val="1F3A5F"/>
                    </a:solidFill>
                  </a:tcPr>
                </a:tc>
              </a:tr>
              <a:tr h="484632">
                <a:tc>
                  <a:txBody>
                    <a:bodyPr/>
                    <a:lstStyle/>
                    <a:p>
                      <a:pPr algn="l"/>
                      <a:r>
                        <a:rPr sz="900" b="0" i="0">
                          <a:solidFill>
                            <a:srgbClr val="242424"/>
                          </a:solidFill>
                          <a:latin typeface="Calibri"/>
                        </a:rPr>
                        <a:t>Vikram Sethi (Sales Ops)</a:t>
                      </a:r>
                    </a:p>
                  </a:txBody>
                  <a:tcPr marL="50000" marR="50000" marT="20000" marB="20000" anchor="ctr">
                    <a:solidFill>
                      <a:srgbClr val="FFFFFF"/>
                    </a:solidFill>
                  </a:tcPr>
                </a:tc>
                <a:tc>
                  <a:txBody>
                    <a:bodyPr/>
                    <a:lstStyle/>
                    <a:p>
                      <a:pPr algn="l"/>
                      <a:r>
                        <a:rPr sz="900" b="0" i="0">
                          <a:solidFill>
                            <a:srgbClr val="242424"/>
                          </a:solidFill>
                          <a:latin typeface="Calibri"/>
                        </a:rPr>
                        <a:t>Wants full stockist-level drill-down on every page, primary and secondary side by side. Not a top-N view, not a separate report.</a:t>
                      </a:r>
                    </a:p>
                  </a:txBody>
                  <a:tcPr marL="50000" marR="50000" marT="20000" marB="20000" anchor="ctr">
                    <a:solidFill>
                      <a:srgbClr val="FFFFFF"/>
                    </a:solidFill>
                  </a:tcPr>
                </a:tc>
              </a:tr>
              <a:tr h="484632">
                <a:tc>
                  <a:txBody>
                    <a:bodyPr/>
                    <a:lstStyle/>
                    <a:p>
                      <a:pPr algn="l"/>
                      <a:r>
                        <a:rPr sz="900" b="0" i="0">
                          <a:solidFill>
                            <a:srgbClr val="242424"/>
                          </a:solidFill>
                          <a:latin typeface="Calibri"/>
                        </a:rPr>
                        <a:t>Ritwik Ghosh (BI Developer)</a:t>
                      </a:r>
                    </a:p>
                  </a:txBody>
                  <a:tcPr marL="50000" marR="50000" marT="20000" marB="20000" anchor="ctr">
                    <a:solidFill>
                      <a:srgbClr val="F2F4F7"/>
                    </a:solidFill>
                  </a:tcPr>
                </a:tc>
                <a:tc>
                  <a:txBody>
                    <a:bodyPr/>
                    <a:lstStyle/>
                    <a:p>
                      <a:pPr algn="l"/>
                      <a:r>
                        <a:rPr sz="900" b="0" i="0">
                          <a:solidFill>
                            <a:srgbClr val="242424"/>
                          </a:solidFill>
                          <a:latin typeface="Calibri"/>
                        </a:rPr>
                        <a:t>This changes the grain of every page, not just adds scope. One visual, one message is already under pressure; blending a partial secondary feed onto revenue pages puts two truths on one page.</a:t>
                      </a:r>
                    </a:p>
                  </a:txBody>
                  <a:tcPr marL="50000" marR="50000" marT="20000" marB="20000" anchor="ctr">
                    <a:solidFill>
                      <a:srgbClr val="F2F4F7"/>
                    </a:solidFill>
                  </a:tcPr>
                </a:tc>
              </a:tr>
              <a:tr h="484632">
                <a:tc>
                  <a:txBody>
                    <a:bodyPr/>
                    <a:lstStyle/>
                    <a:p>
                      <a:pPr algn="l"/>
                      <a:r>
                        <a:rPr sz="900" b="0" i="0">
                          <a:solidFill>
                            <a:srgbClr val="242424"/>
                          </a:solidFill>
                          <a:latin typeface="Calibri"/>
                        </a:rPr>
                        <a:t>Priya Nair</a:t>
                      </a:r>
                    </a:p>
                  </a:txBody>
                  <a:tcPr marL="50000" marR="50000" marT="20000" marB="20000" anchor="ctr">
                    <a:solidFill>
                      <a:srgbClr val="FFFFFF"/>
                    </a:solidFill>
                  </a:tcPr>
                </a:tc>
                <a:tc>
                  <a:txBody>
                    <a:bodyPr/>
                    <a:lstStyle/>
                    <a:p>
                      <a:pPr algn="l"/>
                      <a:r>
                        <a:rPr sz="900" b="0" i="0">
                          <a:solidFill>
                            <a:srgbClr val="242424"/>
                          </a:solidFill>
                          <a:latin typeface="Calibri"/>
                        </a:rPr>
                        <a:t>RLS by region already narrows the table for regional roles, so the volume problem is smaller than it looks – but the national / all-region view still has one.</a:t>
                      </a:r>
                    </a:p>
                  </a:txBody>
                  <a:tcPr marL="50000" marR="50000" marT="20000" marB="20000" anchor="ctr">
                    <a:solidFill>
                      <a:srgbClr val="FFFFFF"/>
                    </a:solidFill>
                  </a:tcPr>
                </a:tc>
              </a:tr>
              <a:tr h="484632">
                <a:tc>
                  <a:txBody>
                    <a:bodyPr/>
                    <a:lstStyle/>
                    <a:p>
                      <a:pPr algn="l"/>
                      <a:r>
                        <a:rPr sz="900" b="0" i="0">
                          <a:solidFill>
                            <a:srgbClr val="242424"/>
                          </a:solidFill>
                          <a:latin typeface="Calibri"/>
                        </a:rPr>
                        <a:t>Shalini Iyer</a:t>
                      </a:r>
                    </a:p>
                  </a:txBody>
                  <a:tcPr marL="50000" marR="50000" marT="20000" marB="20000" anchor="ctr">
                    <a:solidFill>
                      <a:srgbClr val="F2F4F7"/>
                    </a:solidFill>
                  </a:tcPr>
                </a:tc>
                <a:tc>
                  <a:txBody>
                    <a:bodyPr/>
                    <a:lstStyle/>
                    <a:p>
                      <a:pPr algn="l"/>
                      <a:r>
                        <a:rPr sz="900" b="0" i="0">
                          <a:solidFill>
                            <a:srgbClr val="242424"/>
                          </a:solidFill>
                          <a:latin typeface="Calibri"/>
                        </a:rPr>
                        <a:t>This is a data model question for Karthik, not really a layout decision – wants it taken there before it comes back to design.</a:t>
                      </a:r>
                    </a:p>
                  </a:txBody>
                  <a:tcPr marL="50000" marR="50000" marT="20000" marB="20000" anchor="ctr">
                    <a:solidFill>
                      <a:srgbClr val="F2F4F7"/>
                    </a:solidFill>
                  </a:tcPr>
                </a:tc>
              </a:tr>
            </a:tbl>
          </a:graphicData>
        </a:graphic>
      </p:graphicFrame>
      <p:sp>
        <p:nvSpPr>
          <p:cNvPr id="5" name="Rectangle 4"/>
          <p:cNvSpPr/>
          <p:nvPr/>
        </p:nvSpPr>
        <p:spPr>
          <a:xfrm>
            <a:off x="6858000" y="1691640"/>
            <a:ext cx="5029200" cy="1051560"/>
          </a:xfrm>
          <a:prstGeom prst="rect">
            <a:avLst/>
          </a:prstGeom>
          <a:solidFill>
            <a:srgbClr val="FBF3E3"/>
          </a:solidFill>
          <a:ln w="12700">
            <a:solidFill>
              <a:srgbClr val="C16B1E"/>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1050" b="0" i="1">
                <a:solidFill>
                  <a:srgbClr val="242424"/>
                </a:solidFill>
                <a:latin typeface="Calibri"/>
              </a:rPr>
              <a:t>“three forty stockists, every page, primary and secondary side by side”</a:t>
            </a:r>
          </a:p>
          <a:p>
            <a:pPr algn="l"/>
            <a:r>
              <a:rPr sz="1050" b="0" i="1">
                <a:solidFill>
                  <a:srgbClr val="242424"/>
                </a:solidFill>
                <a:latin typeface="Calibri"/>
              </a:rPr>
              <a:t>- Vikram Sethi, dashboard scope workshop, 5-Aug</a:t>
            </a:r>
          </a:p>
        </p:txBody>
      </p:sp>
      <p:sp>
        <p:nvSpPr>
          <p:cNvPr id="6" name="Rectangle 5"/>
          <p:cNvSpPr/>
          <p:nvPr/>
        </p:nvSpPr>
        <p:spPr>
          <a:xfrm>
            <a:off x="6858000" y="2834640"/>
            <a:ext cx="5029200" cy="822960"/>
          </a:xfrm>
          <a:prstGeom prst="rect">
            <a:avLst/>
          </a:prstGeom>
          <a:solidFill>
            <a:srgbClr val="F6E3E1"/>
          </a:solidFill>
          <a:ln w="12700">
            <a:solidFill>
              <a:srgbClr val="A63A33"/>
            </a:solidFill>
          </a:ln>
          <a:effectLst/>
        </p:spPr>
        <p:style>
          <a:lnRef idx="1">
            <a:schemeClr val="accent1"/>
          </a:lnRef>
          <a:fillRef idx="3">
            <a:schemeClr val="accent1"/>
          </a:fillRef>
          <a:effectRef idx="2">
            <a:schemeClr val="accent1"/>
          </a:effectRef>
          <a:fontRef idx="minor">
            <a:schemeClr val="lt1"/>
          </a:fontRef>
        </p:style>
        <p:txBody>
          <a:bodyPr rtlCol="0" anchor="ctr" wrap="square" lIns="45000" rIns="45000" tIns="20000" bIns="20000"/>
          <a:lstStyle/>
          <a:p>
            <a:pPr algn="l"/>
            <a:r>
              <a:rPr sz="1000" b="0" i="0">
                <a:solidFill>
                  <a:srgbClr val="242424"/>
                </a:solidFill>
                <a:latin typeface="Calibri"/>
              </a:rPr>
              <a:t>STATUS: OPEN – no owner, no date.</a:t>
            </a:r>
          </a:p>
          <a:p>
            <a:pPr algn="l"/>
            <a:r>
              <a:rPr sz="1000" b="0" i="0">
                <a:solidFill>
                  <a:srgbClr val="242424"/>
                </a:solidFill>
                <a:latin typeface="Calibri"/>
              </a:rPr>
              <a:t>Ananya to pick up separately with Karthik and Vikram on what is actually feasible in the model (grain question). &lt;check with Karthik&gt;</a:t>
            </a:r>
          </a:p>
        </p:txBody>
      </p:sp>
      <p:sp>
        <p:nvSpPr>
          <p:cNvPr id="7" name="TextBox 6"/>
          <p:cNvSpPr txBox="1"/>
          <p:nvPr/>
        </p:nvSpPr>
        <p:spPr>
          <a:xfrm>
            <a:off x="6858000" y="3749039"/>
            <a:ext cx="5029200" cy="1051560"/>
          </a:xfrm>
          <a:prstGeom prst="rect">
            <a:avLst/>
          </a:prstGeom>
          <a:noFill/>
        </p:spPr>
        <p:txBody>
          <a:bodyPr wrap="square" anchor="t">
            <a:spAutoFit/>
          </a:bodyPr>
          <a:lstStyle/>
          <a:p>
            <a:pPr algn="l"/>
            <a:r>
              <a:rPr sz="950" b="0" i="1">
                <a:solidFill>
                  <a:srgbClr val="4A6F94"/>
                </a:solidFill>
                <a:latin typeface="Calibri"/>
              </a:rPr>
              <a:t>Coverage caveat: secondary side is a DMS upload, not every distributor uploads it, and it lags the primary side. That is part of why a blended number on a revenue page is risky – or at least that is the argument today, might shift once the region split comes back...</a:t>
            </a:r>
          </a:p>
        </p:txBody>
      </p:sp>
      <p:sp>
        <p:nvSpPr>
          <p:cNvPr id="8" name="TextBox 7"/>
          <p:cNvSpPr txBox="1"/>
          <p:nvPr/>
        </p:nvSpPr>
        <p:spPr>
          <a:xfrm>
            <a:off x="274320" y="4251960"/>
            <a:ext cx="6400800" cy="1691640"/>
          </a:xfrm>
          <a:prstGeom prst="rect">
            <a:avLst/>
          </a:prstGeom>
          <a:noFill/>
        </p:spPr>
        <p:txBody>
          <a:bodyPr wrap="square" anchor="t">
            <a:spAutoFit/>
          </a:bodyPr>
          <a:lstStyle/>
          <a:p>
            <a:pPr algn="l"/>
            <a:r>
              <a:rPr sz="1000" b="0" i="0">
                <a:solidFill>
                  <a:srgbClr val="242424"/>
                </a:solidFill>
                <a:latin typeface="Calibri"/>
              </a:rPr>
              <a:t>Risk if left open into build: Ritwik has already started building against the seven-committed spec shown in this pack. A late change to the grain of D01 / D03 means rework, not a tweak. [TBC – how much rework, not sized yet]</a:t>
            </a:r>
          </a:p>
          <a:p>
            <a:pPr algn="l"/>
            <a:r>
              <a:rPr sz="1000" b="0" i="1">
                <a:solidFill>
                  <a:srgbClr val="242424"/>
                </a:solidFill>
                <a:latin typeface="Calibri"/>
              </a:rPr>
              <a:t>Also flagged: “every time it is written down and nothing happens” (Vikram, in the room) – fair comment, this is the fourth time it is on a page and still open.</a:t>
            </a:r>
          </a:p>
          <a:p>
            <a:pPr algn="l"/>
            <a:r>
              <a:rPr sz="1000" b="1" i="0">
                <a:solidFill>
                  <a:srgbClr val="242424"/>
                </a:solidFill>
                <a:latin typeface="Calibri"/>
              </a:rPr>
              <a:t>Definitions.</a:t>
            </a:r>
          </a:p>
        </p:txBody>
      </p:sp>
      <p:sp>
        <p:nvSpPr>
          <p:cNvPr id="9" name="TextBox 8"/>
          <p:cNvSpPr txBox="1"/>
          <p:nvPr/>
        </p:nvSpPr>
        <p:spPr>
          <a:xfrm>
            <a:off x="320040" y="6537960"/>
            <a:ext cx="4572000" cy="274320"/>
          </a:xfrm>
          <a:prstGeom prst="rect">
            <a:avLst/>
          </a:prstGeom>
          <a:noFill/>
        </p:spPr>
        <p:txBody>
          <a:bodyPr wrap="square" anchor="t">
            <a:spAutoFit/>
          </a:bodyPr>
          <a:lstStyle/>
          <a:p>
            <a:pPr algn="l"/>
            <a:r>
              <a:rPr sz="800" b="0" i="0">
                <a:solidFill>
                  <a:srgbClr val="AFB7C0"/>
                </a:solidFill>
                <a:latin typeface="Calibri"/>
              </a:rPr>
              <a:t>Bharadwaj Consumer Products Ltd | Project Drishti</a:t>
            </a:r>
          </a:p>
        </p:txBody>
      </p:sp>
      <p:sp>
        <p:nvSpPr>
          <p:cNvPr id="10" name="TextBox 9"/>
          <p:cNvSpPr txBox="1"/>
          <p:nvPr/>
        </p:nvSpPr>
        <p:spPr>
          <a:xfrm>
            <a:off x="4206240" y="6537960"/>
            <a:ext cx="3840480" cy="274320"/>
          </a:xfrm>
          <a:prstGeom prst="rect">
            <a:avLst/>
          </a:prstGeom>
          <a:noFill/>
        </p:spPr>
        <p:txBody>
          <a:bodyPr wrap="square" anchor="t">
            <a:spAutoFit/>
          </a:bodyPr>
          <a:lstStyle/>
          <a:p>
            <a:pPr algn="ctr"/>
            <a:r>
              <a:rPr sz="800" b="0" i="1">
                <a:solidFill>
                  <a:srgbClr val="AFB7C0"/>
                </a:solidFill>
                <a:latin typeface="Calibri"/>
              </a:rPr>
              <a:t>Confidential – Internal Working Draft v2</a:t>
            </a:r>
          </a:p>
        </p:txBody>
      </p:sp>
      <p:sp>
        <p:nvSpPr>
          <p:cNvPr id="11" name="TextBox 10"/>
          <p:cNvSpPr txBox="1"/>
          <p:nvPr/>
        </p:nvSpPr>
        <p:spPr>
          <a:xfrm>
            <a:off x="10881360" y="6537960"/>
            <a:ext cx="914400" cy="274320"/>
          </a:xfrm>
          <a:prstGeom prst="rect">
            <a:avLst/>
          </a:prstGeom>
          <a:noFill/>
        </p:spPr>
        <p:txBody>
          <a:bodyPr wrap="square" anchor="t">
            <a:spAutoFit/>
          </a:bodyPr>
          <a:lstStyle/>
          <a:p>
            <a:pPr algn="r"/>
            <a:r>
              <a:rPr sz="800" b="0" i="0">
                <a:solidFill>
                  <a:srgbClr val="AFB7C0"/>
                </a:solidFill>
                <a:latin typeface="Calibri"/>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i="0">
                <a:solidFill>
                  <a:srgbClr val="142640"/>
                </a:solidFill>
                <a:latin typeface="Calibri"/>
              </a:rPr>
              <a:t>Next steps and owners</a:t>
            </a:r>
          </a:p>
        </p:txBody>
      </p:sp>
      <p:sp>
        <p:nvSpPr>
          <p:cNvPr id="3" name="Content Placeholder 2"/>
          <p:cNvSpPr>
            <a:spLocks noGrp="1"/>
          </p:cNvSpPr>
          <p:nvPr>
            <p:ph idx="1"/>
          </p:nvPr>
        </p:nvSpPr>
        <p:spPr/>
        <p:txBody>
          <a:bodyPr/>
          <a:lstStyle/>
          <a:p/>
        </p:txBody>
      </p:sp>
      <p:graphicFrame>
        <p:nvGraphicFramePr>
          <p:cNvPr id="4" name="Table 3"/>
          <p:cNvGraphicFramePr>
            <a:graphicFrameLocks noGrp="1"/>
          </p:cNvGraphicFramePr>
          <p:nvPr/>
        </p:nvGraphicFramePr>
        <p:xfrm>
          <a:off x="457200" y="1371600"/>
          <a:ext cx="11247117" cy="4206240"/>
        </p:xfrm>
        <a:graphic>
          <a:graphicData uri="http://schemas.openxmlformats.org/drawingml/2006/table">
            <a:tbl>
              <a:tblPr firstRow="1" bandRow="1">
                <a:tableStyleId>{5C22544A-7EE6-4342-B048-85BDC9FD1C3A}</a:tableStyleId>
              </a:tblPr>
              <a:tblGrid>
                <a:gridCol w="1463039"/>
                <a:gridCol w="4754880"/>
                <a:gridCol w="3108959"/>
                <a:gridCol w="1920239"/>
              </a:tblGrid>
              <a:tr h="420624">
                <a:tc>
                  <a:txBody>
                    <a:bodyPr/>
                    <a:lstStyle/>
                    <a:p>
                      <a:pPr algn="l"/>
                      <a:r>
                        <a:rPr sz="1100" b="1" i="0">
                          <a:solidFill>
                            <a:srgbClr val="FFFFFF"/>
                          </a:solidFill>
                          <a:latin typeface="Calibri"/>
                        </a:rPr>
                        <a:t>Action</a:t>
                      </a:r>
                    </a:p>
                  </a:txBody>
                  <a:tcPr marL="50000" marR="50000" marT="20000" marB="20000" anchor="ctr">
                    <a:solidFill>
                      <a:srgbClr val="1F3A5F"/>
                    </a:solidFill>
                  </a:tcPr>
                </a:tc>
                <a:tc>
                  <a:txBody>
                    <a:bodyPr/>
                    <a:lstStyle/>
                    <a:p>
                      <a:pPr/>
                      <a:r>
                        <a:rPr sz="1100" b="1" i="0">
                          <a:solidFill>
                            <a:srgbClr val="FFFFFF"/>
                          </a:solidFill>
                          <a:latin typeface="Calibri"/>
                        </a:rPr>
                        <a:t>Description</a:t>
                      </a:r>
                    </a:p>
                  </a:txBody>
                  <a:tcPr marL="50000" marR="50000" marT="20000" marB="20000" anchor="ctr">
                    <a:solidFill>
                      <a:srgbClr val="1F3A5F"/>
                    </a:solidFill>
                  </a:tcPr>
                </a:tc>
                <a:tc>
                  <a:txBody>
                    <a:bodyPr/>
                    <a:lstStyle/>
                    <a:p>
                      <a:pPr/>
                      <a:r>
                        <a:rPr sz="1100" b="1" i="0">
                          <a:solidFill>
                            <a:srgbClr val="FFFFFF"/>
                          </a:solidFill>
                          <a:latin typeface="Calibri"/>
                        </a:rPr>
                        <a:t>Owner</a:t>
                      </a:r>
                    </a:p>
                  </a:txBody>
                  <a:tcPr marL="50000" marR="50000" marT="20000" marB="20000" anchor="ctr">
                    <a:solidFill>
                      <a:srgbClr val="1F3A5F"/>
                    </a:solidFill>
                  </a:tcPr>
                </a:tc>
                <a:tc>
                  <a:txBody>
                    <a:bodyPr/>
                    <a:lstStyle/>
                    <a:p>
                      <a:pPr/>
                      <a:r>
                        <a:rPr sz="1100" b="1" i="0">
                          <a:solidFill>
                            <a:srgbClr val="FFFFFF"/>
                          </a:solidFill>
                          <a:latin typeface="Calibri"/>
                        </a:rPr>
                        <a:t>Due</a:t>
                      </a:r>
                    </a:p>
                  </a:txBody>
                  <a:tcPr marL="50000" marR="50000" marT="20000" marB="20000" anchor="ctr">
                    <a:solidFill>
                      <a:srgbClr val="1F3A5F"/>
                    </a:solidFill>
                  </a:tcPr>
                </a:tc>
              </a:tr>
              <a:tr h="420624">
                <a:tc>
                  <a:txBody>
                    <a:bodyPr/>
                    <a:lstStyle/>
                    <a:p>
                      <a:pPr algn="l"/>
                      <a:r>
                        <a:rPr sz="1100" b="0" i="0">
                          <a:solidFill>
                            <a:srgbClr val="242424"/>
                          </a:solidFill>
                          <a:latin typeface="Calibri"/>
                        </a:rPr>
                        <a:t>AI-46</a:t>
                      </a:r>
                    </a:p>
                  </a:txBody>
                  <a:tcPr marL="50000" marR="50000" marT="20000" marB="20000" anchor="ctr">
                    <a:solidFill>
                      <a:srgbClr val="FFFFFF"/>
                    </a:solidFill>
                  </a:tcPr>
                </a:tc>
                <a:tc>
                  <a:txBody>
                    <a:bodyPr/>
                    <a:lstStyle/>
                    <a:p>
                      <a:pPr algn="l"/>
                      <a:r>
                        <a:rPr sz="1100" b="0" i="0">
                          <a:solidFill>
                            <a:srgbClr val="242424"/>
                          </a:solidFill>
                          <a:latin typeface="Calibri"/>
                        </a:rPr>
                        <a:t>One-page definitions sheet: net revenue, primary, secondary, fill rate</a:t>
                      </a:r>
                    </a:p>
                  </a:txBody>
                  <a:tcPr marL="50000" marR="50000" marT="20000" marB="20000" anchor="ctr">
                    <a:solidFill>
                      <a:srgbClr val="FFFFFF"/>
                    </a:solidFill>
                  </a:tcPr>
                </a:tc>
                <a:tc>
                  <a:txBody>
                    <a:bodyPr/>
                    <a:lstStyle/>
                    <a:p>
                      <a:pPr algn="l"/>
                      <a:r>
                        <a:rPr sz="1100" b="0" i="0">
                          <a:solidFill>
                            <a:srgbClr val="242424"/>
                          </a:solidFill>
                          <a:latin typeface="Calibri"/>
                        </a:rPr>
                        <a:t>Shalini Iyer / Ritwik Ghosh</a:t>
                      </a:r>
                    </a:p>
                  </a:txBody>
                  <a:tcPr marL="50000" marR="50000" marT="20000" marB="20000" anchor="ctr">
                    <a:solidFill>
                      <a:srgbClr val="FFFFFF"/>
                    </a:solidFill>
                  </a:tcPr>
                </a:tc>
                <a:tc>
                  <a:txBody>
                    <a:bodyPr/>
                    <a:lstStyle/>
                    <a:p>
                      <a:pPr algn="l"/>
                      <a:r>
                        <a:rPr sz="1100" b="0" i="0">
                          <a:solidFill>
                            <a:srgbClr val="242424"/>
                          </a:solidFill>
                          <a:latin typeface="Calibri"/>
                        </a:rPr>
                        <a:t>TBC</a:t>
                      </a:r>
                    </a:p>
                  </a:txBody>
                  <a:tcPr marL="50000" marR="50000" marT="20000" marB="20000" anchor="ctr">
                    <a:solidFill>
                      <a:srgbClr val="FFFFFF"/>
                    </a:solidFill>
                  </a:tcPr>
                </a:tc>
              </a:tr>
              <a:tr h="420624">
                <a:tc>
                  <a:txBody>
                    <a:bodyPr/>
                    <a:lstStyle/>
                    <a:p>
                      <a:pPr algn="l"/>
                      <a:r>
                        <a:rPr sz="1100" b="0" i="0">
                          <a:solidFill>
                            <a:srgbClr val="242424"/>
                          </a:solidFill>
                          <a:latin typeface="Calibri"/>
                        </a:rPr>
                        <a:t>AI-49</a:t>
                      </a:r>
                    </a:p>
                  </a:txBody>
                  <a:tcPr marL="50000" marR="50000" marT="20000" marB="20000" anchor="ctr">
                    <a:solidFill>
                      <a:srgbClr val="F2F4F7"/>
                    </a:solidFill>
                  </a:tcPr>
                </a:tc>
                <a:tc>
                  <a:txBody>
                    <a:bodyPr/>
                    <a:lstStyle/>
                    <a:p>
                      <a:pPr algn="l"/>
                      <a:r>
                        <a:rPr sz="1100" b="0" i="0">
                          <a:solidFill>
                            <a:srgbClr val="242424"/>
                          </a:solidFill>
                          <a:latin typeface="Calibri"/>
                        </a:rPr>
                        <a:t>“Data as of” card on every page</a:t>
                      </a:r>
                    </a:p>
                  </a:txBody>
                  <a:tcPr marL="50000" marR="50000" marT="20000" marB="20000" anchor="ctr">
                    <a:solidFill>
                      <a:srgbClr val="F2F4F7"/>
                    </a:solidFill>
                  </a:tcPr>
                </a:tc>
                <a:tc>
                  <a:txBody>
                    <a:bodyPr/>
                    <a:lstStyle/>
                    <a:p>
                      <a:pPr algn="l"/>
                      <a:r>
                        <a:rPr sz="1100" b="0" i="0">
                          <a:solidFill>
                            <a:srgbClr val="242424"/>
                          </a:solidFill>
                          <a:latin typeface="Calibri"/>
                        </a:rPr>
                        <a:t>Ritwik Ghosh</a:t>
                      </a:r>
                    </a:p>
                  </a:txBody>
                  <a:tcPr marL="50000" marR="50000" marT="20000" marB="20000" anchor="ctr">
                    <a:solidFill>
                      <a:srgbClr val="F2F4F7"/>
                    </a:solidFill>
                  </a:tcPr>
                </a:tc>
                <a:tc>
                  <a:txBody>
                    <a:bodyPr/>
                    <a:lstStyle/>
                    <a:p>
                      <a:pPr algn="l"/>
                      <a:r>
                        <a:rPr sz="1100" b="0" i="0">
                          <a:solidFill>
                            <a:srgbClr val="242424"/>
                          </a:solidFill>
                          <a:latin typeface="Calibri"/>
                        </a:rPr>
                        <a:t>Ongoing (this pack)</a:t>
                      </a:r>
                    </a:p>
                  </a:txBody>
                  <a:tcPr marL="50000" marR="50000" marT="20000" marB="20000" anchor="ctr">
                    <a:solidFill>
                      <a:srgbClr val="F2F4F7"/>
                    </a:solidFill>
                  </a:tcPr>
                </a:tc>
              </a:tr>
              <a:tr h="420624">
                <a:tc>
                  <a:txBody>
                    <a:bodyPr/>
                    <a:lstStyle/>
                    <a:p>
                      <a:pPr algn="l"/>
                      <a:r>
                        <a:rPr sz="1100" b="0" i="0">
                          <a:solidFill>
                            <a:srgbClr val="242424"/>
                          </a:solidFill>
                          <a:latin typeface="Calibri"/>
                        </a:rPr>
                        <a:t>AI-50</a:t>
                      </a:r>
                    </a:p>
                  </a:txBody>
                  <a:tcPr marL="50000" marR="50000" marT="20000" marB="20000" anchor="ctr">
                    <a:solidFill>
                      <a:srgbClr val="FFFFFF"/>
                    </a:solidFill>
                  </a:tcPr>
                </a:tc>
                <a:tc>
                  <a:txBody>
                    <a:bodyPr/>
                    <a:lstStyle/>
                    <a:p>
                      <a:pPr algn="l"/>
                      <a:r>
                        <a:rPr sz="1100" b="0" i="0">
                          <a:solidFill>
                            <a:srgbClr val="242424"/>
                          </a:solidFill>
                          <a:latin typeface="Calibri"/>
                        </a:rPr>
                        <a:t>Confirm plant attribution – modelled or derived from depot</a:t>
                      </a:r>
                    </a:p>
                  </a:txBody>
                  <a:tcPr marL="50000" marR="50000" marT="20000" marB="20000" anchor="ctr">
                    <a:solidFill>
                      <a:srgbClr val="FFFFFF"/>
                    </a:solidFill>
                  </a:tcPr>
                </a:tc>
                <a:tc>
                  <a:txBody>
                    <a:bodyPr/>
                    <a:lstStyle/>
                    <a:p>
                      <a:pPr algn="l"/>
                      <a:r>
                        <a:rPr sz="1100" b="0" i="0">
                          <a:solidFill>
                            <a:srgbClr val="242424"/>
                          </a:solidFill>
                          <a:latin typeface="Calibri"/>
                        </a:rPr>
                        <a:t>Ritwik Ghosh (with Ishaan Bhatt)</a:t>
                      </a:r>
                    </a:p>
                  </a:txBody>
                  <a:tcPr marL="50000" marR="50000" marT="20000" marB="20000" anchor="ctr">
                    <a:solidFill>
                      <a:srgbClr val="FFFFFF"/>
                    </a:solidFill>
                  </a:tcPr>
                </a:tc>
                <a:tc>
                  <a:txBody>
                    <a:bodyPr/>
                    <a:lstStyle/>
                    <a:p>
                      <a:pPr algn="l"/>
                      <a:r>
                        <a:rPr sz="1100" b="0" i="0">
                          <a:solidFill>
                            <a:srgbClr val="242424"/>
                          </a:solidFill>
                          <a:latin typeface="Calibri"/>
                        </a:rPr>
                        <a:t>TBC</a:t>
                      </a:r>
                    </a:p>
                  </a:txBody>
                  <a:tcPr marL="50000" marR="50000" marT="20000" marB="20000" anchor="ctr">
                    <a:solidFill>
                      <a:srgbClr val="FFFFFF"/>
                    </a:solidFill>
                  </a:tcPr>
                </a:tc>
              </a:tr>
              <a:tr h="420624">
                <a:tc>
                  <a:txBody>
                    <a:bodyPr/>
                    <a:lstStyle/>
                    <a:p>
                      <a:pPr algn="l"/>
                      <a:r>
                        <a:rPr sz="1100" b="0" i="0">
                          <a:solidFill>
                            <a:srgbClr val="242424"/>
                          </a:solidFill>
                          <a:latin typeface="Calibri"/>
                        </a:rPr>
                        <a:t>AI-51</a:t>
                      </a:r>
                    </a:p>
                  </a:txBody>
                  <a:tcPr marL="50000" marR="50000" marT="20000" marB="20000" anchor="ctr">
                    <a:solidFill>
                      <a:srgbClr val="F2F4F7"/>
                    </a:solidFill>
                  </a:tcPr>
                </a:tc>
                <a:tc>
                  <a:txBody>
                    <a:bodyPr/>
                    <a:lstStyle/>
                    <a:p>
                      <a:pPr algn="l"/>
                      <a:r>
                        <a:rPr sz="1100" b="0" i="0">
                          <a:solidFill>
                            <a:srgbClr val="242424"/>
                          </a:solidFill>
                          <a:latin typeface="Calibri"/>
                        </a:rPr>
                        <a:t>Send monthly Unknown-product line counts to Ritwik</a:t>
                      </a:r>
                    </a:p>
                  </a:txBody>
                  <a:tcPr marL="50000" marR="50000" marT="20000" marB="20000" anchor="ctr">
                    <a:solidFill>
                      <a:srgbClr val="F2F4F7"/>
                    </a:solidFill>
                  </a:tcPr>
                </a:tc>
                <a:tc>
                  <a:txBody>
                    <a:bodyPr/>
                    <a:lstStyle/>
                    <a:p>
                      <a:pPr algn="l"/>
                      <a:r>
                        <a:rPr sz="1100" b="0" i="0">
                          <a:solidFill>
                            <a:srgbClr val="242424"/>
                          </a:solidFill>
                          <a:latin typeface="Calibri"/>
                        </a:rPr>
                        <a:t>Meghna Rao</a:t>
                      </a:r>
                    </a:p>
                  </a:txBody>
                  <a:tcPr marL="50000" marR="50000" marT="20000" marB="20000" anchor="ctr">
                    <a:solidFill>
                      <a:srgbClr val="F2F4F7"/>
                    </a:solidFill>
                  </a:tcPr>
                </a:tc>
                <a:tc>
                  <a:txBody>
                    <a:bodyPr/>
                    <a:lstStyle/>
                    <a:p>
                      <a:pPr algn="l"/>
                      <a:r>
                        <a:rPr sz="1100" b="0" i="0">
                          <a:solidFill>
                            <a:srgbClr val="242424"/>
                          </a:solidFill>
                          <a:latin typeface="Calibri"/>
                        </a:rPr>
                        <a:t>Ongoing</a:t>
                      </a:r>
                    </a:p>
                  </a:txBody>
                  <a:tcPr marL="50000" marR="50000" marT="20000" marB="20000" anchor="ctr">
                    <a:solidFill>
                      <a:srgbClr val="F2F4F7"/>
                    </a:solidFill>
                  </a:tcPr>
                </a:tc>
              </a:tr>
              <a:tr h="420624">
                <a:tc>
                  <a:txBody>
                    <a:bodyPr/>
                    <a:lstStyle/>
                    <a:p>
                      <a:pPr algn="l"/>
                      <a:r>
                        <a:rPr sz="1100" b="0" i="0">
                          <a:solidFill>
                            <a:srgbClr val="242424"/>
                          </a:solidFill>
                          <a:latin typeface="Calibri"/>
                        </a:rPr>
                        <a:t>AI-52</a:t>
                      </a:r>
                    </a:p>
                  </a:txBody>
                  <a:tcPr marL="50000" marR="50000" marT="20000" marB="20000" anchor="ctr">
                    <a:solidFill>
                      <a:srgbClr val="FFFFFF"/>
                    </a:solidFill>
                  </a:tcPr>
                </a:tc>
                <a:tc>
                  <a:txBody>
                    <a:bodyPr/>
                    <a:lstStyle/>
                    <a:p>
                      <a:pPr algn="l"/>
                      <a:r>
                        <a:rPr sz="1100" b="0" i="0">
                          <a:solidFill>
                            <a:srgbClr val="242424"/>
                          </a:solidFill>
                          <a:latin typeface="Calibri"/>
                        </a:rPr>
                        <a:t>All-region access list</a:t>
                      </a:r>
                    </a:p>
                  </a:txBody>
                  <a:tcPr marL="50000" marR="50000" marT="20000" marB="20000" anchor="ctr">
                    <a:solidFill>
                      <a:srgbClr val="FFFFFF"/>
                    </a:solidFill>
                  </a:tcPr>
                </a:tc>
                <a:tc>
                  <a:txBody>
                    <a:bodyPr/>
                    <a:lstStyle/>
                    <a:p>
                      <a:pPr algn="l"/>
                      <a:r>
                        <a:rPr sz="1100" b="0" i="0">
                          <a:solidFill>
                            <a:srgbClr val="242424"/>
                          </a:solidFill>
                          <a:latin typeface="Calibri"/>
                        </a:rPr>
                        <a:t>Shalini Iyer</a:t>
                      </a:r>
                    </a:p>
                  </a:txBody>
                  <a:tcPr marL="50000" marR="50000" marT="20000" marB="20000" anchor="ctr">
                    <a:solidFill>
                      <a:srgbClr val="FFFFFF"/>
                    </a:solidFill>
                  </a:tcPr>
                </a:tc>
                <a:tc>
                  <a:txBody>
                    <a:bodyPr/>
                    <a:lstStyle/>
                    <a:p>
                      <a:pPr algn="l"/>
                      <a:r>
                        <a:rPr sz="1100" b="0" i="0">
                          <a:solidFill>
                            <a:srgbClr val="242424"/>
                          </a:solidFill>
                          <a:latin typeface="Calibri"/>
                        </a:rPr>
                        <a:t>End of next week</a:t>
                      </a:r>
                    </a:p>
                  </a:txBody>
                  <a:tcPr marL="50000" marR="50000" marT="20000" marB="20000" anchor="ctr">
                    <a:solidFill>
                      <a:srgbClr val="FFFFFF"/>
                    </a:solidFill>
                  </a:tcPr>
                </a:tc>
              </a:tr>
              <a:tr h="420624">
                <a:tc>
                  <a:txBody>
                    <a:bodyPr/>
                    <a:lstStyle/>
                    <a:p>
                      <a:pPr algn="l"/>
                      <a:r>
                        <a:rPr sz="1100" b="0" i="0">
                          <a:solidFill>
                            <a:srgbClr val="242424"/>
                          </a:solidFill>
                          <a:latin typeface="Calibri"/>
                        </a:rPr>
                        <a:t>AI-53</a:t>
                      </a:r>
                    </a:p>
                  </a:txBody>
                  <a:tcPr marL="50000" marR="50000" marT="20000" marB="20000" anchor="ctr">
                    <a:solidFill>
                      <a:srgbClr val="F2F4F7"/>
                    </a:solidFill>
                  </a:tcPr>
                </a:tc>
                <a:tc>
                  <a:txBody>
                    <a:bodyPr/>
                    <a:lstStyle/>
                    <a:p>
                      <a:pPr algn="l"/>
                      <a:r>
                        <a:rPr sz="1100" b="0" i="0">
                          <a:solidFill>
                            <a:srgbClr val="242424"/>
                          </a:solidFill>
                          <a:latin typeface="Calibri"/>
                        </a:rPr>
                        <a:t>Secondary coverage split by region</a:t>
                      </a:r>
                    </a:p>
                  </a:txBody>
                  <a:tcPr marL="50000" marR="50000" marT="20000" marB="20000" anchor="ctr">
                    <a:solidFill>
                      <a:srgbClr val="F2F4F7"/>
                    </a:solidFill>
                  </a:tcPr>
                </a:tc>
                <a:tc>
                  <a:txBody>
                    <a:bodyPr/>
                    <a:lstStyle/>
                    <a:p>
                      <a:pPr algn="l"/>
                      <a:r>
                        <a:rPr sz="1100" b="0" i="0">
                          <a:solidFill>
                            <a:srgbClr val="242424"/>
                          </a:solidFill>
                          <a:latin typeface="Calibri"/>
                        </a:rPr>
                        <a:t>Meghna Rao</a:t>
                      </a:r>
                    </a:p>
                  </a:txBody>
                  <a:tcPr marL="50000" marR="50000" marT="20000" marB="20000" anchor="ctr">
                    <a:solidFill>
                      <a:srgbClr val="F2F4F7"/>
                    </a:solidFill>
                  </a:tcPr>
                </a:tc>
                <a:tc>
                  <a:txBody>
                    <a:bodyPr/>
                    <a:lstStyle/>
                    <a:p>
                      <a:pPr algn="l"/>
                      <a:r>
                        <a:rPr sz="1100" b="0" i="0">
                          <a:solidFill>
                            <a:srgbClr val="242424"/>
                          </a:solidFill>
                          <a:latin typeface="Calibri"/>
                        </a:rPr>
                        <a:t>This week</a:t>
                      </a:r>
                    </a:p>
                  </a:txBody>
                  <a:tcPr marL="50000" marR="50000" marT="20000" marB="20000" anchor="ctr">
                    <a:solidFill>
                      <a:srgbClr val="F2F4F7"/>
                    </a:solidFill>
                  </a:tcPr>
                </a:tc>
              </a:tr>
              <a:tr h="420624">
                <a:tc>
                  <a:txBody>
                    <a:bodyPr/>
                    <a:lstStyle/>
                    <a:p>
                      <a:pPr algn="l"/>
                      <a:r>
                        <a:rPr sz="1100" b="0" i="0">
                          <a:solidFill>
                            <a:srgbClr val="242424"/>
                          </a:solidFill>
                          <a:latin typeface="Calibri"/>
                        </a:rPr>
                        <a:t>AI-54</a:t>
                      </a:r>
                    </a:p>
                  </a:txBody>
                  <a:tcPr marL="50000" marR="50000" marT="20000" marB="20000" anchor="ctr">
                    <a:solidFill>
                      <a:srgbClr val="FFFFFF"/>
                    </a:solidFill>
                  </a:tcPr>
                </a:tc>
                <a:tc>
                  <a:txBody>
                    <a:bodyPr/>
                    <a:lstStyle/>
                    <a:p>
                      <a:pPr algn="l"/>
                      <a:r>
                        <a:rPr sz="1100" b="0" i="0">
                          <a:solidFill>
                            <a:srgbClr val="242424"/>
                          </a:solidFill>
                          <a:latin typeface="Calibri"/>
                        </a:rPr>
                        <a:t>Circulate this wireframe pack</a:t>
                      </a:r>
                    </a:p>
                  </a:txBody>
                  <a:tcPr marL="50000" marR="50000" marT="20000" marB="20000" anchor="ctr">
                    <a:solidFill>
                      <a:srgbClr val="FFFFFF"/>
                    </a:solidFill>
                  </a:tcPr>
                </a:tc>
                <a:tc>
                  <a:txBody>
                    <a:bodyPr/>
                    <a:lstStyle/>
                    <a:p>
                      <a:pPr algn="l"/>
                      <a:r>
                        <a:rPr sz="1100" b="0" i="0">
                          <a:solidFill>
                            <a:srgbClr val="242424"/>
                          </a:solidFill>
                          <a:latin typeface="Calibri"/>
                        </a:rPr>
                        <a:t>Ritwik Ghosh</a:t>
                      </a:r>
                    </a:p>
                  </a:txBody>
                  <a:tcPr marL="50000" marR="50000" marT="20000" marB="20000" anchor="ctr">
                    <a:solidFill>
                      <a:srgbClr val="FFFFFF"/>
                    </a:solidFill>
                  </a:tcPr>
                </a:tc>
                <a:tc>
                  <a:txBody>
                    <a:bodyPr/>
                    <a:lstStyle/>
                    <a:p>
                      <a:pPr algn="l"/>
                      <a:r>
                        <a:rPr sz="1100" b="0" i="0">
                          <a:solidFill>
                            <a:srgbClr val="242424"/>
                          </a:solidFill>
                          <a:latin typeface="Calibri"/>
                        </a:rPr>
                        <a:t>Done – this deck</a:t>
                      </a:r>
                    </a:p>
                  </a:txBody>
                  <a:tcPr marL="50000" marR="50000" marT="20000" marB="20000" anchor="ctr">
                    <a:solidFill>
                      <a:srgbClr val="FFFFFF"/>
                    </a:solidFill>
                  </a:tcPr>
                </a:tc>
              </a:tr>
              <a:tr h="420624">
                <a:tc>
                  <a:txBody>
                    <a:bodyPr/>
                    <a:lstStyle/>
                    <a:p>
                      <a:pPr algn="l"/>
                      <a:r>
                        <a:rPr sz="1100" b="0" i="0">
                          <a:solidFill>
                            <a:srgbClr val="242424"/>
                          </a:solidFill>
                          <a:latin typeface="Calibri"/>
                        </a:rPr>
                        <a:t>AI-55</a:t>
                      </a:r>
                    </a:p>
                  </a:txBody>
                  <a:tcPr marL="50000" marR="50000" marT="20000" marB="20000" anchor="ctr">
                    <a:solidFill>
                      <a:srgbClr val="F2F4F7"/>
                    </a:solidFill>
                  </a:tcPr>
                </a:tc>
                <a:tc>
                  <a:txBody>
                    <a:bodyPr/>
                    <a:lstStyle/>
                    <a:p>
                      <a:pPr algn="l"/>
                      <a:r>
                        <a:rPr sz="1100" b="0" i="0">
                          <a:solidFill>
                            <a:srgbClr val="242424"/>
                          </a:solidFill>
                          <a:latin typeface="Calibri"/>
                        </a:rPr>
                        <a:t>Confirm fill rate definition in existing report</a:t>
                      </a:r>
                    </a:p>
                  </a:txBody>
                  <a:tcPr marL="50000" marR="50000" marT="20000" marB="20000" anchor="ctr">
                    <a:solidFill>
                      <a:srgbClr val="F2F4F7"/>
                    </a:solidFill>
                  </a:tcPr>
                </a:tc>
                <a:tc>
                  <a:txBody>
                    <a:bodyPr/>
                    <a:lstStyle/>
                    <a:p>
                      <a:pPr algn="l"/>
                      <a:r>
                        <a:rPr sz="1100" b="0" i="0">
                          <a:solidFill>
                            <a:srgbClr val="242424"/>
                          </a:solidFill>
                          <a:latin typeface="Calibri"/>
                        </a:rPr>
                        <a:t>Priya Nair</a:t>
                      </a:r>
                    </a:p>
                  </a:txBody>
                  <a:tcPr marL="50000" marR="50000" marT="20000" marB="20000" anchor="ctr">
                    <a:solidFill>
                      <a:srgbClr val="F2F4F7"/>
                    </a:solidFill>
                  </a:tcPr>
                </a:tc>
                <a:tc>
                  <a:txBody>
                    <a:bodyPr/>
                    <a:lstStyle/>
                    <a:p>
                      <a:pPr algn="l"/>
                      <a:r>
                        <a:rPr sz="1100" b="0" i="0">
                          <a:solidFill>
                            <a:srgbClr val="242424"/>
                          </a:solidFill>
                          <a:latin typeface="Calibri"/>
                        </a:rPr>
                        <a:t>TBC</a:t>
                      </a:r>
                    </a:p>
                  </a:txBody>
                  <a:tcPr marL="50000" marR="50000" marT="20000" marB="20000" anchor="ctr">
                    <a:solidFill>
                      <a:srgbClr val="F2F4F7"/>
                    </a:solidFill>
                  </a:tcPr>
                </a:tc>
              </a:tr>
              <a:tr h="420624">
                <a:tc>
                  <a:txBody>
                    <a:bodyPr/>
                    <a:lstStyle/>
                    <a:p>
                      <a:pPr algn="l"/>
                      <a:r>
                        <a:rPr sz="1100" b="0" i="0">
                          <a:solidFill>
                            <a:srgbClr val="242424"/>
                          </a:solidFill>
                          <a:latin typeface="Calibri"/>
                        </a:rPr>
                        <a:t>Drill-down (open)</a:t>
                      </a:r>
                    </a:p>
                  </a:txBody>
                  <a:tcPr marL="50000" marR="50000" marT="20000" marB="20000" anchor="ctr">
                    <a:solidFill>
                      <a:srgbClr val="FFFFFF"/>
                    </a:solidFill>
                  </a:tcPr>
                </a:tc>
                <a:tc>
                  <a:txBody>
                    <a:bodyPr/>
                    <a:lstStyle/>
                    <a:p>
                      <a:pPr algn="l"/>
                      <a:r>
                        <a:rPr sz="1100" b="0" i="0">
                          <a:solidFill>
                            <a:srgbClr val="242424"/>
                          </a:solidFill>
                          <a:latin typeface="Calibri"/>
                        </a:rPr>
                        <a:t>Full stockist-level drill-down on every page – no owner, no date</a:t>
                      </a:r>
                    </a:p>
                  </a:txBody>
                  <a:tcPr marL="50000" marR="50000" marT="20000" marB="20000" anchor="ctr">
                    <a:solidFill>
                      <a:srgbClr val="FFFFFF"/>
                    </a:solidFill>
                  </a:tcPr>
                </a:tc>
                <a:tc>
                  <a:txBody>
                    <a:bodyPr/>
                    <a:lstStyle/>
                    <a:p>
                      <a:pPr algn="l"/>
                      <a:r>
                        <a:rPr sz="1100" b="0" i="0">
                          <a:solidFill>
                            <a:srgbClr val="242424"/>
                          </a:solidFill>
                          <a:latin typeface="Calibri"/>
                        </a:rPr>
                        <a:t>Open – Ananya to pick up with Karthik / Vikram</a:t>
                      </a:r>
                    </a:p>
                  </a:txBody>
                  <a:tcPr marL="50000" marR="50000" marT="20000" marB="20000" anchor="ctr">
                    <a:solidFill>
                      <a:srgbClr val="FFFFFF"/>
                    </a:solidFill>
                  </a:tcPr>
                </a:tc>
                <a:tc>
                  <a:txBody>
                    <a:bodyPr/>
                    <a:lstStyle/>
                    <a:p>
                      <a:pPr algn="l"/>
                      <a:r>
                        <a:rPr sz="1100" b="0" i="0">
                          <a:solidFill>
                            <a:srgbClr val="242424"/>
                          </a:solidFill>
                          <a:latin typeface="Calibri"/>
                        </a:rPr>
                        <a:t>-</a:t>
                      </a:r>
                    </a:p>
                  </a:txBody>
                  <a:tcPr marL="50000" marR="50000" marT="20000" marB="20000" anchor="ctr">
                    <a:solidFill>
                      <a:srgbClr val="FFFFFF"/>
                    </a:solidFill>
                  </a:tcPr>
                </a:tc>
              </a:tr>
            </a:tbl>
          </a:graphicData>
        </a:graphic>
      </p:graphicFrame>
      <p:sp>
        <p:nvSpPr>
          <p:cNvPr id="5" name="TextBox 4"/>
          <p:cNvSpPr txBox="1"/>
          <p:nvPr/>
        </p:nvSpPr>
        <p:spPr>
          <a:xfrm>
            <a:off x="320040" y="6537960"/>
            <a:ext cx="4572000" cy="274320"/>
          </a:xfrm>
          <a:prstGeom prst="rect">
            <a:avLst/>
          </a:prstGeom>
          <a:noFill/>
        </p:spPr>
        <p:txBody>
          <a:bodyPr wrap="square" anchor="t">
            <a:spAutoFit/>
          </a:bodyPr>
          <a:lstStyle/>
          <a:p>
            <a:pPr algn="l"/>
            <a:r>
              <a:rPr sz="800" b="0" i="0">
                <a:solidFill>
                  <a:srgbClr val="AFB7C0"/>
                </a:solidFill>
                <a:latin typeface="Calibri"/>
              </a:rPr>
              <a:t>Bharadwaj Consumer Products Ltd | Project Drishti</a:t>
            </a:r>
          </a:p>
        </p:txBody>
      </p:sp>
      <p:sp>
        <p:nvSpPr>
          <p:cNvPr id="6" name="TextBox 5"/>
          <p:cNvSpPr txBox="1"/>
          <p:nvPr/>
        </p:nvSpPr>
        <p:spPr>
          <a:xfrm>
            <a:off x="4206240" y="6537960"/>
            <a:ext cx="3840480" cy="274320"/>
          </a:xfrm>
          <a:prstGeom prst="rect">
            <a:avLst/>
          </a:prstGeom>
          <a:noFill/>
        </p:spPr>
        <p:txBody>
          <a:bodyPr wrap="square" anchor="t">
            <a:spAutoFit/>
          </a:bodyPr>
          <a:lstStyle/>
          <a:p>
            <a:pPr algn="ctr"/>
            <a:r>
              <a:rPr sz="800" b="0" i="1">
                <a:solidFill>
                  <a:srgbClr val="AFB7C0"/>
                </a:solidFill>
                <a:latin typeface="Calibri"/>
              </a:rPr>
              <a:t>Confidential – Internal Working Draft v2</a:t>
            </a:r>
          </a:p>
        </p:txBody>
      </p:sp>
      <p:sp>
        <p:nvSpPr>
          <p:cNvPr id="7" name="TextBox 6"/>
          <p:cNvSpPr txBox="1"/>
          <p:nvPr/>
        </p:nvSpPr>
        <p:spPr>
          <a:xfrm>
            <a:off x="10881360" y="6537960"/>
            <a:ext cx="914400" cy="274320"/>
          </a:xfrm>
          <a:prstGeom prst="rect">
            <a:avLst/>
          </a:prstGeom>
          <a:noFill/>
        </p:spPr>
        <p:txBody>
          <a:bodyPr wrap="square" anchor="t">
            <a:spAutoFit/>
          </a:bodyPr>
          <a:lstStyle/>
          <a:p>
            <a:pPr algn="r"/>
            <a:r>
              <a:rPr sz="800" b="0" i="0">
                <a:solidFill>
                  <a:srgbClr val="AFB7C0"/>
                </a:solidFill>
                <a:latin typeface="Calibri"/>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i="0">
                <a:solidFill>
                  <a:srgbClr val="142640"/>
                </a:solidFill>
                <a:latin typeface="Calibri"/>
              </a:rPr>
              <a:t>Summary and asks</a:t>
            </a:r>
          </a:p>
        </p:txBody>
      </p:sp>
      <p:sp>
        <p:nvSpPr>
          <p:cNvPr id="3" name="Content Placeholder 2"/>
          <p:cNvSpPr>
            <a:spLocks noGrp="1"/>
          </p:cNvSpPr>
          <p:nvPr>
            <p:ph idx="1"/>
          </p:nvPr>
        </p:nvSpPr>
        <p:spPr/>
        <p:txBody>
          <a:bodyPr/>
          <a:lstStyle/>
          <a:p>
            <a:pPr/>
            <a:r>
              <a:rPr sz="1800" b="1" i="0">
                <a:solidFill>
                  <a:srgbClr val="242424"/>
                </a:solidFill>
                <a:latin typeface="Calibri"/>
              </a:rPr>
              <a:t>Seven committed pages are wireframed in this pack – build can proceed against them once the definitions sheet is signed.</a:t>
            </a:r>
          </a:p>
          <a:p>
            <a:pPr/>
            <a:r>
              <a:rPr sz="1800" b="0" i="0">
                <a:solidFill>
                  <a:srgbClr val="242424"/>
                </a:solidFill>
                <a:latin typeface="Calibri"/>
              </a:rPr>
              <a:t>Two candidates (D04, D11) are sketched for a sponsor decision. Not funded, not being built yet.</a:t>
            </a:r>
          </a:p>
          <a:p>
            <a:pPr/>
            <a:r>
              <a:rPr sz="1800" b="0" i="0">
                <a:solidFill>
                  <a:srgbClr val="242424"/>
                </a:solidFill>
                <a:latin typeface="Calibri"/>
              </a:rPr>
              <a:t>The distributor-level drill-down question is still open and sits above all seven pages – it needs a data-model answer from Karthik before it is a layout answer from Ritwik.</a:t>
            </a:r>
          </a:p>
          <a:p>
            <a:pPr/>
            <a:r>
              <a:rPr sz="1800" b="1" i="1">
                <a:solidFill>
                  <a:srgbClr val="242424"/>
                </a:solidFill>
                <a:latin typeface="Calibri"/>
              </a:rPr>
              <a:t>Once the definitions sheet lands, one number for everything, no more sitting in a room reconciling whose spreadsheet is right.</a:t>
            </a:r>
          </a:p>
          <a:p>
            <a:pPr/>
            <a:r>
              <a:rPr sz="1800" b="0" i="0">
                <a:solidFill>
                  <a:srgbClr val="242424"/>
                </a:solidFill>
                <a:latin typeface="Calibri"/>
              </a:rPr>
              <a:t>Asks: sign-off on definitions sheet, all-region access list, and a steer on the two candidates – all before dashboard build closes out.</a:t>
            </a:r>
          </a:p>
        </p:txBody>
      </p:sp>
      <p:sp>
        <p:nvSpPr>
          <p:cNvPr id="4" name="TextBox 3"/>
          <p:cNvSpPr txBox="1"/>
          <p:nvPr/>
        </p:nvSpPr>
        <p:spPr>
          <a:xfrm>
            <a:off x="320040" y="6537960"/>
            <a:ext cx="4572000" cy="274320"/>
          </a:xfrm>
          <a:prstGeom prst="rect">
            <a:avLst/>
          </a:prstGeom>
          <a:noFill/>
        </p:spPr>
        <p:txBody>
          <a:bodyPr wrap="square" anchor="t">
            <a:spAutoFit/>
          </a:bodyPr>
          <a:lstStyle/>
          <a:p>
            <a:pPr algn="l"/>
            <a:r>
              <a:rPr sz="800" b="0" i="0">
                <a:solidFill>
                  <a:srgbClr val="AFB7C0"/>
                </a:solidFill>
                <a:latin typeface="Calibri"/>
              </a:rPr>
              <a:t>Bharadwaj Consumer Products Ltd | Project Drishti</a:t>
            </a:r>
          </a:p>
        </p:txBody>
      </p:sp>
      <p:sp>
        <p:nvSpPr>
          <p:cNvPr id="5" name="TextBox 4"/>
          <p:cNvSpPr txBox="1"/>
          <p:nvPr/>
        </p:nvSpPr>
        <p:spPr>
          <a:xfrm>
            <a:off x="4206240" y="6537960"/>
            <a:ext cx="3840480" cy="274320"/>
          </a:xfrm>
          <a:prstGeom prst="rect">
            <a:avLst/>
          </a:prstGeom>
          <a:noFill/>
        </p:spPr>
        <p:txBody>
          <a:bodyPr wrap="square" anchor="t">
            <a:spAutoFit/>
          </a:bodyPr>
          <a:lstStyle/>
          <a:p>
            <a:pPr algn="ctr"/>
            <a:r>
              <a:rPr sz="800" b="0" i="1">
                <a:solidFill>
                  <a:srgbClr val="AFB7C0"/>
                </a:solidFill>
                <a:latin typeface="Calibri"/>
              </a:rPr>
              <a:t>Confidential – Internal Working Draft v2</a:t>
            </a:r>
          </a:p>
        </p:txBody>
      </p:sp>
      <p:sp>
        <p:nvSpPr>
          <p:cNvPr id="6" name="TextBox 5"/>
          <p:cNvSpPr txBox="1"/>
          <p:nvPr/>
        </p:nvSpPr>
        <p:spPr>
          <a:xfrm>
            <a:off x="10881360" y="6537960"/>
            <a:ext cx="914400" cy="274320"/>
          </a:xfrm>
          <a:prstGeom prst="rect">
            <a:avLst/>
          </a:prstGeom>
          <a:noFill/>
        </p:spPr>
        <p:txBody>
          <a:bodyPr wrap="square" anchor="t">
            <a:spAutoFit/>
          </a:bodyPr>
          <a:lstStyle/>
          <a:p>
            <a:pPr algn="r"/>
            <a:r>
              <a:rPr sz="800" b="0" i="0">
                <a:solidFill>
                  <a:srgbClr val="AFB7C0"/>
                </a:solidFill>
                <a:latin typeface="Calibri"/>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3017520"/>
            <a:ext cx="9418320" cy="914400"/>
          </a:xfrm>
          <a:prstGeom prst="rect">
            <a:avLst/>
          </a:prstGeom>
          <a:noFill/>
        </p:spPr>
        <p:txBody>
          <a:bodyPr wrap="square" anchor="t">
            <a:spAutoFit/>
          </a:bodyPr>
          <a:lstStyle/>
          <a:p>
            <a:pPr algn="ctr"/>
            <a:r>
              <a:rPr sz="1600" b="1" i="0">
                <a:solidFill>
                  <a:srgbClr val="AFB7C0"/>
                </a:solidFill>
                <a:latin typeface="Calibri"/>
              </a:rPr>
              <a:t>SYNTHETIC — generated for internal demo. No real entity depicted.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Drishti Dashboard Wireframes</dc:title>
  <dc:subject>Power BI wireframe pack for the Drishti dashboard build – seven committed pages plus two candidates</dc:subject>
  <dc:creator>Ritwik Ghosh</dc:creator>
  <cp:keywords/>
  <dc:description>SYNTHETIC — generated for internal demo. No real entity depicted.</dc:description>
  <cp:lastModifiedBy>Ritwik Ghosh</cp:lastModifiedBy>
  <cp:revision>1</cp:revision>
  <dcterms:created xsi:type="dcterms:W3CDTF">2026-08-07T17:42:00Z</dcterms:created>
  <dcterms:modified xsi:type="dcterms:W3CDTF">2026-08-07T18:05:00Z</dcterms:modified>
  <cp:category>Dashboard design</cp:category>
</cp:coreProperties>
</file>